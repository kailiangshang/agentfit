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 · 方案建筑师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801307" cy="1110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企业真正缺少的，</a:t>
            </a:r>
          </a:p>
          <a:p>
            <a:pPr marL="0" indent="0" algn="l">
              <a:lnSpc>
                <a:spcPts val="43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324404"/>
            <a:ext cx="6703466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企业给材料、代表性案例和优先级；AgentFit 从简单方案开始，用证据决定该加什么、何时停止。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685800" y="3143707"/>
            <a:ext cx="6286500" cy="2114092"/>
          </a:xfrm>
          <a:prstGeom prst="roundRect">
            <a:avLst>
              <a:gd name="adj" fmla="val 811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952804" y="3353104"/>
            <a:ext cx="54406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业务输入</a:t>
            </a:r>
          </a:p>
        </p:txBody>
      </p:sp>
      <p:sp>
        <p:nvSpPr>
          <p:cNvPr id="8" name="h2p-1-box-7"/>
          <p:cNvSpPr/>
          <p:nvPr/>
        </p:nvSpPr>
        <p:spPr>
          <a:xfrm>
            <a:off x="952804" y="3696004"/>
            <a:ext cx="1656892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1037844" y="3762756"/>
            <a:ext cx="15151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企业材料</a:t>
            </a:r>
          </a:p>
        </p:txBody>
      </p:sp>
      <p:sp>
        <p:nvSpPr>
          <p:cNvPr id="10" name="h2p-1-box-9"/>
          <p:cNvSpPr/>
          <p:nvPr/>
        </p:nvSpPr>
        <p:spPr>
          <a:xfrm>
            <a:off x="2723997" y="3696004"/>
            <a:ext cx="1656892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2809951" y="3762756"/>
            <a:ext cx="15151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代表性案例</a:t>
            </a:r>
          </a:p>
        </p:txBody>
      </p:sp>
      <p:sp>
        <p:nvSpPr>
          <p:cNvPr id="12" name="h2p-1-box-11"/>
          <p:cNvSpPr/>
          <p:nvPr/>
        </p:nvSpPr>
        <p:spPr>
          <a:xfrm>
            <a:off x="4496104" y="3696004"/>
            <a:ext cx="2210104" cy="323697"/>
          </a:xfrm>
          <a:prstGeom prst="roundRect">
            <a:avLst>
              <a:gd name="adj" fmla="val 23530"/>
            </a:avLst>
          </a:prstGeom>
          <a:solidFill>
            <a:srgbClr val="132F47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4581144" y="3762756"/>
            <a:ext cx="2079345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C6D3DD"/>
                </a:solidFill>
                <a:latin typeface="Noto Sans Mono CJK SC"/>
              </a:rPr>
              <a:t>优先级与 Human 边界</a:t>
            </a:r>
          </a:p>
        </p:txBody>
      </p:sp>
      <p:sp>
        <p:nvSpPr>
          <p:cNvPr id="14" name="h2p-1-text-13"/>
          <p:cNvSpPr txBox="1"/>
          <p:nvPr/>
        </p:nvSpPr>
        <p:spPr>
          <a:xfrm>
            <a:off x="952804" y="4324197"/>
            <a:ext cx="5868619" cy="4974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不是先堆 Agent，而是先做最小候选；只有未通过验收，才依据失败证据调整完整方案。</a:t>
            </a:r>
          </a:p>
        </p:txBody>
      </p:sp>
      <p:sp>
        <p:nvSpPr>
          <p:cNvPr id="15" name="h2p-1-box-14"/>
          <p:cNvSpPr/>
          <p:nvPr/>
        </p:nvSpPr>
        <p:spPr>
          <a:xfrm>
            <a:off x="7239304" y="1181404"/>
            <a:ext cx="4267504" cy="4533595"/>
          </a:xfrm>
          <a:prstGeom prst="roundRect">
            <a:avLst>
              <a:gd name="adj" fmla="val 58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-text-15"/>
          <p:cNvSpPr txBox="1"/>
          <p:nvPr/>
        </p:nvSpPr>
        <p:spPr>
          <a:xfrm>
            <a:off x="7563002" y="1466697"/>
            <a:ext cx="359450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由简入繁</a:t>
            </a:r>
          </a:p>
        </p:txBody>
      </p:sp>
      <p:sp>
        <p:nvSpPr>
          <p:cNvPr id="17" name="h2p-1-text-16"/>
          <p:cNvSpPr txBox="1"/>
          <p:nvPr/>
        </p:nvSpPr>
        <p:spPr>
          <a:xfrm>
            <a:off x="7563002" y="18854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01</a:t>
            </a:r>
          </a:p>
        </p:txBody>
      </p:sp>
      <p:sp>
        <p:nvSpPr>
          <p:cNvPr id="18" name="h2p-1-text-17"/>
          <p:cNvSpPr txBox="1"/>
          <p:nvPr/>
        </p:nvSpPr>
        <p:spPr>
          <a:xfrm>
            <a:off x="8229600" y="19046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定义验收</a:t>
            </a:r>
          </a:p>
        </p:txBody>
      </p:sp>
      <p:sp>
        <p:nvSpPr>
          <p:cNvPr id="19" name="h2p-1-text-18"/>
          <p:cNvSpPr txBox="1"/>
          <p:nvPr/>
        </p:nvSpPr>
        <p:spPr>
          <a:xfrm>
            <a:off x="8229600" y="21909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把业务案例变成可验证契约</a:t>
            </a:r>
          </a:p>
        </p:txBody>
      </p:sp>
      <p:sp>
        <p:nvSpPr>
          <p:cNvPr id="20" name="h2p-1-box-19"/>
          <p:cNvSpPr/>
          <p:nvPr/>
        </p:nvSpPr>
        <p:spPr>
          <a:xfrm>
            <a:off x="7733995" y="2400300"/>
            <a:ext cx="19202" cy="418795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text-20"/>
          <p:cNvSpPr txBox="1"/>
          <p:nvPr/>
        </p:nvSpPr>
        <p:spPr>
          <a:xfrm>
            <a:off x="7563002" y="27998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22" name="h2p-1-text-21"/>
          <p:cNvSpPr txBox="1"/>
          <p:nvPr/>
        </p:nvSpPr>
        <p:spPr>
          <a:xfrm>
            <a:off x="8229600" y="28190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从最简方案开始</a:t>
            </a:r>
          </a:p>
        </p:txBody>
      </p:sp>
      <p:sp>
        <p:nvSpPr>
          <p:cNvPr id="23" name="h2p-1-text-22"/>
          <p:cNvSpPr txBox="1"/>
          <p:nvPr/>
        </p:nvSpPr>
        <p:spPr>
          <a:xfrm>
            <a:off x="8229600" y="31053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C0 / C1 / C2 · N 业务 Agent / C3</a:t>
            </a:r>
          </a:p>
        </p:txBody>
      </p:sp>
      <p:sp>
        <p:nvSpPr>
          <p:cNvPr id="24" name="h2p-1-box-23"/>
          <p:cNvSpPr/>
          <p:nvPr/>
        </p:nvSpPr>
        <p:spPr>
          <a:xfrm>
            <a:off x="7733995" y="3314700"/>
            <a:ext cx="19202" cy="418795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-text-24"/>
          <p:cNvSpPr txBox="1"/>
          <p:nvPr/>
        </p:nvSpPr>
        <p:spPr>
          <a:xfrm>
            <a:off x="7563002" y="3714292"/>
            <a:ext cx="35021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74D0C7"/>
                </a:solidFill>
                <a:latin typeface="Noto Sans Mono CJK SC"/>
              </a:rPr>
              <a:t>03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8229600" y="3733495"/>
            <a:ext cx="2915107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用新案例停止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8229600" y="4019702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交付最小充分、已验证的方案包</a:t>
            </a:r>
          </a:p>
        </p:txBody>
      </p:sp>
      <p:sp>
        <p:nvSpPr>
          <p:cNvPr id="28" name="h2p-1-box-27"/>
          <p:cNvSpPr/>
          <p:nvPr/>
        </p:nvSpPr>
        <p:spPr>
          <a:xfrm>
            <a:off x="8057692" y="4610404"/>
            <a:ext cx="2628900" cy="724204"/>
          </a:xfrm>
          <a:prstGeom prst="roundRect">
            <a:avLst>
              <a:gd name="adj" fmla="val 21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-text-28"/>
          <p:cNvSpPr txBox="1"/>
          <p:nvPr/>
        </p:nvSpPr>
        <p:spPr>
          <a:xfrm>
            <a:off x="8187537" y="4839004"/>
            <a:ext cx="23701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74D0C7"/>
                </a:solidFill>
                <a:latin typeface="Noto Sans Mono CJK SC"/>
              </a:rPr>
              <a:t>JUST ENOUGH</a:t>
            </a:r>
          </a:p>
        </p:txBody>
      </p:sp>
      <p:sp>
        <p:nvSpPr>
          <p:cNvPr id="30" name="h2p-1-text-29"/>
          <p:cNvSpPr txBox="1"/>
          <p:nvPr/>
        </p:nvSpPr>
        <p:spPr>
          <a:xfrm>
            <a:off x="577900" y="5639104"/>
            <a:ext cx="11036808" cy="270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不是更多 Agent，而是有证据地选对完整方案。</a:t>
            </a:r>
          </a:p>
        </p:txBody>
      </p:sp>
      <p:sp>
        <p:nvSpPr>
          <p:cNvPr id="31" name="h2p-1-text-30"/>
          <p:cNvSpPr txBox="1"/>
          <p:nvPr/>
        </p:nvSpPr>
        <p:spPr>
          <a:xfrm>
            <a:off x="685800" y="6543446"/>
            <a:ext cx="1923897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× AgentTeams · 初赛提交版</a:t>
            </a:r>
          </a:p>
        </p:txBody>
      </p:sp>
      <p:sp>
        <p:nvSpPr>
          <p:cNvPr id="32" name="h2p-1-text-3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官方示例 · 证据锚点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619402"/>
            <a:ext cx="11017605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29307"/>
            <a:ext cx="5333695" cy="3504895"/>
          </a:xfrm>
          <a:prstGeom prst="roundRect">
            <a:avLst>
              <a:gd name="adj" fmla="val 489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14400" y="2457907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BASELINE · OpsPilot Zero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14400" y="2781604"/>
            <a:ext cx="4974336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10" name="h2p-2-text-9"/>
          <p:cNvSpPr txBox="1"/>
          <p:nvPr/>
        </p:nvSpPr>
        <p:spPr>
          <a:xfrm>
            <a:off x="914400" y="3105302"/>
            <a:ext cx="49743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1" name="h2p-2-text-10"/>
          <p:cNvSpPr txBox="1"/>
          <p:nvPr/>
        </p:nvSpPr>
        <p:spPr>
          <a:xfrm>
            <a:off x="914400" y="3714292"/>
            <a:ext cx="49743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914400" y="3981297"/>
            <a:ext cx="505206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3" name="h2p-2-box-12"/>
          <p:cNvSpPr/>
          <p:nvPr/>
        </p:nvSpPr>
        <p:spPr>
          <a:xfrm>
            <a:off x="914400" y="4724704"/>
            <a:ext cx="4876495" cy="724204"/>
          </a:xfrm>
          <a:prstGeom prst="roundRect">
            <a:avLst>
              <a:gd name="adj" fmla="val 23680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1067104" y="4839004"/>
            <a:ext cx="40800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demo 事故 · db.pool.maxSize: 50 -&gt; 8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1067104" y="5085892"/>
            <a:ext cx="466344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6" name="h2p-2-box-15"/>
          <p:cNvSpPr/>
          <p:nvPr/>
        </p:nvSpPr>
        <p:spPr>
          <a:xfrm>
            <a:off x="6286500" y="2229307"/>
            <a:ext cx="52193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2-text-16"/>
          <p:cNvSpPr txBox="1"/>
          <p:nvPr/>
        </p:nvSpPr>
        <p:spPr>
          <a:xfrm>
            <a:off x="6515100" y="2457907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AGENTFIT 拿它做什么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6515100" y="2781604"/>
            <a:ext cx="485729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9" name="h2p-2-box-18"/>
          <p:cNvSpPr/>
          <p:nvPr/>
        </p:nvSpPr>
        <p:spPr>
          <a:xfrm>
            <a:off x="6515100" y="3238804"/>
            <a:ext cx="47621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2-text-19"/>
          <p:cNvSpPr txBox="1"/>
          <p:nvPr/>
        </p:nvSpPr>
        <p:spPr>
          <a:xfrm>
            <a:off x="6667804" y="3353104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6667804" y="3600907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6515100" y="4134002"/>
            <a:ext cx="48572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515100" y="5181904"/>
            <a:ext cx="485729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证据锚点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120579" y="6543446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从材料到可验收档案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企业给出的材料、代表性案例和优先级，先被整理成一份可验收、可重放、可追溯的项目档案。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text-6"/>
          <p:cNvSpPr txBox="1"/>
          <p:nvPr/>
        </p:nvSpPr>
        <p:spPr>
          <a:xfrm>
            <a:off x="685800" y="2210104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企业输入 · 保留来源与时间边界</a:t>
            </a:r>
          </a:p>
        </p:txBody>
      </p:sp>
      <p:sp>
        <p:nvSpPr>
          <p:cNvPr id="8" name="h2p-3-box-7"/>
          <p:cNvSpPr/>
          <p:nvPr/>
        </p:nvSpPr>
        <p:spPr>
          <a:xfrm>
            <a:off x="685800" y="2533802"/>
            <a:ext cx="2762402" cy="2361895"/>
          </a:xfrm>
          <a:prstGeom prst="roundRect">
            <a:avLst>
              <a:gd name="adj" fmla="val 7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3-text-8"/>
          <p:cNvSpPr txBox="1"/>
          <p:nvPr/>
        </p:nvSpPr>
        <p:spPr>
          <a:xfrm>
            <a:off x="914400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14400" y="3295497"/>
            <a:ext cx="235092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业务材料</a:t>
            </a:r>
          </a:p>
        </p:txBody>
      </p:sp>
      <p:sp>
        <p:nvSpPr>
          <p:cNvPr id="11" name="h2p-3-text-10"/>
          <p:cNvSpPr txBox="1"/>
          <p:nvPr/>
        </p:nvSpPr>
        <p:spPr>
          <a:xfrm>
            <a:off x="914400" y="3676802"/>
            <a:ext cx="2350922" cy="662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客诉、告警、日志、Trace、指标、变更、Runbook 与 OpsPilot baseline。</a:t>
            </a:r>
          </a:p>
        </p:txBody>
      </p:sp>
      <p:sp>
        <p:nvSpPr>
          <p:cNvPr id="12" name="h2p-3-box-11"/>
          <p:cNvSpPr/>
          <p:nvPr/>
        </p:nvSpPr>
        <p:spPr>
          <a:xfrm>
            <a:off x="3600907" y="2533802"/>
            <a:ext cx="2762402" cy="2361895"/>
          </a:xfrm>
          <a:prstGeom prst="roundRect">
            <a:avLst>
              <a:gd name="adj" fmla="val 7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3-text-12"/>
          <p:cNvSpPr txBox="1"/>
          <p:nvPr/>
        </p:nvSpPr>
        <p:spPr>
          <a:xfrm>
            <a:off x="3829507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426B86"/>
                </a:solidFill>
                <a:latin typeface="Noto Sans Mono CJK SC"/>
              </a:rPr>
              <a:t>02</a:t>
            </a:r>
          </a:p>
        </p:txBody>
      </p:sp>
      <p:sp>
        <p:nvSpPr>
          <p:cNvPr id="14" name="h2p-3-text-13"/>
          <p:cNvSpPr txBox="1"/>
          <p:nvPr/>
        </p:nvSpPr>
        <p:spPr>
          <a:xfrm>
            <a:off x="3829507" y="3295497"/>
            <a:ext cx="235092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代表性案例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3829507" y="3676802"/>
            <a:ext cx="2350922" cy="662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覆盖常见、困难、失败与高风险场景；明确什么能冻结、重放和评价。</a:t>
            </a:r>
          </a:p>
        </p:txBody>
      </p:sp>
      <p:sp>
        <p:nvSpPr>
          <p:cNvPr id="16" name="h2p-3-box-15"/>
          <p:cNvSpPr/>
          <p:nvPr/>
        </p:nvSpPr>
        <p:spPr>
          <a:xfrm>
            <a:off x="6515100" y="2533802"/>
            <a:ext cx="2381097" cy="2361895"/>
          </a:xfrm>
          <a:prstGeom prst="roundRect">
            <a:avLst>
              <a:gd name="adj" fmla="val 72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3-text-16"/>
          <p:cNvSpPr txBox="1"/>
          <p:nvPr/>
        </p:nvSpPr>
        <p:spPr>
          <a:xfrm>
            <a:off x="6743700" y="2743200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18" name="h2p-3-text-17"/>
          <p:cNvSpPr txBox="1"/>
          <p:nvPr/>
        </p:nvSpPr>
        <p:spPr>
          <a:xfrm>
            <a:off x="6743700" y="3295497"/>
            <a:ext cx="196230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优先级</a:t>
            </a:r>
          </a:p>
        </p:txBody>
      </p:sp>
      <p:sp>
        <p:nvSpPr>
          <p:cNvPr id="19" name="h2p-3-text-18"/>
          <p:cNvSpPr txBox="1"/>
          <p:nvPr/>
        </p:nvSpPr>
        <p:spPr>
          <a:xfrm>
            <a:off x="6743700" y="3676802"/>
            <a:ext cx="1962302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结果质量、时延、成本、安全与 Human 边界的取舍。</a:t>
            </a:r>
          </a:p>
        </p:txBody>
      </p:sp>
      <p:sp>
        <p:nvSpPr>
          <p:cNvPr id="20" name="h2p-3-text-19"/>
          <p:cNvSpPr txBox="1"/>
          <p:nvPr/>
        </p:nvSpPr>
        <p:spPr>
          <a:xfrm>
            <a:off x="9048902" y="3372307"/>
            <a:ext cx="369417" cy="523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1" name="h2p-3-box-20"/>
          <p:cNvSpPr/>
          <p:nvPr/>
        </p:nvSpPr>
        <p:spPr>
          <a:xfrm>
            <a:off x="9506102" y="2342692"/>
            <a:ext cx="2000707" cy="2743200"/>
          </a:xfrm>
          <a:prstGeom prst="roundRect">
            <a:avLst>
              <a:gd name="adj" fmla="val 85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3-text-21"/>
          <p:cNvSpPr txBox="1"/>
          <p:nvPr/>
        </p:nvSpPr>
        <p:spPr>
          <a:xfrm>
            <a:off x="9734702" y="2571292"/>
            <a:ext cx="115580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VERSIONED DOSSIER</a:t>
            </a:r>
          </a:p>
        </p:txBody>
      </p:sp>
      <p:sp>
        <p:nvSpPr>
          <p:cNvPr id="23" name="h2p-3-text-22"/>
          <p:cNvSpPr txBox="1"/>
          <p:nvPr/>
        </p:nvSpPr>
        <p:spPr>
          <a:xfrm>
            <a:off x="9734702" y="2971800"/>
            <a:ext cx="1573682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102A43"/>
                </a:solidFill>
                <a:latin typeface="Noto Sans CJK SC"/>
              </a:rPr>
              <a:t>ProjectCase</a:t>
            </a:r>
          </a:p>
        </p:txBody>
      </p:sp>
      <p:sp>
        <p:nvSpPr>
          <p:cNvPr id="24" name="h2p-3-text-23"/>
          <p:cNvSpPr txBox="1"/>
          <p:nvPr/>
        </p:nvSpPr>
        <p:spPr>
          <a:xfrm>
            <a:off x="9734702" y="3409797"/>
            <a:ext cx="1573682" cy="10003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任务契约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样本清单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验收标准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能力边界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评测协议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9734702" y="4647895"/>
            <a:ext cx="157368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Human 确认后冻结</a:t>
            </a:r>
          </a:p>
        </p:txBody>
      </p:sp>
      <p:sp>
        <p:nvSpPr>
          <p:cNvPr id="26" name="h2p-3-box-25"/>
          <p:cNvSpPr/>
          <p:nvPr/>
        </p:nvSpPr>
        <p:spPr>
          <a:xfrm>
            <a:off x="685800" y="5219395"/>
            <a:ext cx="10820095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3-text-26"/>
          <p:cNvSpPr txBox="1"/>
          <p:nvPr/>
        </p:nvSpPr>
        <p:spPr>
          <a:xfrm>
            <a:off x="914400" y="5352897"/>
            <a:ext cx="10589666" cy="23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ProjectCase</a:t>
            </a:r>
            <a:r>
              <a:rPr sz="1280">
                <a:solidFill>
                  <a:srgbClr val="102A43"/>
                </a:solidFill>
                <a:latin typeface="Noto Sans CJK SC"/>
              </a:rPr>
              <a:t> 描述整个任务分布与方案边界；SourceObservation 不是 TaskSample，项目档案也不等于某次运行。</a:t>
            </a:r>
          </a:p>
        </p:txBody>
      </p:sp>
      <p:sp>
        <p:nvSpPr>
          <p:cNvPr id="28" name="h2p-3-text-27"/>
          <p:cNvSpPr txBox="1"/>
          <p:nvPr/>
        </p:nvSpPr>
        <p:spPr>
          <a:xfrm>
            <a:off x="914400" y="5734202"/>
            <a:ext cx="1058966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29" name="h2p-3-text-28"/>
          <p:cNvSpPr txBox="1"/>
          <p:nvPr/>
        </p:nvSpPr>
        <p:spPr>
          <a:xfrm>
            <a:off x="685800" y="6543446"/>
            <a:ext cx="122895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ProjectCase</a:t>
            </a:r>
          </a:p>
        </p:txBody>
      </p:sp>
      <p:sp>
        <p:nvSpPr>
          <p:cNvPr id="30" name="h2p-3-text-29"/>
          <p:cNvSpPr txBox="1"/>
          <p:nvPr/>
        </p:nvSpPr>
        <p:spPr>
          <a:xfrm>
            <a:off x="10601553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一个样本长什么样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同一合同结构承载不同事故：给什么、要什么、怎样才算通过。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152497"/>
            <a:ext cx="5296204" cy="3333902"/>
          </a:xfrm>
          <a:prstGeom prst="roundRect">
            <a:avLst>
              <a:gd name="adj" fmla="val 514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14400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TaskSample · 事故 A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14400" y="2648102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C64C32"/>
                </a:solidFill>
                <a:latin typeface="Noto Sans Mono CJK SC"/>
              </a:rPr>
              <a:t>db_pool_exhausted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14400" y="2991002"/>
            <a:ext cx="4955133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14400" y="3353104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67104" y="3485692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INPUT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1790395" y="3467404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告警、Trace、变更 50→8</a:t>
            </a:r>
          </a:p>
        </p:txBody>
      </p:sp>
      <p:sp>
        <p:nvSpPr>
          <p:cNvPr id="14" name="h2p-4-box-13"/>
          <p:cNvSpPr/>
          <p:nvPr/>
        </p:nvSpPr>
        <p:spPr>
          <a:xfrm>
            <a:off x="914400" y="4000500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1067104" y="41340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OUTPUT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1790395" y="4114800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根因、回滚计划、恢复验证</a:t>
            </a:r>
          </a:p>
        </p:txBody>
      </p:sp>
      <p:sp>
        <p:nvSpPr>
          <p:cNvPr id="17" name="h2p-4-box-16"/>
          <p:cNvSpPr/>
          <p:nvPr/>
        </p:nvSpPr>
        <p:spPr>
          <a:xfrm>
            <a:off x="914400" y="4647895"/>
            <a:ext cx="4857292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1067104" y="48198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ACCEPT</a:t>
            </a:r>
          </a:p>
        </p:txBody>
      </p:sp>
      <p:sp>
        <p:nvSpPr>
          <p:cNvPr id="19" name="h2p-4-text-18"/>
          <p:cNvSpPr txBox="1"/>
          <p:nvPr/>
        </p:nvSpPr>
        <p:spPr>
          <a:xfrm>
            <a:off x="1790395" y="4762195"/>
            <a:ext cx="386699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可追溯 · 可验证 · 无未批准写入</a:t>
            </a:r>
          </a:p>
        </p:txBody>
      </p:sp>
      <p:sp>
        <p:nvSpPr>
          <p:cNvPr id="20" name="h2p-4-box-19"/>
          <p:cNvSpPr/>
          <p:nvPr/>
        </p:nvSpPr>
        <p:spPr>
          <a:xfrm>
            <a:off x="6210604" y="2152497"/>
            <a:ext cx="5296204" cy="3333902"/>
          </a:xfrm>
          <a:prstGeom prst="roundRect">
            <a:avLst>
              <a:gd name="adj" fmla="val 51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4-text-20"/>
          <p:cNvSpPr txBox="1"/>
          <p:nvPr/>
        </p:nvSpPr>
        <p:spPr>
          <a:xfrm>
            <a:off x="6439204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TaskSample · 事故 B</a:t>
            </a:r>
          </a:p>
        </p:txBody>
      </p:sp>
      <p:sp>
        <p:nvSpPr>
          <p:cNvPr id="22" name="h2p-4-text-21"/>
          <p:cNvSpPr txBox="1"/>
          <p:nvPr/>
        </p:nvSpPr>
        <p:spPr>
          <a:xfrm>
            <a:off x="6439204" y="2648102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A5781C"/>
                </a:solidFill>
                <a:latin typeface="Noto Sans Mono CJK SC"/>
              </a:rPr>
              <a:t>slow_sql_degradation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6439204" y="2991002"/>
            <a:ext cx="4955133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4" name="h2p-4-box-23"/>
          <p:cNvSpPr/>
          <p:nvPr/>
        </p:nvSpPr>
        <p:spPr>
          <a:xfrm>
            <a:off x="6439204" y="3353104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4-text-24"/>
          <p:cNvSpPr txBox="1"/>
          <p:nvPr/>
        </p:nvSpPr>
        <p:spPr>
          <a:xfrm>
            <a:off x="6590995" y="3485692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INPUT</a:t>
            </a:r>
          </a:p>
        </p:txBody>
      </p:sp>
      <p:sp>
        <p:nvSpPr>
          <p:cNvPr id="26" name="h2p-4-text-25"/>
          <p:cNvSpPr txBox="1"/>
          <p:nvPr/>
        </p:nvSpPr>
        <p:spPr>
          <a:xfrm>
            <a:off x="7315200" y="3467404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指标、慢日志、Trace、近 24h 变更</a:t>
            </a:r>
          </a:p>
        </p:txBody>
      </p:sp>
      <p:sp>
        <p:nvSpPr>
          <p:cNvPr id="27" name="h2p-4-box-26"/>
          <p:cNvSpPr/>
          <p:nvPr/>
        </p:nvSpPr>
        <p:spPr>
          <a:xfrm>
            <a:off x="6439204" y="4000500"/>
            <a:ext cx="4857292" cy="533095"/>
          </a:xfrm>
          <a:prstGeom prst="roundRect">
            <a:avLst>
              <a:gd name="adj" fmla="val 3214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text-27"/>
          <p:cNvSpPr txBox="1"/>
          <p:nvPr/>
        </p:nvSpPr>
        <p:spPr>
          <a:xfrm>
            <a:off x="6590995" y="41340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OUTPUT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7315200" y="4114800"/>
            <a:ext cx="386699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慢 SQL、处置建议、影响面</a:t>
            </a:r>
          </a:p>
        </p:txBody>
      </p:sp>
      <p:sp>
        <p:nvSpPr>
          <p:cNvPr id="30" name="h2p-4-box-29"/>
          <p:cNvSpPr/>
          <p:nvPr/>
        </p:nvSpPr>
        <p:spPr>
          <a:xfrm>
            <a:off x="6439204" y="4647895"/>
            <a:ext cx="4857292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4-text-30"/>
          <p:cNvSpPr txBox="1"/>
          <p:nvPr/>
        </p:nvSpPr>
        <p:spPr>
          <a:xfrm>
            <a:off x="6590995" y="4819802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ACCEPT</a:t>
            </a:r>
          </a:p>
        </p:txBody>
      </p:sp>
      <p:sp>
        <p:nvSpPr>
          <p:cNvPr id="32" name="h2p-4-text-31"/>
          <p:cNvSpPr txBox="1"/>
          <p:nvPr/>
        </p:nvSpPr>
        <p:spPr>
          <a:xfrm>
            <a:off x="7315200" y="4762195"/>
            <a:ext cx="386699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可复核 · 范围受限 · 缺口显式</a:t>
            </a:r>
          </a:p>
        </p:txBody>
      </p:sp>
      <p:sp>
        <p:nvSpPr>
          <p:cNvPr id="33" name="h2p-4-box-32"/>
          <p:cNvSpPr/>
          <p:nvPr/>
        </p:nvSpPr>
        <p:spPr>
          <a:xfrm>
            <a:off x="685800" y="5658307"/>
            <a:ext cx="10820095" cy="552297"/>
          </a:xfrm>
          <a:prstGeom prst="roundRect">
            <a:avLst>
              <a:gd name="adj" fmla="val 31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4-text-33"/>
          <p:cNvSpPr txBox="1"/>
          <p:nvPr/>
        </p:nvSpPr>
        <p:spPr>
          <a:xfrm>
            <a:off x="914400" y="5771692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TaskSample = 可独立冻结、重放、执行和评价的最小单位；告警只是 SourceObservation，还不等于样本。</a:t>
            </a:r>
          </a:p>
        </p:txBody>
      </p:sp>
      <p:sp>
        <p:nvSpPr>
          <p:cNvPr id="35" name="h2p-4-text-34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TaskSample</a:t>
            </a:r>
          </a:p>
        </p:txBody>
      </p:sp>
      <p:sp>
        <p:nvSpPr>
          <p:cNvPr id="36" name="h2p-4-text-35"/>
          <p:cNvSpPr txBox="1"/>
          <p:nvPr/>
        </p:nvSpPr>
        <p:spPr>
          <a:xfrm>
            <a:off x="10173614" y="6543446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COMPLETE SOLUTION SPACE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2825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020">
                <a:solidFill>
                  <a:srgbClr val="102A43"/>
                </a:solidFill>
                <a:latin typeface="Noto Sans CJK SC"/>
              </a:rPr>
              <a:t>完整方案空间：工具、Skill、MCP、Memory、模型、Agent 拓扑与 Human 边界都是变量。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不是只选 Agent 数量；每一维都从最小配置开始，只有失败证据足够时才增加复杂度。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190902"/>
            <a:ext cx="7162495" cy="3372307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914400" y="2342692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六个可独立调整的方案维度</a:t>
            </a:r>
          </a:p>
        </p:txBody>
      </p:sp>
      <p:sp>
        <p:nvSpPr>
          <p:cNvPr id="9" name="h2p-5-box-8"/>
          <p:cNvSpPr/>
          <p:nvPr/>
        </p:nvSpPr>
        <p:spPr>
          <a:xfrm>
            <a:off x="914400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5-text-9"/>
          <p:cNvSpPr txBox="1"/>
          <p:nvPr/>
        </p:nvSpPr>
        <p:spPr>
          <a:xfrm>
            <a:off x="1067104" y="2819095"/>
            <a:ext cx="75803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工具 · TOOL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1067104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原子动作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权限最小化</a:t>
            </a:r>
          </a:p>
        </p:txBody>
      </p:sp>
      <p:sp>
        <p:nvSpPr>
          <p:cNvPr id="12" name="h2p-5-box-11"/>
          <p:cNvSpPr/>
          <p:nvPr/>
        </p:nvSpPr>
        <p:spPr>
          <a:xfrm>
            <a:off x="2590495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2743200" y="2819095"/>
            <a:ext cx="3154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14" name="h2p-5-text-13"/>
          <p:cNvSpPr txBox="1"/>
          <p:nvPr/>
        </p:nvSpPr>
        <p:spPr>
          <a:xfrm>
            <a:off x="2743200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版本化方法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验证后复用</a:t>
            </a:r>
          </a:p>
        </p:txBody>
      </p:sp>
      <p:sp>
        <p:nvSpPr>
          <p:cNvPr id="15" name="h2p-5-box-14"/>
          <p:cNvSpPr/>
          <p:nvPr/>
        </p:nvSpPr>
        <p:spPr>
          <a:xfrm>
            <a:off x="4267504" y="2686507"/>
            <a:ext cx="15243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5-text-15"/>
          <p:cNvSpPr txBox="1"/>
          <p:nvPr/>
        </p:nvSpPr>
        <p:spPr>
          <a:xfrm>
            <a:off x="4419295" y="2819095"/>
            <a:ext cx="1892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MCP</a:t>
            </a:r>
          </a:p>
        </p:txBody>
      </p:sp>
      <p:sp>
        <p:nvSpPr>
          <p:cNvPr id="17" name="h2p-5-text-16"/>
          <p:cNvSpPr txBox="1"/>
          <p:nvPr/>
        </p:nvSpPr>
        <p:spPr>
          <a:xfrm>
            <a:off x="4419295" y="3105302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外部契约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 / 鉴权</a:t>
            </a:r>
          </a:p>
        </p:txBody>
      </p:sp>
      <p:sp>
        <p:nvSpPr>
          <p:cNvPr id="18" name="h2p-5-box-17"/>
          <p:cNvSpPr/>
          <p:nvPr/>
        </p:nvSpPr>
        <p:spPr>
          <a:xfrm>
            <a:off x="5943600" y="2686507"/>
            <a:ext cx="1676095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5-text-18"/>
          <p:cNvSpPr txBox="1"/>
          <p:nvPr/>
        </p:nvSpPr>
        <p:spPr>
          <a:xfrm>
            <a:off x="6096304" y="2819095"/>
            <a:ext cx="37856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Memory</a:t>
            </a:r>
          </a:p>
        </p:txBody>
      </p:sp>
      <p:sp>
        <p:nvSpPr>
          <p:cNvPr id="20" name="h2p-5-text-19"/>
          <p:cNvSpPr txBox="1"/>
          <p:nvPr/>
        </p:nvSpPr>
        <p:spPr>
          <a:xfrm>
            <a:off x="6096304" y="3105302"/>
            <a:ext cx="139903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共享边界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已验证资产</a:t>
            </a:r>
          </a:p>
        </p:txBody>
      </p:sp>
      <p:sp>
        <p:nvSpPr>
          <p:cNvPr id="21" name="h2p-5-box-20"/>
          <p:cNvSpPr/>
          <p:nvPr/>
        </p:nvSpPr>
        <p:spPr>
          <a:xfrm>
            <a:off x="914400" y="3942892"/>
            <a:ext cx="3200400" cy="1314907"/>
          </a:xfrm>
          <a:prstGeom prst="roundRect">
            <a:avLst>
              <a:gd name="adj" fmla="val 1303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5-text-21"/>
          <p:cNvSpPr txBox="1"/>
          <p:nvPr/>
        </p:nvSpPr>
        <p:spPr>
          <a:xfrm>
            <a:off x="1067104" y="4095597"/>
            <a:ext cx="25237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模型</a:t>
            </a:r>
          </a:p>
        </p:txBody>
      </p:sp>
      <p:sp>
        <p:nvSpPr>
          <p:cNvPr id="23" name="h2p-5-text-22"/>
          <p:cNvSpPr txBox="1"/>
          <p:nvPr/>
        </p:nvSpPr>
        <p:spPr>
          <a:xfrm>
            <a:off x="1067104" y="4400092"/>
            <a:ext cx="295351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能力、时延、成本与部署约束</a:t>
            </a:r>
          </a:p>
        </p:txBody>
      </p:sp>
      <p:sp>
        <p:nvSpPr>
          <p:cNvPr id="24" name="h2p-5-text-23"/>
          <p:cNvSpPr txBox="1"/>
          <p:nvPr/>
        </p:nvSpPr>
        <p:spPr>
          <a:xfrm>
            <a:off x="1067104" y="4724704"/>
            <a:ext cx="295351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同一验收下比较；更大模型不是默认答案。</a:t>
            </a:r>
          </a:p>
        </p:txBody>
      </p:sp>
      <p:sp>
        <p:nvSpPr>
          <p:cNvPr id="25" name="h2p-5-box-24"/>
          <p:cNvSpPr/>
          <p:nvPr/>
        </p:nvSpPr>
        <p:spPr>
          <a:xfrm>
            <a:off x="4267504" y="3942892"/>
            <a:ext cx="3353104" cy="1314907"/>
          </a:xfrm>
          <a:prstGeom prst="roundRect">
            <a:avLst>
              <a:gd name="adj" fmla="val 13039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5-text-25"/>
          <p:cNvSpPr txBox="1"/>
          <p:nvPr/>
        </p:nvSpPr>
        <p:spPr>
          <a:xfrm>
            <a:off x="4419295" y="4095597"/>
            <a:ext cx="310896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Human 边界</a:t>
            </a:r>
          </a:p>
        </p:txBody>
      </p:sp>
      <p:sp>
        <p:nvSpPr>
          <p:cNvPr id="27" name="h2p-5-text-26"/>
          <p:cNvSpPr txBox="1"/>
          <p:nvPr/>
        </p:nvSpPr>
        <p:spPr>
          <a:xfrm>
            <a:off x="4419295" y="4400092"/>
            <a:ext cx="3108960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审批、责任、降级与拒绝</a:t>
            </a:r>
          </a:p>
        </p:txBody>
      </p:sp>
      <p:sp>
        <p:nvSpPr>
          <p:cNvPr id="28" name="h2p-5-text-27"/>
          <p:cNvSpPr txBox="1"/>
          <p:nvPr/>
        </p:nvSpPr>
        <p:spPr>
          <a:xfrm>
            <a:off x="4419295" y="4724704"/>
            <a:ext cx="3108960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Human 是正式能力，不是失败后的兜底。</a:t>
            </a:r>
          </a:p>
        </p:txBody>
      </p:sp>
      <p:sp>
        <p:nvSpPr>
          <p:cNvPr id="29" name="h2p-5-box-28"/>
          <p:cNvSpPr/>
          <p:nvPr/>
        </p:nvSpPr>
        <p:spPr>
          <a:xfrm>
            <a:off x="8001000" y="2190902"/>
            <a:ext cx="3504895" cy="3372307"/>
          </a:xfrm>
          <a:prstGeom prst="roundRect">
            <a:avLst>
              <a:gd name="adj" fmla="val 50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5-text-29"/>
          <p:cNvSpPr txBox="1"/>
          <p:nvPr/>
        </p:nvSpPr>
        <p:spPr>
          <a:xfrm>
            <a:off x="8229600" y="2342692"/>
            <a:ext cx="31089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拓扑 · 只是其中一维</a:t>
            </a:r>
          </a:p>
        </p:txBody>
      </p:sp>
      <p:sp>
        <p:nvSpPr>
          <p:cNvPr id="31" name="h2p-5-box-30"/>
          <p:cNvSpPr/>
          <p:nvPr/>
        </p:nvSpPr>
        <p:spPr>
          <a:xfrm>
            <a:off x="8229600" y="2686507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5-text-31"/>
          <p:cNvSpPr txBox="1"/>
          <p:nvPr/>
        </p:nvSpPr>
        <p:spPr>
          <a:xfrm>
            <a:off x="8382304" y="2819095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C0 · Agentless</a:t>
            </a:r>
          </a:p>
        </p:txBody>
      </p:sp>
      <p:sp>
        <p:nvSpPr>
          <p:cNvPr id="33" name="h2p-5-box-32"/>
          <p:cNvSpPr/>
          <p:nvPr/>
        </p:nvSpPr>
        <p:spPr>
          <a:xfrm>
            <a:off x="8229600" y="3314700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5-text-33"/>
          <p:cNvSpPr txBox="1"/>
          <p:nvPr/>
        </p:nvSpPr>
        <p:spPr>
          <a:xfrm>
            <a:off x="8382304" y="3448202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C1 · 单 Agent</a:t>
            </a:r>
          </a:p>
        </p:txBody>
      </p:sp>
      <p:sp>
        <p:nvSpPr>
          <p:cNvPr id="35" name="h2p-5-box-34"/>
          <p:cNvSpPr/>
          <p:nvPr/>
        </p:nvSpPr>
        <p:spPr>
          <a:xfrm>
            <a:off x="8229600" y="3942892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5-text-35"/>
          <p:cNvSpPr txBox="1"/>
          <p:nvPr/>
        </p:nvSpPr>
        <p:spPr>
          <a:xfrm>
            <a:off x="8382304" y="4076395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C2 · 多 Agent</a:t>
            </a:r>
          </a:p>
        </p:txBody>
      </p:sp>
      <p:sp>
        <p:nvSpPr>
          <p:cNvPr id="37" name="h2p-5-box-36"/>
          <p:cNvSpPr/>
          <p:nvPr/>
        </p:nvSpPr>
        <p:spPr>
          <a:xfrm>
            <a:off x="8229600" y="4572000"/>
            <a:ext cx="3047695" cy="513892"/>
          </a:xfrm>
          <a:prstGeom prst="roundRect">
            <a:avLst>
              <a:gd name="adj" fmla="val 3333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5-text-37"/>
          <p:cNvSpPr txBox="1"/>
          <p:nvPr/>
        </p:nvSpPr>
        <p:spPr>
          <a:xfrm>
            <a:off x="8382304" y="4705502"/>
            <a:ext cx="279806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C3 · Human 混合</a:t>
            </a:r>
          </a:p>
        </p:txBody>
      </p:sp>
      <p:sp>
        <p:nvSpPr>
          <p:cNvPr id="39" name="h2p-5-box-38"/>
          <p:cNvSpPr/>
          <p:nvPr/>
        </p:nvSpPr>
        <p:spPr>
          <a:xfrm>
            <a:off x="685800" y="5734202"/>
            <a:ext cx="10820095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914400" y="5829300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七个维度属于同一搜索空间；OpsPilot 的 4 Worker + 1 Leader 只是 Agent 拓扑中 C2 的一个实例。</a:t>
            </a:r>
          </a:p>
        </p:txBody>
      </p:sp>
      <p:sp>
        <p:nvSpPr>
          <p:cNvPr id="41" name="h2p-5-text-40"/>
          <p:cNvSpPr txBox="1"/>
          <p:nvPr/>
        </p:nvSpPr>
        <p:spPr>
          <a:xfrm>
            <a:off x="685800" y="6543446"/>
            <a:ext cx="128198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完整方案空间</a:t>
            </a:r>
          </a:p>
        </p:txBody>
      </p:sp>
      <p:sp>
        <p:nvSpPr>
          <p:cNvPr id="42" name="h2p-5-text-4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七维可调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SIMPLE FIRST · EVIDENCE LOOP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五阶段闭环：定义案例与验收、构建最小候选、运行并测量、分析并调整、验证并停止。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561795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同一预算与门禁下由简入繁；未通过才调整，通过新案例且无新增价值就停止。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1676095" y="2476195"/>
            <a:ext cx="88395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box-7"/>
          <p:cNvSpPr/>
          <p:nvPr/>
        </p:nvSpPr>
        <p:spPr>
          <a:xfrm>
            <a:off x="6858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8759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8759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定义案例与验收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875995" y="3219602"/>
            <a:ext cx="1632204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冻结代表案例、优先级、预算与 Human 门禁。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875995" y="41148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先定义“通过”</a:t>
            </a:r>
          </a:p>
        </p:txBody>
      </p:sp>
      <p:sp>
        <p:nvSpPr>
          <p:cNvPr id="13" name="h2p-6-box-12"/>
          <p:cNvSpPr/>
          <p:nvPr/>
        </p:nvSpPr>
        <p:spPr>
          <a:xfrm>
            <a:off x="28575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6-text-13"/>
          <p:cNvSpPr txBox="1"/>
          <p:nvPr/>
        </p:nvSpPr>
        <p:spPr>
          <a:xfrm>
            <a:off x="30476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6-text-14"/>
          <p:cNvSpPr txBox="1"/>
          <p:nvPr/>
        </p:nvSpPr>
        <p:spPr>
          <a:xfrm>
            <a:off x="30476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构建最小候选</a:t>
            </a:r>
          </a:p>
        </p:txBody>
      </p:sp>
      <p:sp>
        <p:nvSpPr>
          <p:cNvPr id="16" name="h2p-6-text-15"/>
          <p:cNvSpPr txBox="1"/>
          <p:nvPr/>
        </p:nvSpPr>
        <p:spPr>
          <a:xfrm>
            <a:off x="3047695" y="3219602"/>
            <a:ext cx="16322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从 C0 / C1 起步；不预设复杂方案胜出。</a:t>
            </a:r>
          </a:p>
        </p:txBody>
      </p:sp>
      <p:sp>
        <p:nvSpPr>
          <p:cNvPr id="17" name="h2p-6-text-16"/>
          <p:cNvSpPr txBox="1"/>
          <p:nvPr/>
        </p:nvSpPr>
        <p:spPr>
          <a:xfrm>
            <a:off x="3047695" y="4114800"/>
            <a:ext cx="8741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SIMPLE FIRST</a:t>
            </a:r>
          </a:p>
        </p:txBody>
      </p:sp>
      <p:sp>
        <p:nvSpPr>
          <p:cNvPr id="18" name="h2p-6-box-17"/>
          <p:cNvSpPr/>
          <p:nvPr/>
        </p:nvSpPr>
        <p:spPr>
          <a:xfrm>
            <a:off x="50292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6-text-18"/>
          <p:cNvSpPr txBox="1"/>
          <p:nvPr/>
        </p:nvSpPr>
        <p:spPr>
          <a:xfrm>
            <a:off x="52193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52193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运行并测量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5219395" y="3219602"/>
            <a:ext cx="163220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同一案例、能力边界、预算与 Trace。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5219395" y="4114800"/>
            <a:ext cx="510235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MEASURE</a:t>
            </a:r>
          </a:p>
        </p:txBody>
      </p:sp>
      <p:sp>
        <p:nvSpPr>
          <p:cNvPr id="23" name="h2p-6-box-22"/>
          <p:cNvSpPr/>
          <p:nvPr/>
        </p:nvSpPr>
        <p:spPr>
          <a:xfrm>
            <a:off x="7200900" y="2190902"/>
            <a:ext cx="1981504" cy="2305202"/>
          </a:xfrm>
          <a:prstGeom prst="roundRect">
            <a:avLst>
              <a:gd name="adj" fmla="val 86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6-text-23"/>
          <p:cNvSpPr txBox="1"/>
          <p:nvPr/>
        </p:nvSpPr>
        <p:spPr>
          <a:xfrm>
            <a:off x="73910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F26B4B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6-text-24"/>
          <p:cNvSpPr txBox="1"/>
          <p:nvPr/>
        </p:nvSpPr>
        <p:spPr>
          <a:xfrm>
            <a:off x="7391095" y="2819095"/>
            <a:ext cx="163220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分析并调整</a:t>
            </a:r>
          </a:p>
        </p:txBody>
      </p:sp>
      <p:sp>
        <p:nvSpPr>
          <p:cNvPr id="26" name="h2p-6-text-25"/>
          <p:cNvSpPr txBox="1"/>
          <p:nvPr/>
        </p:nvSpPr>
        <p:spPr>
          <a:xfrm>
            <a:off x="7315200" y="3219602"/>
            <a:ext cx="1787652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按失败模式调整七维方案；不越过 Human 门禁。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7391095" y="4114800"/>
            <a:ext cx="94731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EVIDENCE ONLY</a:t>
            </a:r>
          </a:p>
        </p:txBody>
      </p:sp>
      <p:sp>
        <p:nvSpPr>
          <p:cNvPr id="28" name="h2p-6-box-27"/>
          <p:cNvSpPr/>
          <p:nvPr/>
        </p:nvSpPr>
        <p:spPr>
          <a:xfrm>
            <a:off x="9372600" y="2190902"/>
            <a:ext cx="2133295" cy="2305202"/>
          </a:xfrm>
          <a:prstGeom prst="roundRect">
            <a:avLst>
              <a:gd name="adj" fmla="val 80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6-text-28"/>
          <p:cNvSpPr txBox="1"/>
          <p:nvPr/>
        </p:nvSpPr>
        <p:spPr>
          <a:xfrm>
            <a:off x="9562795" y="2324404"/>
            <a:ext cx="330098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550">
                <a:solidFill>
                  <a:srgbClr val="D6A43B"/>
                </a:solidFill>
                <a:latin typeface="Noto Sans Mono CJK SC"/>
              </a:rPr>
              <a:t>05</a:t>
            </a:r>
          </a:p>
        </p:txBody>
      </p:sp>
      <p:sp>
        <p:nvSpPr>
          <p:cNvPr id="30" name="h2p-6-text-29"/>
          <p:cNvSpPr txBox="1"/>
          <p:nvPr/>
        </p:nvSpPr>
        <p:spPr>
          <a:xfrm>
            <a:off x="9562795" y="2819095"/>
            <a:ext cx="17876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验证并停止</a:t>
            </a:r>
          </a:p>
        </p:txBody>
      </p:sp>
      <p:sp>
        <p:nvSpPr>
          <p:cNvPr id="31" name="h2p-6-text-30"/>
          <p:cNvSpPr txBox="1"/>
          <p:nvPr/>
        </p:nvSpPr>
        <p:spPr>
          <a:xfrm>
            <a:off x="9486900" y="3219602"/>
            <a:ext cx="19431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新案例通过且复杂度无增益，即停止。</a:t>
            </a:r>
          </a:p>
        </p:txBody>
      </p:sp>
      <p:sp>
        <p:nvSpPr>
          <p:cNvPr id="32" name="h2p-6-text-31"/>
          <p:cNvSpPr txBox="1"/>
          <p:nvPr/>
        </p:nvSpPr>
        <p:spPr>
          <a:xfrm>
            <a:off x="9562795" y="4114800"/>
            <a:ext cx="109270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STOP / CONTINUE</a:t>
            </a:r>
          </a:p>
        </p:txBody>
      </p:sp>
      <p:sp>
        <p:nvSpPr>
          <p:cNvPr id="33" name="h2p-6-box-32"/>
          <p:cNvSpPr/>
          <p:nvPr/>
        </p:nvSpPr>
        <p:spPr>
          <a:xfrm>
            <a:off x="685800" y="4610404"/>
            <a:ext cx="10820095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6-text-33"/>
          <p:cNvSpPr txBox="1"/>
          <p:nvPr/>
        </p:nvSpPr>
        <p:spPr>
          <a:xfrm>
            <a:off x="914400" y="4705502"/>
            <a:ext cx="105896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完整方案七维：Tool · Skill · MCP · Memory · 模型 · Agent 拓扑 · Human 边界</a:t>
            </a:r>
          </a:p>
        </p:txBody>
      </p:sp>
      <p:sp>
        <p:nvSpPr>
          <p:cNvPr id="35" name="h2p-6-text-34"/>
          <p:cNvSpPr txBox="1"/>
          <p:nvPr/>
        </p:nvSpPr>
        <p:spPr>
          <a:xfrm>
            <a:off x="914400" y="4953304"/>
            <a:ext cx="10589666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停止逻辑：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新案例通过 + 安全/成本达标 + 复杂度无新增价值 → 交付最小充分方案；否则返回调整。</a:t>
            </a:r>
          </a:p>
        </p:txBody>
      </p:sp>
      <p:sp>
        <p:nvSpPr>
          <p:cNvPr id="36" name="h2p-6-box-35"/>
          <p:cNvSpPr/>
          <p:nvPr/>
        </p:nvSpPr>
        <p:spPr>
          <a:xfrm>
            <a:off x="685800" y="5410504"/>
            <a:ext cx="10820095" cy="705002"/>
          </a:xfrm>
          <a:prstGeom prst="roundRect">
            <a:avLst>
              <a:gd name="adj" fmla="val 2432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6-text-36"/>
          <p:cNvSpPr txBox="1"/>
          <p:nvPr/>
        </p:nvSpPr>
        <p:spPr>
          <a:xfrm>
            <a:off x="914400" y="5486400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候选搜索顺序 · 设计契约（非运行结果）</a:t>
            </a:r>
          </a:p>
        </p:txBody>
      </p:sp>
      <p:sp>
        <p:nvSpPr>
          <p:cNvPr id="38" name="h2p-6-box-37"/>
          <p:cNvSpPr/>
          <p:nvPr/>
        </p:nvSpPr>
        <p:spPr>
          <a:xfrm>
            <a:off x="9144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DFEAF2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6-text-38"/>
          <p:cNvSpPr txBox="1"/>
          <p:nvPr/>
        </p:nvSpPr>
        <p:spPr>
          <a:xfrm>
            <a:off x="10003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C0 · Agentless · 待真实试验</a:t>
            </a:r>
          </a:p>
        </p:txBody>
      </p:sp>
      <p:sp>
        <p:nvSpPr>
          <p:cNvPr id="40" name="h2p-6-box-39"/>
          <p:cNvSpPr/>
          <p:nvPr/>
        </p:nvSpPr>
        <p:spPr>
          <a:xfrm>
            <a:off x="34290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DCEEEA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2p-6-text-40"/>
          <p:cNvSpPr txBox="1"/>
          <p:nvPr/>
        </p:nvSpPr>
        <p:spPr>
          <a:xfrm>
            <a:off x="35149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C1 · 单 Agent · 待真实试验</a:t>
            </a:r>
          </a:p>
        </p:txBody>
      </p:sp>
      <p:sp>
        <p:nvSpPr>
          <p:cNvPr id="42" name="h2p-6-box-41"/>
          <p:cNvSpPr/>
          <p:nvPr/>
        </p:nvSpPr>
        <p:spPr>
          <a:xfrm>
            <a:off x="59436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F8DDD4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6-text-42"/>
          <p:cNvSpPr txBox="1"/>
          <p:nvPr/>
        </p:nvSpPr>
        <p:spPr>
          <a:xfrm>
            <a:off x="60295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C2 · 多 Agent · 待真实试验</a:t>
            </a:r>
          </a:p>
        </p:txBody>
      </p:sp>
      <p:sp>
        <p:nvSpPr>
          <p:cNvPr id="44" name="h2p-6-box-43"/>
          <p:cNvSpPr/>
          <p:nvPr/>
        </p:nvSpPr>
        <p:spPr>
          <a:xfrm>
            <a:off x="8458200" y="5734202"/>
            <a:ext cx="2400300" cy="304495"/>
          </a:xfrm>
          <a:prstGeom prst="roundRect">
            <a:avLst>
              <a:gd name="adj" fmla="val 25000"/>
            </a:avLst>
          </a:prstGeom>
          <a:solidFill>
            <a:srgbClr val="F3E5B8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6-text-44"/>
          <p:cNvSpPr txBox="1"/>
          <p:nvPr/>
        </p:nvSpPr>
        <p:spPr>
          <a:xfrm>
            <a:off x="8544153" y="5781751"/>
            <a:ext cx="227319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C3 · Human 混合 · 待真实试验</a:t>
            </a:r>
          </a:p>
        </p:txBody>
      </p:sp>
      <p:sp>
        <p:nvSpPr>
          <p:cNvPr id="46" name="h2p-6-text-45"/>
          <p:cNvSpPr txBox="1"/>
          <p:nvPr/>
        </p:nvSpPr>
        <p:spPr>
          <a:xfrm>
            <a:off x="577900" y="6210604"/>
            <a:ext cx="1103680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当前候选对照仍待真实运行 · requires_runtime_trial</a:t>
            </a:r>
          </a:p>
        </p:txBody>
      </p:sp>
      <p:sp>
        <p:nvSpPr>
          <p:cNvPr id="47" name="h2p-6-text-46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五阶段闭环</a:t>
            </a:r>
          </a:p>
        </p:txBody>
      </p:sp>
      <p:sp>
        <p:nvSpPr>
          <p:cNvPr id="48" name="h2p-6-text-47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 · 两层 Agent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五个元 Agent 完成方案闭环，区别于候选业务执行 Agent。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五个固定身份共同覆盖闭环，并在阶段之间交接责任；候选内部的业务执行 Agent 是被设计对象。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152497"/>
            <a:ext cx="10820095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14400" y="2266797"/>
            <a:ext cx="1058966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CJK SC"/>
              </a:rPr>
              <a:t>上层 · 元 Agent</a:t>
            </a:r>
            <a:r>
              <a:rPr sz="1120">
                <a:solidFill>
                  <a:srgbClr val="53697C"/>
                </a:solidFill>
                <a:latin typeface="Noto Sans CJK SC"/>
              </a:rPr>
              <a:t>：定义、设计、运行、分析、停止 </a:t>
            </a:r>
            <a:r>
              <a:rPr b="1" sz="1120">
                <a:solidFill>
                  <a:srgbClr val="D6A43B"/>
                </a:solidFill>
                <a:latin typeface="Noto Sans CJK SC"/>
              </a:rPr>
              <a:t>下层 · 业务执行 Agent</a:t>
            </a:r>
            <a:r>
              <a:rPr sz="1120">
                <a:solidFill>
                  <a:srgbClr val="53697C"/>
                </a:solidFill>
                <a:latin typeface="Noto Sans CJK SC"/>
              </a:rPr>
              <a:t>：只存在于被评测的候选方案内部</a:t>
            </a:r>
          </a:p>
        </p:txBody>
      </p:sp>
      <p:sp>
        <p:nvSpPr>
          <p:cNvPr id="9" name="h2p-7-box-8"/>
          <p:cNvSpPr/>
          <p:nvPr/>
        </p:nvSpPr>
        <p:spPr>
          <a:xfrm>
            <a:off x="1676095" y="3028492"/>
            <a:ext cx="88395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7-box-9"/>
          <p:cNvSpPr/>
          <p:nvPr/>
        </p:nvSpPr>
        <p:spPr>
          <a:xfrm>
            <a:off x="6858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7-text-10"/>
          <p:cNvSpPr txBox="1"/>
          <p:nvPr/>
        </p:nvSpPr>
        <p:spPr>
          <a:xfrm>
            <a:off x="8385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定义目标 / 决定停止</a:t>
            </a:r>
          </a:p>
        </p:txBody>
      </p:sp>
      <p:sp>
        <p:nvSpPr>
          <p:cNvPr id="12" name="h2p-7-text-11"/>
          <p:cNvSpPr txBox="1"/>
          <p:nvPr/>
        </p:nvSpPr>
        <p:spPr>
          <a:xfrm>
            <a:off x="8385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01 交付官</a:t>
            </a:r>
          </a:p>
        </p:txBody>
      </p:sp>
      <p:sp>
        <p:nvSpPr>
          <p:cNvPr id="13" name="h2p-7-text-12"/>
          <p:cNvSpPr txBox="1"/>
          <p:nvPr/>
        </p:nvSpPr>
        <p:spPr>
          <a:xfrm>
            <a:off x="8385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4" name="h2p-7-text-13"/>
          <p:cNvSpPr txBox="1"/>
          <p:nvPr/>
        </p:nvSpPr>
        <p:spPr>
          <a:xfrm>
            <a:off x="8385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设目标与停止门；整合证据作交付或降级决定。</a:t>
            </a:r>
          </a:p>
        </p:txBody>
      </p:sp>
      <p:sp>
        <p:nvSpPr>
          <p:cNvPr id="15" name="h2p-7-box-14"/>
          <p:cNvSpPr/>
          <p:nvPr/>
        </p:nvSpPr>
        <p:spPr>
          <a:xfrm>
            <a:off x="28575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7-text-15"/>
          <p:cNvSpPr txBox="1"/>
          <p:nvPr/>
        </p:nvSpPr>
        <p:spPr>
          <a:xfrm>
            <a:off x="30102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定义案例与验收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30102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02 业务架构师</a:t>
            </a:r>
          </a:p>
        </p:txBody>
      </p:sp>
      <p:sp>
        <p:nvSpPr>
          <p:cNvPr id="18" name="h2p-7-text-17"/>
          <p:cNvSpPr txBox="1"/>
          <p:nvPr/>
        </p:nvSpPr>
        <p:spPr>
          <a:xfrm>
            <a:off x="30102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9" name="h2p-7-text-18"/>
          <p:cNvSpPr txBox="1"/>
          <p:nvPr/>
        </p:nvSpPr>
        <p:spPr>
          <a:xfrm>
            <a:off x="3010204" y="3829507"/>
            <a:ext cx="1709928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编译案例与验收；冻结指标、预算和 Human 边界。</a:t>
            </a:r>
          </a:p>
        </p:txBody>
      </p:sp>
      <p:sp>
        <p:nvSpPr>
          <p:cNvPr id="20" name="h2p-7-box-19"/>
          <p:cNvSpPr/>
          <p:nvPr/>
        </p:nvSpPr>
        <p:spPr>
          <a:xfrm>
            <a:off x="50292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7-text-20"/>
          <p:cNvSpPr txBox="1"/>
          <p:nvPr/>
        </p:nvSpPr>
        <p:spPr>
          <a:xfrm>
            <a:off x="51819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构建 / 调整候选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51819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03 方案架构师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51819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4" name="h2p-7-text-23"/>
          <p:cNvSpPr txBox="1"/>
          <p:nvPr/>
        </p:nvSpPr>
        <p:spPr>
          <a:xfrm>
            <a:off x="51819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构建最小候选；按失败模式调整完整七维。</a:t>
            </a:r>
          </a:p>
        </p:txBody>
      </p:sp>
      <p:sp>
        <p:nvSpPr>
          <p:cNvPr id="25" name="h2p-7-box-24"/>
          <p:cNvSpPr/>
          <p:nvPr/>
        </p:nvSpPr>
        <p:spPr>
          <a:xfrm>
            <a:off x="7200900" y="2781604"/>
            <a:ext cx="1981504" cy="2076602"/>
          </a:xfrm>
          <a:prstGeom prst="roundRect">
            <a:avLst>
              <a:gd name="adj" fmla="val 86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7-text-25"/>
          <p:cNvSpPr txBox="1"/>
          <p:nvPr/>
        </p:nvSpPr>
        <p:spPr>
          <a:xfrm>
            <a:off x="7353604" y="2915107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运行并测量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353604" y="3257092"/>
            <a:ext cx="170992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04 验证工程师</a:t>
            </a:r>
          </a:p>
        </p:txBody>
      </p:sp>
      <p:sp>
        <p:nvSpPr>
          <p:cNvPr id="28" name="h2p-7-text-27"/>
          <p:cNvSpPr txBox="1"/>
          <p:nvPr/>
        </p:nvSpPr>
        <p:spPr>
          <a:xfrm>
            <a:off x="7353604" y="3524097"/>
            <a:ext cx="170992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9" name="h2p-7-text-28"/>
          <p:cNvSpPr txBox="1"/>
          <p:nvPr/>
        </p:nvSpPr>
        <p:spPr>
          <a:xfrm>
            <a:off x="7353604" y="3829507"/>
            <a:ext cx="170992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受控运行候选；统一预算采集 Episode 与 Trace。</a:t>
            </a:r>
          </a:p>
        </p:txBody>
      </p:sp>
      <p:sp>
        <p:nvSpPr>
          <p:cNvPr id="30" name="h2p-7-box-29"/>
          <p:cNvSpPr/>
          <p:nvPr/>
        </p:nvSpPr>
        <p:spPr>
          <a:xfrm>
            <a:off x="9372600" y="2781604"/>
            <a:ext cx="2133295" cy="2076602"/>
          </a:xfrm>
          <a:prstGeom prst="roundRect">
            <a:avLst>
              <a:gd name="adj" fmla="val 82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7-text-30"/>
          <p:cNvSpPr txBox="1"/>
          <p:nvPr/>
        </p:nvSpPr>
        <p:spPr>
          <a:xfrm>
            <a:off x="9525304" y="2915107"/>
            <a:ext cx="18653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分析证据 / 独立审计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525304" y="3257092"/>
            <a:ext cx="18653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05 审计官</a:t>
            </a:r>
          </a:p>
        </p:txBody>
      </p:sp>
      <p:sp>
        <p:nvSpPr>
          <p:cNvPr id="33" name="h2p-7-text-32"/>
          <p:cNvSpPr txBox="1"/>
          <p:nvPr/>
        </p:nvSpPr>
        <p:spPr>
          <a:xfrm>
            <a:off x="9525304" y="3524097"/>
            <a:ext cx="1865376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4" name="h2p-7-text-33"/>
          <p:cNvSpPr txBox="1"/>
          <p:nvPr/>
        </p:nvSpPr>
        <p:spPr>
          <a:xfrm>
            <a:off x="9525304" y="3829507"/>
            <a:ext cx="18653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独立审计新案例；建议选择、否决或降级。</a:t>
            </a:r>
          </a:p>
        </p:txBody>
      </p:sp>
      <p:sp>
        <p:nvSpPr>
          <p:cNvPr id="35" name="h2p-7-box-34"/>
          <p:cNvSpPr/>
          <p:nvPr/>
        </p:nvSpPr>
        <p:spPr>
          <a:xfrm>
            <a:off x="685800" y="50484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7-text-35"/>
          <p:cNvSpPr txBox="1"/>
          <p:nvPr/>
        </p:nvSpPr>
        <p:spPr>
          <a:xfrm>
            <a:off x="914400" y="5181904"/>
            <a:ext cx="306049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候选业务执行 Agent · 被五元团队设计与评测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914400" y="5447995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C0 无；C1 一个；C2 多个（可包含 OpsPilot 式执行体）；C3 由 Human 承担高风险动作。元 Agent 不得被候选执行 Agent 替代。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577900" y="6115507"/>
            <a:ext cx="11036808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一个固定身份不可用，所对应阶段保持未完成；其他身份不得冒充其责任产物。</a:t>
            </a:r>
          </a:p>
        </p:txBody>
      </p:sp>
      <p:sp>
        <p:nvSpPr>
          <p:cNvPr id="39" name="h2p-7-text-38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40" name="h2p-7-text-39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落地映射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6291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190902"/>
            <a:ext cx="10820095" cy="3638397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14400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AgentFit 对象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5219395" y="2324404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AgentTeams 落点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8648395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后续运行映射</a:t>
            </a:r>
          </a:p>
        </p:txBody>
      </p:sp>
      <p:sp>
        <p:nvSpPr>
          <p:cNvPr id="11" name="h2p-8-box-10"/>
          <p:cNvSpPr/>
          <p:nvPr/>
        </p:nvSpPr>
        <p:spPr>
          <a:xfrm>
            <a:off x="914400" y="2590495"/>
            <a:ext cx="10362895" cy="19202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8-text-11"/>
          <p:cNvSpPr txBox="1"/>
          <p:nvPr/>
        </p:nvSpPr>
        <p:spPr>
          <a:xfrm>
            <a:off x="914400" y="27239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3" name="h2p-8-text-12"/>
          <p:cNvSpPr txBox="1"/>
          <p:nvPr/>
        </p:nvSpPr>
        <p:spPr>
          <a:xfrm>
            <a:off x="5219395" y="27239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4" name="h2p-8-text-13"/>
          <p:cNvSpPr txBox="1"/>
          <p:nvPr/>
        </p:nvSpPr>
        <p:spPr>
          <a:xfrm>
            <a:off x="8648395" y="27239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5" name="h2p-8-box-14"/>
          <p:cNvSpPr/>
          <p:nvPr/>
        </p:nvSpPr>
        <p:spPr>
          <a:xfrm>
            <a:off x="914400" y="302849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914400" y="3161995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7" name="h2p-8-text-16"/>
          <p:cNvSpPr txBox="1"/>
          <p:nvPr/>
        </p:nvSpPr>
        <p:spPr>
          <a:xfrm>
            <a:off x="5219395" y="3161995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8648395" y="3161995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9" name="h2p-8-box-18"/>
          <p:cNvSpPr/>
          <p:nvPr/>
        </p:nvSpPr>
        <p:spPr>
          <a:xfrm>
            <a:off x="914400" y="3467404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8-text-19"/>
          <p:cNvSpPr txBox="1"/>
          <p:nvPr/>
        </p:nvSpPr>
        <p:spPr>
          <a:xfrm>
            <a:off x="914400" y="360090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5219395" y="360090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8648395" y="360090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3" name="h2p-8-box-22"/>
          <p:cNvSpPr/>
          <p:nvPr/>
        </p:nvSpPr>
        <p:spPr>
          <a:xfrm>
            <a:off x="914400" y="390540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8-text-23"/>
          <p:cNvSpPr txBox="1"/>
          <p:nvPr/>
        </p:nvSpPr>
        <p:spPr>
          <a:xfrm>
            <a:off x="914400" y="4038904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5219395" y="4038904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8648395" y="4038904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7" name="h2p-8-box-26"/>
          <p:cNvSpPr/>
          <p:nvPr/>
        </p:nvSpPr>
        <p:spPr>
          <a:xfrm>
            <a:off x="914400" y="4343400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8-text-27"/>
          <p:cNvSpPr txBox="1"/>
          <p:nvPr/>
        </p:nvSpPr>
        <p:spPr>
          <a:xfrm>
            <a:off x="914400" y="4476902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9" name="h2p-8-text-28"/>
          <p:cNvSpPr txBox="1"/>
          <p:nvPr/>
        </p:nvSpPr>
        <p:spPr>
          <a:xfrm>
            <a:off x="5219395" y="4476902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8648395" y="4476902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1" name="h2p-8-box-30"/>
          <p:cNvSpPr/>
          <p:nvPr/>
        </p:nvSpPr>
        <p:spPr>
          <a:xfrm>
            <a:off x="914400" y="4781397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8-text-31"/>
          <p:cNvSpPr txBox="1"/>
          <p:nvPr/>
        </p:nvSpPr>
        <p:spPr>
          <a:xfrm>
            <a:off x="914400" y="4914900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3" name="h2p-8-text-32"/>
          <p:cNvSpPr txBox="1"/>
          <p:nvPr/>
        </p:nvSpPr>
        <p:spPr>
          <a:xfrm>
            <a:off x="5219395" y="4914900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4" name="h2p-8-text-33"/>
          <p:cNvSpPr txBox="1"/>
          <p:nvPr/>
        </p:nvSpPr>
        <p:spPr>
          <a:xfrm>
            <a:off x="8648395" y="4914900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5" name="h2p-8-box-34"/>
          <p:cNvSpPr/>
          <p:nvPr/>
        </p:nvSpPr>
        <p:spPr>
          <a:xfrm>
            <a:off x="914400" y="5219395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8-text-35"/>
          <p:cNvSpPr txBox="1"/>
          <p:nvPr/>
        </p:nvSpPr>
        <p:spPr>
          <a:xfrm>
            <a:off x="914400" y="53528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7" name="h2p-8-text-36"/>
          <p:cNvSpPr txBox="1"/>
          <p:nvPr/>
        </p:nvSpPr>
        <p:spPr>
          <a:xfrm>
            <a:off x="5219395" y="53528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8" name="h2p-8-text-37"/>
          <p:cNvSpPr txBox="1"/>
          <p:nvPr/>
        </p:nvSpPr>
        <p:spPr>
          <a:xfrm>
            <a:off x="8648395" y="53528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9" name="h2p-8-text-38"/>
          <p:cNvSpPr txBox="1"/>
          <p:nvPr/>
        </p:nvSpPr>
        <p:spPr>
          <a:xfrm>
            <a:off x="577900" y="59820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40" name="h2p-8-text-39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41" name="h2p-8-text-40"/>
          <p:cNvSpPr txBox="1"/>
          <p:nvPr/>
        </p:nvSpPr>
        <p:spPr>
          <a:xfrm>
            <a:off x="9746589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工程支撑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Skill、HTTP/MCP 契约、共享状态与风险门禁支撑闭环。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四类能力各守自己的边界；只有经过案例验证的方法与经验，才进入可复用资产库。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8759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TOOL · 工具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8759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执行一个原子动作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8759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读配置、列变更、写回滚；最小权限，输入输出明确。</a:t>
            </a:r>
          </a:p>
        </p:txBody>
      </p:sp>
      <p:sp>
        <p:nvSpPr>
          <p:cNvPr id="11" name="h2p-9-text-10"/>
          <p:cNvSpPr txBox="1"/>
          <p:nvPr/>
        </p:nvSpPr>
        <p:spPr>
          <a:xfrm>
            <a:off x="875995" y="3638397"/>
            <a:ext cx="101041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动作，不承载方法</a:t>
            </a:r>
          </a:p>
        </p:txBody>
      </p:sp>
      <p:sp>
        <p:nvSpPr>
          <p:cNvPr id="12" name="h2p-9-box-11"/>
          <p:cNvSpPr/>
          <p:nvPr/>
        </p:nvSpPr>
        <p:spPr>
          <a:xfrm>
            <a:off x="33147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9-text-12"/>
          <p:cNvSpPr txBox="1"/>
          <p:nvPr/>
        </p:nvSpPr>
        <p:spPr>
          <a:xfrm>
            <a:off x="35048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SKILL · 方法</a:t>
            </a:r>
          </a:p>
        </p:txBody>
      </p:sp>
      <p:sp>
        <p:nvSpPr>
          <p:cNvPr id="14" name="h2p-9-text-13"/>
          <p:cNvSpPr txBox="1"/>
          <p:nvPr/>
        </p:nvSpPr>
        <p:spPr>
          <a:xfrm>
            <a:off x="35048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组织一套可复用做法</a:t>
            </a:r>
          </a:p>
        </p:txBody>
      </p:sp>
      <p:sp>
        <p:nvSpPr>
          <p:cNvPr id="15" name="h2p-9-text-14"/>
          <p:cNvSpPr txBox="1"/>
          <p:nvPr/>
        </p:nvSpPr>
        <p:spPr>
          <a:xfrm>
            <a:off x="35048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输入、输出、触发、失败处理和安全边界均版本化。</a:t>
            </a:r>
          </a:p>
        </p:txBody>
      </p:sp>
      <p:sp>
        <p:nvSpPr>
          <p:cNvPr id="16" name="h2p-9-text-15"/>
          <p:cNvSpPr txBox="1"/>
          <p:nvPr/>
        </p:nvSpPr>
        <p:spPr>
          <a:xfrm>
            <a:off x="35048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七个核心 Skill</a:t>
            </a:r>
          </a:p>
        </p:txBody>
      </p:sp>
      <p:sp>
        <p:nvSpPr>
          <p:cNvPr id="17" name="h2p-9-box-16"/>
          <p:cNvSpPr/>
          <p:nvPr/>
        </p:nvSpPr>
        <p:spPr>
          <a:xfrm>
            <a:off x="5943600" y="2190902"/>
            <a:ext cx="2476195" cy="1714500"/>
          </a:xfrm>
          <a:prstGeom prst="roundRect">
            <a:avLst>
              <a:gd name="adj" fmla="val 1000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6133795" y="2342692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MCP / HTTP · 外部契约</a:t>
            </a:r>
          </a:p>
        </p:txBody>
      </p:sp>
      <p:sp>
        <p:nvSpPr>
          <p:cNvPr id="19" name="h2p-9-text-18"/>
          <p:cNvSpPr txBox="1"/>
          <p:nvPr/>
        </p:nvSpPr>
        <p:spPr>
          <a:xfrm>
            <a:off x="6133795" y="2686507"/>
            <a:ext cx="2136952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连接外部系统</a:t>
            </a:r>
          </a:p>
        </p:txBody>
      </p:sp>
      <p:sp>
        <p:nvSpPr>
          <p:cNvPr id="20" name="h2p-9-text-19"/>
          <p:cNvSpPr txBox="1"/>
          <p:nvPr/>
        </p:nvSpPr>
        <p:spPr>
          <a:xfrm>
            <a:off x="6133795" y="3028492"/>
            <a:ext cx="2136952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21" name="h2p-9-text-20"/>
          <p:cNvSpPr txBox="1"/>
          <p:nvPr/>
        </p:nvSpPr>
        <p:spPr>
          <a:xfrm>
            <a:off x="61337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真实绑定未实现</a:t>
            </a:r>
          </a:p>
        </p:txBody>
      </p:sp>
      <p:sp>
        <p:nvSpPr>
          <p:cNvPr id="22" name="h2p-9-box-21"/>
          <p:cNvSpPr/>
          <p:nvPr/>
        </p:nvSpPr>
        <p:spPr>
          <a:xfrm>
            <a:off x="8572500" y="2190902"/>
            <a:ext cx="2933395" cy="1714500"/>
          </a:xfrm>
          <a:prstGeom prst="roundRect">
            <a:avLst>
              <a:gd name="adj" fmla="val 10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9-text-22"/>
          <p:cNvSpPr txBox="1"/>
          <p:nvPr/>
        </p:nvSpPr>
        <p:spPr>
          <a:xfrm>
            <a:off x="8762695" y="2342692"/>
            <a:ext cx="260421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MEMORY · 已验证经验</a:t>
            </a:r>
          </a:p>
        </p:txBody>
      </p:sp>
      <p:sp>
        <p:nvSpPr>
          <p:cNvPr id="24" name="h2p-9-text-23"/>
          <p:cNvSpPr txBox="1"/>
          <p:nvPr/>
        </p:nvSpPr>
        <p:spPr>
          <a:xfrm>
            <a:off x="8762695" y="2686507"/>
            <a:ext cx="2604211" cy="2249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102A43"/>
                </a:solidFill>
                <a:latin typeface="Noto Sans CJK SC"/>
              </a:rPr>
              <a:t>只保留可追溯结论</a:t>
            </a:r>
          </a:p>
        </p:txBody>
      </p:sp>
      <p:sp>
        <p:nvSpPr>
          <p:cNvPr id="25" name="h2p-9-text-24"/>
          <p:cNvSpPr txBox="1"/>
          <p:nvPr/>
        </p:nvSpPr>
        <p:spPr>
          <a:xfrm>
            <a:off x="8762695" y="3028492"/>
            <a:ext cx="2604211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Memory 只保留失败模式、适用边界、Skill 版本和证据引用。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8762695" y="3638397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未经验证不沉淀</a:t>
            </a:r>
          </a:p>
        </p:txBody>
      </p:sp>
      <p:sp>
        <p:nvSpPr>
          <p:cNvPr id="27" name="h2p-9-text-26"/>
          <p:cNvSpPr txBox="1"/>
          <p:nvPr/>
        </p:nvSpPr>
        <p:spPr>
          <a:xfrm>
            <a:off x="685800" y="4134002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验证资产如何累积</a:t>
            </a:r>
          </a:p>
        </p:txBody>
      </p:sp>
      <p:sp>
        <p:nvSpPr>
          <p:cNvPr id="28" name="h2p-9-box-27"/>
          <p:cNvSpPr/>
          <p:nvPr/>
        </p:nvSpPr>
        <p:spPr>
          <a:xfrm>
            <a:off x="6858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9-text-28"/>
          <p:cNvSpPr txBox="1"/>
          <p:nvPr/>
        </p:nvSpPr>
        <p:spPr>
          <a:xfrm>
            <a:off x="8759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失败模式</a:t>
            </a:r>
          </a:p>
        </p:txBody>
      </p:sp>
      <p:sp>
        <p:nvSpPr>
          <p:cNvPr id="30" name="h2p-9-text-29"/>
          <p:cNvSpPr txBox="1"/>
          <p:nvPr/>
        </p:nvSpPr>
        <p:spPr>
          <a:xfrm>
            <a:off x="8759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Trace + 适用边界</a:t>
            </a:r>
          </a:p>
        </p:txBody>
      </p:sp>
      <p:sp>
        <p:nvSpPr>
          <p:cNvPr id="31" name="h2p-9-text-30"/>
          <p:cNvSpPr txBox="1"/>
          <p:nvPr/>
        </p:nvSpPr>
        <p:spPr>
          <a:xfrm>
            <a:off x="2915107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2" name="h2p-9-box-31"/>
          <p:cNvSpPr/>
          <p:nvPr/>
        </p:nvSpPr>
        <p:spPr>
          <a:xfrm>
            <a:off x="33147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9-text-32"/>
          <p:cNvSpPr txBox="1"/>
          <p:nvPr/>
        </p:nvSpPr>
        <p:spPr>
          <a:xfrm>
            <a:off x="35048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候选 Skill</a:t>
            </a:r>
          </a:p>
        </p:txBody>
      </p:sp>
      <p:sp>
        <p:nvSpPr>
          <p:cNvPr id="34" name="h2p-9-text-33"/>
          <p:cNvSpPr txBox="1"/>
          <p:nvPr/>
        </p:nvSpPr>
        <p:spPr>
          <a:xfrm>
            <a:off x="35048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新版本 + 回归案例</a:t>
            </a:r>
          </a:p>
        </p:txBody>
      </p:sp>
      <p:sp>
        <p:nvSpPr>
          <p:cNvPr id="35" name="h2p-9-text-34"/>
          <p:cNvSpPr txBox="1"/>
          <p:nvPr/>
        </p:nvSpPr>
        <p:spPr>
          <a:xfrm>
            <a:off x="5543092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36" name="h2p-9-box-35"/>
          <p:cNvSpPr/>
          <p:nvPr/>
        </p:nvSpPr>
        <p:spPr>
          <a:xfrm>
            <a:off x="5943600" y="4438497"/>
            <a:ext cx="2133295" cy="1047902"/>
          </a:xfrm>
          <a:prstGeom prst="roundRect">
            <a:avLst>
              <a:gd name="adj" fmla="val 163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9-text-36"/>
          <p:cNvSpPr txBox="1"/>
          <p:nvPr/>
        </p:nvSpPr>
        <p:spPr>
          <a:xfrm>
            <a:off x="6133795" y="4610404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独立验证门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6133795" y="4914900"/>
            <a:ext cx="1787652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新案例通过 + Human 边界</a:t>
            </a:r>
          </a:p>
        </p:txBody>
      </p:sp>
      <p:sp>
        <p:nvSpPr>
          <p:cNvPr id="39" name="h2p-9-text-38"/>
          <p:cNvSpPr txBox="1"/>
          <p:nvPr/>
        </p:nvSpPr>
        <p:spPr>
          <a:xfrm>
            <a:off x="8172907" y="4705502"/>
            <a:ext cx="291693" cy="4187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40" name="h2p-9-box-39"/>
          <p:cNvSpPr/>
          <p:nvPr/>
        </p:nvSpPr>
        <p:spPr>
          <a:xfrm>
            <a:off x="8572500" y="4438497"/>
            <a:ext cx="2933395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2794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h2p-9-text-40"/>
          <p:cNvSpPr txBox="1"/>
          <p:nvPr/>
        </p:nvSpPr>
        <p:spPr>
          <a:xfrm>
            <a:off x="8762695" y="4610404"/>
            <a:ext cx="2604211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已验证资产</a:t>
            </a:r>
          </a:p>
        </p:txBody>
      </p:sp>
      <p:sp>
        <p:nvSpPr>
          <p:cNvPr id="42" name="h2p-9-text-41"/>
          <p:cNvSpPr txBox="1"/>
          <p:nvPr/>
        </p:nvSpPr>
        <p:spPr>
          <a:xfrm>
            <a:off x="8762695" y="4914900"/>
            <a:ext cx="2604211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Skill 版本 + Memory + 证据引用</a:t>
            </a:r>
          </a:p>
        </p:txBody>
      </p:sp>
      <p:sp>
        <p:nvSpPr>
          <p:cNvPr id="43" name="h2p-9-box-42"/>
          <p:cNvSpPr/>
          <p:nvPr/>
        </p:nvSpPr>
        <p:spPr>
          <a:xfrm>
            <a:off x="685800" y="5658307"/>
            <a:ext cx="10820095" cy="552297"/>
          </a:xfrm>
          <a:prstGeom prst="roundRect">
            <a:avLst>
              <a:gd name="adj" fmla="val 31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9-text-43"/>
          <p:cNvSpPr txBox="1"/>
          <p:nvPr/>
        </p:nvSpPr>
        <p:spPr>
          <a:xfrm>
            <a:off x="914400" y="5771692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Project Dossier</a:t>
            </a:r>
            <a:r>
              <a:rPr sz="1200">
                <a:solidFill>
                  <a:srgbClr val="102A43"/>
                </a:solidFill>
                <a:latin typeface="Noto Sans CJK SC"/>
              </a:rPr>
              <a:t> 保存共享状态；Step / Episode 级 </a:t>
            </a:r>
            <a:r>
              <a:rPr b="1" sz="1200">
                <a:solidFill>
                  <a:srgbClr val="102A43"/>
                </a:solidFill>
                <a:latin typeface="Noto Sans CJK SC"/>
              </a:rPr>
              <a:t>Trace</a:t>
            </a:r>
            <a:r>
              <a:rPr sz="1200">
                <a:solidFill>
                  <a:srgbClr val="102A43"/>
                </a:solidFill>
                <a:latin typeface="Noto Sans CJK SC"/>
              </a:rPr>
              <a:t> 记录成功与失败；风险动作由 Human 门禁截断。</a:t>
            </a:r>
          </a:p>
        </p:txBody>
      </p:sp>
      <p:sp>
        <p:nvSpPr>
          <p:cNvPr id="45" name="h2p-9-text-44"/>
          <p:cNvSpPr txBox="1"/>
          <p:nvPr/>
        </p:nvSpPr>
        <p:spPr>
          <a:xfrm>
            <a:off x="685800" y="6543446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工具 / 上下文</a:t>
            </a:r>
          </a:p>
        </p:txBody>
      </p:sp>
      <p:sp>
        <p:nvSpPr>
          <p:cNvPr id="46" name="h2p-9-text-4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交付 AgentSolutionPackage 与五种合法结果。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交付的是“方案 + 证据 + 运行边界”；结果可以自动化，也可以有证据地保留人工或拒绝。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52497"/>
            <a:ext cx="6476695" cy="3429000"/>
          </a:xfrm>
          <a:prstGeom prst="roundRect">
            <a:avLst>
              <a:gd name="adj" fmla="val 5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14400" y="23244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box-8"/>
          <p:cNvSpPr/>
          <p:nvPr/>
        </p:nvSpPr>
        <p:spPr>
          <a:xfrm>
            <a:off x="914400" y="2704795"/>
            <a:ext cx="6019495" cy="724204"/>
          </a:xfrm>
          <a:prstGeom prst="roundRect">
            <a:avLst>
              <a:gd name="adj" fmla="val 236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0-text-9"/>
          <p:cNvSpPr txBox="1"/>
          <p:nvPr/>
        </p:nvSpPr>
        <p:spPr>
          <a:xfrm>
            <a:off x="1104595" y="2857500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SOLUTION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2190902" y="2819095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架构图 + Tool / Skill / MCP / Memory / 模型 / 拓扑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2190902" y="3105302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说明为什么够用，以及为什么不需要更复杂方案</a:t>
            </a:r>
          </a:p>
        </p:txBody>
      </p:sp>
      <p:sp>
        <p:nvSpPr>
          <p:cNvPr id="13" name="h2p-10-box-12"/>
          <p:cNvSpPr/>
          <p:nvPr/>
        </p:nvSpPr>
        <p:spPr>
          <a:xfrm>
            <a:off x="914400" y="3581704"/>
            <a:ext cx="6019495" cy="724204"/>
          </a:xfrm>
          <a:prstGeom prst="roundRect">
            <a:avLst>
              <a:gd name="adj" fmla="val 236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0-text-13"/>
          <p:cNvSpPr txBox="1"/>
          <p:nvPr/>
        </p:nvSpPr>
        <p:spPr>
          <a:xfrm>
            <a:off x="1104595" y="3733495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EVIDENCE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2190902" y="3696004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版本化案例 + Episode + Trace + 失败记录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190902" y="3981297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可复验、可审计，保留成本与适用边界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914400" y="4457700"/>
            <a:ext cx="6019495" cy="875995"/>
          </a:xfrm>
          <a:prstGeom prst="roundRect">
            <a:avLst>
              <a:gd name="adj" fmla="val 1957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1104595" y="4610404"/>
            <a:ext cx="50474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BOUNDARY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2190902" y="4572000"/>
            <a:ext cx="4604918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权限 + Human 门禁 + 预算 + 异常 + 回滚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2190902" y="4857292"/>
            <a:ext cx="460491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明确能做、不能做、由谁批准以及失败后如何恢复</a:t>
            </a:r>
          </a:p>
        </p:txBody>
      </p:sp>
      <p:sp>
        <p:nvSpPr>
          <p:cNvPr id="21" name="h2p-10-box-20"/>
          <p:cNvSpPr/>
          <p:nvPr/>
        </p:nvSpPr>
        <p:spPr>
          <a:xfrm>
            <a:off x="7353604" y="2152497"/>
            <a:ext cx="4153204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0-text-21"/>
          <p:cNvSpPr txBox="1"/>
          <p:nvPr/>
        </p:nvSpPr>
        <p:spPr>
          <a:xfrm>
            <a:off x="7582204" y="2324404"/>
            <a:ext cx="224393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DELIVERY DECISION · 五种合法结果</a:t>
            </a:r>
          </a:p>
        </p:txBody>
      </p:sp>
      <p:sp>
        <p:nvSpPr>
          <p:cNvPr id="23" name="h2p-10-box-22"/>
          <p:cNvSpPr/>
          <p:nvPr/>
        </p:nvSpPr>
        <p:spPr>
          <a:xfrm>
            <a:off x="7582204" y="2648102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0-text-23"/>
          <p:cNvSpPr txBox="1"/>
          <p:nvPr/>
        </p:nvSpPr>
        <p:spPr>
          <a:xfrm>
            <a:off x="7733995" y="276240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5" name="h2p-10-box-24"/>
          <p:cNvSpPr/>
          <p:nvPr/>
        </p:nvSpPr>
        <p:spPr>
          <a:xfrm>
            <a:off x="7582204" y="3238804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0-text-25"/>
          <p:cNvSpPr txBox="1"/>
          <p:nvPr/>
        </p:nvSpPr>
        <p:spPr>
          <a:xfrm>
            <a:off x="7733995" y="3353104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27" name="h2p-10-box-26"/>
          <p:cNvSpPr/>
          <p:nvPr/>
        </p:nvSpPr>
        <p:spPr>
          <a:xfrm>
            <a:off x="7582204" y="3829507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0-text-27"/>
          <p:cNvSpPr txBox="1"/>
          <p:nvPr/>
        </p:nvSpPr>
        <p:spPr>
          <a:xfrm>
            <a:off x="7733995" y="39428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29" name="h2p-10-box-28"/>
          <p:cNvSpPr/>
          <p:nvPr/>
        </p:nvSpPr>
        <p:spPr>
          <a:xfrm>
            <a:off x="7582204" y="4419295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10-text-29"/>
          <p:cNvSpPr txBox="1"/>
          <p:nvPr/>
        </p:nvSpPr>
        <p:spPr>
          <a:xfrm>
            <a:off x="7733995" y="4533595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1" name="h2p-10-box-30"/>
          <p:cNvSpPr/>
          <p:nvPr/>
        </p:nvSpPr>
        <p:spPr>
          <a:xfrm>
            <a:off x="7582204" y="5009997"/>
            <a:ext cx="3696004" cy="476402"/>
          </a:xfrm>
          <a:prstGeom prst="roundRect">
            <a:avLst>
              <a:gd name="adj" fmla="val 3600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0-text-31"/>
          <p:cNvSpPr txBox="1"/>
          <p:nvPr/>
        </p:nvSpPr>
        <p:spPr>
          <a:xfrm>
            <a:off x="7733995" y="51242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3" name="h2p-10-box-32"/>
          <p:cNvSpPr/>
          <p:nvPr/>
        </p:nvSpPr>
        <p:spPr>
          <a:xfrm>
            <a:off x="685800" y="5753404"/>
            <a:ext cx="10820095" cy="457200"/>
          </a:xfrm>
          <a:prstGeom prst="roundRect">
            <a:avLst>
              <a:gd name="adj" fmla="val 375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0-text-33"/>
          <p:cNvSpPr txBox="1"/>
          <p:nvPr/>
        </p:nvSpPr>
        <p:spPr>
          <a:xfrm>
            <a:off x="810158" y="5848502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当前正式候选证据不足，无法给出前四种结果；本轮结论是 requires_runtime_trial。</a:t>
            </a:r>
          </a:p>
        </p:txBody>
      </p:sp>
      <p:sp>
        <p:nvSpPr>
          <p:cNvPr id="35" name="h2p-10-text-34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证据账本：OpsPilot 为官方锚点，retail/airline 仅探索性 Demo。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561795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每一层只回答它能证明的问题：官方案例、探索性可行性、正式候选验证绝不混写。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9623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353104" cy="3047695"/>
          </a:xfrm>
          <a:prstGeom prst="roundRect">
            <a:avLst>
              <a:gd name="adj" fmla="val 563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14400" y="2324404"/>
            <a:ext cx="295351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OFFICIAL ANCHOR · 官方案例锚点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14400" y="2686507"/>
            <a:ext cx="295351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OpsPilot Zero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14400" y="3066897"/>
            <a:ext cx="295351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官方发布示例；结构、业务执行 Agent、事故样本与工具契约已代码级核验。</a:t>
            </a:r>
          </a:p>
        </p:txBody>
      </p:sp>
      <p:sp>
        <p:nvSpPr>
          <p:cNvPr id="11" name="h2p-11-box-10"/>
          <p:cNvSpPr/>
          <p:nvPr/>
        </p:nvSpPr>
        <p:spPr>
          <a:xfrm>
            <a:off x="914400" y="4038904"/>
            <a:ext cx="2895904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1-text-11"/>
          <p:cNvSpPr txBox="1"/>
          <p:nvPr/>
        </p:nvSpPr>
        <p:spPr>
          <a:xfrm>
            <a:off x="1067104" y="4134002"/>
            <a:ext cx="264261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案例与设计输入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200">
                <a:solidFill>
                  <a:srgbClr val="102A43"/>
                </a:solidFill>
                <a:latin typeface="Noto Sans CJK SC"/>
              </a:rPr>
              <a:t>AgentFit 已运行</a:t>
            </a:r>
          </a:p>
        </p:txBody>
      </p:sp>
      <p:sp>
        <p:nvSpPr>
          <p:cNvPr id="13" name="h2p-11-box-12"/>
          <p:cNvSpPr/>
          <p:nvPr/>
        </p:nvSpPr>
        <p:spPr>
          <a:xfrm>
            <a:off x="4190695" y="2152497"/>
            <a:ext cx="3810304" cy="3047695"/>
          </a:xfrm>
          <a:prstGeom prst="roundRect">
            <a:avLst>
              <a:gd name="adj" fmla="val 56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4419295" y="2324404"/>
            <a:ext cx="341985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EXPLORATORY DEMO · 探索性证据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419295" y="2686507"/>
            <a:ext cx="3419856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retail / airline overnight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419295" y="3066897"/>
            <a:ext cx="3419856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使用 DeepSeek、OpenCode、本地路径、自建工具与代理评估器，留下可追溯运行记录。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4419295" y="4038904"/>
            <a:ext cx="3353104" cy="742492"/>
          </a:xfrm>
          <a:prstGeom prst="roundRect">
            <a:avLst>
              <a:gd name="adj" fmla="val 2308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text-17"/>
          <p:cNvSpPr txBox="1"/>
          <p:nvPr/>
        </p:nvSpPr>
        <p:spPr>
          <a:xfrm>
            <a:off x="4419295" y="4134002"/>
            <a:ext cx="3419856" cy="3858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证明：</a:t>
            </a:r>
            <a:r>
              <a:rPr sz="1120">
                <a:solidFill>
                  <a:srgbClr val="102A43"/>
                </a:solidFill>
                <a:latin typeface="Noto Sans CJK SC"/>
              </a:rPr>
              <a:t>探索路径与失败线索</a:t>
            </a:r>
          </a:p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不证明：</a:t>
            </a:r>
            <a:r>
              <a:rPr sz="1120">
                <a:solidFill>
                  <a:srgbClr val="102A43"/>
                </a:solidFill>
                <a:latin typeface="Noto Sans CJK SC"/>
              </a:rPr>
              <a:t>官方 evaluator / Candidate / 官方分数</a:t>
            </a:r>
          </a:p>
        </p:txBody>
      </p:sp>
      <p:sp>
        <p:nvSpPr>
          <p:cNvPr id="19" name="h2p-11-box-18"/>
          <p:cNvSpPr/>
          <p:nvPr/>
        </p:nvSpPr>
        <p:spPr>
          <a:xfrm>
            <a:off x="8153704" y="2152497"/>
            <a:ext cx="3353104" cy="3047695"/>
          </a:xfrm>
          <a:prstGeom prst="roundRect">
            <a:avLst>
              <a:gd name="adj" fmla="val 563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1-text-19"/>
          <p:cNvSpPr txBox="1"/>
          <p:nvPr/>
        </p:nvSpPr>
        <p:spPr>
          <a:xfrm>
            <a:off x="8382304" y="2324404"/>
            <a:ext cx="295351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NOT_STARTED · 正式候选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382304" y="2686507"/>
            <a:ext cx="2953512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AgentFit runtime</a:t>
            </a:r>
          </a:p>
        </p:txBody>
      </p:sp>
      <p:sp>
        <p:nvSpPr>
          <p:cNvPr id="22" name="h2p-11-text-21"/>
          <p:cNvSpPr txBox="1"/>
          <p:nvPr/>
        </p:nvSpPr>
        <p:spPr>
          <a:xfrm>
            <a:off x="8382304" y="3066897"/>
            <a:ext cx="295351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ProjectCase 冻结、五元团队实例化、统一 C0–C3 对照仍未完成。</a:t>
            </a:r>
          </a:p>
        </p:txBody>
      </p:sp>
      <p:sp>
        <p:nvSpPr>
          <p:cNvPr id="23" name="h2p-11-box-22"/>
          <p:cNvSpPr/>
          <p:nvPr/>
        </p:nvSpPr>
        <p:spPr>
          <a:xfrm>
            <a:off x="8382304" y="4038904"/>
            <a:ext cx="2895904" cy="875995"/>
          </a:xfrm>
          <a:prstGeom prst="roundRect">
            <a:avLst>
              <a:gd name="adj" fmla="val 1957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1-text-23"/>
          <p:cNvSpPr txBox="1"/>
          <p:nvPr/>
        </p:nvSpPr>
        <p:spPr>
          <a:xfrm>
            <a:off x="8458200" y="4134002"/>
            <a:ext cx="2798064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待补：正式 Candidate / 真实 Episode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8458200" y="4515307"/>
            <a:ext cx="2798064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CandidateVersion × SampleVersion</a:t>
            </a:r>
          </a:p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× RunIndex</a:t>
            </a:r>
          </a:p>
        </p:txBody>
      </p:sp>
      <p:sp>
        <p:nvSpPr>
          <p:cNvPr id="26" name="h2p-11-box-25"/>
          <p:cNvSpPr/>
          <p:nvPr/>
        </p:nvSpPr>
        <p:spPr>
          <a:xfrm>
            <a:off x="685800" y="5391302"/>
            <a:ext cx="10820095" cy="590702"/>
          </a:xfrm>
          <a:prstGeom prst="roundRect">
            <a:avLst>
              <a:gd name="adj" fmla="val 2903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1-text-26"/>
          <p:cNvSpPr txBox="1"/>
          <p:nvPr/>
        </p:nvSpPr>
        <p:spPr>
          <a:xfrm>
            <a:off x="810158" y="5505602"/>
            <a:ext cx="10589666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OpsPilot 是官方案例锚点；retail / airline 仅为探索性 Demo，使用非官方 evaluator，不是正式 Candidate，也不是官方分数。</a:t>
            </a:r>
          </a:p>
        </p:txBody>
      </p:sp>
      <p:sp>
        <p:nvSpPr>
          <p:cNvPr id="28" name="h2p-11-text-27"/>
          <p:cNvSpPr txBox="1"/>
          <p:nvPr/>
        </p:nvSpPr>
        <p:spPr>
          <a:xfrm>
            <a:off x="577900" y="6115507"/>
            <a:ext cx="11036808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若获准，下一门禁：冻结 ProjectCase → 在 AgentTeams 跑真实候选 → 由 GovernanceAuditor 审计</a:t>
            </a:r>
          </a:p>
        </p:txBody>
      </p:sp>
      <p:sp>
        <p:nvSpPr>
          <p:cNvPr id="29" name="h2p-11-text-28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30" name="h2p-11-text-29"/>
          <p:cNvSpPr txBox="1"/>
          <p:nvPr/>
        </p:nvSpPr>
        <p:spPr>
          <a:xfrm>
            <a:off x="10387584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从案例回到通用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24204"/>
            <a:ext cx="1103680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FFFFFF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OpsPilot 是第一个官方案例锚点；AgentFit 的通用价值，是让每个业务任务都得到最小充分的已验证方案。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1714500" y="2648102"/>
            <a:ext cx="8762695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box-7"/>
          <p:cNvSpPr/>
          <p:nvPr/>
        </p:nvSpPr>
        <p:spPr>
          <a:xfrm>
            <a:off x="685800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2-text-8"/>
          <p:cNvSpPr txBox="1"/>
          <p:nvPr/>
        </p:nvSpPr>
        <p:spPr>
          <a:xfrm>
            <a:off x="914400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74A8C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14400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从业务验收出发</a:t>
            </a:r>
          </a:p>
        </p:txBody>
      </p:sp>
      <p:sp>
        <p:nvSpPr>
          <p:cNvPr id="11" name="h2p-12-text-10"/>
          <p:cNvSpPr txBox="1"/>
          <p:nvPr/>
        </p:nvSpPr>
        <p:spPr>
          <a:xfrm>
            <a:off x="914400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材料、代表性案例和优先级先变成可验证 ProjectCase。</a:t>
            </a:r>
          </a:p>
        </p:txBody>
      </p:sp>
      <p:sp>
        <p:nvSpPr>
          <p:cNvPr id="12" name="h2p-12-text-11"/>
          <p:cNvSpPr txBox="1"/>
          <p:nvPr/>
        </p:nvSpPr>
        <p:spPr>
          <a:xfrm>
            <a:off x="914400" y="4476902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A8C6"/>
                </a:solidFill>
                <a:latin typeface="Noto Sans Mono CJK SC"/>
              </a:rPr>
              <a:t>BUSINESS FIRST</a:t>
            </a:r>
          </a:p>
        </p:txBody>
      </p:sp>
      <p:sp>
        <p:nvSpPr>
          <p:cNvPr id="13" name="h2p-12-text-12"/>
          <p:cNvSpPr txBox="1"/>
          <p:nvPr/>
        </p:nvSpPr>
        <p:spPr>
          <a:xfrm>
            <a:off x="4000500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74D0C7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12-box-13"/>
          <p:cNvSpPr/>
          <p:nvPr/>
        </p:nvSpPr>
        <p:spPr>
          <a:xfrm>
            <a:off x="4496104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2-text-14"/>
          <p:cNvSpPr txBox="1"/>
          <p:nvPr/>
        </p:nvSpPr>
        <p:spPr>
          <a:xfrm>
            <a:off x="4724704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74D0C7"/>
                </a:solidFill>
                <a:latin typeface="Noto Sans Mono CJK SC"/>
              </a:rPr>
              <a:t>02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4724704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由简入繁地调整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4724704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先做最小候选；只根据失败证据调整完整方案。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4724704" y="4476902"/>
            <a:ext cx="821131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EVIDENCE LOOP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7810804" y="3314700"/>
            <a:ext cx="330098" cy="466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0" name="h2p-12-box-19"/>
          <p:cNvSpPr/>
          <p:nvPr/>
        </p:nvSpPr>
        <p:spPr>
          <a:xfrm>
            <a:off x="8305495" y="2266797"/>
            <a:ext cx="3200400" cy="2609697"/>
          </a:xfrm>
          <a:prstGeom prst="roundRect">
            <a:avLst>
              <a:gd name="adj" fmla="val 6569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2-text-20"/>
          <p:cNvSpPr txBox="1"/>
          <p:nvPr/>
        </p:nvSpPr>
        <p:spPr>
          <a:xfrm>
            <a:off x="8534095" y="2457907"/>
            <a:ext cx="369417" cy="3621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85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8534095" y="3010204"/>
            <a:ext cx="2798064" cy="2587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FFFFFF"/>
                </a:solidFill>
                <a:latin typeface="Noto Sans CJK SC"/>
              </a:rPr>
              <a:t>在新案例上停止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8534095" y="3429000"/>
            <a:ext cx="2798064" cy="4855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交付最小充分方案包；保留人工与拒绝自动化同样合法。</a:t>
            </a:r>
          </a:p>
        </p:txBody>
      </p:sp>
      <p:sp>
        <p:nvSpPr>
          <p:cNvPr id="24" name="h2p-12-text-23"/>
          <p:cNvSpPr txBox="1"/>
          <p:nvPr/>
        </p:nvSpPr>
        <p:spPr>
          <a:xfrm>
            <a:off x="8534095" y="4476902"/>
            <a:ext cx="69494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JUST ENOUGH</a:t>
            </a:r>
          </a:p>
        </p:txBody>
      </p:sp>
      <p:sp>
        <p:nvSpPr>
          <p:cNvPr id="25" name="h2p-12-box-24"/>
          <p:cNvSpPr/>
          <p:nvPr/>
        </p:nvSpPr>
        <p:spPr>
          <a:xfrm>
            <a:off x="3429000" y="5181904"/>
            <a:ext cx="5333695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2-text-25"/>
          <p:cNvSpPr txBox="1"/>
          <p:nvPr/>
        </p:nvSpPr>
        <p:spPr>
          <a:xfrm>
            <a:off x="3531412" y="5419648"/>
            <a:ext cx="51297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720">
                <a:solidFill>
                  <a:srgbClr val="74D0C7"/>
                </a:solidFill>
                <a:latin typeface="Noto Sans Mono CJK SC"/>
              </a:rPr>
              <a:t>FIT = SIMPLE · TESTED · SUFFICIENT</a:t>
            </a:r>
          </a:p>
        </p:txBody>
      </p:sp>
      <p:sp>
        <p:nvSpPr>
          <p:cNvPr id="27" name="h2p-12-text-26"/>
          <p:cNvSpPr txBox="1"/>
          <p:nvPr/>
        </p:nvSpPr>
        <p:spPr>
          <a:xfrm>
            <a:off x="577900" y="6191402"/>
            <a:ext cx="11036808" cy="229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 · requires_runtime_trial</a:t>
            </a:r>
          </a:p>
        </p:txBody>
      </p:sp>
      <p:sp>
        <p:nvSpPr>
          <p:cNvPr id="28" name="h2p-12-text-27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9" name="h2p-12-text-28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七层 ML 映射、候选四元组与内外循环。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这是高层 ML 开发流程的工程类比，不是已实现的优化器；主线仍是可审计的方案构建、比较与停止。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62302"/>
            <a:ext cx="5333695" cy="3238804"/>
          </a:xfrm>
          <a:prstGeom prst="roundRect">
            <a:avLst>
              <a:gd name="adj" fmla="val 5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14400" y="2095804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74D0C7"/>
                </a:solidFill>
                <a:latin typeface="Noto Sans Mono CJK SC"/>
              </a:rPr>
              <a:t>SEVEN-LAYER MAPPING · 七层 ML 映射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14400" y="23618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14400" y="2667304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14400" y="2971800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14400" y="32762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14400" y="3581704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L5 内循环（inner loop）→ 固定候选内的局部调整类比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14400" y="3886200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L6 外循环（outer loop）→ 新案例上的候选比较类比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14400" y="4190695"/>
            <a:ext cx="495513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L7 跨项目学习 → 多项目验证后才可能更新先验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14400" y="4647895"/>
            <a:ext cx="495513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D6A43B"/>
                </a:solidFill>
                <a:latin typeface="Noto Sans CJK SC"/>
              </a:rPr>
              <a:t>七层只作解释，不声明自动搜索、参数学习或 Meta-learning 已实现。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172200" y="1962302"/>
            <a:ext cx="5333695" cy="2686507"/>
          </a:xfrm>
          <a:prstGeom prst="roundRect">
            <a:avLst>
              <a:gd name="adj" fmla="val 63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400800" y="2095804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400800" y="2361895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Mono CJK SC"/>
              </a:rPr>
              <a:t>Candidate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400800" y="2667304"/>
            <a:ext cx="4955133" cy="198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G 能力图 · Π Agent 分区 · θ 局部参数 · ρ 跨分区共享范围</a:t>
            </a:r>
          </a:p>
        </p:txBody>
      </p:sp>
      <p:sp>
        <p:nvSpPr>
          <p:cNvPr id="21" name="h2p-13-text-20"/>
          <p:cNvSpPr txBox="1"/>
          <p:nvPr/>
        </p:nvSpPr>
        <p:spPr>
          <a:xfrm>
            <a:off x="6400800" y="2933395"/>
            <a:ext cx="4955133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2" name="h2p-13-box-21"/>
          <p:cNvSpPr/>
          <p:nvPr/>
        </p:nvSpPr>
        <p:spPr>
          <a:xfrm>
            <a:off x="6400800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3-text-22"/>
          <p:cNvSpPr txBox="1"/>
          <p:nvPr/>
        </p:nvSpPr>
        <p:spPr>
          <a:xfrm>
            <a:off x="6404457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26B86"/>
                </a:solidFill>
                <a:latin typeface="Noto Sans CJK SC"/>
              </a:rPr>
              <a:t>去重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7029907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7220102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7223760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检索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7848295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8" name="h2p-13-box-27"/>
          <p:cNvSpPr/>
          <p:nvPr/>
        </p:nvSpPr>
        <p:spPr>
          <a:xfrm>
            <a:off x="8039404" y="3105302"/>
            <a:ext cx="1676095" cy="1047902"/>
          </a:xfrm>
          <a:prstGeom prst="roundRect">
            <a:avLst>
              <a:gd name="adj" fmla="val 10910"/>
            </a:avLst>
          </a:prstGeom>
          <a:solidFill>
            <a:srgbClr val="FEF6F4"/>
          </a:solidFill>
          <a:ln w="19050">
            <a:solidFill>
              <a:srgbClr val="F26B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3-text-28"/>
          <p:cNvSpPr txBox="1"/>
          <p:nvPr/>
        </p:nvSpPr>
        <p:spPr>
          <a:xfrm>
            <a:off x="8134502" y="3161995"/>
            <a:ext cx="1515160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30" name="h2p-13-box-29"/>
          <p:cNvSpPr/>
          <p:nvPr/>
        </p:nvSpPr>
        <p:spPr>
          <a:xfrm>
            <a:off x="81345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3-text-30"/>
          <p:cNvSpPr txBox="1"/>
          <p:nvPr/>
        </p:nvSpPr>
        <p:spPr>
          <a:xfrm>
            <a:off x="81381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定位</a:t>
            </a:r>
          </a:p>
        </p:txBody>
      </p:sp>
      <p:sp>
        <p:nvSpPr>
          <p:cNvPr id="32" name="h2p-13-text-31"/>
          <p:cNvSpPr txBox="1"/>
          <p:nvPr/>
        </p:nvSpPr>
        <p:spPr>
          <a:xfrm>
            <a:off x="8762695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3" name="h2p-13-box-32"/>
          <p:cNvSpPr/>
          <p:nvPr/>
        </p:nvSpPr>
        <p:spPr>
          <a:xfrm>
            <a:off x="8953804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3-text-33"/>
          <p:cNvSpPr txBox="1"/>
          <p:nvPr/>
        </p:nvSpPr>
        <p:spPr>
          <a:xfrm>
            <a:off x="8957462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生成</a:t>
            </a:r>
          </a:p>
        </p:txBody>
      </p:sp>
      <p:sp>
        <p:nvSpPr>
          <p:cNvPr id="35" name="h2p-13-box-34"/>
          <p:cNvSpPr/>
          <p:nvPr/>
        </p:nvSpPr>
        <p:spPr>
          <a:xfrm>
            <a:off x="8343900" y="3781044"/>
            <a:ext cx="10671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3-text-35"/>
          <p:cNvSpPr txBox="1"/>
          <p:nvPr/>
        </p:nvSpPr>
        <p:spPr>
          <a:xfrm>
            <a:off x="8172907" y="3685946"/>
            <a:ext cx="155448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7" name="h2p-13-text-36"/>
          <p:cNvSpPr txBox="1"/>
          <p:nvPr/>
        </p:nvSpPr>
        <p:spPr>
          <a:xfrm>
            <a:off x="8057692" y="3847795"/>
            <a:ext cx="1690725" cy="342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8" name="h2p-13-text-37"/>
          <p:cNvSpPr txBox="1"/>
          <p:nvPr/>
        </p:nvSpPr>
        <p:spPr>
          <a:xfrm>
            <a:off x="9753904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9" name="h2p-13-box-38"/>
          <p:cNvSpPr/>
          <p:nvPr/>
        </p:nvSpPr>
        <p:spPr>
          <a:xfrm>
            <a:off x="9944100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3-text-39"/>
          <p:cNvSpPr txBox="1"/>
          <p:nvPr/>
        </p:nvSpPr>
        <p:spPr>
          <a:xfrm>
            <a:off x="9947757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测试</a:t>
            </a:r>
          </a:p>
        </p:txBody>
      </p:sp>
      <p:sp>
        <p:nvSpPr>
          <p:cNvPr id="41" name="h2p-13-text-40"/>
          <p:cNvSpPr txBox="1"/>
          <p:nvPr/>
        </p:nvSpPr>
        <p:spPr>
          <a:xfrm>
            <a:off x="10572292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42" name="h2p-13-box-41"/>
          <p:cNvSpPr/>
          <p:nvPr/>
        </p:nvSpPr>
        <p:spPr>
          <a:xfrm>
            <a:off x="107634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3-text-42"/>
          <p:cNvSpPr txBox="1"/>
          <p:nvPr/>
        </p:nvSpPr>
        <p:spPr>
          <a:xfrm>
            <a:off x="107670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A5781C"/>
                </a:solidFill>
                <a:latin typeface="Noto Sans CJK SC"/>
              </a:rPr>
              <a:t>人工</a:t>
            </a:r>
          </a:p>
        </p:txBody>
      </p:sp>
      <p:sp>
        <p:nvSpPr>
          <p:cNvPr id="44" name="h2p-13-text-43"/>
          <p:cNvSpPr txBox="1"/>
          <p:nvPr/>
        </p:nvSpPr>
        <p:spPr>
          <a:xfrm>
            <a:off x="6400800" y="4267504"/>
            <a:ext cx="4955133" cy="198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45" name="h2p-13-text-44"/>
          <p:cNvSpPr txBox="1"/>
          <p:nvPr/>
        </p:nvSpPr>
        <p:spPr>
          <a:xfrm>
            <a:off x="6400800" y="4496104"/>
            <a:ext cx="4955133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46" name="h2p-13-box-45"/>
          <p:cNvSpPr/>
          <p:nvPr/>
        </p:nvSpPr>
        <p:spPr>
          <a:xfrm>
            <a:off x="6172200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13-text-46"/>
          <p:cNvSpPr txBox="1"/>
          <p:nvPr/>
        </p:nvSpPr>
        <p:spPr>
          <a:xfrm>
            <a:off x="6400800" y="4914900"/>
            <a:ext cx="219547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INNER LOOP · 高层工程类比</a:t>
            </a:r>
          </a:p>
        </p:txBody>
      </p:sp>
      <p:sp>
        <p:nvSpPr>
          <p:cNvPr id="48" name="h2p-13-text-47"/>
          <p:cNvSpPr txBox="1"/>
          <p:nvPr/>
        </p:nvSpPr>
        <p:spPr>
          <a:xfrm>
            <a:off x="6400800" y="5143500"/>
            <a:ext cx="219547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固定候选内局部调整</a:t>
            </a:r>
          </a:p>
        </p:txBody>
      </p:sp>
      <p:sp>
        <p:nvSpPr>
          <p:cNvPr id="49" name="h2p-13-text-48"/>
          <p:cNvSpPr txBox="1"/>
          <p:nvPr/>
        </p:nvSpPr>
        <p:spPr>
          <a:xfrm>
            <a:off x="6400800" y="5410504"/>
            <a:ext cx="2195474" cy="617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固定 G / Π / ρ；只更新 θ 与分区内状态；记录 adaptation cases。</a:t>
            </a:r>
          </a:p>
        </p:txBody>
      </p:sp>
      <p:sp>
        <p:nvSpPr>
          <p:cNvPr id="50" name="h2p-13-text-49"/>
          <p:cNvSpPr txBox="1"/>
          <p:nvPr/>
        </p:nvSpPr>
        <p:spPr>
          <a:xfrm>
            <a:off x="6400800" y="6077102"/>
            <a:ext cx="219547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不是已实现的优化器</a:t>
            </a:r>
          </a:p>
        </p:txBody>
      </p:sp>
      <p:sp>
        <p:nvSpPr>
          <p:cNvPr id="51" name="h2p-13-box-50"/>
          <p:cNvSpPr/>
          <p:nvPr/>
        </p:nvSpPr>
        <p:spPr>
          <a:xfrm>
            <a:off x="8934602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2p-13-text-51"/>
          <p:cNvSpPr txBox="1"/>
          <p:nvPr/>
        </p:nvSpPr>
        <p:spPr>
          <a:xfrm>
            <a:off x="9163202" y="4914900"/>
            <a:ext cx="219547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C64C32"/>
                </a:solidFill>
                <a:latin typeface="Noto Sans Mono CJK SC"/>
              </a:rPr>
              <a:t>OUTER LOOP · 高层工程类比</a:t>
            </a:r>
          </a:p>
        </p:txBody>
      </p:sp>
      <p:sp>
        <p:nvSpPr>
          <p:cNvPr id="53" name="h2p-13-text-52"/>
          <p:cNvSpPr txBox="1"/>
          <p:nvPr/>
        </p:nvSpPr>
        <p:spPr>
          <a:xfrm>
            <a:off x="9163202" y="5143500"/>
            <a:ext cx="219547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比较完整候选</a:t>
            </a:r>
          </a:p>
        </p:txBody>
      </p:sp>
      <p:sp>
        <p:nvSpPr>
          <p:cNvPr id="54" name="h2p-13-text-53"/>
          <p:cNvSpPr txBox="1"/>
          <p:nvPr/>
        </p:nvSpPr>
        <p:spPr>
          <a:xfrm>
            <a:off x="9163202" y="5410504"/>
            <a:ext cx="219547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更新 G / Π / ρ；比较 validation samples；保留合格候选。</a:t>
            </a:r>
          </a:p>
        </p:txBody>
      </p:sp>
      <p:sp>
        <p:nvSpPr>
          <p:cNvPr id="55" name="h2p-13-text-54"/>
          <p:cNvSpPr txBox="1"/>
          <p:nvPr/>
        </p:nvSpPr>
        <p:spPr>
          <a:xfrm>
            <a:off x="9163202" y="6077102"/>
            <a:ext cx="219547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C64C32"/>
                </a:solidFill>
                <a:latin typeface="Noto Sans CJK SC"/>
              </a:rPr>
              <a:t>不预设多 Agent 胜出</a:t>
            </a:r>
          </a:p>
        </p:txBody>
      </p:sp>
      <p:sp>
        <p:nvSpPr>
          <p:cNvPr id="56" name="h2p-13-box-55"/>
          <p:cNvSpPr/>
          <p:nvPr/>
        </p:nvSpPr>
        <p:spPr>
          <a:xfrm>
            <a:off x="685800" y="5352897"/>
            <a:ext cx="5333695" cy="1123797"/>
          </a:xfrm>
          <a:prstGeom prst="roundRect">
            <a:avLst>
              <a:gd name="adj" fmla="val 1525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2p-13-text-56"/>
          <p:cNvSpPr txBox="1"/>
          <p:nvPr/>
        </p:nvSpPr>
        <p:spPr>
          <a:xfrm>
            <a:off x="914400" y="5486400"/>
            <a:ext cx="505206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类比边界 · 非实现声明</a:t>
            </a:r>
          </a:p>
        </p:txBody>
      </p:sp>
      <p:sp>
        <p:nvSpPr>
          <p:cNvPr id="58" name="h2p-13-text-57"/>
          <p:cNvSpPr txBox="1"/>
          <p:nvPr/>
        </p:nvSpPr>
        <p:spPr>
          <a:xfrm>
            <a:off x="914400" y="5734202"/>
            <a:ext cx="5052060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多项目轨迹在未见项目上稳定改善，才可能构成 Meta-learning 证据。</a:t>
            </a:r>
          </a:p>
        </p:txBody>
      </p:sp>
      <p:sp>
        <p:nvSpPr>
          <p:cNvPr id="59" name="h2p-13-text-58"/>
          <p:cNvSpPr txBox="1"/>
          <p:nvPr/>
        </p:nvSpPr>
        <p:spPr>
          <a:xfrm>
            <a:off x="914400" y="6077102"/>
            <a:ext cx="5052060" cy="3959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Schema、自动候选搜索、跨项目 Meta-learning 均未实现；设计契约，非运行证据。</a:t>
            </a:r>
          </a:p>
        </p:txBody>
      </p:sp>
      <p:sp>
        <p:nvSpPr>
          <p:cNvPr id="60" name="h2p-13-text-59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61" name="h2p-13-text-6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五个固定元 Agent 各守一个判断边界；身份不能互相冒充，责任产物必须进入 Trace。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38504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01 交付官 · 元 Agent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38504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38504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继续、停止、交付或升级 Human。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38504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426B86"/>
                </a:solidFill>
                <a:latin typeface="Noto Sans CJK SC"/>
              </a:rPr>
              <a:t>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76702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028492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02 业务架构师 · 元 Agent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028492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028492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案例是否代表业务，验收能否冻结。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028492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067604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219395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03 方案架构师 · 元 Agent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219395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219395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失败需要调整哪一维，复杂度是否必要。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219395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258507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410297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04 验证工程师 · 元 Agent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410297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410297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运行是否合规，数据是否足以比较。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410297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1A8D85"/>
                </a:solidFill>
                <a:latin typeface="Noto Sans CJK SC"/>
              </a:rPr>
              <a:t>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448495" y="1962302"/>
            <a:ext cx="2057400" cy="2857500"/>
          </a:xfrm>
          <a:prstGeom prst="roundRect">
            <a:avLst>
              <a:gd name="adj" fmla="val 83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601200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05 审计官 · 元 Agent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601200" y="2361895"/>
            <a:ext cx="180685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601200" y="2743200"/>
            <a:ext cx="180685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CJK SC"/>
              </a:rPr>
              <a:t>判断：</a:t>
            </a:r>
            <a:r>
              <a:rPr sz="980">
                <a:solidFill>
                  <a:srgbClr val="53697C"/>
                </a:solidFill>
                <a:latin typeface="Noto Sans CJK SC"/>
              </a:rPr>
              <a:t>证据能否支持选择、否决、降级与停止。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601200" y="3810304"/>
            <a:ext cx="180685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CJK SC"/>
              </a:rPr>
              <a:t>产物：</a:t>
            </a:r>
            <a:r>
              <a:rPr sz="980">
                <a:solidFill>
                  <a:srgbClr val="D6A43B"/>
                </a:solidFill>
                <a:latin typeface="Noto Sans CJK SC"/>
              </a:rPr>
              <a:t>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4990795"/>
            <a:ext cx="10820095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914400" y="5143500"/>
            <a:ext cx="401238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Identity 契约 · 元 Agent 与候选业务执行 Agent 使用同一字段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914400" y="5447995"/>
            <a:ext cx="1058966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914400" y="5810097"/>
            <a:ext cx="1058966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7" name="h2p-14-text-36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七个 Skill、Tool 与 MCP/HTTP 契约、Memory 与 Trace。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Tool、Skill、MCP、Memory 各有边界；验证门只把有新案例证据的版本提升为可复用资产。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box-6"/>
          <p:cNvSpPr/>
          <p:nvPr/>
        </p:nvSpPr>
        <p:spPr>
          <a:xfrm>
            <a:off x="685800" y="19623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5-text-7"/>
          <p:cNvSpPr txBox="1"/>
          <p:nvPr/>
        </p:nvSpPr>
        <p:spPr>
          <a:xfrm>
            <a:off x="914400" y="2114092"/>
            <a:ext cx="87416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9" name="h2p-15-box-8"/>
          <p:cNvSpPr/>
          <p:nvPr/>
        </p:nvSpPr>
        <p:spPr>
          <a:xfrm>
            <a:off x="914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5-text-9"/>
          <p:cNvSpPr txBox="1"/>
          <p:nvPr/>
        </p:nvSpPr>
        <p:spPr>
          <a:xfrm>
            <a:off x="10003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15-box-10"/>
          <p:cNvSpPr/>
          <p:nvPr/>
        </p:nvSpPr>
        <p:spPr>
          <a:xfrm>
            <a:off x="22860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5-text-11"/>
          <p:cNvSpPr txBox="1"/>
          <p:nvPr/>
        </p:nvSpPr>
        <p:spPr>
          <a:xfrm>
            <a:off x="23719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15-box-12"/>
          <p:cNvSpPr/>
          <p:nvPr/>
        </p:nvSpPr>
        <p:spPr>
          <a:xfrm>
            <a:off x="36576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5-text-13"/>
          <p:cNvSpPr txBox="1"/>
          <p:nvPr/>
        </p:nvSpPr>
        <p:spPr>
          <a:xfrm>
            <a:off x="37435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15-box-14"/>
          <p:cNvSpPr/>
          <p:nvPr/>
        </p:nvSpPr>
        <p:spPr>
          <a:xfrm>
            <a:off x="50292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5-text-15"/>
          <p:cNvSpPr txBox="1"/>
          <p:nvPr/>
        </p:nvSpPr>
        <p:spPr>
          <a:xfrm>
            <a:off x="51151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15-box-16"/>
          <p:cNvSpPr/>
          <p:nvPr/>
        </p:nvSpPr>
        <p:spPr>
          <a:xfrm>
            <a:off x="64008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5-text-17"/>
          <p:cNvSpPr txBox="1"/>
          <p:nvPr/>
        </p:nvSpPr>
        <p:spPr>
          <a:xfrm>
            <a:off x="64867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15-box-18"/>
          <p:cNvSpPr/>
          <p:nvPr/>
        </p:nvSpPr>
        <p:spPr>
          <a:xfrm>
            <a:off x="7772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5-text-19"/>
          <p:cNvSpPr txBox="1"/>
          <p:nvPr/>
        </p:nvSpPr>
        <p:spPr>
          <a:xfrm>
            <a:off x="7858353" y="2438704"/>
            <a:ext cx="1146657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15-box-20"/>
          <p:cNvSpPr/>
          <p:nvPr/>
        </p:nvSpPr>
        <p:spPr>
          <a:xfrm>
            <a:off x="9144000" y="2400300"/>
            <a:ext cx="1904695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5-text-21"/>
          <p:cNvSpPr txBox="1"/>
          <p:nvPr/>
        </p:nvSpPr>
        <p:spPr>
          <a:xfrm>
            <a:off x="9229953" y="2438704"/>
            <a:ext cx="1768449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15-box-22"/>
          <p:cNvSpPr/>
          <p:nvPr/>
        </p:nvSpPr>
        <p:spPr>
          <a:xfrm>
            <a:off x="6858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5-text-23"/>
          <p:cNvSpPr txBox="1"/>
          <p:nvPr/>
        </p:nvSpPr>
        <p:spPr>
          <a:xfrm>
            <a:off x="875995" y="3200400"/>
            <a:ext cx="291693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TOOL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8759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一个原子动作</a:t>
            </a:r>
          </a:p>
        </p:txBody>
      </p:sp>
      <p:sp>
        <p:nvSpPr>
          <p:cNvPr id="26" name="h2p-15-text-25"/>
          <p:cNvSpPr txBox="1"/>
          <p:nvPr/>
        </p:nvSpPr>
        <p:spPr>
          <a:xfrm>
            <a:off x="8759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最小权限；明确输入输出；不承载跨步骤方法。</a:t>
            </a:r>
          </a:p>
        </p:txBody>
      </p:sp>
      <p:sp>
        <p:nvSpPr>
          <p:cNvPr id="27" name="h2p-15-text-26"/>
          <p:cNvSpPr txBox="1"/>
          <p:nvPr/>
        </p:nvSpPr>
        <p:spPr>
          <a:xfrm>
            <a:off x="875995" y="4914900"/>
            <a:ext cx="2136952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读 / 写 / 查询</a:t>
            </a:r>
          </a:p>
        </p:txBody>
      </p:sp>
      <p:sp>
        <p:nvSpPr>
          <p:cNvPr id="28" name="h2p-15-box-27"/>
          <p:cNvSpPr/>
          <p:nvPr/>
        </p:nvSpPr>
        <p:spPr>
          <a:xfrm>
            <a:off x="33147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5-text-28"/>
          <p:cNvSpPr txBox="1"/>
          <p:nvPr/>
        </p:nvSpPr>
        <p:spPr>
          <a:xfrm>
            <a:off x="3504895" y="3200400"/>
            <a:ext cx="364845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30" name="h2p-15-text-29"/>
          <p:cNvSpPr txBox="1"/>
          <p:nvPr/>
        </p:nvSpPr>
        <p:spPr>
          <a:xfrm>
            <a:off x="35048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版本化方法</a:t>
            </a:r>
          </a:p>
        </p:txBody>
      </p:sp>
      <p:sp>
        <p:nvSpPr>
          <p:cNvPr id="31" name="h2p-15-text-30"/>
          <p:cNvSpPr txBox="1"/>
          <p:nvPr/>
        </p:nvSpPr>
        <p:spPr>
          <a:xfrm>
            <a:off x="35048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组织 Tool 与判断步骤；含失败处理、安全边界和回归案例。</a:t>
            </a:r>
          </a:p>
        </p:txBody>
      </p:sp>
      <p:sp>
        <p:nvSpPr>
          <p:cNvPr id="32" name="h2p-15-text-31"/>
          <p:cNvSpPr txBox="1"/>
          <p:nvPr/>
        </p:nvSpPr>
        <p:spPr>
          <a:xfrm>
            <a:off x="3504895" y="49149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验证前不得晋升</a:t>
            </a:r>
          </a:p>
        </p:txBody>
      </p:sp>
      <p:sp>
        <p:nvSpPr>
          <p:cNvPr id="33" name="h2p-15-box-32"/>
          <p:cNvSpPr/>
          <p:nvPr/>
        </p:nvSpPr>
        <p:spPr>
          <a:xfrm>
            <a:off x="5943600" y="3047695"/>
            <a:ext cx="2476195" cy="2190902"/>
          </a:xfrm>
          <a:prstGeom prst="roundRect">
            <a:avLst>
              <a:gd name="adj" fmla="val 782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5-text-33"/>
          <p:cNvSpPr txBox="1"/>
          <p:nvPr/>
        </p:nvSpPr>
        <p:spPr>
          <a:xfrm>
            <a:off x="6133795" y="3200400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MCP / HTTP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6133795" y="3524097"/>
            <a:ext cx="2136952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外部系统契约</a:t>
            </a:r>
          </a:p>
        </p:txBody>
      </p:sp>
      <p:sp>
        <p:nvSpPr>
          <p:cNvPr id="36" name="h2p-15-text-35"/>
          <p:cNvSpPr txBox="1"/>
          <p:nvPr/>
        </p:nvSpPr>
        <p:spPr>
          <a:xfrm>
            <a:off x="6133795" y="3866997"/>
            <a:ext cx="2136952" cy="426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Schema、鉴权、幂等、错误码和审计字段齐备才接入。</a:t>
            </a:r>
          </a:p>
        </p:txBody>
      </p:sp>
      <p:sp>
        <p:nvSpPr>
          <p:cNvPr id="37" name="h2p-15-text-36"/>
          <p:cNvSpPr txBox="1"/>
          <p:nvPr/>
        </p:nvSpPr>
        <p:spPr>
          <a:xfrm>
            <a:off x="6133795" y="4914900"/>
            <a:ext cx="102047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真实绑定未实现</a:t>
            </a:r>
          </a:p>
        </p:txBody>
      </p:sp>
      <p:sp>
        <p:nvSpPr>
          <p:cNvPr id="38" name="h2p-15-box-37"/>
          <p:cNvSpPr/>
          <p:nvPr/>
        </p:nvSpPr>
        <p:spPr>
          <a:xfrm>
            <a:off x="8572500" y="3047695"/>
            <a:ext cx="2933395" cy="2190902"/>
          </a:xfrm>
          <a:prstGeom prst="roundRect">
            <a:avLst>
              <a:gd name="adj" fmla="val 7829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15-text-38"/>
          <p:cNvSpPr txBox="1"/>
          <p:nvPr/>
        </p:nvSpPr>
        <p:spPr>
          <a:xfrm>
            <a:off x="8762695" y="3200400"/>
            <a:ext cx="437083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MEMORY</a:t>
            </a:r>
          </a:p>
        </p:txBody>
      </p:sp>
      <p:sp>
        <p:nvSpPr>
          <p:cNvPr id="40" name="h2p-15-text-39"/>
          <p:cNvSpPr txBox="1"/>
          <p:nvPr/>
        </p:nvSpPr>
        <p:spPr>
          <a:xfrm>
            <a:off x="8762695" y="3524097"/>
            <a:ext cx="2604211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已验证经验资产</a:t>
            </a:r>
          </a:p>
        </p:txBody>
      </p:sp>
      <p:sp>
        <p:nvSpPr>
          <p:cNvPr id="41" name="h2p-15-text-40"/>
          <p:cNvSpPr txBox="1"/>
          <p:nvPr/>
        </p:nvSpPr>
        <p:spPr>
          <a:xfrm>
            <a:off x="8762695" y="3866997"/>
            <a:ext cx="26042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保存适用边界、失败模式、Skill 版本和证据引用；原始猜测不进入 Memory。</a:t>
            </a:r>
          </a:p>
        </p:txBody>
      </p:sp>
      <p:sp>
        <p:nvSpPr>
          <p:cNvPr id="42" name="h2p-15-text-41"/>
          <p:cNvSpPr txBox="1"/>
          <p:nvPr/>
        </p:nvSpPr>
        <p:spPr>
          <a:xfrm>
            <a:off x="8762695" y="4914900"/>
            <a:ext cx="109270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Dossier + Trace</a:t>
            </a:r>
          </a:p>
        </p:txBody>
      </p:sp>
      <p:sp>
        <p:nvSpPr>
          <p:cNvPr id="43" name="h2p-15-box-42"/>
          <p:cNvSpPr/>
          <p:nvPr/>
        </p:nvSpPr>
        <p:spPr>
          <a:xfrm>
            <a:off x="685800" y="5410504"/>
            <a:ext cx="108200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15-text-43"/>
          <p:cNvSpPr txBox="1"/>
          <p:nvPr/>
        </p:nvSpPr>
        <p:spPr>
          <a:xfrm>
            <a:off x="914400" y="5524804"/>
            <a:ext cx="728776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资产晋升门</a:t>
            </a:r>
          </a:p>
        </p:txBody>
      </p:sp>
      <p:sp>
        <p:nvSpPr>
          <p:cNvPr id="45" name="h2p-15-text-44"/>
          <p:cNvSpPr txBox="1"/>
          <p:nvPr/>
        </p:nvSpPr>
        <p:spPr>
          <a:xfrm>
            <a:off x="2133295" y="5505602"/>
            <a:ext cx="9326880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失败模式 → 候选 Skill 版本 → 新案例独立验证 → Human / Governance 审批 → 已验证 Skill + Memory + 证据引用</a:t>
            </a:r>
          </a:p>
        </p:txBody>
      </p:sp>
      <p:sp>
        <p:nvSpPr>
          <p:cNvPr id="46" name="h2p-15-text-45"/>
          <p:cNvSpPr txBox="1"/>
          <p:nvPr/>
        </p:nvSpPr>
        <p:spPr>
          <a:xfrm>
            <a:off x="577900" y="6210604"/>
            <a:ext cx="1103680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设计契约，非运行证据 · Project Dossier 保存共享状态，Step / Episode 级 Trace 保存轨迹</a:t>
            </a:r>
          </a:p>
        </p:txBody>
      </p:sp>
      <p:sp>
        <p:nvSpPr>
          <p:cNvPr id="47" name="h2p-15-text-46"/>
          <p:cNvSpPr txBox="1"/>
          <p:nvPr/>
        </p:nvSpPr>
        <p:spPr>
          <a:xfrm>
            <a:off x="685800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MCP / 上下文</a:t>
            </a:r>
          </a:p>
        </p:txBody>
      </p:sp>
      <p:sp>
        <p:nvSpPr>
          <p:cNvPr id="48" name="h2p-15-text-47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Human 是闭环中的正式能力：高风险动作先停在门外，异常沿同一 Trace 进入降级、回滚或拒绝。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text-6"/>
          <p:cNvSpPr txBox="1"/>
          <p:nvPr/>
        </p:nvSpPr>
        <p:spPr>
          <a:xfrm>
            <a:off x="685800" y="1943100"/>
            <a:ext cx="233172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HUMAN GATE · 一条可审计控制路径</a:t>
            </a:r>
          </a:p>
        </p:txBody>
      </p:sp>
      <p:sp>
        <p:nvSpPr>
          <p:cNvPr id="8" name="h2p-16-box-7"/>
          <p:cNvSpPr/>
          <p:nvPr/>
        </p:nvSpPr>
        <p:spPr>
          <a:xfrm>
            <a:off x="1676095" y="2571292"/>
            <a:ext cx="8839504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6-box-8"/>
          <p:cNvSpPr/>
          <p:nvPr/>
        </p:nvSpPr>
        <p:spPr>
          <a:xfrm>
            <a:off x="6858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6-text-9"/>
          <p:cNvSpPr txBox="1"/>
          <p:nvPr/>
        </p:nvSpPr>
        <p:spPr>
          <a:xfrm>
            <a:off x="8759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动作请求</a:t>
            </a:r>
          </a:p>
        </p:txBody>
      </p:sp>
      <p:sp>
        <p:nvSpPr>
          <p:cNvPr id="11" name="h2p-16-text-10"/>
          <p:cNvSpPr txBox="1"/>
          <p:nvPr/>
        </p:nvSpPr>
        <p:spPr>
          <a:xfrm>
            <a:off x="8759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范围、权限、预算</a:t>
            </a:r>
          </a:p>
        </p:txBody>
      </p:sp>
      <p:sp>
        <p:nvSpPr>
          <p:cNvPr id="12" name="h2p-16-box-11"/>
          <p:cNvSpPr/>
          <p:nvPr/>
        </p:nvSpPr>
        <p:spPr>
          <a:xfrm>
            <a:off x="28575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6-text-12"/>
          <p:cNvSpPr txBox="1"/>
          <p:nvPr/>
        </p:nvSpPr>
        <p:spPr>
          <a:xfrm>
            <a:off x="30476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风险分类</a:t>
            </a:r>
          </a:p>
        </p:txBody>
      </p:sp>
      <p:sp>
        <p:nvSpPr>
          <p:cNvPr id="14" name="h2p-16-text-13"/>
          <p:cNvSpPr txBox="1"/>
          <p:nvPr/>
        </p:nvSpPr>
        <p:spPr>
          <a:xfrm>
            <a:off x="30476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可逆性与责任边界</a:t>
            </a:r>
          </a:p>
        </p:txBody>
      </p:sp>
      <p:sp>
        <p:nvSpPr>
          <p:cNvPr id="15" name="h2p-16-box-14"/>
          <p:cNvSpPr/>
          <p:nvPr/>
        </p:nvSpPr>
        <p:spPr>
          <a:xfrm>
            <a:off x="50292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F3E5B8"/>
          </a:solidFill>
          <a:ln w="2794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6-text-15"/>
          <p:cNvSpPr txBox="1"/>
          <p:nvPr/>
        </p:nvSpPr>
        <p:spPr>
          <a:xfrm>
            <a:off x="52193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Human 审批</a:t>
            </a:r>
          </a:p>
        </p:txBody>
      </p:sp>
      <p:sp>
        <p:nvSpPr>
          <p:cNvPr id="17" name="h2p-16-text-16"/>
          <p:cNvSpPr txBox="1"/>
          <p:nvPr/>
        </p:nvSpPr>
        <p:spPr>
          <a:xfrm>
            <a:off x="52193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批准 / 拒绝 / 超时</a:t>
            </a:r>
          </a:p>
        </p:txBody>
      </p:sp>
      <p:sp>
        <p:nvSpPr>
          <p:cNvPr id="18" name="h2p-16-box-17"/>
          <p:cNvSpPr/>
          <p:nvPr/>
        </p:nvSpPr>
        <p:spPr>
          <a:xfrm>
            <a:off x="7200900" y="2190902"/>
            <a:ext cx="1981504" cy="1067104"/>
          </a:xfrm>
          <a:prstGeom prst="roundRect">
            <a:avLst>
              <a:gd name="adj" fmla="val 160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6-text-18"/>
          <p:cNvSpPr txBox="1"/>
          <p:nvPr/>
        </p:nvSpPr>
        <p:spPr>
          <a:xfrm>
            <a:off x="7391095" y="2381097"/>
            <a:ext cx="1632204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受控执行</a:t>
            </a:r>
          </a:p>
        </p:txBody>
      </p:sp>
      <p:sp>
        <p:nvSpPr>
          <p:cNvPr id="20" name="h2p-16-text-19"/>
          <p:cNvSpPr txBox="1"/>
          <p:nvPr/>
        </p:nvSpPr>
        <p:spPr>
          <a:xfrm>
            <a:off x="7391095" y="2704795"/>
            <a:ext cx="1632204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最小范围 + Trace</a:t>
            </a:r>
          </a:p>
        </p:txBody>
      </p:sp>
      <p:sp>
        <p:nvSpPr>
          <p:cNvPr id="21" name="h2p-16-box-20"/>
          <p:cNvSpPr/>
          <p:nvPr/>
        </p:nvSpPr>
        <p:spPr>
          <a:xfrm>
            <a:off x="9372600" y="2190902"/>
            <a:ext cx="2133295" cy="1067104"/>
          </a:xfrm>
          <a:prstGeom prst="roundRect">
            <a:avLst>
              <a:gd name="adj" fmla="val 1607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6-text-21"/>
          <p:cNvSpPr txBox="1"/>
          <p:nvPr/>
        </p:nvSpPr>
        <p:spPr>
          <a:xfrm>
            <a:off x="9562795" y="2381097"/>
            <a:ext cx="1787652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验证 / 回滚</a:t>
            </a:r>
          </a:p>
        </p:txBody>
      </p:sp>
      <p:sp>
        <p:nvSpPr>
          <p:cNvPr id="23" name="h2p-16-text-22"/>
          <p:cNvSpPr txBox="1"/>
          <p:nvPr/>
        </p:nvSpPr>
        <p:spPr>
          <a:xfrm>
            <a:off x="9562795" y="2704795"/>
            <a:ext cx="1787652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失败即停并保留证据</a:t>
            </a:r>
          </a:p>
        </p:txBody>
      </p:sp>
      <p:sp>
        <p:nvSpPr>
          <p:cNvPr id="24" name="h2p-16-box-23"/>
          <p:cNvSpPr/>
          <p:nvPr/>
        </p:nvSpPr>
        <p:spPr>
          <a:xfrm>
            <a:off x="685800" y="3448202"/>
            <a:ext cx="10820095" cy="666597"/>
          </a:xfrm>
          <a:prstGeom prst="roundRect">
            <a:avLst>
              <a:gd name="adj" fmla="val 2571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6-text-24"/>
          <p:cNvSpPr txBox="1"/>
          <p:nvPr/>
        </p:nvSpPr>
        <p:spPr>
          <a:xfrm>
            <a:off x="914400" y="3562502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53697C"/>
                </a:solidFill>
                <a:latin typeface="Noto Sans CJK SC"/>
              </a:rPr>
              <a:t>必须人工批准：</a:t>
            </a:r>
            <a:r>
              <a:rPr sz="1200">
                <a:solidFill>
                  <a:srgbClr val="53697C"/>
                </a:solidFill>
                <a:latin typeface="Noto Sans CJK SC"/>
              </a:rPr>
              <a:t>外部系统写入 · 真实发布部署 · 责任转移 · 密钥/敏感数据访问 · 预算提升 · 交付决议</a:t>
            </a:r>
          </a:p>
        </p:txBody>
      </p:sp>
      <p:sp>
        <p:nvSpPr>
          <p:cNvPr id="26" name="h2p-16-text-25"/>
          <p:cNvSpPr txBox="1"/>
          <p:nvPr/>
        </p:nvSpPr>
        <p:spPr>
          <a:xfrm>
            <a:off x="914400" y="3829507"/>
            <a:ext cx="10589666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F26B4B"/>
                </a:solidFill>
                <a:latin typeface="Noto Sans CJK SC"/>
              </a:rPr>
              <a:t>无批准 = 拒绝执行或安全降级 + 保留证据；不可逆操作默认拒绝</a:t>
            </a:r>
          </a:p>
        </p:txBody>
      </p:sp>
      <p:sp>
        <p:nvSpPr>
          <p:cNvPr id="27" name="h2p-16-box-26"/>
          <p:cNvSpPr/>
          <p:nvPr/>
        </p:nvSpPr>
        <p:spPr>
          <a:xfrm>
            <a:off x="685800" y="4304995"/>
            <a:ext cx="7086600" cy="1714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6-text-27"/>
          <p:cNvSpPr txBox="1"/>
          <p:nvPr/>
        </p:nvSpPr>
        <p:spPr>
          <a:xfrm>
            <a:off x="914400" y="4457700"/>
            <a:ext cx="6761988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异常与恢复 · 同一 Trace 语义</a:t>
            </a:r>
          </a:p>
        </p:txBody>
      </p:sp>
      <p:sp>
        <p:nvSpPr>
          <p:cNvPr id="29" name="h2p-16-text-28"/>
          <p:cNvSpPr txBox="1"/>
          <p:nvPr/>
        </p:nvSpPr>
        <p:spPr>
          <a:xfrm>
            <a:off x="914400" y="4762195"/>
            <a:ext cx="6761988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30" name="h2p-16-text-29"/>
          <p:cNvSpPr txBox="1"/>
          <p:nvPr/>
        </p:nvSpPr>
        <p:spPr>
          <a:xfrm>
            <a:off x="914400" y="5372100"/>
            <a:ext cx="6761988" cy="441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pPr marL="0" indent="0"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31" name="h2p-16-box-30"/>
          <p:cNvSpPr/>
          <p:nvPr/>
        </p:nvSpPr>
        <p:spPr>
          <a:xfrm>
            <a:off x="7925104" y="4304995"/>
            <a:ext cx="3581704" cy="171450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6-text-31"/>
          <p:cNvSpPr txBox="1"/>
          <p:nvPr/>
        </p:nvSpPr>
        <p:spPr>
          <a:xfrm>
            <a:off x="8153704" y="4457700"/>
            <a:ext cx="3186684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53697C"/>
                </a:solidFill>
                <a:latin typeface="Noto Sans Mono CJK SC"/>
              </a:rPr>
              <a:t>允许的动作档位</a:t>
            </a:r>
          </a:p>
        </p:txBody>
      </p:sp>
      <p:sp>
        <p:nvSpPr>
          <p:cNvPr id="33" name="h2p-16-box-32"/>
          <p:cNvSpPr/>
          <p:nvPr/>
        </p:nvSpPr>
        <p:spPr>
          <a:xfrm>
            <a:off x="8153704" y="48006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6-text-33"/>
          <p:cNvSpPr txBox="1"/>
          <p:nvPr/>
        </p:nvSpPr>
        <p:spPr>
          <a:xfrm>
            <a:off x="8238744" y="48390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只读诊断</a:t>
            </a:r>
          </a:p>
        </p:txBody>
      </p:sp>
      <p:sp>
        <p:nvSpPr>
          <p:cNvPr id="35" name="h2p-16-box-34"/>
          <p:cNvSpPr/>
          <p:nvPr/>
        </p:nvSpPr>
        <p:spPr>
          <a:xfrm>
            <a:off x="9791395" y="48006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6-text-35"/>
          <p:cNvSpPr txBox="1"/>
          <p:nvPr/>
        </p:nvSpPr>
        <p:spPr>
          <a:xfrm>
            <a:off x="9877348" y="48390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低风险执行</a:t>
            </a:r>
          </a:p>
        </p:txBody>
      </p:sp>
      <p:sp>
        <p:nvSpPr>
          <p:cNvPr id="37" name="h2p-16-box-36"/>
          <p:cNvSpPr/>
          <p:nvPr/>
        </p:nvSpPr>
        <p:spPr>
          <a:xfrm>
            <a:off x="8153704" y="52578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h2p-16-text-37"/>
          <p:cNvSpPr txBox="1"/>
          <p:nvPr/>
        </p:nvSpPr>
        <p:spPr>
          <a:xfrm>
            <a:off x="8238744" y="52962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D6A43B"/>
                </a:solidFill>
                <a:latin typeface="Noto Sans Mono CJK SC"/>
              </a:rPr>
              <a:t>灰度 + 审批</a:t>
            </a:r>
          </a:p>
        </p:txBody>
      </p:sp>
      <p:sp>
        <p:nvSpPr>
          <p:cNvPr id="39" name="h2p-16-box-38"/>
          <p:cNvSpPr/>
          <p:nvPr/>
        </p:nvSpPr>
        <p:spPr>
          <a:xfrm>
            <a:off x="9791395" y="5257800"/>
            <a:ext cx="14859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6-text-39"/>
          <p:cNvSpPr txBox="1"/>
          <p:nvPr/>
        </p:nvSpPr>
        <p:spPr>
          <a:xfrm>
            <a:off x="9877348" y="5296204"/>
            <a:ext cx="1340510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26B4B"/>
                </a:solidFill>
                <a:latin typeface="Noto Sans Mono CJK SC"/>
              </a:rPr>
              <a:t>只生成方案</a:t>
            </a:r>
          </a:p>
        </p:txBody>
      </p:sp>
      <p:sp>
        <p:nvSpPr>
          <p:cNvPr id="41" name="h2p-16-text-40"/>
          <p:cNvSpPr txBox="1"/>
          <p:nvPr/>
        </p:nvSpPr>
        <p:spPr>
          <a:xfrm>
            <a:off x="577900" y="6210604"/>
            <a:ext cx="11036808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设计契约，非运行证据 · 成功与失败同等留证 · 完整清单见 risk-and-human-gates.md</a:t>
            </a:r>
          </a:p>
        </p:txBody>
      </p:sp>
      <p:sp>
        <p:nvSpPr>
          <p:cNvPr id="42" name="h2p-16-text-41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安全设计</a:t>
            </a:r>
          </a:p>
        </p:txBody>
      </p:sp>
      <p:sp>
        <p:nvSpPr>
          <p:cNvPr id="43" name="h2p-16-text-42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14400" y="21140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144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144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1" name="h2p-17-text-10"/>
          <p:cNvSpPr txBox="1"/>
          <p:nvPr/>
        </p:nvSpPr>
        <p:spPr>
          <a:xfrm>
            <a:off x="9144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2" name="h2p-17-text-11"/>
          <p:cNvSpPr txBox="1"/>
          <p:nvPr/>
        </p:nvSpPr>
        <p:spPr>
          <a:xfrm>
            <a:off x="9144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3" name="h2p-17-text-12"/>
          <p:cNvSpPr txBox="1"/>
          <p:nvPr/>
        </p:nvSpPr>
        <p:spPr>
          <a:xfrm>
            <a:off x="914400" y="4267504"/>
            <a:ext cx="3148279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4" name="h2p-17-box-13"/>
          <p:cNvSpPr/>
          <p:nvPr/>
        </p:nvSpPr>
        <p:spPr>
          <a:xfrm>
            <a:off x="43434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7-text-14"/>
          <p:cNvSpPr txBox="1"/>
          <p:nvPr/>
        </p:nvSpPr>
        <p:spPr>
          <a:xfrm>
            <a:off x="4572000" y="2114092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依赖与既有基础 · 必须披露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5720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7" name="h2p-17-text-16"/>
          <p:cNvSpPr txBox="1"/>
          <p:nvPr/>
        </p:nvSpPr>
        <p:spPr>
          <a:xfrm>
            <a:off x="45720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8" name="h2p-17-text-17"/>
          <p:cNvSpPr txBox="1"/>
          <p:nvPr/>
        </p:nvSpPr>
        <p:spPr>
          <a:xfrm>
            <a:off x="4572000" y="3200400"/>
            <a:ext cx="3148279" cy="371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9" name="h2p-17-text-18"/>
          <p:cNvSpPr txBox="1"/>
          <p:nvPr/>
        </p:nvSpPr>
        <p:spPr>
          <a:xfrm>
            <a:off x="4572000" y="37334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20" name="h2p-17-text-19"/>
          <p:cNvSpPr txBox="1"/>
          <p:nvPr/>
        </p:nvSpPr>
        <p:spPr>
          <a:xfrm>
            <a:off x="4572000" y="41148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4572000" y="46478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2" name="h2p-17-box-21"/>
          <p:cNvSpPr/>
          <p:nvPr/>
        </p:nvSpPr>
        <p:spPr>
          <a:xfrm>
            <a:off x="80010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7-text-22"/>
          <p:cNvSpPr txBox="1"/>
          <p:nvPr/>
        </p:nvSpPr>
        <p:spPr>
          <a:xfrm>
            <a:off x="8229600" y="2114092"/>
            <a:ext cx="190469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当前未实现 · 不包装成完成态</a:t>
            </a:r>
          </a:p>
        </p:txBody>
      </p:sp>
      <p:sp>
        <p:nvSpPr>
          <p:cNvPr id="24" name="h2p-17-text-23"/>
          <p:cNvSpPr txBox="1"/>
          <p:nvPr/>
        </p:nvSpPr>
        <p:spPr>
          <a:xfrm>
            <a:off x="82296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82296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82296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7" name="h2p-17-text-26"/>
          <p:cNvSpPr txBox="1"/>
          <p:nvPr/>
        </p:nvSpPr>
        <p:spPr>
          <a:xfrm>
            <a:off x="82296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8" name="h2p-17-text-27"/>
          <p:cNvSpPr txBox="1"/>
          <p:nvPr/>
        </p:nvSpPr>
        <p:spPr>
          <a:xfrm>
            <a:off x="8229600" y="3962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9" name="h2p-17-text-28"/>
          <p:cNvSpPr txBox="1"/>
          <p:nvPr/>
        </p:nvSpPr>
        <p:spPr>
          <a:xfrm>
            <a:off x="8229600" y="4343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30" name="h2p-17-text-29"/>
          <p:cNvSpPr txBox="1"/>
          <p:nvPr/>
        </p:nvSpPr>
        <p:spPr>
          <a:xfrm>
            <a:off x="8229600" y="4724704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1" name="h2p-17-box-30"/>
          <p:cNvSpPr/>
          <p:nvPr/>
        </p:nvSpPr>
        <p:spPr>
          <a:xfrm>
            <a:off x="685800" y="52770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7-text-31"/>
          <p:cNvSpPr txBox="1"/>
          <p:nvPr/>
        </p:nvSpPr>
        <p:spPr>
          <a:xfrm>
            <a:off x="914400" y="54105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baseline 引用与核验</a:t>
            </a:r>
          </a:p>
        </p:txBody>
      </p:sp>
      <p:sp>
        <p:nvSpPr>
          <p:cNvPr id="33" name="h2p-17-text-32"/>
          <p:cNvSpPr txBox="1"/>
          <p:nvPr/>
        </p:nvSpPr>
        <p:spPr>
          <a:xfrm>
            <a:off x="914400" y="5676595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4" name="h2p-17-text-33"/>
          <p:cNvSpPr txBox="1"/>
          <p:nvPr/>
        </p:nvSpPr>
        <p:spPr>
          <a:xfrm>
            <a:off x="914400" y="5982004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5" name="h2p-17-text-3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当前事实</a:t>
            </a:r>
          </a:p>
        </p:txBody>
      </p:sp>
      <p:sp>
        <p:nvSpPr>
          <p:cNvPr id="36" name="h2p-17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初赛提交版</dc:title>
  <dc:subject>OpsPilot baseline 作首个 ProjectCase 的通用方案建筑师路演</dc:subject>
  <dc:creator>AgentFit Team</dc:creator>
  <cp:keywords>AgentFit, AgentTeams, OpsPilot, preliminary submission, HTML-first</cp:keywords>
  <dc:description>Final preliminary submission. OpsPilot baseline is a code-level audited reference and first ProjectCase input, not AgentFit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