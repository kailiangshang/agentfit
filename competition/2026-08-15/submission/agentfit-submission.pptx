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01 / 12 · AGENTFIT · 方案建筑师</a:t>
            </a:r>
          </a:p>
        </p:txBody>
      </p:sp>
      <p:sp>
        <p:nvSpPr>
          <p:cNvPr id="4" name="h2p-1-text-3"/>
          <p:cNvSpPr txBox="1"/>
          <p:nvPr/>
        </p:nvSpPr>
        <p:spPr>
          <a:xfrm>
            <a:off x="685800" y="800100"/>
            <a:ext cx="6801307" cy="11109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43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050">
                <a:solidFill>
                  <a:srgbClr val="FFFFFF"/>
                </a:solidFill>
                <a:latin typeface="Noto Sans CJK SC"/>
              </a:rPr>
              <a:t>企业真正缺少的，</a:t>
            </a:r>
          </a:p>
          <a:p>
            <a:pPr marL="0" indent="0" algn="l">
              <a:lnSpc>
                <a:spcPts val="43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050">
                <a:solidFill>
                  <a:srgbClr val="FFFFFF"/>
                </a:solidFill>
                <a:latin typeface="Noto Sans CJK SC"/>
              </a:rPr>
              <a:t>是选对 Agent 方案。</a:t>
            </a:r>
          </a:p>
        </p:txBody>
      </p:sp>
      <p:sp>
        <p:nvSpPr>
          <p:cNvPr id="5" name="h2p-1-text-4"/>
          <p:cNvSpPr txBox="1"/>
          <p:nvPr/>
        </p:nvSpPr>
        <p:spPr>
          <a:xfrm>
            <a:off x="705002" y="2324404"/>
            <a:ext cx="6703466" cy="495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C6D3DD"/>
                </a:solidFill>
                <a:latin typeface="Noto Sans CJK SC"/>
              </a:rPr>
              <a:t>企业给材料、代表性案例和优先级；AgentFit 从简单方案开始，用证据决定该加什么、何时停止。</a:t>
            </a:r>
          </a:p>
        </p:txBody>
      </p:sp>
      <p:sp>
        <p:nvSpPr>
          <p:cNvPr id="6" name="h2p-1-box-5"/>
          <p:cNvSpPr/>
          <p:nvPr/>
        </p:nvSpPr>
        <p:spPr>
          <a:xfrm>
            <a:off x="685800" y="3143707"/>
            <a:ext cx="6286500" cy="2114092"/>
          </a:xfrm>
          <a:prstGeom prst="roundRect">
            <a:avLst>
              <a:gd name="adj" fmla="val 8110"/>
            </a:avLst>
          </a:prstGeom>
          <a:solidFill>
            <a:srgbClr val="132F47"/>
          </a:solidFill>
          <a:ln w="19050">
            <a:solidFill>
              <a:srgbClr val="2851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-text-6"/>
          <p:cNvSpPr txBox="1"/>
          <p:nvPr/>
        </p:nvSpPr>
        <p:spPr>
          <a:xfrm>
            <a:off x="952804" y="3353104"/>
            <a:ext cx="544068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业务输入</a:t>
            </a:r>
          </a:p>
        </p:txBody>
      </p:sp>
      <p:sp>
        <p:nvSpPr>
          <p:cNvPr id="8" name="h2p-1-box-7"/>
          <p:cNvSpPr/>
          <p:nvPr/>
        </p:nvSpPr>
        <p:spPr>
          <a:xfrm>
            <a:off x="952804" y="3696004"/>
            <a:ext cx="1656892" cy="323697"/>
          </a:xfrm>
          <a:prstGeom prst="roundRect">
            <a:avLst>
              <a:gd name="adj" fmla="val 23530"/>
            </a:avLst>
          </a:prstGeom>
          <a:solidFill>
            <a:srgbClr val="132F47"/>
          </a:solidFill>
          <a:ln w="1016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2p-1-text-8"/>
          <p:cNvSpPr txBox="1"/>
          <p:nvPr/>
        </p:nvSpPr>
        <p:spPr>
          <a:xfrm>
            <a:off x="1037844" y="3762756"/>
            <a:ext cx="15151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C6D3DD"/>
                </a:solidFill>
                <a:latin typeface="Noto Sans Mono CJK SC"/>
              </a:rPr>
              <a:t>企业材料</a:t>
            </a:r>
          </a:p>
        </p:txBody>
      </p:sp>
      <p:sp>
        <p:nvSpPr>
          <p:cNvPr id="10" name="h2p-1-box-9"/>
          <p:cNvSpPr/>
          <p:nvPr/>
        </p:nvSpPr>
        <p:spPr>
          <a:xfrm>
            <a:off x="2723997" y="3696004"/>
            <a:ext cx="1656892" cy="323697"/>
          </a:xfrm>
          <a:prstGeom prst="roundRect">
            <a:avLst>
              <a:gd name="adj" fmla="val 23530"/>
            </a:avLst>
          </a:prstGeom>
          <a:solidFill>
            <a:srgbClr val="132F47"/>
          </a:solidFill>
          <a:ln w="1016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2p-1-text-10"/>
          <p:cNvSpPr txBox="1"/>
          <p:nvPr/>
        </p:nvSpPr>
        <p:spPr>
          <a:xfrm>
            <a:off x="2809951" y="3762756"/>
            <a:ext cx="15151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C6D3DD"/>
                </a:solidFill>
                <a:latin typeface="Noto Sans Mono CJK SC"/>
              </a:rPr>
              <a:t>代表性案例</a:t>
            </a:r>
          </a:p>
        </p:txBody>
      </p:sp>
      <p:sp>
        <p:nvSpPr>
          <p:cNvPr id="12" name="h2p-1-box-11"/>
          <p:cNvSpPr/>
          <p:nvPr/>
        </p:nvSpPr>
        <p:spPr>
          <a:xfrm>
            <a:off x="4496104" y="3696004"/>
            <a:ext cx="2210104" cy="323697"/>
          </a:xfrm>
          <a:prstGeom prst="roundRect">
            <a:avLst>
              <a:gd name="adj" fmla="val 23530"/>
            </a:avLst>
          </a:prstGeom>
          <a:solidFill>
            <a:srgbClr val="132F47"/>
          </a:solidFill>
          <a:ln w="1016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1-text-12"/>
          <p:cNvSpPr txBox="1"/>
          <p:nvPr/>
        </p:nvSpPr>
        <p:spPr>
          <a:xfrm>
            <a:off x="4581144" y="3762756"/>
            <a:ext cx="2079345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C6D3DD"/>
                </a:solidFill>
                <a:latin typeface="Noto Sans Mono CJK SC"/>
              </a:rPr>
              <a:t>优先级与 Human 边界</a:t>
            </a:r>
          </a:p>
        </p:txBody>
      </p:sp>
      <p:sp>
        <p:nvSpPr>
          <p:cNvPr id="14" name="h2p-1-text-13"/>
          <p:cNvSpPr txBox="1"/>
          <p:nvPr/>
        </p:nvSpPr>
        <p:spPr>
          <a:xfrm>
            <a:off x="952804" y="4324197"/>
            <a:ext cx="5868619" cy="4974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FFFFFF"/>
                </a:solidFill>
                <a:latin typeface="Noto Sans CJK SC"/>
              </a:rPr>
              <a:t>不是先堆 Agent，而是先做最小候选；只有未通过验收，才依据失败证据调整完整方案。</a:t>
            </a:r>
          </a:p>
        </p:txBody>
      </p:sp>
      <p:sp>
        <p:nvSpPr>
          <p:cNvPr id="15" name="h2p-1-box-14"/>
          <p:cNvSpPr/>
          <p:nvPr/>
        </p:nvSpPr>
        <p:spPr>
          <a:xfrm>
            <a:off x="7239304" y="1181404"/>
            <a:ext cx="4267504" cy="4533595"/>
          </a:xfrm>
          <a:prstGeom prst="roundRect">
            <a:avLst>
              <a:gd name="adj" fmla="val 5800"/>
            </a:avLst>
          </a:prstGeom>
          <a:solidFill>
            <a:srgbClr val="132F47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2p-1-text-15"/>
          <p:cNvSpPr txBox="1"/>
          <p:nvPr/>
        </p:nvSpPr>
        <p:spPr>
          <a:xfrm>
            <a:off x="7563002" y="1466697"/>
            <a:ext cx="3594506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AGENTFIT · 由简入繁</a:t>
            </a:r>
          </a:p>
        </p:txBody>
      </p:sp>
      <p:sp>
        <p:nvSpPr>
          <p:cNvPr id="17" name="h2p-1-text-16"/>
          <p:cNvSpPr txBox="1"/>
          <p:nvPr/>
        </p:nvSpPr>
        <p:spPr>
          <a:xfrm>
            <a:off x="7563002" y="1885492"/>
            <a:ext cx="350215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700">
                <a:solidFill>
                  <a:srgbClr val="74D0C7"/>
                </a:solidFill>
                <a:latin typeface="Noto Sans Mono CJK SC"/>
              </a:rPr>
              <a:t>01</a:t>
            </a:r>
          </a:p>
        </p:txBody>
      </p:sp>
      <p:sp>
        <p:nvSpPr>
          <p:cNvPr id="18" name="h2p-1-text-17"/>
          <p:cNvSpPr txBox="1"/>
          <p:nvPr/>
        </p:nvSpPr>
        <p:spPr>
          <a:xfrm>
            <a:off x="8229600" y="1904695"/>
            <a:ext cx="2915107" cy="235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80">
                <a:solidFill>
                  <a:srgbClr val="FFFFFF"/>
                </a:solidFill>
                <a:latin typeface="Noto Sans CJK SC"/>
              </a:rPr>
              <a:t>定义验收</a:t>
            </a:r>
          </a:p>
        </p:txBody>
      </p:sp>
      <p:sp>
        <p:nvSpPr>
          <p:cNvPr id="19" name="h2p-1-text-18"/>
          <p:cNvSpPr txBox="1"/>
          <p:nvPr/>
        </p:nvSpPr>
        <p:spPr>
          <a:xfrm>
            <a:off x="8229600" y="2190902"/>
            <a:ext cx="291510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6D3DD"/>
                </a:solidFill>
                <a:latin typeface="Noto Sans CJK SC"/>
              </a:rPr>
              <a:t>把业务案例变成可验证契约</a:t>
            </a:r>
          </a:p>
        </p:txBody>
      </p:sp>
      <p:sp>
        <p:nvSpPr>
          <p:cNvPr id="20" name="h2p-1-box-19"/>
          <p:cNvSpPr/>
          <p:nvPr/>
        </p:nvSpPr>
        <p:spPr>
          <a:xfrm>
            <a:off x="7733995" y="2400300"/>
            <a:ext cx="19202" cy="418795"/>
          </a:xfrm>
          <a:prstGeom prst="rect">
            <a:avLst/>
          </a:prstGeom>
          <a:solidFill>
            <a:srgbClr val="285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2p-1-text-20"/>
          <p:cNvSpPr txBox="1"/>
          <p:nvPr/>
        </p:nvSpPr>
        <p:spPr>
          <a:xfrm>
            <a:off x="7563002" y="2799892"/>
            <a:ext cx="350215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700">
                <a:solidFill>
                  <a:srgbClr val="74D0C7"/>
                </a:solidFill>
                <a:latin typeface="Noto Sans Mono CJK SC"/>
              </a:rPr>
              <a:t>02</a:t>
            </a:r>
          </a:p>
        </p:txBody>
      </p:sp>
      <p:sp>
        <p:nvSpPr>
          <p:cNvPr id="22" name="h2p-1-text-21"/>
          <p:cNvSpPr txBox="1"/>
          <p:nvPr/>
        </p:nvSpPr>
        <p:spPr>
          <a:xfrm>
            <a:off x="8229600" y="2819095"/>
            <a:ext cx="2915107" cy="235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80">
                <a:solidFill>
                  <a:srgbClr val="FFFFFF"/>
                </a:solidFill>
                <a:latin typeface="Noto Sans CJK SC"/>
              </a:rPr>
              <a:t>从最简方案开始</a:t>
            </a:r>
          </a:p>
        </p:txBody>
      </p:sp>
      <p:sp>
        <p:nvSpPr>
          <p:cNvPr id="23" name="h2p-1-text-22"/>
          <p:cNvSpPr txBox="1"/>
          <p:nvPr/>
        </p:nvSpPr>
        <p:spPr>
          <a:xfrm>
            <a:off x="8229600" y="3105302"/>
            <a:ext cx="291510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6D3DD"/>
                </a:solidFill>
                <a:latin typeface="Noto Sans CJK SC"/>
              </a:rPr>
              <a:t>C0 / C1 / C2 · N 业务 Agent / C3</a:t>
            </a:r>
          </a:p>
        </p:txBody>
      </p:sp>
      <p:sp>
        <p:nvSpPr>
          <p:cNvPr id="24" name="h2p-1-box-23"/>
          <p:cNvSpPr/>
          <p:nvPr/>
        </p:nvSpPr>
        <p:spPr>
          <a:xfrm>
            <a:off x="7733995" y="3314700"/>
            <a:ext cx="19202" cy="418795"/>
          </a:xfrm>
          <a:prstGeom prst="rect">
            <a:avLst/>
          </a:prstGeom>
          <a:solidFill>
            <a:srgbClr val="285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2p-1-text-24"/>
          <p:cNvSpPr txBox="1"/>
          <p:nvPr/>
        </p:nvSpPr>
        <p:spPr>
          <a:xfrm>
            <a:off x="7563002" y="3714292"/>
            <a:ext cx="350215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700">
                <a:solidFill>
                  <a:srgbClr val="74D0C7"/>
                </a:solidFill>
                <a:latin typeface="Noto Sans Mono CJK SC"/>
              </a:rPr>
              <a:t>03</a:t>
            </a:r>
          </a:p>
        </p:txBody>
      </p:sp>
      <p:sp>
        <p:nvSpPr>
          <p:cNvPr id="26" name="h2p-1-text-25"/>
          <p:cNvSpPr txBox="1"/>
          <p:nvPr/>
        </p:nvSpPr>
        <p:spPr>
          <a:xfrm>
            <a:off x="8229600" y="3733495"/>
            <a:ext cx="2915107" cy="235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80">
                <a:solidFill>
                  <a:srgbClr val="FFFFFF"/>
                </a:solidFill>
                <a:latin typeface="Noto Sans CJK SC"/>
              </a:rPr>
              <a:t>用新案例停止</a:t>
            </a:r>
          </a:p>
        </p:txBody>
      </p:sp>
      <p:sp>
        <p:nvSpPr>
          <p:cNvPr id="27" name="h2p-1-text-26"/>
          <p:cNvSpPr txBox="1"/>
          <p:nvPr/>
        </p:nvSpPr>
        <p:spPr>
          <a:xfrm>
            <a:off x="8229600" y="4019702"/>
            <a:ext cx="291510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6D3DD"/>
                </a:solidFill>
                <a:latin typeface="Noto Sans CJK SC"/>
              </a:rPr>
              <a:t>交付最小充分、已验证的方案包</a:t>
            </a:r>
          </a:p>
        </p:txBody>
      </p:sp>
      <p:sp>
        <p:nvSpPr>
          <p:cNvPr id="28" name="h2p-1-box-27"/>
          <p:cNvSpPr/>
          <p:nvPr/>
        </p:nvSpPr>
        <p:spPr>
          <a:xfrm>
            <a:off x="8057692" y="4610404"/>
            <a:ext cx="2628900" cy="724204"/>
          </a:xfrm>
          <a:prstGeom prst="roundRect">
            <a:avLst>
              <a:gd name="adj" fmla="val 21050"/>
            </a:avLst>
          </a:prstGeom>
          <a:solidFill>
            <a:srgbClr val="132F47"/>
          </a:solidFill>
          <a:ln w="3810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2p-1-text-28"/>
          <p:cNvSpPr txBox="1"/>
          <p:nvPr/>
        </p:nvSpPr>
        <p:spPr>
          <a:xfrm>
            <a:off x="8187537" y="4839004"/>
            <a:ext cx="237012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800">
                <a:solidFill>
                  <a:srgbClr val="74D0C7"/>
                </a:solidFill>
                <a:latin typeface="Noto Sans Mono CJK SC"/>
              </a:rPr>
              <a:t>JUST ENOUGH</a:t>
            </a:r>
          </a:p>
        </p:txBody>
      </p:sp>
      <p:sp>
        <p:nvSpPr>
          <p:cNvPr id="30" name="h2p-1-text-29"/>
          <p:cNvSpPr txBox="1"/>
          <p:nvPr/>
        </p:nvSpPr>
        <p:spPr>
          <a:xfrm>
            <a:off x="577900" y="5639104"/>
            <a:ext cx="11036808" cy="2706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1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00">
                <a:solidFill>
                  <a:srgbClr val="FFFFFF"/>
                </a:solidFill>
                <a:latin typeface="Noto Sans CJK SC"/>
              </a:rPr>
              <a:t>不是更多 Agent，而是有证据地选对完整方案。</a:t>
            </a:r>
          </a:p>
        </p:txBody>
      </p:sp>
      <p:sp>
        <p:nvSpPr>
          <p:cNvPr id="31" name="h2p-1-text-30"/>
          <p:cNvSpPr txBox="1"/>
          <p:nvPr/>
        </p:nvSpPr>
        <p:spPr>
          <a:xfrm>
            <a:off x="685800" y="6543446"/>
            <a:ext cx="1923897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8FA6B9"/>
                </a:solidFill>
                <a:latin typeface="Noto Sans Mono CJK SC"/>
              </a:rPr>
              <a:t>AGENTFIT × AgentTeams · 初赛提交版</a:t>
            </a:r>
          </a:p>
        </p:txBody>
      </p:sp>
      <p:sp>
        <p:nvSpPr>
          <p:cNvPr id="32" name="h2p-1-text-31"/>
          <p:cNvSpPr txBox="1"/>
          <p:nvPr/>
        </p:nvSpPr>
        <p:spPr>
          <a:xfrm>
            <a:off x="10815523" y="6543446"/>
            <a:ext cx="747979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8FA6B9"/>
                </a:solidFill>
                <a:latin typeface="Noto Sans Mono CJK SC"/>
              </a:rPr>
              <a:t>方案路演 ·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2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2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02 / 12 · 官方示例 · 证据锚点</a:t>
            </a:r>
          </a:p>
        </p:txBody>
      </p:sp>
      <p:sp>
        <p:nvSpPr>
          <p:cNvPr id="4" name="h2p-2-text-3"/>
          <p:cNvSpPr txBox="1"/>
          <p:nvPr/>
        </p:nvSpPr>
        <p:spPr>
          <a:xfrm>
            <a:off x="685800" y="724204"/>
            <a:ext cx="11036808" cy="335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400">
                <a:solidFill>
                  <a:srgbClr val="102A43"/>
                </a:solidFill>
                <a:latin typeface="Noto Sans CJK SC"/>
              </a:rPr>
              <a:t>OpsPilot 官方示例：4 个 Worker 加 1 个 Leader，仍未回答该用哪种。</a:t>
            </a:r>
          </a:p>
        </p:txBody>
      </p:sp>
      <p:sp>
        <p:nvSpPr>
          <p:cNvPr id="5" name="h2p-2-text-4"/>
          <p:cNvSpPr txBox="1"/>
          <p:nvPr/>
        </p:nvSpPr>
        <p:spPr>
          <a:xfrm>
            <a:off x="705002" y="1619402"/>
            <a:ext cx="11017605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官方发布的可运行 baseline 是 AgentFit 第一个 ProjectCase 的输入；它证明这类故障值得做，却没回答“该用哪种方案”。</a:t>
            </a:r>
          </a:p>
        </p:txBody>
      </p:sp>
      <p:sp>
        <p:nvSpPr>
          <p:cNvPr id="6" name="h2p-2-box-5"/>
          <p:cNvSpPr/>
          <p:nvPr/>
        </p:nvSpPr>
        <p:spPr>
          <a:xfrm>
            <a:off x="685800" y="2018995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2-box-6"/>
          <p:cNvSpPr/>
          <p:nvPr/>
        </p:nvSpPr>
        <p:spPr>
          <a:xfrm>
            <a:off x="685800" y="2229307"/>
            <a:ext cx="5333695" cy="3504895"/>
          </a:xfrm>
          <a:prstGeom prst="roundRect">
            <a:avLst>
              <a:gd name="adj" fmla="val 4890"/>
            </a:avLst>
          </a:prstGeom>
          <a:solidFill>
            <a:srgbClr val="EEF1F5"/>
          </a:solidFill>
          <a:ln w="19050">
            <a:solidFill>
              <a:srgbClr val="536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2-text-7"/>
          <p:cNvSpPr txBox="1"/>
          <p:nvPr/>
        </p:nvSpPr>
        <p:spPr>
          <a:xfrm>
            <a:off x="914400" y="2457907"/>
            <a:ext cx="2040026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官方 BASELINE · OpsPilot Zero</a:t>
            </a:r>
          </a:p>
        </p:txBody>
      </p:sp>
      <p:sp>
        <p:nvSpPr>
          <p:cNvPr id="9" name="h2p-2-text-8"/>
          <p:cNvSpPr txBox="1"/>
          <p:nvPr/>
        </p:nvSpPr>
        <p:spPr>
          <a:xfrm>
            <a:off x="914400" y="2781604"/>
            <a:ext cx="4974336" cy="235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80">
                <a:solidFill>
                  <a:srgbClr val="102A43"/>
                </a:solidFill>
                <a:latin typeface="Noto Sans CJK SC"/>
              </a:rPr>
              <a:t>零人工运维多 Agent 排查与自愈</a:t>
            </a:r>
          </a:p>
        </p:txBody>
      </p:sp>
      <p:sp>
        <p:nvSpPr>
          <p:cNvPr id="10" name="h2p-2-text-9"/>
          <p:cNvSpPr txBox="1"/>
          <p:nvPr/>
        </p:nvSpPr>
        <p:spPr>
          <a:xfrm>
            <a:off x="914400" y="3105302"/>
            <a:ext cx="497433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面向云上与自建 IDC 业务故障，把人工排障链拆成可并行、可回放的协作单元。</a:t>
            </a:r>
          </a:p>
        </p:txBody>
      </p:sp>
      <p:sp>
        <p:nvSpPr>
          <p:cNvPr id="11" name="h2p-2-text-10"/>
          <p:cNvSpPr txBox="1"/>
          <p:nvPr/>
        </p:nvSpPr>
        <p:spPr>
          <a:xfrm>
            <a:off x="914400" y="3714292"/>
            <a:ext cx="4974336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baseline 自带的业务执行 Agent（非 AgentFit 元团队）</a:t>
            </a:r>
          </a:p>
        </p:txBody>
      </p:sp>
      <p:sp>
        <p:nvSpPr>
          <p:cNvPr id="12" name="h2p-2-text-11"/>
          <p:cNvSpPr txBox="1"/>
          <p:nvPr/>
        </p:nvSpPr>
        <p:spPr>
          <a:xfrm>
            <a:off x="914400" y="3981297"/>
            <a:ext cx="5052060" cy="4005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Alert Intake · Commander（Leader）· RCA Analyst · Data Advisor · Planner · Executor · Verifier</a:t>
            </a:r>
          </a:p>
        </p:txBody>
      </p:sp>
      <p:sp>
        <p:nvSpPr>
          <p:cNvPr id="13" name="h2p-2-box-12"/>
          <p:cNvSpPr/>
          <p:nvPr/>
        </p:nvSpPr>
        <p:spPr>
          <a:xfrm>
            <a:off x="914400" y="4724704"/>
            <a:ext cx="4876495" cy="724204"/>
          </a:xfrm>
          <a:prstGeom prst="roundRect">
            <a:avLst>
              <a:gd name="adj" fmla="val 23680"/>
            </a:avLst>
          </a:prstGeom>
          <a:solidFill>
            <a:srgbClr val="F6F2E8"/>
          </a:solidFill>
          <a:ln w="19050">
            <a:solidFill>
              <a:srgbClr val="D6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2-text-13"/>
          <p:cNvSpPr txBox="1"/>
          <p:nvPr/>
        </p:nvSpPr>
        <p:spPr>
          <a:xfrm>
            <a:off x="1067104" y="4839004"/>
            <a:ext cx="4080052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Mono CJK SC"/>
              </a:rPr>
              <a:t>demo 事故 · db.pool.maxSize: 50 -&gt; 8</a:t>
            </a:r>
          </a:p>
        </p:txBody>
      </p:sp>
      <p:sp>
        <p:nvSpPr>
          <p:cNvPr id="15" name="h2p-2-text-14"/>
          <p:cNvSpPr txBox="1"/>
          <p:nvPr/>
        </p:nvSpPr>
        <p:spPr>
          <a:xfrm>
            <a:off x="1067104" y="5085892"/>
            <a:ext cx="466344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/api/order/create 5xx 升高 · 连接池耗尽 · 5–10 分钟初诊目标</a:t>
            </a:r>
          </a:p>
        </p:txBody>
      </p:sp>
      <p:sp>
        <p:nvSpPr>
          <p:cNvPr id="16" name="h2p-2-box-15"/>
          <p:cNvSpPr/>
          <p:nvPr/>
        </p:nvSpPr>
        <p:spPr>
          <a:xfrm>
            <a:off x="6286500" y="2229307"/>
            <a:ext cx="5219395" cy="3504895"/>
          </a:xfrm>
          <a:prstGeom prst="roundRect">
            <a:avLst>
              <a:gd name="adj" fmla="val 489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2p-2-text-16"/>
          <p:cNvSpPr txBox="1"/>
          <p:nvPr/>
        </p:nvSpPr>
        <p:spPr>
          <a:xfrm>
            <a:off x="6515100" y="2457907"/>
            <a:ext cx="252557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AGENTFIT 拿它做什么</a:t>
            </a:r>
          </a:p>
        </p:txBody>
      </p:sp>
      <p:sp>
        <p:nvSpPr>
          <p:cNvPr id="18" name="h2p-2-text-17"/>
          <p:cNvSpPr txBox="1"/>
          <p:nvPr/>
        </p:nvSpPr>
        <p:spPr>
          <a:xfrm>
            <a:off x="6515100" y="2781604"/>
            <a:ext cx="4857292" cy="235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80">
                <a:solidFill>
                  <a:srgbClr val="102A43"/>
                </a:solidFill>
                <a:latin typeface="Noto Sans CJK SC"/>
              </a:rPr>
              <a:t>首个 ProjectCase 与证据锚点</a:t>
            </a:r>
          </a:p>
        </p:txBody>
      </p:sp>
      <p:sp>
        <p:nvSpPr>
          <p:cNvPr id="19" name="h2p-2-box-18"/>
          <p:cNvSpPr/>
          <p:nvPr/>
        </p:nvSpPr>
        <p:spPr>
          <a:xfrm>
            <a:off x="6515100" y="3238804"/>
            <a:ext cx="4762195" cy="705002"/>
          </a:xfrm>
          <a:prstGeom prst="roundRect">
            <a:avLst>
              <a:gd name="adj" fmla="val 2432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2-text-19"/>
          <p:cNvSpPr txBox="1"/>
          <p:nvPr/>
        </p:nvSpPr>
        <p:spPr>
          <a:xfrm>
            <a:off x="6667804" y="3353104"/>
            <a:ext cx="4547311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不是：把 OpsPilot 当成 AgentFit 已跑通</a:t>
            </a:r>
          </a:p>
        </p:txBody>
      </p:sp>
      <p:sp>
        <p:nvSpPr>
          <p:cNvPr id="21" name="h2p-2-text-20"/>
          <p:cNvSpPr txBox="1"/>
          <p:nvPr/>
        </p:nvSpPr>
        <p:spPr>
          <a:xfrm>
            <a:off x="6667804" y="3600907"/>
            <a:ext cx="4547311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而是：拿它的 Agent、事故、工具契约做输入</a:t>
            </a:r>
          </a:p>
        </p:txBody>
      </p:sp>
      <p:sp>
        <p:nvSpPr>
          <p:cNvPr id="22" name="h2p-2-text-21"/>
          <p:cNvSpPr txBox="1"/>
          <p:nvPr/>
        </p:nvSpPr>
        <p:spPr>
          <a:xfrm>
            <a:off x="6515100" y="4134002"/>
            <a:ext cx="485729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baseline 给出一种现成的多 Agent 结构；AgentFit 要回答的是——同一任务下 C0 / C1 / C2 / C3 哪个方案更合适。</a:t>
            </a:r>
          </a:p>
        </p:txBody>
      </p:sp>
      <p:sp>
        <p:nvSpPr>
          <p:cNvPr id="23" name="h2p-2-text-22"/>
          <p:cNvSpPr txBox="1"/>
          <p:nvPr/>
        </p:nvSpPr>
        <p:spPr>
          <a:xfrm>
            <a:off x="6515100" y="5181904"/>
            <a:ext cx="4857292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26B4B"/>
                </a:solidFill>
                <a:latin typeface="Noto Sans CJK SC"/>
              </a:rPr>
              <a:t>边界：设计契约，非运行证据</a:t>
            </a:r>
          </a:p>
        </p:txBody>
      </p:sp>
      <p:sp>
        <p:nvSpPr>
          <p:cNvPr id="24" name="h2p-2-text-23"/>
          <p:cNvSpPr txBox="1"/>
          <p:nvPr/>
        </p:nvSpPr>
        <p:spPr>
          <a:xfrm>
            <a:off x="577900" y="5924397"/>
            <a:ext cx="11036808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02A43"/>
                </a:solidFill>
                <a:latin typeface="Noto Sans CJK SC"/>
              </a:rPr>
              <a:t>OpsPilot 证明这类故障值得做；AgentFit 证明的是“该用哪种方案做”。</a:t>
            </a:r>
          </a:p>
        </p:txBody>
      </p:sp>
      <p:sp>
        <p:nvSpPr>
          <p:cNvPr id="25" name="h2p-2-text-24"/>
          <p:cNvSpPr txBox="1"/>
          <p:nvPr/>
        </p:nvSpPr>
        <p:spPr>
          <a:xfrm>
            <a:off x="685800" y="6543446"/>
            <a:ext cx="1068933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证据锚点</a:t>
            </a:r>
          </a:p>
        </p:txBody>
      </p:sp>
      <p:sp>
        <p:nvSpPr>
          <p:cNvPr id="26" name="h2p-2-text-25"/>
          <p:cNvSpPr txBox="1"/>
          <p:nvPr/>
        </p:nvSpPr>
        <p:spPr>
          <a:xfrm>
            <a:off x="10120579" y="6543446"/>
            <a:ext cx="1442923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首个 ProjectCase 参考 ·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3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3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03 / 12 · 从材料到可验收档案</a:t>
            </a:r>
          </a:p>
        </p:txBody>
      </p:sp>
      <p:sp>
        <p:nvSpPr>
          <p:cNvPr id="4" name="h2p-3-text-3"/>
          <p:cNvSpPr txBox="1"/>
          <p:nvPr/>
        </p:nvSpPr>
        <p:spPr>
          <a:xfrm>
            <a:off x="685800" y="724204"/>
            <a:ext cx="11036808" cy="3767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700">
                <a:solidFill>
                  <a:srgbClr val="102A43"/>
                </a:solidFill>
                <a:latin typeface="Noto Sans CJK SC"/>
              </a:rPr>
              <a:t>AgentFit 把 baseline 材料编译成首个 ProjectCase。</a:t>
            </a:r>
          </a:p>
        </p:txBody>
      </p:sp>
      <p:sp>
        <p:nvSpPr>
          <p:cNvPr id="5" name="h2p-3-text-4"/>
          <p:cNvSpPr txBox="1"/>
          <p:nvPr/>
        </p:nvSpPr>
        <p:spPr>
          <a:xfrm>
            <a:off x="705002" y="1580997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企业给出的材料、代表性案例和优先级，先被整理成一份可验收、可重放、可追溯的项目档案。</a:t>
            </a:r>
          </a:p>
        </p:txBody>
      </p:sp>
      <p:sp>
        <p:nvSpPr>
          <p:cNvPr id="6" name="h2p-3-box-5"/>
          <p:cNvSpPr/>
          <p:nvPr/>
        </p:nvSpPr>
        <p:spPr>
          <a:xfrm>
            <a:off x="685800" y="1981504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3-text-6"/>
          <p:cNvSpPr txBox="1"/>
          <p:nvPr/>
        </p:nvSpPr>
        <p:spPr>
          <a:xfrm>
            <a:off x="685800" y="2210104"/>
            <a:ext cx="2040026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426B86"/>
                </a:solidFill>
                <a:latin typeface="Noto Sans Mono CJK SC"/>
              </a:rPr>
              <a:t>企业输入 · 保留来源与时间边界</a:t>
            </a:r>
          </a:p>
        </p:txBody>
      </p:sp>
      <p:sp>
        <p:nvSpPr>
          <p:cNvPr id="8" name="h2p-3-box-7"/>
          <p:cNvSpPr/>
          <p:nvPr/>
        </p:nvSpPr>
        <p:spPr>
          <a:xfrm>
            <a:off x="685800" y="2533802"/>
            <a:ext cx="2762402" cy="2361895"/>
          </a:xfrm>
          <a:prstGeom prst="roundRect">
            <a:avLst>
              <a:gd name="adj" fmla="val 7260"/>
            </a:avLst>
          </a:prstGeom>
          <a:solidFill>
            <a:srgbClr val="DFEAF2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2p-3-text-8"/>
          <p:cNvSpPr txBox="1"/>
          <p:nvPr/>
        </p:nvSpPr>
        <p:spPr>
          <a:xfrm>
            <a:off x="914400" y="2743200"/>
            <a:ext cx="369417" cy="3621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850">
                <a:solidFill>
                  <a:srgbClr val="426B86"/>
                </a:solidFill>
                <a:latin typeface="Noto Sans Mono CJK SC"/>
              </a:rPr>
              <a:t>01</a:t>
            </a:r>
          </a:p>
        </p:txBody>
      </p:sp>
      <p:sp>
        <p:nvSpPr>
          <p:cNvPr id="10" name="h2p-3-text-9"/>
          <p:cNvSpPr txBox="1"/>
          <p:nvPr/>
        </p:nvSpPr>
        <p:spPr>
          <a:xfrm>
            <a:off x="914400" y="3295497"/>
            <a:ext cx="2350922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650">
                <a:solidFill>
                  <a:srgbClr val="102A43"/>
                </a:solidFill>
                <a:latin typeface="Noto Sans CJK SC"/>
              </a:rPr>
              <a:t>业务材料</a:t>
            </a:r>
          </a:p>
        </p:txBody>
      </p:sp>
      <p:sp>
        <p:nvSpPr>
          <p:cNvPr id="11" name="h2p-3-text-10"/>
          <p:cNvSpPr txBox="1"/>
          <p:nvPr/>
        </p:nvSpPr>
        <p:spPr>
          <a:xfrm>
            <a:off x="914400" y="3676802"/>
            <a:ext cx="2350922" cy="6629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客诉、告警、日志、Trace、指标、变更、Runbook 与 OpsPilot baseline。</a:t>
            </a:r>
          </a:p>
        </p:txBody>
      </p:sp>
      <p:sp>
        <p:nvSpPr>
          <p:cNvPr id="12" name="h2p-3-box-11"/>
          <p:cNvSpPr/>
          <p:nvPr/>
        </p:nvSpPr>
        <p:spPr>
          <a:xfrm>
            <a:off x="3600907" y="2533802"/>
            <a:ext cx="2762402" cy="2361895"/>
          </a:xfrm>
          <a:prstGeom prst="roundRect">
            <a:avLst>
              <a:gd name="adj" fmla="val 7260"/>
            </a:avLst>
          </a:prstGeom>
          <a:solidFill>
            <a:srgbClr val="DFEAF2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3-text-12"/>
          <p:cNvSpPr txBox="1"/>
          <p:nvPr/>
        </p:nvSpPr>
        <p:spPr>
          <a:xfrm>
            <a:off x="3829507" y="2743200"/>
            <a:ext cx="369417" cy="3621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850">
                <a:solidFill>
                  <a:srgbClr val="426B86"/>
                </a:solidFill>
                <a:latin typeface="Noto Sans Mono CJK SC"/>
              </a:rPr>
              <a:t>02</a:t>
            </a:r>
          </a:p>
        </p:txBody>
      </p:sp>
      <p:sp>
        <p:nvSpPr>
          <p:cNvPr id="14" name="h2p-3-text-13"/>
          <p:cNvSpPr txBox="1"/>
          <p:nvPr/>
        </p:nvSpPr>
        <p:spPr>
          <a:xfrm>
            <a:off x="3829507" y="3295497"/>
            <a:ext cx="2350922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650">
                <a:solidFill>
                  <a:srgbClr val="102A43"/>
                </a:solidFill>
                <a:latin typeface="Noto Sans CJK SC"/>
              </a:rPr>
              <a:t>代表性案例</a:t>
            </a:r>
          </a:p>
        </p:txBody>
      </p:sp>
      <p:sp>
        <p:nvSpPr>
          <p:cNvPr id="15" name="h2p-3-text-14"/>
          <p:cNvSpPr txBox="1"/>
          <p:nvPr/>
        </p:nvSpPr>
        <p:spPr>
          <a:xfrm>
            <a:off x="3829507" y="3676802"/>
            <a:ext cx="2350922" cy="6629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覆盖常见、困难、失败与高风险场景；明确什么能冻结、重放和评价。</a:t>
            </a:r>
          </a:p>
        </p:txBody>
      </p:sp>
      <p:sp>
        <p:nvSpPr>
          <p:cNvPr id="16" name="h2p-3-box-15"/>
          <p:cNvSpPr/>
          <p:nvPr/>
        </p:nvSpPr>
        <p:spPr>
          <a:xfrm>
            <a:off x="6515100" y="2533802"/>
            <a:ext cx="2381097" cy="2361895"/>
          </a:xfrm>
          <a:prstGeom prst="roundRect">
            <a:avLst>
              <a:gd name="adj" fmla="val 726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2p-3-text-16"/>
          <p:cNvSpPr txBox="1"/>
          <p:nvPr/>
        </p:nvSpPr>
        <p:spPr>
          <a:xfrm>
            <a:off x="6743700" y="2743200"/>
            <a:ext cx="369417" cy="3621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850">
                <a:solidFill>
                  <a:srgbClr val="D6A43B"/>
                </a:solidFill>
                <a:latin typeface="Noto Sans Mono CJK SC"/>
              </a:rPr>
              <a:t>03</a:t>
            </a:r>
          </a:p>
        </p:txBody>
      </p:sp>
      <p:sp>
        <p:nvSpPr>
          <p:cNvPr id="18" name="h2p-3-text-17"/>
          <p:cNvSpPr txBox="1"/>
          <p:nvPr/>
        </p:nvSpPr>
        <p:spPr>
          <a:xfrm>
            <a:off x="6743700" y="3295497"/>
            <a:ext cx="1962302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650">
                <a:solidFill>
                  <a:srgbClr val="102A43"/>
                </a:solidFill>
                <a:latin typeface="Noto Sans CJK SC"/>
              </a:rPr>
              <a:t>优先级</a:t>
            </a:r>
          </a:p>
        </p:txBody>
      </p:sp>
      <p:sp>
        <p:nvSpPr>
          <p:cNvPr id="19" name="h2p-3-text-18"/>
          <p:cNvSpPr txBox="1"/>
          <p:nvPr/>
        </p:nvSpPr>
        <p:spPr>
          <a:xfrm>
            <a:off x="6743700" y="3676802"/>
            <a:ext cx="1962302" cy="4416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结果质量、时延、成本、安全与 Human 边界的取舍。</a:t>
            </a:r>
          </a:p>
        </p:txBody>
      </p:sp>
      <p:sp>
        <p:nvSpPr>
          <p:cNvPr id="20" name="h2p-3-text-19"/>
          <p:cNvSpPr txBox="1"/>
          <p:nvPr/>
        </p:nvSpPr>
        <p:spPr>
          <a:xfrm>
            <a:off x="9048902" y="3372307"/>
            <a:ext cx="369417" cy="5239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>
                <a:solidFill>
                  <a:srgbClr val="1A8D85"/>
                </a:solidFill>
                <a:latin typeface="Noto Sans CJK SC"/>
              </a:rPr>
              <a:t>→</a:t>
            </a:r>
          </a:p>
        </p:txBody>
      </p:sp>
      <p:sp>
        <p:nvSpPr>
          <p:cNvPr id="21" name="h2p-3-box-20"/>
          <p:cNvSpPr/>
          <p:nvPr/>
        </p:nvSpPr>
        <p:spPr>
          <a:xfrm>
            <a:off x="9506102" y="2342692"/>
            <a:ext cx="2000707" cy="2743200"/>
          </a:xfrm>
          <a:prstGeom prst="roundRect">
            <a:avLst>
              <a:gd name="adj" fmla="val 857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2p-3-text-21"/>
          <p:cNvSpPr txBox="1"/>
          <p:nvPr/>
        </p:nvSpPr>
        <p:spPr>
          <a:xfrm>
            <a:off x="9734702" y="2571292"/>
            <a:ext cx="1155801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VERSIONED DOSSIER</a:t>
            </a:r>
          </a:p>
        </p:txBody>
      </p:sp>
      <p:sp>
        <p:nvSpPr>
          <p:cNvPr id="23" name="h2p-3-text-22"/>
          <p:cNvSpPr txBox="1"/>
          <p:nvPr/>
        </p:nvSpPr>
        <p:spPr>
          <a:xfrm>
            <a:off x="9734702" y="2971800"/>
            <a:ext cx="1573682" cy="258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720">
                <a:solidFill>
                  <a:srgbClr val="102A43"/>
                </a:solidFill>
                <a:latin typeface="Noto Sans CJK SC"/>
              </a:rPr>
              <a:t>ProjectCase</a:t>
            </a:r>
          </a:p>
        </p:txBody>
      </p:sp>
      <p:sp>
        <p:nvSpPr>
          <p:cNvPr id="24" name="h2p-3-text-23"/>
          <p:cNvSpPr txBox="1"/>
          <p:nvPr/>
        </p:nvSpPr>
        <p:spPr>
          <a:xfrm>
            <a:off x="9734702" y="3409797"/>
            <a:ext cx="1573682" cy="10003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任务契约</a:t>
            </a:r>
          </a:p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样本清单</a:t>
            </a:r>
          </a:p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验收标准</a:t>
            </a:r>
          </a:p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能力边界</a:t>
            </a:r>
          </a:p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评测协议</a:t>
            </a:r>
          </a:p>
        </p:txBody>
      </p:sp>
      <p:sp>
        <p:nvSpPr>
          <p:cNvPr id="25" name="h2p-3-text-24"/>
          <p:cNvSpPr txBox="1"/>
          <p:nvPr/>
        </p:nvSpPr>
        <p:spPr>
          <a:xfrm>
            <a:off x="9734702" y="4647895"/>
            <a:ext cx="1573682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CJK SC"/>
              </a:rPr>
              <a:t>Human 确认后冻结</a:t>
            </a:r>
          </a:p>
        </p:txBody>
      </p:sp>
      <p:sp>
        <p:nvSpPr>
          <p:cNvPr id="26" name="h2p-3-box-25"/>
          <p:cNvSpPr/>
          <p:nvPr/>
        </p:nvSpPr>
        <p:spPr>
          <a:xfrm>
            <a:off x="685800" y="5219395"/>
            <a:ext cx="10820095" cy="742492"/>
          </a:xfrm>
          <a:prstGeom prst="roundRect">
            <a:avLst>
              <a:gd name="adj" fmla="val 2308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2p-3-text-26"/>
          <p:cNvSpPr txBox="1"/>
          <p:nvPr/>
        </p:nvSpPr>
        <p:spPr>
          <a:xfrm>
            <a:off x="914400" y="5352897"/>
            <a:ext cx="10589666" cy="23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80">
                <a:solidFill>
                  <a:srgbClr val="102A43"/>
                </a:solidFill>
                <a:latin typeface="Noto Sans CJK SC"/>
              </a:rPr>
              <a:t>ProjectCase</a:t>
            </a:r>
            <a:r>
              <a:rPr sz="1280">
                <a:solidFill>
                  <a:srgbClr val="102A43"/>
                </a:solidFill>
                <a:latin typeface="Noto Sans CJK SC"/>
              </a:rPr>
              <a:t> 描述整个任务分布与方案边界；SourceObservation 不是 TaskSample，项目档案也不等于某次运行。</a:t>
            </a:r>
          </a:p>
        </p:txBody>
      </p:sp>
      <p:sp>
        <p:nvSpPr>
          <p:cNvPr id="28" name="h2p-3-text-27"/>
          <p:cNvSpPr txBox="1"/>
          <p:nvPr/>
        </p:nvSpPr>
        <p:spPr>
          <a:xfrm>
            <a:off x="914400" y="5734202"/>
            <a:ext cx="10589666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26B4B"/>
                </a:solidFill>
                <a:latin typeface="Noto Sans CJK SC"/>
              </a:rPr>
              <a:t>设计契约，非运行证据</a:t>
            </a:r>
          </a:p>
        </p:txBody>
      </p:sp>
      <p:sp>
        <p:nvSpPr>
          <p:cNvPr id="29" name="h2p-3-text-28"/>
          <p:cNvSpPr txBox="1"/>
          <p:nvPr/>
        </p:nvSpPr>
        <p:spPr>
          <a:xfrm>
            <a:off x="685800" y="6543446"/>
            <a:ext cx="1228953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ProjectCase</a:t>
            </a:r>
          </a:p>
        </p:txBody>
      </p:sp>
      <p:sp>
        <p:nvSpPr>
          <p:cNvPr id="30" name="h2p-3-text-29"/>
          <p:cNvSpPr txBox="1"/>
          <p:nvPr/>
        </p:nvSpPr>
        <p:spPr>
          <a:xfrm>
            <a:off x="10601553" y="6543446"/>
            <a:ext cx="96194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材料 → 档案 ·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4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4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04 / 12 · 一个样本长什么样</a:t>
            </a:r>
          </a:p>
        </p:txBody>
      </p:sp>
      <p:sp>
        <p:nvSpPr>
          <p:cNvPr id="4" name="h2p-4-text-3"/>
          <p:cNvSpPr txBox="1"/>
          <p:nvPr/>
        </p:nvSpPr>
        <p:spPr>
          <a:xfrm>
            <a:off x="685800" y="724204"/>
            <a:ext cx="11036808" cy="3767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700">
                <a:solidFill>
                  <a:srgbClr val="102A43"/>
                </a:solidFill>
                <a:latin typeface="Noto Sans CJK SC"/>
              </a:rPr>
              <a:t>两个事故变成 TaskSample：输入、输出与验收。</a:t>
            </a:r>
          </a:p>
        </p:txBody>
      </p:sp>
      <p:sp>
        <p:nvSpPr>
          <p:cNvPr id="5" name="h2p-4-text-4"/>
          <p:cNvSpPr txBox="1"/>
          <p:nvPr/>
        </p:nvSpPr>
        <p:spPr>
          <a:xfrm>
            <a:off x="705002" y="1580997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同一合同结构承载不同事故：给什么、要什么、怎样才算通过。</a:t>
            </a:r>
          </a:p>
        </p:txBody>
      </p:sp>
      <p:sp>
        <p:nvSpPr>
          <p:cNvPr id="6" name="h2p-4-box-5"/>
          <p:cNvSpPr/>
          <p:nvPr/>
        </p:nvSpPr>
        <p:spPr>
          <a:xfrm>
            <a:off x="685800" y="1981504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4-box-6"/>
          <p:cNvSpPr/>
          <p:nvPr/>
        </p:nvSpPr>
        <p:spPr>
          <a:xfrm>
            <a:off x="685800" y="2152497"/>
            <a:ext cx="5296204" cy="3333902"/>
          </a:xfrm>
          <a:prstGeom prst="roundRect">
            <a:avLst>
              <a:gd name="adj" fmla="val 5140"/>
            </a:avLst>
          </a:prstGeom>
          <a:solidFill>
            <a:srgbClr val="F8DDD4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4-text-7"/>
          <p:cNvSpPr txBox="1"/>
          <p:nvPr/>
        </p:nvSpPr>
        <p:spPr>
          <a:xfrm>
            <a:off x="914400" y="2361895"/>
            <a:ext cx="4955133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26B4B"/>
                </a:solidFill>
                <a:latin typeface="Noto Sans Mono CJK SC"/>
              </a:rPr>
              <a:t>TaskSample · 事故 A</a:t>
            </a:r>
          </a:p>
        </p:txBody>
      </p:sp>
      <p:sp>
        <p:nvSpPr>
          <p:cNvPr id="9" name="h2p-4-text-8"/>
          <p:cNvSpPr txBox="1"/>
          <p:nvPr/>
        </p:nvSpPr>
        <p:spPr>
          <a:xfrm>
            <a:off x="914400" y="2648102"/>
            <a:ext cx="4955133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650">
                <a:solidFill>
                  <a:srgbClr val="C64C32"/>
                </a:solidFill>
                <a:latin typeface="Noto Sans Mono CJK SC"/>
              </a:rPr>
              <a:t>db_pool_exhausted</a:t>
            </a:r>
          </a:p>
        </p:txBody>
      </p:sp>
      <p:sp>
        <p:nvSpPr>
          <p:cNvPr id="10" name="h2p-4-text-9"/>
          <p:cNvSpPr txBox="1"/>
          <p:nvPr/>
        </p:nvSpPr>
        <p:spPr>
          <a:xfrm>
            <a:off x="914400" y="2991002"/>
            <a:ext cx="4955133" cy="1911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订单 5xx 升高 · 数据库连接池耗尽</a:t>
            </a:r>
          </a:p>
        </p:txBody>
      </p:sp>
      <p:sp>
        <p:nvSpPr>
          <p:cNvPr id="11" name="h2p-4-box-10"/>
          <p:cNvSpPr/>
          <p:nvPr/>
        </p:nvSpPr>
        <p:spPr>
          <a:xfrm>
            <a:off x="914400" y="3353104"/>
            <a:ext cx="4857292" cy="533095"/>
          </a:xfrm>
          <a:prstGeom prst="roundRect">
            <a:avLst>
              <a:gd name="adj" fmla="val 32140"/>
            </a:avLst>
          </a:prstGeom>
          <a:solidFill>
            <a:srgbClr val="FFFFFF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2p-4-text-11"/>
          <p:cNvSpPr txBox="1"/>
          <p:nvPr/>
        </p:nvSpPr>
        <p:spPr>
          <a:xfrm>
            <a:off x="1067104" y="3485692"/>
            <a:ext cx="315468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C64C32"/>
                </a:solidFill>
                <a:latin typeface="Noto Sans Mono CJK SC"/>
              </a:rPr>
              <a:t>INPUT</a:t>
            </a:r>
          </a:p>
        </p:txBody>
      </p:sp>
      <p:sp>
        <p:nvSpPr>
          <p:cNvPr id="13" name="h2p-4-text-12"/>
          <p:cNvSpPr txBox="1"/>
          <p:nvPr/>
        </p:nvSpPr>
        <p:spPr>
          <a:xfrm>
            <a:off x="1790395" y="3467404"/>
            <a:ext cx="386699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告警、Trace、变更 50→8</a:t>
            </a:r>
          </a:p>
        </p:txBody>
      </p:sp>
      <p:sp>
        <p:nvSpPr>
          <p:cNvPr id="14" name="h2p-4-box-13"/>
          <p:cNvSpPr/>
          <p:nvPr/>
        </p:nvSpPr>
        <p:spPr>
          <a:xfrm>
            <a:off x="914400" y="4000500"/>
            <a:ext cx="4857292" cy="533095"/>
          </a:xfrm>
          <a:prstGeom prst="roundRect">
            <a:avLst>
              <a:gd name="adj" fmla="val 32140"/>
            </a:avLst>
          </a:prstGeom>
          <a:solidFill>
            <a:srgbClr val="FFFFFF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2p-4-text-14"/>
          <p:cNvSpPr txBox="1"/>
          <p:nvPr/>
        </p:nvSpPr>
        <p:spPr>
          <a:xfrm>
            <a:off x="1067104" y="4134002"/>
            <a:ext cx="378561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C64C32"/>
                </a:solidFill>
                <a:latin typeface="Noto Sans Mono CJK SC"/>
              </a:rPr>
              <a:t>OUTPUT</a:t>
            </a:r>
          </a:p>
        </p:txBody>
      </p:sp>
      <p:sp>
        <p:nvSpPr>
          <p:cNvPr id="16" name="h2p-4-text-15"/>
          <p:cNvSpPr txBox="1"/>
          <p:nvPr/>
        </p:nvSpPr>
        <p:spPr>
          <a:xfrm>
            <a:off x="1790395" y="4114800"/>
            <a:ext cx="386699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根因、回滚计划、恢复验证</a:t>
            </a:r>
          </a:p>
        </p:txBody>
      </p:sp>
      <p:sp>
        <p:nvSpPr>
          <p:cNvPr id="17" name="h2p-4-box-16"/>
          <p:cNvSpPr/>
          <p:nvPr/>
        </p:nvSpPr>
        <p:spPr>
          <a:xfrm>
            <a:off x="914400" y="4647895"/>
            <a:ext cx="4857292" cy="609904"/>
          </a:xfrm>
          <a:prstGeom prst="roundRect">
            <a:avLst>
              <a:gd name="adj" fmla="val 28120"/>
            </a:avLst>
          </a:prstGeom>
          <a:solidFill>
            <a:srgbClr val="FFFFFF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4-text-17"/>
          <p:cNvSpPr txBox="1"/>
          <p:nvPr/>
        </p:nvSpPr>
        <p:spPr>
          <a:xfrm>
            <a:off x="1067104" y="4819802"/>
            <a:ext cx="378561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C64C32"/>
                </a:solidFill>
                <a:latin typeface="Noto Sans Mono CJK SC"/>
              </a:rPr>
              <a:t>ACCEPT</a:t>
            </a:r>
          </a:p>
        </p:txBody>
      </p:sp>
      <p:sp>
        <p:nvSpPr>
          <p:cNvPr id="19" name="h2p-4-text-18"/>
          <p:cNvSpPr txBox="1"/>
          <p:nvPr/>
        </p:nvSpPr>
        <p:spPr>
          <a:xfrm>
            <a:off x="1790395" y="4762195"/>
            <a:ext cx="3866997" cy="180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可追溯 · 可验证 · 无未批准写入</a:t>
            </a:r>
          </a:p>
        </p:txBody>
      </p:sp>
      <p:sp>
        <p:nvSpPr>
          <p:cNvPr id="20" name="h2p-4-box-19"/>
          <p:cNvSpPr/>
          <p:nvPr/>
        </p:nvSpPr>
        <p:spPr>
          <a:xfrm>
            <a:off x="6210604" y="2152497"/>
            <a:ext cx="5296204" cy="3333902"/>
          </a:xfrm>
          <a:prstGeom prst="roundRect">
            <a:avLst>
              <a:gd name="adj" fmla="val 514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2p-4-text-20"/>
          <p:cNvSpPr txBox="1"/>
          <p:nvPr/>
        </p:nvSpPr>
        <p:spPr>
          <a:xfrm>
            <a:off x="6439204" y="2361895"/>
            <a:ext cx="4955133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D6A43B"/>
                </a:solidFill>
                <a:latin typeface="Noto Sans Mono CJK SC"/>
              </a:rPr>
              <a:t>TaskSample · 事故 B</a:t>
            </a:r>
          </a:p>
        </p:txBody>
      </p:sp>
      <p:sp>
        <p:nvSpPr>
          <p:cNvPr id="22" name="h2p-4-text-21"/>
          <p:cNvSpPr txBox="1"/>
          <p:nvPr/>
        </p:nvSpPr>
        <p:spPr>
          <a:xfrm>
            <a:off x="6439204" y="2648102"/>
            <a:ext cx="4955133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650">
                <a:solidFill>
                  <a:srgbClr val="A5781C"/>
                </a:solidFill>
                <a:latin typeface="Noto Sans Mono CJK SC"/>
              </a:rPr>
              <a:t>slow_sql_degradation</a:t>
            </a:r>
          </a:p>
        </p:txBody>
      </p:sp>
      <p:sp>
        <p:nvSpPr>
          <p:cNvPr id="23" name="h2p-4-text-22"/>
          <p:cNvSpPr txBox="1"/>
          <p:nvPr/>
        </p:nvSpPr>
        <p:spPr>
          <a:xfrm>
            <a:off x="6439204" y="2991002"/>
            <a:ext cx="4955133" cy="1911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P99 延迟爬升 · 慢 SQL 逐步劣化</a:t>
            </a:r>
          </a:p>
        </p:txBody>
      </p:sp>
      <p:sp>
        <p:nvSpPr>
          <p:cNvPr id="24" name="h2p-4-box-23"/>
          <p:cNvSpPr/>
          <p:nvPr/>
        </p:nvSpPr>
        <p:spPr>
          <a:xfrm>
            <a:off x="6439204" y="3353104"/>
            <a:ext cx="4857292" cy="533095"/>
          </a:xfrm>
          <a:prstGeom prst="roundRect">
            <a:avLst>
              <a:gd name="adj" fmla="val 32140"/>
            </a:avLst>
          </a:prstGeom>
          <a:solidFill>
            <a:srgbClr val="FFFFFF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2p-4-text-24"/>
          <p:cNvSpPr txBox="1"/>
          <p:nvPr/>
        </p:nvSpPr>
        <p:spPr>
          <a:xfrm>
            <a:off x="6590995" y="3485692"/>
            <a:ext cx="315468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A5781C"/>
                </a:solidFill>
                <a:latin typeface="Noto Sans Mono CJK SC"/>
              </a:rPr>
              <a:t>INPUT</a:t>
            </a:r>
          </a:p>
        </p:txBody>
      </p:sp>
      <p:sp>
        <p:nvSpPr>
          <p:cNvPr id="26" name="h2p-4-text-25"/>
          <p:cNvSpPr txBox="1"/>
          <p:nvPr/>
        </p:nvSpPr>
        <p:spPr>
          <a:xfrm>
            <a:off x="7315200" y="3467404"/>
            <a:ext cx="386699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指标、慢日志、Trace、近 24h 变更</a:t>
            </a:r>
          </a:p>
        </p:txBody>
      </p:sp>
      <p:sp>
        <p:nvSpPr>
          <p:cNvPr id="27" name="h2p-4-box-26"/>
          <p:cNvSpPr/>
          <p:nvPr/>
        </p:nvSpPr>
        <p:spPr>
          <a:xfrm>
            <a:off x="6439204" y="4000500"/>
            <a:ext cx="4857292" cy="533095"/>
          </a:xfrm>
          <a:prstGeom prst="roundRect">
            <a:avLst>
              <a:gd name="adj" fmla="val 32140"/>
            </a:avLst>
          </a:prstGeom>
          <a:solidFill>
            <a:srgbClr val="FFFFFF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2p-4-text-27"/>
          <p:cNvSpPr txBox="1"/>
          <p:nvPr/>
        </p:nvSpPr>
        <p:spPr>
          <a:xfrm>
            <a:off x="6590995" y="4134002"/>
            <a:ext cx="378561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A5781C"/>
                </a:solidFill>
                <a:latin typeface="Noto Sans Mono CJK SC"/>
              </a:rPr>
              <a:t>OUTPUT</a:t>
            </a:r>
          </a:p>
        </p:txBody>
      </p:sp>
      <p:sp>
        <p:nvSpPr>
          <p:cNvPr id="29" name="h2p-4-text-28"/>
          <p:cNvSpPr txBox="1"/>
          <p:nvPr/>
        </p:nvSpPr>
        <p:spPr>
          <a:xfrm>
            <a:off x="7315200" y="4114800"/>
            <a:ext cx="386699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慢 SQL、处置建议、影响面</a:t>
            </a:r>
          </a:p>
        </p:txBody>
      </p:sp>
      <p:sp>
        <p:nvSpPr>
          <p:cNvPr id="30" name="h2p-4-box-29"/>
          <p:cNvSpPr/>
          <p:nvPr/>
        </p:nvSpPr>
        <p:spPr>
          <a:xfrm>
            <a:off x="6439204" y="4647895"/>
            <a:ext cx="4857292" cy="609904"/>
          </a:xfrm>
          <a:prstGeom prst="roundRect">
            <a:avLst>
              <a:gd name="adj" fmla="val 28120"/>
            </a:avLst>
          </a:prstGeom>
          <a:solidFill>
            <a:srgbClr val="FFFFFF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2p-4-text-30"/>
          <p:cNvSpPr txBox="1"/>
          <p:nvPr/>
        </p:nvSpPr>
        <p:spPr>
          <a:xfrm>
            <a:off x="6590995" y="4819802"/>
            <a:ext cx="378561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A5781C"/>
                </a:solidFill>
                <a:latin typeface="Noto Sans Mono CJK SC"/>
              </a:rPr>
              <a:t>ACCEPT</a:t>
            </a:r>
          </a:p>
        </p:txBody>
      </p:sp>
      <p:sp>
        <p:nvSpPr>
          <p:cNvPr id="32" name="h2p-4-text-31"/>
          <p:cNvSpPr txBox="1"/>
          <p:nvPr/>
        </p:nvSpPr>
        <p:spPr>
          <a:xfrm>
            <a:off x="7315200" y="4762195"/>
            <a:ext cx="3866997" cy="180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可复核 · 范围受限 · 缺口显式</a:t>
            </a:r>
          </a:p>
        </p:txBody>
      </p:sp>
      <p:sp>
        <p:nvSpPr>
          <p:cNvPr id="33" name="h2p-4-box-32"/>
          <p:cNvSpPr/>
          <p:nvPr/>
        </p:nvSpPr>
        <p:spPr>
          <a:xfrm>
            <a:off x="685800" y="5658307"/>
            <a:ext cx="10820095" cy="552297"/>
          </a:xfrm>
          <a:prstGeom prst="roundRect">
            <a:avLst>
              <a:gd name="adj" fmla="val 3103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2p-4-text-33"/>
          <p:cNvSpPr txBox="1"/>
          <p:nvPr/>
        </p:nvSpPr>
        <p:spPr>
          <a:xfrm>
            <a:off x="914400" y="5771692"/>
            <a:ext cx="10589666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102A43"/>
                </a:solidFill>
                <a:latin typeface="Noto Sans CJK SC"/>
              </a:rPr>
              <a:t>TaskSample = 可独立冻结、重放、执行和评价的最小单位；告警只是 SourceObservation，还不等于样本。</a:t>
            </a:r>
          </a:p>
        </p:txBody>
      </p:sp>
      <p:sp>
        <p:nvSpPr>
          <p:cNvPr id="35" name="h2p-4-text-34"/>
          <p:cNvSpPr txBox="1"/>
          <p:nvPr/>
        </p:nvSpPr>
        <p:spPr>
          <a:xfrm>
            <a:off x="685800" y="6543446"/>
            <a:ext cx="117591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TaskSample</a:t>
            </a:r>
          </a:p>
        </p:txBody>
      </p:sp>
      <p:sp>
        <p:nvSpPr>
          <p:cNvPr id="36" name="h2p-4-text-35"/>
          <p:cNvSpPr txBox="1"/>
          <p:nvPr/>
        </p:nvSpPr>
        <p:spPr>
          <a:xfrm>
            <a:off x="10173614" y="6543446"/>
            <a:ext cx="1388973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设计契约，非运行证据 ·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5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5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05 / 12 · COMPLETE SOLUTION SPACE</a:t>
            </a:r>
          </a:p>
        </p:txBody>
      </p:sp>
      <p:sp>
        <p:nvSpPr>
          <p:cNvPr id="4" name="h2p-5-text-3"/>
          <p:cNvSpPr txBox="1"/>
          <p:nvPr/>
        </p:nvSpPr>
        <p:spPr>
          <a:xfrm>
            <a:off x="685800" y="724204"/>
            <a:ext cx="11036808" cy="314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250">
                <a:solidFill>
                  <a:srgbClr val="102A43"/>
                </a:solidFill>
                <a:latin typeface="Noto Sans CJK SC"/>
              </a:rPr>
              <a:t>调整对象是完整 Agent Solution，而不是 Agent 数量。</a:t>
            </a:r>
          </a:p>
        </p:txBody>
      </p:sp>
      <p:sp>
        <p:nvSpPr>
          <p:cNvPr id="5" name="h2p-5-text-4"/>
          <p:cNvSpPr txBox="1"/>
          <p:nvPr/>
        </p:nvSpPr>
        <p:spPr>
          <a:xfrm>
            <a:off x="705002" y="1600200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Tool、Skill、MCP、Memory、模型、Agent 拓扑与 Human 边界都是变量。</a:t>
            </a:r>
          </a:p>
        </p:txBody>
      </p:sp>
      <p:sp>
        <p:nvSpPr>
          <p:cNvPr id="6" name="h2p-5-box-5"/>
          <p:cNvSpPr/>
          <p:nvPr/>
        </p:nvSpPr>
        <p:spPr>
          <a:xfrm>
            <a:off x="685800" y="2000707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5-box-6"/>
          <p:cNvSpPr/>
          <p:nvPr/>
        </p:nvSpPr>
        <p:spPr>
          <a:xfrm>
            <a:off x="685800" y="2190902"/>
            <a:ext cx="7162495" cy="3372307"/>
          </a:xfrm>
          <a:prstGeom prst="roundRect">
            <a:avLst>
              <a:gd name="adj" fmla="val 5080"/>
            </a:avLst>
          </a:prstGeom>
          <a:solidFill>
            <a:srgbClr val="FFFFFF"/>
          </a:solidFill>
          <a:ln w="19050">
            <a:solidFill>
              <a:srgbClr val="D6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5-text-7"/>
          <p:cNvSpPr txBox="1"/>
          <p:nvPr/>
        </p:nvSpPr>
        <p:spPr>
          <a:xfrm>
            <a:off x="914400" y="2342692"/>
            <a:ext cx="1224381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六个非拓扑方案维度</a:t>
            </a:r>
          </a:p>
        </p:txBody>
      </p:sp>
      <p:sp>
        <p:nvSpPr>
          <p:cNvPr id="9" name="h2p-5-box-8"/>
          <p:cNvSpPr/>
          <p:nvPr/>
        </p:nvSpPr>
        <p:spPr>
          <a:xfrm>
            <a:off x="914400" y="2686507"/>
            <a:ext cx="1524304" cy="1067104"/>
          </a:xfrm>
          <a:prstGeom prst="roundRect">
            <a:avLst>
              <a:gd name="adj" fmla="val 16070"/>
            </a:avLst>
          </a:prstGeom>
          <a:solidFill>
            <a:srgbClr val="DFEAF2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2p-5-text-9"/>
          <p:cNvSpPr txBox="1"/>
          <p:nvPr/>
        </p:nvSpPr>
        <p:spPr>
          <a:xfrm>
            <a:off x="1067104" y="2819095"/>
            <a:ext cx="758037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426B86"/>
                </a:solidFill>
                <a:latin typeface="Noto Sans Mono CJK SC"/>
              </a:rPr>
              <a:t>工具 · TOOL</a:t>
            </a:r>
          </a:p>
        </p:txBody>
      </p:sp>
      <p:sp>
        <p:nvSpPr>
          <p:cNvPr id="11" name="h2p-5-text-10"/>
          <p:cNvSpPr txBox="1"/>
          <p:nvPr/>
        </p:nvSpPr>
        <p:spPr>
          <a:xfrm>
            <a:off x="1067104" y="3105302"/>
            <a:ext cx="124358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原子动作</a:t>
            </a:r>
          </a:p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权限最小化</a:t>
            </a:r>
          </a:p>
        </p:txBody>
      </p:sp>
      <p:sp>
        <p:nvSpPr>
          <p:cNvPr id="12" name="h2p-5-box-11"/>
          <p:cNvSpPr/>
          <p:nvPr/>
        </p:nvSpPr>
        <p:spPr>
          <a:xfrm>
            <a:off x="2590495" y="2686507"/>
            <a:ext cx="1524304" cy="1067104"/>
          </a:xfrm>
          <a:prstGeom prst="roundRect">
            <a:avLst>
              <a:gd name="adj" fmla="val 1607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5-text-12"/>
          <p:cNvSpPr txBox="1"/>
          <p:nvPr/>
        </p:nvSpPr>
        <p:spPr>
          <a:xfrm>
            <a:off x="2743200" y="2819095"/>
            <a:ext cx="315468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Mono CJK SC"/>
              </a:rPr>
              <a:t>Skill</a:t>
            </a:r>
          </a:p>
        </p:txBody>
      </p:sp>
      <p:sp>
        <p:nvSpPr>
          <p:cNvPr id="14" name="h2p-5-text-13"/>
          <p:cNvSpPr txBox="1"/>
          <p:nvPr/>
        </p:nvSpPr>
        <p:spPr>
          <a:xfrm>
            <a:off x="2743200" y="3105302"/>
            <a:ext cx="124358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版本化方法</a:t>
            </a:r>
          </a:p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验证后复用</a:t>
            </a:r>
          </a:p>
        </p:txBody>
      </p:sp>
      <p:sp>
        <p:nvSpPr>
          <p:cNvPr id="15" name="h2p-5-box-14"/>
          <p:cNvSpPr/>
          <p:nvPr/>
        </p:nvSpPr>
        <p:spPr>
          <a:xfrm>
            <a:off x="4267504" y="2686507"/>
            <a:ext cx="1524304" cy="1067104"/>
          </a:xfrm>
          <a:prstGeom prst="roundRect">
            <a:avLst>
              <a:gd name="adj" fmla="val 16070"/>
            </a:avLst>
          </a:prstGeom>
          <a:solidFill>
            <a:srgbClr val="DFEAF2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2p-5-text-15"/>
          <p:cNvSpPr txBox="1"/>
          <p:nvPr/>
        </p:nvSpPr>
        <p:spPr>
          <a:xfrm>
            <a:off x="4419295" y="2819095"/>
            <a:ext cx="189280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426B86"/>
                </a:solidFill>
                <a:latin typeface="Noto Sans Mono CJK SC"/>
              </a:rPr>
              <a:t>MCP</a:t>
            </a:r>
          </a:p>
        </p:txBody>
      </p:sp>
      <p:sp>
        <p:nvSpPr>
          <p:cNvPr id="17" name="h2p-5-text-16"/>
          <p:cNvSpPr txBox="1"/>
          <p:nvPr/>
        </p:nvSpPr>
        <p:spPr>
          <a:xfrm>
            <a:off x="4419295" y="3105302"/>
            <a:ext cx="124358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外部契约</a:t>
            </a:r>
          </a:p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Schema / 鉴权</a:t>
            </a:r>
          </a:p>
        </p:txBody>
      </p:sp>
      <p:sp>
        <p:nvSpPr>
          <p:cNvPr id="18" name="h2p-5-box-17"/>
          <p:cNvSpPr/>
          <p:nvPr/>
        </p:nvSpPr>
        <p:spPr>
          <a:xfrm>
            <a:off x="5943600" y="2686507"/>
            <a:ext cx="1676095" cy="1067104"/>
          </a:xfrm>
          <a:prstGeom prst="roundRect">
            <a:avLst>
              <a:gd name="adj" fmla="val 1607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2p-5-text-18"/>
          <p:cNvSpPr txBox="1"/>
          <p:nvPr/>
        </p:nvSpPr>
        <p:spPr>
          <a:xfrm>
            <a:off x="6096304" y="2819095"/>
            <a:ext cx="378561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A5781C"/>
                </a:solidFill>
                <a:latin typeface="Noto Sans Mono CJK SC"/>
              </a:rPr>
              <a:t>Memory</a:t>
            </a:r>
          </a:p>
        </p:txBody>
      </p:sp>
      <p:sp>
        <p:nvSpPr>
          <p:cNvPr id="20" name="h2p-5-text-19"/>
          <p:cNvSpPr txBox="1"/>
          <p:nvPr/>
        </p:nvSpPr>
        <p:spPr>
          <a:xfrm>
            <a:off x="6096304" y="3105302"/>
            <a:ext cx="139903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共享边界</a:t>
            </a:r>
          </a:p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已验证资产</a:t>
            </a:r>
          </a:p>
        </p:txBody>
      </p:sp>
      <p:sp>
        <p:nvSpPr>
          <p:cNvPr id="21" name="h2p-5-box-20"/>
          <p:cNvSpPr/>
          <p:nvPr/>
        </p:nvSpPr>
        <p:spPr>
          <a:xfrm>
            <a:off x="914400" y="3942892"/>
            <a:ext cx="3200400" cy="1314907"/>
          </a:xfrm>
          <a:prstGeom prst="roundRect">
            <a:avLst>
              <a:gd name="adj" fmla="val 13039"/>
            </a:avLst>
          </a:prstGeom>
          <a:solidFill>
            <a:srgbClr val="DFEAF2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2p-5-text-21"/>
          <p:cNvSpPr txBox="1"/>
          <p:nvPr/>
        </p:nvSpPr>
        <p:spPr>
          <a:xfrm>
            <a:off x="1067104" y="4095597"/>
            <a:ext cx="252374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426B86"/>
                </a:solidFill>
                <a:latin typeface="Noto Sans Mono CJK SC"/>
              </a:rPr>
              <a:t>模型</a:t>
            </a:r>
          </a:p>
        </p:txBody>
      </p:sp>
      <p:sp>
        <p:nvSpPr>
          <p:cNvPr id="23" name="h2p-5-text-22"/>
          <p:cNvSpPr txBox="1"/>
          <p:nvPr/>
        </p:nvSpPr>
        <p:spPr>
          <a:xfrm>
            <a:off x="1067104" y="4400092"/>
            <a:ext cx="2953512" cy="2249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00">
                <a:solidFill>
                  <a:srgbClr val="102A43"/>
                </a:solidFill>
                <a:latin typeface="Noto Sans CJK SC"/>
              </a:rPr>
              <a:t>能力、时延、成本与部署约束</a:t>
            </a:r>
          </a:p>
        </p:txBody>
      </p:sp>
      <p:sp>
        <p:nvSpPr>
          <p:cNvPr id="24" name="h2p-5-text-23"/>
          <p:cNvSpPr txBox="1"/>
          <p:nvPr/>
        </p:nvSpPr>
        <p:spPr>
          <a:xfrm>
            <a:off x="1067104" y="4724704"/>
            <a:ext cx="2953512" cy="2057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同一验收下比较；更大模型不是默认答案。</a:t>
            </a:r>
          </a:p>
        </p:txBody>
      </p:sp>
      <p:sp>
        <p:nvSpPr>
          <p:cNvPr id="25" name="h2p-5-box-24"/>
          <p:cNvSpPr/>
          <p:nvPr/>
        </p:nvSpPr>
        <p:spPr>
          <a:xfrm>
            <a:off x="4267504" y="3942892"/>
            <a:ext cx="3353104" cy="1314907"/>
          </a:xfrm>
          <a:prstGeom prst="roundRect">
            <a:avLst>
              <a:gd name="adj" fmla="val 13039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2p-5-text-25"/>
          <p:cNvSpPr txBox="1"/>
          <p:nvPr/>
        </p:nvSpPr>
        <p:spPr>
          <a:xfrm>
            <a:off x="4419295" y="4095597"/>
            <a:ext cx="3108960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A5781C"/>
                </a:solidFill>
                <a:latin typeface="Noto Sans Mono CJK SC"/>
              </a:rPr>
              <a:t>Human 边界</a:t>
            </a:r>
          </a:p>
        </p:txBody>
      </p:sp>
      <p:sp>
        <p:nvSpPr>
          <p:cNvPr id="27" name="h2p-5-text-26"/>
          <p:cNvSpPr txBox="1"/>
          <p:nvPr/>
        </p:nvSpPr>
        <p:spPr>
          <a:xfrm>
            <a:off x="4419295" y="4400092"/>
            <a:ext cx="3108960" cy="2249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00">
                <a:solidFill>
                  <a:srgbClr val="102A43"/>
                </a:solidFill>
                <a:latin typeface="Noto Sans CJK SC"/>
              </a:rPr>
              <a:t>审批、责任、降级与拒绝</a:t>
            </a:r>
          </a:p>
        </p:txBody>
      </p:sp>
      <p:sp>
        <p:nvSpPr>
          <p:cNvPr id="28" name="h2p-5-text-27"/>
          <p:cNvSpPr txBox="1"/>
          <p:nvPr/>
        </p:nvSpPr>
        <p:spPr>
          <a:xfrm>
            <a:off x="4419295" y="4724704"/>
            <a:ext cx="3108960" cy="2057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Human 是正式能力，不是失败后的兜底。</a:t>
            </a:r>
          </a:p>
        </p:txBody>
      </p:sp>
      <p:sp>
        <p:nvSpPr>
          <p:cNvPr id="29" name="h2p-5-box-28"/>
          <p:cNvSpPr/>
          <p:nvPr/>
        </p:nvSpPr>
        <p:spPr>
          <a:xfrm>
            <a:off x="8001000" y="2190902"/>
            <a:ext cx="3504895" cy="3372307"/>
          </a:xfrm>
          <a:prstGeom prst="roundRect">
            <a:avLst>
              <a:gd name="adj" fmla="val 508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2p-5-text-29"/>
          <p:cNvSpPr txBox="1"/>
          <p:nvPr/>
        </p:nvSpPr>
        <p:spPr>
          <a:xfrm>
            <a:off x="8229600" y="2342692"/>
            <a:ext cx="310896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Agent 拓扑 · 只是其中一维</a:t>
            </a:r>
          </a:p>
        </p:txBody>
      </p:sp>
      <p:sp>
        <p:nvSpPr>
          <p:cNvPr id="31" name="h2p-5-box-30"/>
          <p:cNvSpPr/>
          <p:nvPr/>
        </p:nvSpPr>
        <p:spPr>
          <a:xfrm>
            <a:off x="8229600" y="2686507"/>
            <a:ext cx="3047695" cy="513892"/>
          </a:xfrm>
          <a:prstGeom prst="roundRect">
            <a:avLst>
              <a:gd name="adj" fmla="val 33330"/>
            </a:avLst>
          </a:prstGeom>
          <a:solidFill>
            <a:srgbClr val="FFFFFF"/>
          </a:solidFill>
          <a:ln w="19050">
            <a:solidFill>
              <a:srgbClr val="536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2p-5-text-31"/>
          <p:cNvSpPr txBox="1"/>
          <p:nvPr/>
        </p:nvSpPr>
        <p:spPr>
          <a:xfrm>
            <a:off x="8382304" y="2819095"/>
            <a:ext cx="2798064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C0 · Agentless</a:t>
            </a:r>
          </a:p>
        </p:txBody>
      </p:sp>
      <p:sp>
        <p:nvSpPr>
          <p:cNvPr id="33" name="h2p-5-box-32"/>
          <p:cNvSpPr/>
          <p:nvPr/>
        </p:nvSpPr>
        <p:spPr>
          <a:xfrm>
            <a:off x="8229600" y="3314700"/>
            <a:ext cx="3047695" cy="513892"/>
          </a:xfrm>
          <a:prstGeom prst="roundRect">
            <a:avLst>
              <a:gd name="adj" fmla="val 33330"/>
            </a:avLst>
          </a:prstGeom>
          <a:solidFill>
            <a:srgbClr val="FFFFFF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2p-5-text-33"/>
          <p:cNvSpPr txBox="1"/>
          <p:nvPr/>
        </p:nvSpPr>
        <p:spPr>
          <a:xfrm>
            <a:off x="8382304" y="3448202"/>
            <a:ext cx="2798064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C1 · 单 Agent</a:t>
            </a:r>
          </a:p>
        </p:txBody>
      </p:sp>
      <p:sp>
        <p:nvSpPr>
          <p:cNvPr id="35" name="h2p-5-box-34"/>
          <p:cNvSpPr/>
          <p:nvPr/>
        </p:nvSpPr>
        <p:spPr>
          <a:xfrm>
            <a:off x="8229600" y="3942892"/>
            <a:ext cx="3047695" cy="513892"/>
          </a:xfrm>
          <a:prstGeom prst="roundRect">
            <a:avLst>
              <a:gd name="adj" fmla="val 3333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h2p-5-text-35"/>
          <p:cNvSpPr txBox="1"/>
          <p:nvPr/>
        </p:nvSpPr>
        <p:spPr>
          <a:xfrm>
            <a:off x="8382304" y="4076395"/>
            <a:ext cx="2798064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C2 · 多 Agent</a:t>
            </a:r>
          </a:p>
        </p:txBody>
      </p:sp>
      <p:sp>
        <p:nvSpPr>
          <p:cNvPr id="37" name="h2p-5-box-36"/>
          <p:cNvSpPr/>
          <p:nvPr/>
        </p:nvSpPr>
        <p:spPr>
          <a:xfrm>
            <a:off x="8229600" y="4572000"/>
            <a:ext cx="3047695" cy="513892"/>
          </a:xfrm>
          <a:prstGeom prst="roundRect">
            <a:avLst>
              <a:gd name="adj" fmla="val 33330"/>
            </a:avLst>
          </a:prstGeom>
          <a:solidFill>
            <a:srgbClr val="FFFFFF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h2p-5-text-37"/>
          <p:cNvSpPr txBox="1"/>
          <p:nvPr/>
        </p:nvSpPr>
        <p:spPr>
          <a:xfrm>
            <a:off x="8382304" y="4705502"/>
            <a:ext cx="2798064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C3 · Human 混合</a:t>
            </a:r>
          </a:p>
        </p:txBody>
      </p:sp>
      <p:sp>
        <p:nvSpPr>
          <p:cNvPr id="39" name="h2p-5-box-38"/>
          <p:cNvSpPr/>
          <p:nvPr/>
        </p:nvSpPr>
        <p:spPr>
          <a:xfrm>
            <a:off x="685800" y="5734202"/>
            <a:ext cx="10820095" cy="476402"/>
          </a:xfrm>
          <a:prstGeom prst="roundRect">
            <a:avLst>
              <a:gd name="adj" fmla="val 3600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h2p-5-text-39"/>
          <p:cNvSpPr txBox="1"/>
          <p:nvPr/>
        </p:nvSpPr>
        <p:spPr>
          <a:xfrm>
            <a:off x="914400" y="5829300"/>
            <a:ext cx="10589666" cy="216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00">
                <a:solidFill>
                  <a:srgbClr val="102A43"/>
                </a:solidFill>
                <a:latin typeface="Noto Sans CJK SC"/>
              </a:rPr>
              <a:t>SIMPLE FIRST = 复杂度控制 + 层级纪律：七个维度属于同一搜索空间，按四层资产治理——原子接口 → 工具封装 → 可复用知识 → DAG 组合；越层触达被代码拒绝，只有失败证据证明有价值才增加一维。</a:t>
            </a:r>
          </a:p>
        </p:txBody>
      </p:sp>
      <p:sp>
        <p:nvSpPr>
          <p:cNvPr id="41" name="h2p-5-text-40"/>
          <p:cNvSpPr txBox="1"/>
          <p:nvPr/>
        </p:nvSpPr>
        <p:spPr>
          <a:xfrm>
            <a:off x="685800" y="6543446"/>
            <a:ext cx="128198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完整方案空间</a:t>
            </a:r>
          </a:p>
        </p:txBody>
      </p:sp>
      <p:sp>
        <p:nvSpPr>
          <p:cNvPr id="42" name="h2p-5-text-41"/>
          <p:cNvSpPr txBox="1"/>
          <p:nvPr/>
        </p:nvSpPr>
        <p:spPr>
          <a:xfrm>
            <a:off x="10815523" y="6543446"/>
            <a:ext cx="747979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七维可调 ·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6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6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06 / 12 · SIMPLE FIRST · EVIDENCE LOOP</a:t>
            </a:r>
          </a:p>
        </p:txBody>
      </p:sp>
      <p:sp>
        <p:nvSpPr>
          <p:cNvPr id="4" name="h2p-6-text-3"/>
          <p:cNvSpPr txBox="1"/>
          <p:nvPr/>
        </p:nvSpPr>
        <p:spPr>
          <a:xfrm>
            <a:off x="685800" y="724204"/>
            <a:ext cx="11036808" cy="2880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100">
                <a:solidFill>
                  <a:srgbClr val="102A43"/>
                </a:solidFill>
                <a:latin typeface="Noto Sans CJK SC"/>
              </a:rPr>
              <a:t>五阶段闭环：把机器学习的工程纪律带入 Agent 方案设计。</a:t>
            </a:r>
          </a:p>
        </p:txBody>
      </p:sp>
      <p:sp>
        <p:nvSpPr>
          <p:cNvPr id="5" name="h2p-6-text-4"/>
          <p:cNvSpPr txBox="1"/>
          <p:nvPr/>
        </p:nvSpPr>
        <p:spPr>
          <a:xfrm>
            <a:off x="705002" y="1561795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借鉴样本构建、批量试验、误差分析和验证停止；调整的不是模型权重，而是完整 Agent Solution。</a:t>
            </a:r>
          </a:p>
        </p:txBody>
      </p:sp>
      <p:sp>
        <p:nvSpPr>
          <p:cNvPr id="6" name="h2p-6-box-5"/>
          <p:cNvSpPr/>
          <p:nvPr/>
        </p:nvSpPr>
        <p:spPr>
          <a:xfrm>
            <a:off x="685800" y="1962302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6-box-6"/>
          <p:cNvSpPr/>
          <p:nvPr/>
        </p:nvSpPr>
        <p:spPr>
          <a:xfrm>
            <a:off x="1676095" y="2476195"/>
            <a:ext cx="8839504" cy="19202"/>
          </a:xfrm>
          <a:prstGeom prst="rect">
            <a:avLst/>
          </a:prstGeom>
          <a:solidFill>
            <a:srgbClr val="1A8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6-box-7"/>
          <p:cNvSpPr/>
          <p:nvPr/>
        </p:nvSpPr>
        <p:spPr>
          <a:xfrm>
            <a:off x="685800" y="2190902"/>
            <a:ext cx="1981504" cy="2305202"/>
          </a:xfrm>
          <a:prstGeom prst="roundRect">
            <a:avLst>
              <a:gd name="adj" fmla="val 8650"/>
            </a:avLst>
          </a:prstGeom>
          <a:solidFill>
            <a:srgbClr val="DFEAF2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2p-6-text-8"/>
          <p:cNvSpPr txBox="1"/>
          <p:nvPr/>
        </p:nvSpPr>
        <p:spPr>
          <a:xfrm>
            <a:off x="875995" y="2324404"/>
            <a:ext cx="330098" cy="3236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550">
                <a:solidFill>
                  <a:srgbClr val="426B86"/>
                </a:solidFill>
                <a:latin typeface="Noto Sans Mono CJK SC"/>
              </a:rPr>
              <a:t>01</a:t>
            </a:r>
          </a:p>
        </p:txBody>
      </p:sp>
      <p:sp>
        <p:nvSpPr>
          <p:cNvPr id="10" name="h2p-6-text-9"/>
          <p:cNvSpPr txBox="1"/>
          <p:nvPr/>
        </p:nvSpPr>
        <p:spPr>
          <a:xfrm>
            <a:off x="875995" y="2819095"/>
            <a:ext cx="1632204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102A43"/>
                </a:solidFill>
                <a:latin typeface="Noto Sans CJK SC"/>
              </a:rPr>
              <a:t>样本工程</a:t>
            </a:r>
          </a:p>
        </p:txBody>
      </p:sp>
      <p:sp>
        <p:nvSpPr>
          <p:cNvPr id="11" name="h2p-6-text-10"/>
          <p:cNvSpPr txBox="1"/>
          <p:nvPr/>
        </p:nvSpPr>
        <p:spPr>
          <a:xfrm>
            <a:off x="875995" y="3219602"/>
            <a:ext cx="1632204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冻结代表案例、用户目标、预算与 Human 门禁。</a:t>
            </a:r>
          </a:p>
        </p:txBody>
      </p:sp>
      <p:sp>
        <p:nvSpPr>
          <p:cNvPr id="12" name="h2p-6-text-11"/>
          <p:cNvSpPr txBox="1"/>
          <p:nvPr/>
        </p:nvSpPr>
        <p:spPr>
          <a:xfrm>
            <a:off x="875995" y="4114800"/>
            <a:ext cx="1020470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426B86"/>
                </a:solidFill>
                <a:latin typeface="Noto Sans Mono CJK SC"/>
              </a:rPr>
              <a:t>先定义“通过”</a:t>
            </a:r>
          </a:p>
        </p:txBody>
      </p:sp>
      <p:sp>
        <p:nvSpPr>
          <p:cNvPr id="13" name="h2p-6-box-12"/>
          <p:cNvSpPr/>
          <p:nvPr/>
        </p:nvSpPr>
        <p:spPr>
          <a:xfrm>
            <a:off x="2857500" y="2190902"/>
            <a:ext cx="1981504" cy="2305202"/>
          </a:xfrm>
          <a:prstGeom prst="roundRect">
            <a:avLst>
              <a:gd name="adj" fmla="val 865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6-text-13"/>
          <p:cNvSpPr txBox="1"/>
          <p:nvPr/>
        </p:nvSpPr>
        <p:spPr>
          <a:xfrm>
            <a:off x="3047695" y="2324404"/>
            <a:ext cx="330098" cy="3236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550">
                <a:solidFill>
                  <a:srgbClr val="1A8D85"/>
                </a:solidFill>
                <a:latin typeface="Noto Sans Mono CJK SC"/>
              </a:rPr>
              <a:t>02</a:t>
            </a:r>
          </a:p>
        </p:txBody>
      </p:sp>
      <p:sp>
        <p:nvSpPr>
          <p:cNvPr id="15" name="h2p-6-text-14"/>
          <p:cNvSpPr txBox="1"/>
          <p:nvPr/>
        </p:nvSpPr>
        <p:spPr>
          <a:xfrm>
            <a:off x="3047695" y="2819095"/>
            <a:ext cx="1632204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102A43"/>
                </a:solidFill>
                <a:latin typeface="Noto Sans CJK SC"/>
              </a:rPr>
              <a:t>最小方案假设</a:t>
            </a:r>
          </a:p>
        </p:txBody>
      </p:sp>
      <p:sp>
        <p:nvSpPr>
          <p:cNvPr id="16" name="h2p-6-text-15"/>
          <p:cNvSpPr txBox="1"/>
          <p:nvPr/>
        </p:nvSpPr>
        <p:spPr>
          <a:xfrm>
            <a:off x="3047695" y="3219602"/>
            <a:ext cx="163220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从 C0 / C1 起步；不预设复杂方案胜出。</a:t>
            </a:r>
          </a:p>
        </p:txBody>
      </p:sp>
      <p:sp>
        <p:nvSpPr>
          <p:cNvPr id="17" name="h2p-6-text-16"/>
          <p:cNvSpPr txBox="1"/>
          <p:nvPr/>
        </p:nvSpPr>
        <p:spPr>
          <a:xfrm>
            <a:off x="3047695" y="4114800"/>
            <a:ext cx="874166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A8D85"/>
                </a:solidFill>
                <a:latin typeface="Noto Sans Mono CJK SC"/>
              </a:rPr>
              <a:t>SIMPLE FIRST</a:t>
            </a:r>
          </a:p>
        </p:txBody>
      </p:sp>
      <p:sp>
        <p:nvSpPr>
          <p:cNvPr id="18" name="h2p-6-box-17"/>
          <p:cNvSpPr/>
          <p:nvPr/>
        </p:nvSpPr>
        <p:spPr>
          <a:xfrm>
            <a:off x="5029200" y="2190902"/>
            <a:ext cx="1981504" cy="2305202"/>
          </a:xfrm>
          <a:prstGeom prst="roundRect">
            <a:avLst>
              <a:gd name="adj" fmla="val 865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2p-6-text-18"/>
          <p:cNvSpPr txBox="1"/>
          <p:nvPr/>
        </p:nvSpPr>
        <p:spPr>
          <a:xfrm>
            <a:off x="5219395" y="2324404"/>
            <a:ext cx="330098" cy="3236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550">
                <a:solidFill>
                  <a:srgbClr val="1A8D85"/>
                </a:solidFill>
                <a:latin typeface="Noto Sans Mono CJK SC"/>
              </a:rPr>
              <a:t>03</a:t>
            </a:r>
          </a:p>
        </p:txBody>
      </p:sp>
      <p:sp>
        <p:nvSpPr>
          <p:cNvPr id="20" name="h2p-6-text-19"/>
          <p:cNvSpPr txBox="1"/>
          <p:nvPr/>
        </p:nvSpPr>
        <p:spPr>
          <a:xfrm>
            <a:off x="5219395" y="2819095"/>
            <a:ext cx="1632204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102A43"/>
                </a:solidFill>
                <a:latin typeface="Noto Sans CJK SC"/>
              </a:rPr>
              <a:t>批量试验</a:t>
            </a:r>
          </a:p>
        </p:txBody>
      </p:sp>
      <p:sp>
        <p:nvSpPr>
          <p:cNvPr id="21" name="h2p-6-text-20"/>
          <p:cNvSpPr txBox="1"/>
          <p:nvPr/>
        </p:nvSpPr>
        <p:spPr>
          <a:xfrm>
            <a:off x="5219395" y="3219602"/>
            <a:ext cx="163220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同一案例、能力边界、预算与 Trace。</a:t>
            </a:r>
          </a:p>
        </p:txBody>
      </p:sp>
      <p:sp>
        <p:nvSpPr>
          <p:cNvPr id="22" name="h2p-6-text-21"/>
          <p:cNvSpPr txBox="1"/>
          <p:nvPr/>
        </p:nvSpPr>
        <p:spPr>
          <a:xfrm>
            <a:off x="5219395" y="4114800"/>
            <a:ext cx="510235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A8D85"/>
                </a:solidFill>
                <a:latin typeface="Noto Sans Mono CJK SC"/>
              </a:rPr>
              <a:t>MEASURE</a:t>
            </a:r>
          </a:p>
        </p:txBody>
      </p:sp>
      <p:sp>
        <p:nvSpPr>
          <p:cNvPr id="23" name="h2p-6-box-22"/>
          <p:cNvSpPr/>
          <p:nvPr/>
        </p:nvSpPr>
        <p:spPr>
          <a:xfrm>
            <a:off x="7200900" y="2190902"/>
            <a:ext cx="1981504" cy="2305202"/>
          </a:xfrm>
          <a:prstGeom prst="roundRect">
            <a:avLst>
              <a:gd name="adj" fmla="val 8650"/>
            </a:avLst>
          </a:prstGeom>
          <a:solidFill>
            <a:srgbClr val="F8DDD4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2p-6-text-23"/>
          <p:cNvSpPr txBox="1"/>
          <p:nvPr/>
        </p:nvSpPr>
        <p:spPr>
          <a:xfrm>
            <a:off x="7391095" y="2324404"/>
            <a:ext cx="330098" cy="3236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550">
                <a:solidFill>
                  <a:srgbClr val="F26B4B"/>
                </a:solidFill>
                <a:latin typeface="Noto Sans Mono CJK SC"/>
              </a:rPr>
              <a:t>04</a:t>
            </a:r>
          </a:p>
        </p:txBody>
      </p:sp>
      <p:sp>
        <p:nvSpPr>
          <p:cNvPr id="25" name="h2p-6-text-24"/>
          <p:cNvSpPr txBox="1"/>
          <p:nvPr/>
        </p:nvSpPr>
        <p:spPr>
          <a:xfrm>
            <a:off x="7391095" y="2819095"/>
            <a:ext cx="1632204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102A43"/>
                </a:solidFill>
                <a:latin typeface="Noto Sans CJK SC"/>
              </a:rPr>
              <a:t>Trace 误差分析</a:t>
            </a:r>
          </a:p>
        </p:txBody>
      </p:sp>
      <p:sp>
        <p:nvSpPr>
          <p:cNvPr id="26" name="h2p-6-text-25"/>
          <p:cNvSpPr txBox="1"/>
          <p:nvPr/>
        </p:nvSpPr>
        <p:spPr>
          <a:xfrm>
            <a:off x="7315200" y="3181197"/>
            <a:ext cx="1787652" cy="357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指标说明错多少，Trace 定位错在哪里。</a:t>
            </a:r>
          </a:p>
        </p:txBody>
      </p:sp>
      <p:sp>
        <p:nvSpPr>
          <p:cNvPr id="27" name="h2p-6-text-26"/>
          <p:cNvSpPr txBox="1"/>
          <p:nvPr/>
        </p:nvSpPr>
        <p:spPr>
          <a:xfrm>
            <a:off x="7315200" y="3696004"/>
            <a:ext cx="1787652" cy="357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按失败模式调整七维方案；不越过 Human 门禁。</a:t>
            </a:r>
          </a:p>
        </p:txBody>
      </p:sp>
      <p:sp>
        <p:nvSpPr>
          <p:cNvPr id="28" name="h2p-6-text-27"/>
          <p:cNvSpPr txBox="1"/>
          <p:nvPr/>
        </p:nvSpPr>
        <p:spPr>
          <a:xfrm>
            <a:off x="7391095" y="4114800"/>
            <a:ext cx="947318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C64C32"/>
                </a:solidFill>
                <a:latin typeface="Noto Sans Mono CJK SC"/>
              </a:rPr>
              <a:t>EVIDENCE ONLY</a:t>
            </a:r>
          </a:p>
        </p:txBody>
      </p:sp>
      <p:sp>
        <p:nvSpPr>
          <p:cNvPr id="29" name="h2p-6-box-28"/>
          <p:cNvSpPr/>
          <p:nvPr/>
        </p:nvSpPr>
        <p:spPr>
          <a:xfrm>
            <a:off x="9372600" y="2190902"/>
            <a:ext cx="2133295" cy="2305202"/>
          </a:xfrm>
          <a:prstGeom prst="roundRect">
            <a:avLst>
              <a:gd name="adj" fmla="val 804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2p-6-text-29"/>
          <p:cNvSpPr txBox="1"/>
          <p:nvPr/>
        </p:nvSpPr>
        <p:spPr>
          <a:xfrm>
            <a:off x="9562795" y="2324404"/>
            <a:ext cx="330098" cy="3236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550">
                <a:solidFill>
                  <a:srgbClr val="D6A43B"/>
                </a:solidFill>
                <a:latin typeface="Noto Sans Mono CJK SC"/>
              </a:rPr>
              <a:t>05</a:t>
            </a:r>
          </a:p>
        </p:txBody>
      </p:sp>
      <p:sp>
        <p:nvSpPr>
          <p:cNvPr id="31" name="h2p-6-text-30"/>
          <p:cNvSpPr txBox="1"/>
          <p:nvPr/>
        </p:nvSpPr>
        <p:spPr>
          <a:xfrm>
            <a:off x="9562795" y="2819095"/>
            <a:ext cx="1787652" cy="2020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02A43"/>
                </a:solidFill>
                <a:latin typeface="Noto Sans CJK SC"/>
              </a:rPr>
              <a:t>新案例验证 / 停止</a:t>
            </a:r>
          </a:p>
        </p:txBody>
      </p:sp>
      <p:sp>
        <p:nvSpPr>
          <p:cNvPr id="32" name="h2p-6-text-31"/>
          <p:cNvSpPr txBox="1"/>
          <p:nvPr/>
        </p:nvSpPr>
        <p:spPr>
          <a:xfrm>
            <a:off x="9486900" y="3219602"/>
            <a:ext cx="19431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新案例通过且复杂度无增益即停止；回归池守护旧能力（场景内持续学习）。</a:t>
            </a:r>
          </a:p>
        </p:txBody>
      </p:sp>
      <p:sp>
        <p:nvSpPr>
          <p:cNvPr id="33" name="h2p-6-text-32"/>
          <p:cNvSpPr txBox="1"/>
          <p:nvPr/>
        </p:nvSpPr>
        <p:spPr>
          <a:xfrm>
            <a:off x="9562795" y="4114800"/>
            <a:ext cx="1092708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A5781C"/>
                </a:solidFill>
                <a:latin typeface="Noto Sans Mono CJK SC"/>
              </a:rPr>
              <a:t>STOP / CONTINUE</a:t>
            </a:r>
          </a:p>
        </p:txBody>
      </p:sp>
      <p:sp>
        <p:nvSpPr>
          <p:cNvPr id="34" name="h2p-6-box-33"/>
          <p:cNvSpPr/>
          <p:nvPr/>
        </p:nvSpPr>
        <p:spPr>
          <a:xfrm>
            <a:off x="685800" y="4610404"/>
            <a:ext cx="10820095" cy="742492"/>
          </a:xfrm>
          <a:prstGeom prst="roundRect">
            <a:avLst>
              <a:gd name="adj" fmla="val 2308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2p-6-text-34"/>
          <p:cNvSpPr txBox="1"/>
          <p:nvPr/>
        </p:nvSpPr>
        <p:spPr>
          <a:xfrm>
            <a:off x="914400" y="4705502"/>
            <a:ext cx="10589666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A8D85"/>
                </a:solidFill>
                <a:latin typeface="Noto Sans Mono CJK SC"/>
              </a:rPr>
              <a:t>完整方案七维：Tool · Skill · MCP · Memory · 模型 · Agent 拓扑 · Human 边界</a:t>
            </a:r>
          </a:p>
        </p:txBody>
      </p:sp>
      <p:sp>
        <p:nvSpPr>
          <p:cNvPr id="36" name="h2p-6-text-35"/>
          <p:cNvSpPr txBox="1"/>
          <p:nvPr/>
        </p:nvSpPr>
        <p:spPr>
          <a:xfrm>
            <a:off x="914400" y="4953304"/>
            <a:ext cx="10589666" cy="2057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00">
                <a:solidFill>
                  <a:srgbClr val="102A43"/>
                </a:solidFill>
                <a:latin typeface="Noto Sans CJK SC"/>
              </a:rPr>
              <a:t>停止逻辑：新案例通过 + 安全/成本达标 + 复杂度无新增价值 → 交付最小充分方案；否则按层内更新算子白名单调整（离散信用分配，不越层代改）。</a:t>
            </a:r>
            <a:r>
              <a:rPr sz="1200">
                <a:solidFill>
                  <a:srgbClr val="102A43"/>
                </a:solidFill>
                <a:latin typeface="Noto Sans CJK SC"/>
              </a:rPr>
              <a:t/>
            </a:r>
          </a:p>
        </p:txBody>
      </p:sp>
      <p:sp>
        <p:nvSpPr>
          <p:cNvPr id="37" name="h2p-6-box-36"/>
          <p:cNvSpPr/>
          <p:nvPr/>
        </p:nvSpPr>
        <p:spPr>
          <a:xfrm>
            <a:off x="685800" y="5410504"/>
            <a:ext cx="10820095" cy="705002"/>
          </a:xfrm>
          <a:prstGeom prst="roundRect">
            <a:avLst>
              <a:gd name="adj" fmla="val 24320"/>
            </a:avLst>
          </a:prstGeom>
          <a:solidFill>
            <a:srgbClr val="EEF1F5"/>
          </a:solidFill>
          <a:ln w="19050">
            <a:solidFill>
              <a:srgbClr val="D6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h2p-6-text-37"/>
          <p:cNvSpPr txBox="1"/>
          <p:nvPr/>
        </p:nvSpPr>
        <p:spPr>
          <a:xfrm>
            <a:off x="914400" y="5486400"/>
            <a:ext cx="5052060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53697C"/>
                </a:solidFill>
                <a:latin typeface="Noto Sans Mono CJK SC"/>
              </a:rPr>
              <a:t>候选搜索顺序 · 设计契约（非运行结果）</a:t>
            </a:r>
          </a:p>
        </p:txBody>
      </p:sp>
      <p:sp>
        <p:nvSpPr>
          <p:cNvPr id="39" name="h2p-6-box-38"/>
          <p:cNvSpPr/>
          <p:nvPr/>
        </p:nvSpPr>
        <p:spPr>
          <a:xfrm>
            <a:off x="914400" y="5734202"/>
            <a:ext cx="2400300" cy="304495"/>
          </a:xfrm>
          <a:prstGeom prst="roundRect">
            <a:avLst>
              <a:gd name="adj" fmla="val 25000"/>
            </a:avLst>
          </a:prstGeom>
          <a:solidFill>
            <a:srgbClr val="DFEAF2"/>
          </a:solidFill>
          <a:ln w="1016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h2p-6-text-39"/>
          <p:cNvSpPr txBox="1"/>
          <p:nvPr/>
        </p:nvSpPr>
        <p:spPr>
          <a:xfrm>
            <a:off x="1000353" y="5781751"/>
            <a:ext cx="2273198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426B86"/>
                </a:solidFill>
                <a:latin typeface="Noto Sans Mono CJK SC"/>
              </a:rPr>
              <a:t>C0 · Agentless · 待真实试验</a:t>
            </a:r>
          </a:p>
        </p:txBody>
      </p:sp>
      <p:sp>
        <p:nvSpPr>
          <p:cNvPr id="41" name="h2p-6-box-40"/>
          <p:cNvSpPr/>
          <p:nvPr/>
        </p:nvSpPr>
        <p:spPr>
          <a:xfrm>
            <a:off x="3429000" y="5734202"/>
            <a:ext cx="2400300" cy="304495"/>
          </a:xfrm>
          <a:prstGeom prst="roundRect">
            <a:avLst>
              <a:gd name="adj" fmla="val 25000"/>
            </a:avLst>
          </a:prstGeom>
          <a:solidFill>
            <a:srgbClr val="DCEEEA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h2p-6-text-41"/>
          <p:cNvSpPr txBox="1"/>
          <p:nvPr/>
        </p:nvSpPr>
        <p:spPr>
          <a:xfrm>
            <a:off x="3514953" y="5781751"/>
            <a:ext cx="2273198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A8D85"/>
                </a:solidFill>
                <a:latin typeface="Noto Sans Mono CJK SC"/>
              </a:rPr>
              <a:t>C1 · 单 Agent · 待真实试验</a:t>
            </a:r>
          </a:p>
        </p:txBody>
      </p:sp>
      <p:sp>
        <p:nvSpPr>
          <p:cNvPr id="43" name="h2p-6-box-42"/>
          <p:cNvSpPr/>
          <p:nvPr/>
        </p:nvSpPr>
        <p:spPr>
          <a:xfrm>
            <a:off x="5943600" y="5734202"/>
            <a:ext cx="2400300" cy="304495"/>
          </a:xfrm>
          <a:prstGeom prst="roundRect">
            <a:avLst>
              <a:gd name="adj" fmla="val 25000"/>
            </a:avLst>
          </a:prstGeom>
          <a:solidFill>
            <a:srgbClr val="F8DDD4"/>
          </a:solidFill>
          <a:ln w="1016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h2p-6-text-43"/>
          <p:cNvSpPr txBox="1"/>
          <p:nvPr/>
        </p:nvSpPr>
        <p:spPr>
          <a:xfrm>
            <a:off x="6029553" y="5781751"/>
            <a:ext cx="2273198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C64C32"/>
                </a:solidFill>
                <a:latin typeface="Noto Sans Mono CJK SC"/>
              </a:rPr>
              <a:t>C2 · 多 Agent · 待真实试验</a:t>
            </a:r>
          </a:p>
        </p:txBody>
      </p:sp>
      <p:sp>
        <p:nvSpPr>
          <p:cNvPr id="45" name="h2p-6-box-44"/>
          <p:cNvSpPr/>
          <p:nvPr/>
        </p:nvSpPr>
        <p:spPr>
          <a:xfrm>
            <a:off x="8458200" y="5734202"/>
            <a:ext cx="2400300" cy="304495"/>
          </a:xfrm>
          <a:prstGeom prst="roundRect">
            <a:avLst>
              <a:gd name="adj" fmla="val 25000"/>
            </a:avLst>
          </a:prstGeom>
          <a:solidFill>
            <a:srgbClr val="F3E5B8"/>
          </a:solidFill>
          <a:ln w="1016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h2p-6-text-45"/>
          <p:cNvSpPr txBox="1"/>
          <p:nvPr/>
        </p:nvSpPr>
        <p:spPr>
          <a:xfrm>
            <a:off x="8544153" y="5781751"/>
            <a:ext cx="2273198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A5781C"/>
                </a:solidFill>
                <a:latin typeface="Noto Sans Mono CJK SC"/>
              </a:rPr>
              <a:t>C3 · Human 混合 · 待真实试验</a:t>
            </a:r>
          </a:p>
        </p:txBody>
      </p:sp>
      <p:sp>
        <p:nvSpPr>
          <p:cNvPr id="47" name="h2p-6-text-46"/>
          <p:cNvSpPr txBox="1"/>
          <p:nvPr/>
        </p:nvSpPr>
        <p:spPr>
          <a:xfrm>
            <a:off x="577900" y="6210604"/>
            <a:ext cx="11036808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当前候选对照仍待真实运行 · requires_runtime_trial</a:t>
            </a:r>
          </a:p>
        </p:txBody>
      </p:sp>
      <p:sp>
        <p:nvSpPr>
          <p:cNvPr id="48" name="h2p-6-text-47"/>
          <p:cNvSpPr txBox="1"/>
          <p:nvPr/>
        </p:nvSpPr>
        <p:spPr>
          <a:xfrm>
            <a:off x="685800" y="6543446"/>
            <a:ext cx="117591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五阶段闭环</a:t>
            </a:r>
          </a:p>
        </p:txBody>
      </p:sp>
      <p:sp>
        <p:nvSpPr>
          <p:cNvPr id="49" name="h2p-6-text-48"/>
          <p:cNvSpPr txBox="1"/>
          <p:nvPr/>
        </p:nvSpPr>
        <p:spPr>
          <a:xfrm>
            <a:off x="10708538" y="6543446"/>
            <a:ext cx="854964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最简合格者 ·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7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7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07 / 12 · 元团队 · 两层 Agent</a:t>
            </a:r>
          </a:p>
        </p:txBody>
      </p:sp>
      <p:sp>
        <p:nvSpPr>
          <p:cNvPr id="4" name="h2p-7-text-3"/>
          <p:cNvSpPr txBox="1"/>
          <p:nvPr/>
        </p:nvSpPr>
        <p:spPr>
          <a:xfrm>
            <a:off x="685800" y="724204"/>
            <a:ext cx="11036808" cy="2724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950">
                <a:solidFill>
                  <a:srgbClr val="102A43"/>
                </a:solidFill>
                <a:latin typeface="Noto Sans CJK SC"/>
              </a:rPr>
              <a:t>五个元 Agent 组成 AgentFit Learning Loop，分别负责目标、样本、方案、实验与诊断。</a:t>
            </a:r>
          </a:p>
        </p:txBody>
      </p:sp>
      <p:sp>
        <p:nvSpPr>
          <p:cNvPr id="5" name="h2p-7-text-4"/>
          <p:cNvSpPr txBox="1"/>
          <p:nvPr/>
        </p:nvSpPr>
        <p:spPr>
          <a:xfrm>
            <a:off x="705002" y="1600200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五个固定身份共同覆盖闭环并交接责任；它们不是候选中的业务执行 Agent，而是一条可审计的方案工程流水线。</a:t>
            </a:r>
          </a:p>
        </p:txBody>
      </p:sp>
      <p:sp>
        <p:nvSpPr>
          <p:cNvPr id="6" name="h2p-7-box-5"/>
          <p:cNvSpPr/>
          <p:nvPr/>
        </p:nvSpPr>
        <p:spPr>
          <a:xfrm>
            <a:off x="685800" y="2000707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7-box-6"/>
          <p:cNvSpPr/>
          <p:nvPr/>
        </p:nvSpPr>
        <p:spPr>
          <a:xfrm>
            <a:off x="685800" y="2152497"/>
            <a:ext cx="10820095" cy="457200"/>
          </a:xfrm>
          <a:prstGeom prst="roundRect">
            <a:avLst>
              <a:gd name="adj" fmla="val 37500"/>
            </a:avLst>
          </a:prstGeom>
          <a:solidFill>
            <a:srgbClr val="EEF1F5"/>
          </a:solidFill>
          <a:ln w="19050">
            <a:solidFill>
              <a:srgbClr val="D6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7-text-7"/>
          <p:cNvSpPr txBox="1"/>
          <p:nvPr/>
        </p:nvSpPr>
        <p:spPr>
          <a:xfrm>
            <a:off x="914400" y="2266797"/>
            <a:ext cx="10589666" cy="1911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A8D85"/>
                </a:solidFill>
                <a:latin typeface="Noto Sans CJK SC"/>
              </a:rPr>
              <a:t>上层 · 元 Agent</a:t>
            </a:r>
            <a:r>
              <a:rPr sz="1120">
                <a:solidFill>
                  <a:srgbClr val="53697C"/>
                </a:solidFill>
                <a:latin typeface="Noto Sans CJK SC"/>
              </a:rPr>
              <a:t>：定义、设计、运行、分析、停止 </a:t>
            </a:r>
            <a:r>
              <a:rPr b="1" sz="1120">
                <a:solidFill>
                  <a:srgbClr val="D6A43B"/>
                </a:solidFill>
                <a:latin typeface="Noto Sans CJK SC"/>
              </a:rPr>
              <a:t>下层 · 业务执行 Agent</a:t>
            </a:r>
            <a:r>
              <a:rPr sz="1120">
                <a:solidFill>
                  <a:srgbClr val="53697C"/>
                </a:solidFill>
                <a:latin typeface="Noto Sans CJK SC"/>
              </a:rPr>
              <a:t>：只存在于被评测的候选方案内部</a:t>
            </a:r>
          </a:p>
        </p:txBody>
      </p:sp>
      <p:sp>
        <p:nvSpPr>
          <p:cNvPr id="9" name="h2p-7-box-8"/>
          <p:cNvSpPr/>
          <p:nvPr/>
        </p:nvSpPr>
        <p:spPr>
          <a:xfrm>
            <a:off x="1676095" y="3028492"/>
            <a:ext cx="8839504" cy="19202"/>
          </a:xfrm>
          <a:prstGeom prst="rect">
            <a:avLst/>
          </a:prstGeom>
          <a:solidFill>
            <a:srgbClr val="1A8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2p-7-box-9"/>
          <p:cNvSpPr/>
          <p:nvPr/>
        </p:nvSpPr>
        <p:spPr>
          <a:xfrm>
            <a:off x="685800" y="2781604"/>
            <a:ext cx="1981504" cy="2076602"/>
          </a:xfrm>
          <a:prstGeom prst="roundRect">
            <a:avLst>
              <a:gd name="adj" fmla="val 8650"/>
            </a:avLst>
          </a:prstGeom>
          <a:solidFill>
            <a:srgbClr val="DFEAF2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2p-7-text-10"/>
          <p:cNvSpPr txBox="1"/>
          <p:nvPr/>
        </p:nvSpPr>
        <p:spPr>
          <a:xfrm>
            <a:off x="838504" y="2915107"/>
            <a:ext cx="1709928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426B86"/>
                </a:solidFill>
                <a:latin typeface="Noto Sans Mono CJK SC"/>
              </a:rPr>
              <a:t>目标 / 停止控制</a:t>
            </a:r>
          </a:p>
        </p:txBody>
      </p:sp>
      <p:sp>
        <p:nvSpPr>
          <p:cNvPr id="12" name="h2p-7-text-11"/>
          <p:cNvSpPr txBox="1"/>
          <p:nvPr/>
        </p:nvSpPr>
        <p:spPr>
          <a:xfrm>
            <a:off x="838504" y="3257092"/>
            <a:ext cx="1709928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426B86"/>
                </a:solidFill>
                <a:latin typeface="Noto Sans Mono CJK SC"/>
              </a:rPr>
              <a:t>01 交付官</a:t>
            </a:r>
          </a:p>
        </p:txBody>
      </p:sp>
      <p:sp>
        <p:nvSpPr>
          <p:cNvPr id="13" name="h2p-7-text-12"/>
          <p:cNvSpPr txBox="1"/>
          <p:nvPr/>
        </p:nvSpPr>
        <p:spPr>
          <a:xfrm>
            <a:off x="838504" y="3524097"/>
            <a:ext cx="1709928" cy="180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00">
                <a:solidFill>
                  <a:srgbClr val="102A43"/>
                </a:solidFill>
                <a:latin typeface="Noto Sans CJK SC"/>
              </a:rPr>
              <a:t>EngagementLead</a:t>
            </a:r>
          </a:p>
        </p:txBody>
      </p:sp>
      <p:sp>
        <p:nvSpPr>
          <p:cNvPr id="14" name="h2p-7-text-13"/>
          <p:cNvSpPr txBox="1"/>
          <p:nvPr/>
        </p:nvSpPr>
        <p:spPr>
          <a:xfrm>
            <a:off x="838504" y="3829507"/>
            <a:ext cx="170992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设目标与停止门；整合证据作交付或降级决定。</a:t>
            </a:r>
          </a:p>
        </p:txBody>
      </p:sp>
      <p:sp>
        <p:nvSpPr>
          <p:cNvPr id="15" name="h2p-7-box-14"/>
          <p:cNvSpPr/>
          <p:nvPr/>
        </p:nvSpPr>
        <p:spPr>
          <a:xfrm>
            <a:off x="2857500" y="2781604"/>
            <a:ext cx="1981504" cy="2076602"/>
          </a:xfrm>
          <a:prstGeom prst="roundRect">
            <a:avLst>
              <a:gd name="adj" fmla="val 865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2p-7-text-15"/>
          <p:cNvSpPr txBox="1"/>
          <p:nvPr/>
        </p:nvSpPr>
        <p:spPr>
          <a:xfrm>
            <a:off x="3010204" y="2915107"/>
            <a:ext cx="1709928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A8D85"/>
                </a:solidFill>
                <a:latin typeface="Noto Sans Mono CJK SC"/>
              </a:rPr>
              <a:t>业务理解 / 样本工程</a:t>
            </a:r>
          </a:p>
        </p:txBody>
      </p:sp>
      <p:sp>
        <p:nvSpPr>
          <p:cNvPr id="17" name="h2p-7-text-16"/>
          <p:cNvSpPr txBox="1"/>
          <p:nvPr/>
        </p:nvSpPr>
        <p:spPr>
          <a:xfrm>
            <a:off x="3010204" y="3257092"/>
            <a:ext cx="1709928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A8D85"/>
                </a:solidFill>
                <a:latin typeface="Noto Sans Mono CJK SC"/>
              </a:rPr>
              <a:t>02 业务架构师</a:t>
            </a:r>
          </a:p>
        </p:txBody>
      </p:sp>
      <p:sp>
        <p:nvSpPr>
          <p:cNvPr id="18" name="h2p-7-text-17"/>
          <p:cNvSpPr txBox="1"/>
          <p:nvPr/>
        </p:nvSpPr>
        <p:spPr>
          <a:xfrm>
            <a:off x="3010204" y="3524097"/>
            <a:ext cx="1709928" cy="180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00">
                <a:solidFill>
                  <a:srgbClr val="102A43"/>
                </a:solidFill>
                <a:latin typeface="Noto Sans CJK SC"/>
              </a:rPr>
              <a:t>BusinessEngineer</a:t>
            </a:r>
          </a:p>
        </p:txBody>
      </p:sp>
      <p:sp>
        <p:nvSpPr>
          <p:cNvPr id="19" name="h2p-7-text-18"/>
          <p:cNvSpPr txBox="1"/>
          <p:nvPr/>
        </p:nvSpPr>
        <p:spPr>
          <a:xfrm>
            <a:off x="3010204" y="3829507"/>
            <a:ext cx="1709928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编译案例与验收；冻结指标、预算和 Human 边界。</a:t>
            </a:r>
          </a:p>
        </p:txBody>
      </p:sp>
      <p:sp>
        <p:nvSpPr>
          <p:cNvPr id="20" name="h2p-7-box-19"/>
          <p:cNvSpPr/>
          <p:nvPr/>
        </p:nvSpPr>
        <p:spPr>
          <a:xfrm>
            <a:off x="5029200" y="2781604"/>
            <a:ext cx="1981504" cy="2076602"/>
          </a:xfrm>
          <a:prstGeom prst="roundRect">
            <a:avLst>
              <a:gd name="adj" fmla="val 865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2p-7-text-20"/>
          <p:cNvSpPr txBox="1"/>
          <p:nvPr/>
        </p:nvSpPr>
        <p:spPr>
          <a:xfrm>
            <a:off x="5181904" y="2915107"/>
            <a:ext cx="1709928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A8D85"/>
                </a:solidFill>
                <a:latin typeface="Noto Sans Mono CJK SC"/>
              </a:rPr>
              <a:t>方案建模 / 结构选择</a:t>
            </a:r>
          </a:p>
        </p:txBody>
      </p:sp>
      <p:sp>
        <p:nvSpPr>
          <p:cNvPr id="22" name="h2p-7-text-21"/>
          <p:cNvSpPr txBox="1"/>
          <p:nvPr/>
        </p:nvSpPr>
        <p:spPr>
          <a:xfrm>
            <a:off x="5181904" y="3257092"/>
            <a:ext cx="1709928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A8D85"/>
                </a:solidFill>
                <a:latin typeface="Noto Sans Mono CJK SC"/>
              </a:rPr>
              <a:t>03 方案架构师</a:t>
            </a:r>
          </a:p>
        </p:txBody>
      </p:sp>
      <p:sp>
        <p:nvSpPr>
          <p:cNvPr id="23" name="h2p-7-text-22"/>
          <p:cNvSpPr txBox="1"/>
          <p:nvPr/>
        </p:nvSpPr>
        <p:spPr>
          <a:xfrm>
            <a:off x="5181904" y="3524097"/>
            <a:ext cx="1709928" cy="180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00">
                <a:solidFill>
                  <a:srgbClr val="102A43"/>
                </a:solidFill>
                <a:latin typeface="Noto Sans CJK SC"/>
              </a:rPr>
              <a:t>AgentArchitect</a:t>
            </a:r>
          </a:p>
        </p:txBody>
      </p:sp>
      <p:sp>
        <p:nvSpPr>
          <p:cNvPr id="24" name="h2p-7-text-23"/>
          <p:cNvSpPr txBox="1"/>
          <p:nvPr/>
        </p:nvSpPr>
        <p:spPr>
          <a:xfrm>
            <a:off x="5181904" y="3829507"/>
            <a:ext cx="170992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构建最小候选；按失败模式调整完整七维。</a:t>
            </a:r>
          </a:p>
        </p:txBody>
      </p:sp>
      <p:sp>
        <p:nvSpPr>
          <p:cNvPr id="25" name="h2p-7-box-24"/>
          <p:cNvSpPr/>
          <p:nvPr/>
        </p:nvSpPr>
        <p:spPr>
          <a:xfrm>
            <a:off x="7200900" y="2781604"/>
            <a:ext cx="1981504" cy="2076602"/>
          </a:xfrm>
          <a:prstGeom prst="roundRect">
            <a:avLst>
              <a:gd name="adj" fmla="val 865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2p-7-text-25"/>
          <p:cNvSpPr txBox="1"/>
          <p:nvPr/>
        </p:nvSpPr>
        <p:spPr>
          <a:xfrm>
            <a:off x="7353604" y="2915107"/>
            <a:ext cx="1709928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A8D85"/>
                </a:solidFill>
                <a:latin typeface="Noto Sans Mono CJK SC"/>
              </a:rPr>
              <a:t>批量试验 / 指标采集</a:t>
            </a:r>
          </a:p>
        </p:txBody>
      </p:sp>
      <p:sp>
        <p:nvSpPr>
          <p:cNvPr id="27" name="h2p-7-text-26"/>
          <p:cNvSpPr txBox="1"/>
          <p:nvPr/>
        </p:nvSpPr>
        <p:spPr>
          <a:xfrm>
            <a:off x="7353604" y="3257092"/>
            <a:ext cx="1709928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A8D85"/>
                </a:solidFill>
                <a:latin typeface="Noto Sans Mono CJK SC"/>
              </a:rPr>
              <a:t>04 验证工程师</a:t>
            </a:r>
          </a:p>
        </p:txBody>
      </p:sp>
      <p:sp>
        <p:nvSpPr>
          <p:cNvPr id="28" name="h2p-7-text-27"/>
          <p:cNvSpPr txBox="1"/>
          <p:nvPr/>
        </p:nvSpPr>
        <p:spPr>
          <a:xfrm>
            <a:off x="7353604" y="3524097"/>
            <a:ext cx="1709928" cy="180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00">
                <a:solidFill>
                  <a:srgbClr val="102A43"/>
                </a:solidFill>
                <a:latin typeface="Noto Sans CJK SC"/>
              </a:rPr>
              <a:t>ValidationEngineer</a:t>
            </a:r>
          </a:p>
        </p:txBody>
      </p:sp>
      <p:sp>
        <p:nvSpPr>
          <p:cNvPr id="29" name="h2p-7-text-28"/>
          <p:cNvSpPr txBox="1"/>
          <p:nvPr/>
        </p:nvSpPr>
        <p:spPr>
          <a:xfrm>
            <a:off x="7353604" y="3829507"/>
            <a:ext cx="170992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受控运行候选；统一预算采集 Episode 与 Trace。</a:t>
            </a:r>
          </a:p>
        </p:txBody>
      </p:sp>
      <p:sp>
        <p:nvSpPr>
          <p:cNvPr id="30" name="h2p-7-box-29"/>
          <p:cNvSpPr/>
          <p:nvPr/>
        </p:nvSpPr>
        <p:spPr>
          <a:xfrm>
            <a:off x="9372600" y="2781604"/>
            <a:ext cx="2133295" cy="2076602"/>
          </a:xfrm>
          <a:prstGeom prst="roundRect">
            <a:avLst>
              <a:gd name="adj" fmla="val 826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2p-7-text-30"/>
          <p:cNvSpPr txBox="1"/>
          <p:nvPr/>
        </p:nvSpPr>
        <p:spPr>
          <a:xfrm>
            <a:off x="9525304" y="2915107"/>
            <a:ext cx="1865376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D6A43B"/>
                </a:solidFill>
                <a:latin typeface="Noto Sans Mono CJK SC"/>
              </a:rPr>
              <a:t>误差分析 / 治理审计</a:t>
            </a:r>
          </a:p>
        </p:txBody>
      </p:sp>
      <p:sp>
        <p:nvSpPr>
          <p:cNvPr id="32" name="h2p-7-text-31"/>
          <p:cNvSpPr txBox="1"/>
          <p:nvPr/>
        </p:nvSpPr>
        <p:spPr>
          <a:xfrm>
            <a:off x="9525304" y="3257092"/>
            <a:ext cx="1865376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A5781C"/>
                </a:solidFill>
                <a:latin typeface="Noto Sans Mono CJK SC"/>
              </a:rPr>
              <a:t>05 审计官</a:t>
            </a:r>
          </a:p>
        </p:txBody>
      </p:sp>
      <p:sp>
        <p:nvSpPr>
          <p:cNvPr id="33" name="h2p-7-text-32"/>
          <p:cNvSpPr txBox="1"/>
          <p:nvPr/>
        </p:nvSpPr>
        <p:spPr>
          <a:xfrm>
            <a:off x="9525304" y="3524097"/>
            <a:ext cx="1865376" cy="180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00">
                <a:solidFill>
                  <a:srgbClr val="102A43"/>
                </a:solidFill>
                <a:latin typeface="Noto Sans CJK SC"/>
              </a:rPr>
              <a:t>GovernanceAuditor</a:t>
            </a:r>
          </a:p>
        </p:txBody>
      </p:sp>
      <p:sp>
        <p:nvSpPr>
          <p:cNvPr id="34" name="h2p-7-text-33"/>
          <p:cNvSpPr txBox="1"/>
          <p:nvPr/>
        </p:nvSpPr>
        <p:spPr>
          <a:xfrm>
            <a:off x="9525304" y="3829507"/>
            <a:ext cx="186537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独立审计新案例；建议选择、否决或降级。</a:t>
            </a:r>
          </a:p>
        </p:txBody>
      </p:sp>
      <p:sp>
        <p:nvSpPr>
          <p:cNvPr id="35" name="h2p-7-box-34"/>
          <p:cNvSpPr/>
          <p:nvPr/>
        </p:nvSpPr>
        <p:spPr>
          <a:xfrm>
            <a:off x="685800" y="5048402"/>
            <a:ext cx="10820095" cy="875995"/>
          </a:xfrm>
          <a:prstGeom prst="roundRect">
            <a:avLst>
              <a:gd name="adj" fmla="val 1957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h2p-7-text-35"/>
          <p:cNvSpPr txBox="1"/>
          <p:nvPr/>
        </p:nvSpPr>
        <p:spPr>
          <a:xfrm>
            <a:off x="914400" y="5181904"/>
            <a:ext cx="3060496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D6A43B"/>
                </a:solidFill>
                <a:latin typeface="Noto Sans Mono CJK SC"/>
              </a:rPr>
              <a:t>候选业务执行 Agent · 被五元团队设计与评测</a:t>
            </a:r>
          </a:p>
        </p:txBody>
      </p:sp>
      <p:sp>
        <p:nvSpPr>
          <p:cNvPr id="37" name="h2p-7-text-36"/>
          <p:cNvSpPr txBox="1"/>
          <p:nvPr/>
        </p:nvSpPr>
        <p:spPr>
          <a:xfrm>
            <a:off x="914400" y="5447995"/>
            <a:ext cx="10589666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C0 无；C1 一个；C2 多个（可包含 OpsPilot 式执行体）；C3 由 Human 承担高风险动作。元 Agent 不得被候选执行 Agent 替代。</a:t>
            </a:r>
          </a:p>
        </p:txBody>
      </p:sp>
      <p:sp>
        <p:nvSpPr>
          <p:cNvPr id="38" name="h2p-7-text-37"/>
          <p:cNvSpPr txBox="1"/>
          <p:nvPr/>
        </p:nvSpPr>
        <p:spPr>
          <a:xfrm>
            <a:off x="577900" y="6115507"/>
            <a:ext cx="11036808" cy="1911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一个固定身份不可用，所对应阶段保持未完成；其他身份不得冒充其责任产物。</a:t>
            </a:r>
          </a:p>
        </p:txBody>
      </p:sp>
      <p:sp>
        <p:nvSpPr>
          <p:cNvPr id="39" name="h2p-7-text-38"/>
          <p:cNvSpPr txBox="1"/>
          <p:nvPr/>
        </p:nvSpPr>
        <p:spPr>
          <a:xfrm>
            <a:off x="685800" y="6543446"/>
            <a:ext cx="117591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五元责任链</a:t>
            </a:r>
          </a:p>
        </p:txBody>
      </p:sp>
      <p:sp>
        <p:nvSpPr>
          <p:cNvPr id="40" name="h2p-7-text-39"/>
          <p:cNvSpPr txBox="1"/>
          <p:nvPr/>
        </p:nvSpPr>
        <p:spPr>
          <a:xfrm>
            <a:off x="10548518" y="6543446"/>
            <a:ext cx="1014984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设计 Identity ·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8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8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08 / 12 · 落地映射</a:t>
            </a:r>
          </a:p>
        </p:txBody>
      </p:sp>
      <p:sp>
        <p:nvSpPr>
          <p:cNvPr id="4" name="h2p-8-text-3"/>
          <p:cNvSpPr txBox="1"/>
          <p:nvPr/>
        </p:nvSpPr>
        <p:spPr>
          <a:xfrm>
            <a:off x="685800" y="724204"/>
            <a:ext cx="11036808" cy="6291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250">
                <a:solidFill>
                  <a:srgbClr val="102A43"/>
                </a:solidFill>
                <a:latin typeface="Noto Sans CJK SC"/>
              </a:rPr>
              <a:t>AgentTeams 承载 Worker、Team、Room、Human；AgentFit 落地 Dossier 与 Trace。</a:t>
            </a:r>
          </a:p>
        </p:txBody>
      </p:sp>
      <p:sp>
        <p:nvSpPr>
          <p:cNvPr id="5" name="h2p-8-text-4"/>
          <p:cNvSpPr txBox="1"/>
          <p:nvPr/>
        </p:nvSpPr>
        <p:spPr>
          <a:xfrm>
            <a:off x="705002" y="1600200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AgentTeams 提供原生底座，AgentFit 只补方案工程层；不改核心、不建新前端。</a:t>
            </a:r>
          </a:p>
        </p:txBody>
      </p:sp>
      <p:sp>
        <p:nvSpPr>
          <p:cNvPr id="6" name="h2p-8-box-5"/>
          <p:cNvSpPr/>
          <p:nvPr/>
        </p:nvSpPr>
        <p:spPr>
          <a:xfrm>
            <a:off x="685800" y="2000707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8-box-6"/>
          <p:cNvSpPr/>
          <p:nvPr/>
        </p:nvSpPr>
        <p:spPr>
          <a:xfrm>
            <a:off x="685800" y="2190902"/>
            <a:ext cx="10820095" cy="3638397"/>
          </a:xfrm>
          <a:prstGeom prst="roundRect">
            <a:avLst>
              <a:gd name="adj" fmla="val 4710"/>
            </a:avLst>
          </a:prstGeom>
          <a:solidFill>
            <a:srgbClr val="FFFFFF"/>
          </a:solidFill>
          <a:ln w="19050">
            <a:solidFill>
              <a:srgbClr val="D6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8-text-7"/>
          <p:cNvSpPr txBox="1"/>
          <p:nvPr/>
        </p:nvSpPr>
        <p:spPr>
          <a:xfrm>
            <a:off x="914400" y="2324404"/>
            <a:ext cx="194310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AgentFit 对象</a:t>
            </a:r>
          </a:p>
        </p:txBody>
      </p:sp>
      <p:sp>
        <p:nvSpPr>
          <p:cNvPr id="9" name="h2p-8-text-8"/>
          <p:cNvSpPr txBox="1"/>
          <p:nvPr/>
        </p:nvSpPr>
        <p:spPr>
          <a:xfrm>
            <a:off x="5219395" y="2324404"/>
            <a:ext cx="21369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AgentTeams 落点</a:t>
            </a:r>
          </a:p>
        </p:txBody>
      </p:sp>
      <p:sp>
        <p:nvSpPr>
          <p:cNvPr id="10" name="h2p-8-text-9"/>
          <p:cNvSpPr txBox="1"/>
          <p:nvPr/>
        </p:nvSpPr>
        <p:spPr>
          <a:xfrm>
            <a:off x="8648395" y="2324404"/>
            <a:ext cx="194310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后续运行映射</a:t>
            </a:r>
          </a:p>
        </p:txBody>
      </p:sp>
      <p:sp>
        <p:nvSpPr>
          <p:cNvPr id="11" name="h2p-8-box-10"/>
          <p:cNvSpPr/>
          <p:nvPr/>
        </p:nvSpPr>
        <p:spPr>
          <a:xfrm>
            <a:off x="914400" y="2590495"/>
            <a:ext cx="10362895" cy="19202"/>
          </a:xfrm>
          <a:prstGeom prst="rect">
            <a:avLst/>
          </a:prstGeom>
          <a:solidFill>
            <a:srgbClr val="E3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2p-8-text-11"/>
          <p:cNvSpPr txBox="1"/>
          <p:nvPr/>
        </p:nvSpPr>
        <p:spPr>
          <a:xfrm>
            <a:off x="914400" y="2723997"/>
            <a:ext cx="417789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EngagementLead 交付官</a:t>
            </a:r>
          </a:p>
        </p:txBody>
      </p:sp>
      <p:sp>
        <p:nvSpPr>
          <p:cNvPr id="13" name="h2p-8-text-12"/>
          <p:cNvSpPr txBox="1"/>
          <p:nvPr/>
        </p:nvSpPr>
        <p:spPr>
          <a:xfrm>
            <a:off x="5219395" y="2723997"/>
            <a:ext cx="330372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Manager / Team Leader（Team）</a:t>
            </a:r>
          </a:p>
        </p:txBody>
      </p:sp>
      <p:sp>
        <p:nvSpPr>
          <p:cNvPr id="14" name="h2p-8-text-13"/>
          <p:cNvSpPr txBox="1"/>
          <p:nvPr/>
        </p:nvSpPr>
        <p:spPr>
          <a:xfrm>
            <a:off x="8648395" y="2723997"/>
            <a:ext cx="268102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阶段控制 Skill + 项目状态文件</a:t>
            </a:r>
          </a:p>
        </p:txBody>
      </p:sp>
      <p:sp>
        <p:nvSpPr>
          <p:cNvPr id="15" name="h2p-8-box-14"/>
          <p:cNvSpPr/>
          <p:nvPr/>
        </p:nvSpPr>
        <p:spPr>
          <a:xfrm>
            <a:off x="914400" y="3028492"/>
            <a:ext cx="10362895" cy="19202"/>
          </a:xfrm>
          <a:prstGeom prst="rect">
            <a:avLst/>
          </a:prstGeom>
          <a:solidFill>
            <a:srgbClr val="F0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2p-8-text-15"/>
          <p:cNvSpPr txBox="1"/>
          <p:nvPr/>
        </p:nvSpPr>
        <p:spPr>
          <a:xfrm>
            <a:off x="914400" y="3161995"/>
            <a:ext cx="417789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BusinessEngineer 业务架构师</a:t>
            </a:r>
          </a:p>
        </p:txBody>
      </p:sp>
      <p:sp>
        <p:nvSpPr>
          <p:cNvPr id="17" name="h2p-8-text-16"/>
          <p:cNvSpPr txBox="1"/>
          <p:nvPr/>
        </p:nvSpPr>
        <p:spPr>
          <a:xfrm>
            <a:off x="5219395" y="3161995"/>
            <a:ext cx="330372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独立 Worker</a:t>
            </a:r>
          </a:p>
        </p:txBody>
      </p:sp>
      <p:sp>
        <p:nvSpPr>
          <p:cNvPr id="18" name="h2p-8-text-17"/>
          <p:cNvSpPr txBox="1"/>
          <p:nvPr/>
        </p:nvSpPr>
        <p:spPr>
          <a:xfrm>
            <a:off x="8648395" y="3161995"/>
            <a:ext cx="268102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Sample/Task 编译 Skill</a:t>
            </a:r>
          </a:p>
        </p:txBody>
      </p:sp>
      <p:sp>
        <p:nvSpPr>
          <p:cNvPr id="19" name="h2p-8-box-18"/>
          <p:cNvSpPr/>
          <p:nvPr/>
        </p:nvSpPr>
        <p:spPr>
          <a:xfrm>
            <a:off x="914400" y="3467404"/>
            <a:ext cx="10362895" cy="19202"/>
          </a:xfrm>
          <a:prstGeom prst="rect">
            <a:avLst/>
          </a:prstGeom>
          <a:solidFill>
            <a:srgbClr val="F0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8-text-19"/>
          <p:cNvSpPr txBox="1"/>
          <p:nvPr/>
        </p:nvSpPr>
        <p:spPr>
          <a:xfrm>
            <a:off x="914400" y="3600907"/>
            <a:ext cx="417789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AgentArchitect 方案架构师</a:t>
            </a:r>
          </a:p>
        </p:txBody>
      </p:sp>
      <p:sp>
        <p:nvSpPr>
          <p:cNvPr id="21" name="h2p-8-text-20"/>
          <p:cNvSpPr txBox="1"/>
          <p:nvPr/>
        </p:nvSpPr>
        <p:spPr>
          <a:xfrm>
            <a:off x="5219395" y="3600907"/>
            <a:ext cx="330372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独立 Worker</a:t>
            </a:r>
          </a:p>
        </p:txBody>
      </p:sp>
      <p:sp>
        <p:nvSpPr>
          <p:cNvPr id="22" name="h2p-8-text-21"/>
          <p:cNvSpPr txBox="1"/>
          <p:nvPr/>
        </p:nvSpPr>
        <p:spPr>
          <a:xfrm>
            <a:off x="8648395" y="3600907"/>
            <a:ext cx="268102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能力对齐 + 候选设计 Skill</a:t>
            </a:r>
          </a:p>
        </p:txBody>
      </p:sp>
      <p:sp>
        <p:nvSpPr>
          <p:cNvPr id="23" name="h2p-8-box-22"/>
          <p:cNvSpPr/>
          <p:nvPr/>
        </p:nvSpPr>
        <p:spPr>
          <a:xfrm>
            <a:off x="914400" y="3905402"/>
            <a:ext cx="10362895" cy="19202"/>
          </a:xfrm>
          <a:prstGeom prst="rect">
            <a:avLst/>
          </a:prstGeom>
          <a:solidFill>
            <a:srgbClr val="F0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2p-8-text-23"/>
          <p:cNvSpPr txBox="1"/>
          <p:nvPr/>
        </p:nvSpPr>
        <p:spPr>
          <a:xfrm>
            <a:off x="914400" y="4038904"/>
            <a:ext cx="417789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ValidationEngineer 验证工程师</a:t>
            </a:r>
          </a:p>
        </p:txBody>
      </p:sp>
      <p:sp>
        <p:nvSpPr>
          <p:cNvPr id="25" name="h2p-8-text-24"/>
          <p:cNvSpPr txBox="1"/>
          <p:nvPr/>
        </p:nvSpPr>
        <p:spPr>
          <a:xfrm>
            <a:off x="5219395" y="4038904"/>
            <a:ext cx="330372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独立 Worker + 沙箱</a:t>
            </a:r>
          </a:p>
        </p:txBody>
      </p:sp>
      <p:sp>
        <p:nvSpPr>
          <p:cNvPr id="26" name="h2p-8-text-25"/>
          <p:cNvSpPr txBox="1"/>
          <p:nvPr/>
        </p:nvSpPr>
        <p:spPr>
          <a:xfrm>
            <a:off x="8648395" y="4038904"/>
            <a:ext cx="268102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统一预算评测工具</a:t>
            </a:r>
          </a:p>
        </p:txBody>
      </p:sp>
      <p:sp>
        <p:nvSpPr>
          <p:cNvPr id="27" name="h2p-8-box-26"/>
          <p:cNvSpPr/>
          <p:nvPr/>
        </p:nvSpPr>
        <p:spPr>
          <a:xfrm>
            <a:off x="914400" y="4343400"/>
            <a:ext cx="10362895" cy="19202"/>
          </a:xfrm>
          <a:prstGeom prst="rect">
            <a:avLst/>
          </a:prstGeom>
          <a:solidFill>
            <a:srgbClr val="F0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2p-8-text-27"/>
          <p:cNvSpPr txBox="1"/>
          <p:nvPr/>
        </p:nvSpPr>
        <p:spPr>
          <a:xfrm>
            <a:off x="914400" y="4476902"/>
            <a:ext cx="417789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GovernanceAuditor 审计官</a:t>
            </a:r>
          </a:p>
        </p:txBody>
      </p:sp>
      <p:sp>
        <p:nvSpPr>
          <p:cNvPr id="29" name="h2p-8-text-28"/>
          <p:cNvSpPr txBox="1"/>
          <p:nvPr/>
        </p:nvSpPr>
        <p:spPr>
          <a:xfrm>
            <a:off x="5219395" y="4476902"/>
            <a:ext cx="330372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独立 Worker + 独立权限</a:t>
            </a:r>
          </a:p>
        </p:txBody>
      </p:sp>
      <p:sp>
        <p:nvSpPr>
          <p:cNvPr id="30" name="h2p-8-text-29"/>
          <p:cNvSpPr txBox="1"/>
          <p:nvPr/>
        </p:nvSpPr>
        <p:spPr>
          <a:xfrm>
            <a:off x="8648395" y="4476902"/>
            <a:ext cx="268102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只读证据 + 审计 Skill</a:t>
            </a:r>
          </a:p>
        </p:txBody>
      </p:sp>
      <p:sp>
        <p:nvSpPr>
          <p:cNvPr id="31" name="h2p-8-box-30"/>
          <p:cNvSpPr/>
          <p:nvPr/>
        </p:nvSpPr>
        <p:spPr>
          <a:xfrm>
            <a:off x="914400" y="4781397"/>
            <a:ext cx="10362895" cy="19202"/>
          </a:xfrm>
          <a:prstGeom prst="rect">
            <a:avLst/>
          </a:prstGeom>
          <a:solidFill>
            <a:srgbClr val="F0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2p-8-text-31"/>
          <p:cNvSpPr txBox="1"/>
          <p:nvPr/>
        </p:nvSpPr>
        <p:spPr>
          <a:xfrm>
            <a:off x="914400" y="4914900"/>
            <a:ext cx="417789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阶段委派 / Human 审批</a:t>
            </a:r>
          </a:p>
        </p:txBody>
      </p:sp>
      <p:sp>
        <p:nvSpPr>
          <p:cNvPr id="33" name="h2p-8-text-32"/>
          <p:cNvSpPr txBox="1"/>
          <p:nvPr/>
        </p:nvSpPr>
        <p:spPr>
          <a:xfrm>
            <a:off x="5219395" y="4914900"/>
            <a:ext cx="330372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Room（房间通信）+ Human</a:t>
            </a:r>
          </a:p>
        </p:txBody>
      </p:sp>
      <p:sp>
        <p:nvSpPr>
          <p:cNvPr id="34" name="h2p-8-text-33"/>
          <p:cNvSpPr txBox="1"/>
          <p:nvPr/>
        </p:nvSpPr>
        <p:spPr>
          <a:xfrm>
            <a:off x="8648395" y="4914900"/>
            <a:ext cx="268102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结构化 Task + 批准/拒绝留痕</a:t>
            </a:r>
          </a:p>
        </p:txBody>
      </p:sp>
      <p:sp>
        <p:nvSpPr>
          <p:cNvPr id="35" name="h2p-8-box-34"/>
          <p:cNvSpPr/>
          <p:nvPr/>
        </p:nvSpPr>
        <p:spPr>
          <a:xfrm>
            <a:off x="914400" y="5219395"/>
            <a:ext cx="10362895" cy="19202"/>
          </a:xfrm>
          <a:prstGeom prst="rect">
            <a:avLst/>
          </a:prstGeom>
          <a:solidFill>
            <a:srgbClr val="F0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h2p-8-text-35"/>
          <p:cNvSpPr txBox="1"/>
          <p:nvPr/>
        </p:nvSpPr>
        <p:spPr>
          <a:xfrm>
            <a:off x="914400" y="5352897"/>
            <a:ext cx="417789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AgentFit Dossier / ExecutionTrace</a:t>
            </a:r>
          </a:p>
        </p:txBody>
      </p:sp>
      <p:sp>
        <p:nvSpPr>
          <p:cNvPr id="37" name="h2p-8-text-36"/>
          <p:cNvSpPr txBox="1"/>
          <p:nvPr/>
        </p:nvSpPr>
        <p:spPr>
          <a:xfrm>
            <a:off x="5219395" y="5352897"/>
            <a:ext cx="330372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共享 Artifact + Room 消息引用</a:t>
            </a:r>
          </a:p>
        </p:txBody>
      </p:sp>
      <p:sp>
        <p:nvSpPr>
          <p:cNvPr id="38" name="h2p-8-text-37"/>
          <p:cNvSpPr txBox="1"/>
          <p:nvPr/>
        </p:nvSpPr>
        <p:spPr>
          <a:xfrm>
            <a:off x="8648395" y="5352897"/>
            <a:ext cx="268102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Step / Episode 级 Trace</a:t>
            </a:r>
          </a:p>
        </p:txBody>
      </p:sp>
      <p:sp>
        <p:nvSpPr>
          <p:cNvPr id="39" name="h2p-8-text-38"/>
          <p:cNvSpPr txBox="1"/>
          <p:nvPr/>
        </p:nvSpPr>
        <p:spPr>
          <a:xfrm>
            <a:off x="577900" y="5982004"/>
            <a:ext cx="11036808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02A43"/>
                </a:solidFill>
                <a:latin typeface="Noto Sans CJK SC"/>
              </a:rPr>
              <a:t>AgentFit 定义 Dossier 与 Trace；AgentTeams 承载其存储、通信、身份和权限。设计契约，非运行证据。</a:t>
            </a:r>
          </a:p>
        </p:txBody>
      </p:sp>
      <p:sp>
        <p:nvSpPr>
          <p:cNvPr id="40" name="h2p-8-text-39"/>
          <p:cNvSpPr txBox="1"/>
          <p:nvPr/>
        </p:nvSpPr>
        <p:spPr>
          <a:xfrm>
            <a:off x="685800" y="6543446"/>
            <a:ext cx="117591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× AGENTTEAMS</a:t>
            </a:r>
          </a:p>
        </p:txBody>
      </p:sp>
      <p:sp>
        <p:nvSpPr>
          <p:cNvPr id="41" name="h2p-8-text-40"/>
          <p:cNvSpPr txBox="1"/>
          <p:nvPr/>
        </p:nvSpPr>
        <p:spPr>
          <a:xfrm>
            <a:off x="9746589" y="6543446"/>
            <a:ext cx="1816912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Worker / Team / Room / Human ·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9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9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09 / 12 · 工程支撑</a:t>
            </a:r>
          </a:p>
        </p:txBody>
      </p:sp>
      <p:sp>
        <p:nvSpPr>
          <p:cNvPr id="4" name="h2p-9-text-3"/>
          <p:cNvSpPr txBox="1"/>
          <p:nvPr/>
        </p:nvSpPr>
        <p:spPr>
          <a:xfrm>
            <a:off x="685800" y="724204"/>
            <a:ext cx="11036808" cy="314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250">
                <a:solidFill>
                  <a:srgbClr val="102A43"/>
                </a:solidFill>
                <a:latin typeface="Noto Sans CJK SC"/>
              </a:rPr>
              <a:t>Skill、HTTP/MCP 契约、共享状态与风险门禁支撑闭环。</a:t>
            </a:r>
          </a:p>
        </p:txBody>
      </p:sp>
      <p:sp>
        <p:nvSpPr>
          <p:cNvPr id="5" name="h2p-9-text-4"/>
          <p:cNvSpPr txBox="1"/>
          <p:nvPr/>
        </p:nvSpPr>
        <p:spPr>
          <a:xfrm>
            <a:off x="705002" y="1600200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四类能力各守自己的边界；只有经过案例验证的方法与经验，才进入可复用资产库。</a:t>
            </a:r>
          </a:p>
        </p:txBody>
      </p:sp>
      <p:sp>
        <p:nvSpPr>
          <p:cNvPr id="6" name="h2p-9-box-5"/>
          <p:cNvSpPr/>
          <p:nvPr/>
        </p:nvSpPr>
        <p:spPr>
          <a:xfrm>
            <a:off x="685800" y="2000707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9-box-6"/>
          <p:cNvSpPr/>
          <p:nvPr/>
        </p:nvSpPr>
        <p:spPr>
          <a:xfrm>
            <a:off x="685800" y="2190902"/>
            <a:ext cx="2476195" cy="1714500"/>
          </a:xfrm>
          <a:prstGeom prst="roundRect">
            <a:avLst>
              <a:gd name="adj" fmla="val 10000"/>
            </a:avLst>
          </a:prstGeom>
          <a:solidFill>
            <a:srgbClr val="DFEAF2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9-text-7"/>
          <p:cNvSpPr txBox="1"/>
          <p:nvPr/>
        </p:nvSpPr>
        <p:spPr>
          <a:xfrm>
            <a:off x="875995" y="2342692"/>
            <a:ext cx="21369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426B86"/>
                </a:solidFill>
                <a:latin typeface="Noto Sans Mono CJK SC"/>
              </a:rPr>
              <a:t>TOOL · 工具</a:t>
            </a:r>
          </a:p>
        </p:txBody>
      </p:sp>
      <p:sp>
        <p:nvSpPr>
          <p:cNvPr id="9" name="h2p-9-text-8"/>
          <p:cNvSpPr txBox="1"/>
          <p:nvPr/>
        </p:nvSpPr>
        <p:spPr>
          <a:xfrm>
            <a:off x="875995" y="2686507"/>
            <a:ext cx="2136952" cy="2249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00">
                <a:solidFill>
                  <a:srgbClr val="102A43"/>
                </a:solidFill>
                <a:latin typeface="Noto Sans CJK SC"/>
              </a:rPr>
              <a:t>执行一个原子动作</a:t>
            </a:r>
          </a:p>
        </p:txBody>
      </p:sp>
      <p:sp>
        <p:nvSpPr>
          <p:cNvPr id="10" name="h2p-9-text-9"/>
          <p:cNvSpPr txBox="1"/>
          <p:nvPr/>
        </p:nvSpPr>
        <p:spPr>
          <a:xfrm>
            <a:off x="875995" y="3028492"/>
            <a:ext cx="2136952" cy="3858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读配置、列变更、写回滚；最小权限，输入输出明确。</a:t>
            </a:r>
          </a:p>
        </p:txBody>
      </p:sp>
      <p:sp>
        <p:nvSpPr>
          <p:cNvPr id="11" name="h2p-9-text-10"/>
          <p:cNvSpPr txBox="1"/>
          <p:nvPr/>
        </p:nvSpPr>
        <p:spPr>
          <a:xfrm>
            <a:off x="875995" y="3638397"/>
            <a:ext cx="1010412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426B86"/>
                </a:solidFill>
                <a:latin typeface="Noto Sans Mono CJK SC"/>
              </a:rPr>
              <a:t>动作，不承载方法</a:t>
            </a:r>
          </a:p>
        </p:txBody>
      </p:sp>
      <p:sp>
        <p:nvSpPr>
          <p:cNvPr id="12" name="h2p-9-box-11"/>
          <p:cNvSpPr/>
          <p:nvPr/>
        </p:nvSpPr>
        <p:spPr>
          <a:xfrm>
            <a:off x="3314700" y="2190902"/>
            <a:ext cx="2476195" cy="1714500"/>
          </a:xfrm>
          <a:prstGeom prst="roundRect">
            <a:avLst>
              <a:gd name="adj" fmla="val 1000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9-text-12"/>
          <p:cNvSpPr txBox="1"/>
          <p:nvPr/>
        </p:nvSpPr>
        <p:spPr>
          <a:xfrm>
            <a:off x="3504895" y="2342692"/>
            <a:ext cx="21369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SKILL · 方法</a:t>
            </a:r>
          </a:p>
        </p:txBody>
      </p:sp>
      <p:sp>
        <p:nvSpPr>
          <p:cNvPr id="14" name="h2p-9-text-13"/>
          <p:cNvSpPr txBox="1"/>
          <p:nvPr/>
        </p:nvSpPr>
        <p:spPr>
          <a:xfrm>
            <a:off x="3504895" y="2686507"/>
            <a:ext cx="2136952" cy="2249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00">
                <a:solidFill>
                  <a:srgbClr val="102A43"/>
                </a:solidFill>
                <a:latin typeface="Noto Sans CJK SC"/>
              </a:rPr>
              <a:t>组织一套可复用做法</a:t>
            </a:r>
          </a:p>
        </p:txBody>
      </p:sp>
      <p:sp>
        <p:nvSpPr>
          <p:cNvPr id="15" name="h2p-9-text-14"/>
          <p:cNvSpPr txBox="1"/>
          <p:nvPr/>
        </p:nvSpPr>
        <p:spPr>
          <a:xfrm>
            <a:off x="3504895" y="3028492"/>
            <a:ext cx="2136952" cy="3858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输入、输出、触发、失败处理和安全边界均版本化。</a:t>
            </a:r>
          </a:p>
        </p:txBody>
      </p:sp>
      <p:sp>
        <p:nvSpPr>
          <p:cNvPr id="16" name="h2p-9-text-15"/>
          <p:cNvSpPr txBox="1"/>
          <p:nvPr/>
        </p:nvSpPr>
        <p:spPr>
          <a:xfrm>
            <a:off x="3504895" y="3638397"/>
            <a:ext cx="884224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Mono CJK SC"/>
              </a:rPr>
              <a:t>七个核心 Skill</a:t>
            </a:r>
          </a:p>
        </p:txBody>
      </p:sp>
      <p:sp>
        <p:nvSpPr>
          <p:cNvPr id="17" name="h2p-9-box-16"/>
          <p:cNvSpPr/>
          <p:nvPr/>
        </p:nvSpPr>
        <p:spPr>
          <a:xfrm>
            <a:off x="5943600" y="2190902"/>
            <a:ext cx="2476195" cy="1714500"/>
          </a:xfrm>
          <a:prstGeom prst="roundRect">
            <a:avLst>
              <a:gd name="adj" fmla="val 10000"/>
            </a:avLst>
          </a:prstGeom>
          <a:solidFill>
            <a:srgbClr val="DFEAF2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9-text-17"/>
          <p:cNvSpPr txBox="1"/>
          <p:nvPr/>
        </p:nvSpPr>
        <p:spPr>
          <a:xfrm>
            <a:off x="6133795" y="2342692"/>
            <a:ext cx="21369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426B86"/>
                </a:solidFill>
                <a:latin typeface="Noto Sans Mono CJK SC"/>
              </a:rPr>
              <a:t>MCP / HTTP · 外部契约</a:t>
            </a:r>
          </a:p>
        </p:txBody>
      </p:sp>
      <p:sp>
        <p:nvSpPr>
          <p:cNvPr id="19" name="h2p-9-text-18"/>
          <p:cNvSpPr txBox="1"/>
          <p:nvPr/>
        </p:nvSpPr>
        <p:spPr>
          <a:xfrm>
            <a:off x="6133795" y="2686507"/>
            <a:ext cx="2136952" cy="2249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00">
                <a:solidFill>
                  <a:srgbClr val="102A43"/>
                </a:solidFill>
                <a:latin typeface="Noto Sans CJK SC"/>
              </a:rPr>
              <a:t>连接外部系统</a:t>
            </a:r>
          </a:p>
        </p:txBody>
      </p:sp>
      <p:sp>
        <p:nvSpPr>
          <p:cNvPr id="20" name="h2p-9-text-19"/>
          <p:cNvSpPr txBox="1"/>
          <p:nvPr/>
        </p:nvSpPr>
        <p:spPr>
          <a:xfrm>
            <a:off x="6133795" y="3028492"/>
            <a:ext cx="2136952" cy="3858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Schema、鉴权、幂等、错误码和审计字段齐备才接入。</a:t>
            </a:r>
          </a:p>
        </p:txBody>
      </p:sp>
      <p:sp>
        <p:nvSpPr>
          <p:cNvPr id="21" name="h2p-9-text-20"/>
          <p:cNvSpPr txBox="1"/>
          <p:nvPr/>
        </p:nvSpPr>
        <p:spPr>
          <a:xfrm>
            <a:off x="6133795" y="3638397"/>
            <a:ext cx="884224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426B86"/>
                </a:solidFill>
                <a:latin typeface="Noto Sans Mono CJK SC"/>
              </a:rPr>
              <a:t>真实绑定未实现</a:t>
            </a:r>
          </a:p>
        </p:txBody>
      </p:sp>
      <p:sp>
        <p:nvSpPr>
          <p:cNvPr id="22" name="h2p-9-box-21"/>
          <p:cNvSpPr/>
          <p:nvPr/>
        </p:nvSpPr>
        <p:spPr>
          <a:xfrm>
            <a:off x="8572500" y="2190902"/>
            <a:ext cx="2933395" cy="1714500"/>
          </a:xfrm>
          <a:prstGeom prst="roundRect">
            <a:avLst>
              <a:gd name="adj" fmla="val 1000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2p-9-text-22"/>
          <p:cNvSpPr txBox="1"/>
          <p:nvPr/>
        </p:nvSpPr>
        <p:spPr>
          <a:xfrm>
            <a:off x="8762695" y="2342692"/>
            <a:ext cx="2604211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D6A43B"/>
                </a:solidFill>
                <a:latin typeface="Noto Sans Mono CJK SC"/>
              </a:rPr>
              <a:t>MEMORY · 已验证经验</a:t>
            </a:r>
          </a:p>
        </p:txBody>
      </p:sp>
      <p:sp>
        <p:nvSpPr>
          <p:cNvPr id="24" name="h2p-9-text-23"/>
          <p:cNvSpPr txBox="1"/>
          <p:nvPr/>
        </p:nvSpPr>
        <p:spPr>
          <a:xfrm>
            <a:off x="8762695" y="2686507"/>
            <a:ext cx="2604211" cy="2249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00">
                <a:solidFill>
                  <a:srgbClr val="102A43"/>
                </a:solidFill>
                <a:latin typeface="Noto Sans CJK SC"/>
              </a:rPr>
              <a:t>只保留可追溯结论</a:t>
            </a:r>
          </a:p>
        </p:txBody>
      </p:sp>
      <p:sp>
        <p:nvSpPr>
          <p:cNvPr id="25" name="h2p-9-text-24"/>
          <p:cNvSpPr txBox="1"/>
          <p:nvPr/>
        </p:nvSpPr>
        <p:spPr>
          <a:xfrm>
            <a:off x="8762695" y="3028492"/>
            <a:ext cx="2604211" cy="3858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Memory 只保留失败模式、适用边界、Skill 版本和证据引用。</a:t>
            </a:r>
          </a:p>
        </p:txBody>
      </p:sp>
      <p:sp>
        <p:nvSpPr>
          <p:cNvPr id="26" name="h2p-9-text-25"/>
          <p:cNvSpPr txBox="1"/>
          <p:nvPr/>
        </p:nvSpPr>
        <p:spPr>
          <a:xfrm>
            <a:off x="8762695" y="3638397"/>
            <a:ext cx="884224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A5781C"/>
                </a:solidFill>
                <a:latin typeface="Noto Sans Mono CJK SC"/>
              </a:rPr>
              <a:t>未经验证不沉淀</a:t>
            </a:r>
          </a:p>
        </p:txBody>
      </p:sp>
      <p:sp>
        <p:nvSpPr>
          <p:cNvPr id="27" name="h2p-9-text-26"/>
          <p:cNvSpPr txBox="1"/>
          <p:nvPr/>
        </p:nvSpPr>
        <p:spPr>
          <a:xfrm>
            <a:off x="685800" y="4134002"/>
            <a:ext cx="1088136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验证资产如何累积</a:t>
            </a:r>
          </a:p>
        </p:txBody>
      </p:sp>
      <p:sp>
        <p:nvSpPr>
          <p:cNvPr id="28" name="h2p-9-box-27"/>
          <p:cNvSpPr/>
          <p:nvPr/>
        </p:nvSpPr>
        <p:spPr>
          <a:xfrm>
            <a:off x="685800" y="4438497"/>
            <a:ext cx="2133295" cy="1047902"/>
          </a:xfrm>
          <a:prstGeom prst="roundRect">
            <a:avLst>
              <a:gd name="adj" fmla="val 16360"/>
            </a:avLst>
          </a:prstGeom>
          <a:solidFill>
            <a:srgbClr val="F8DDD4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2p-9-text-28"/>
          <p:cNvSpPr txBox="1"/>
          <p:nvPr/>
        </p:nvSpPr>
        <p:spPr>
          <a:xfrm>
            <a:off x="875995" y="4610404"/>
            <a:ext cx="1787652" cy="2020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02A43"/>
                </a:solidFill>
                <a:latin typeface="Noto Sans CJK SC"/>
              </a:rPr>
              <a:t>失败模式</a:t>
            </a:r>
          </a:p>
        </p:txBody>
      </p:sp>
      <p:sp>
        <p:nvSpPr>
          <p:cNvPr id="30" name="h2p-9-text-29"/>
          <p:cNvSpPr txBox="1"/>
          <p:nvPr/>
        </p:nvSpPr>
        <p:spPr>
          <a:xfrm>
            <a:off x="875995" y="4914900"/>
            <a:ext cx="1787652" cy="1911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Trace + 适用边界</a:t>
            </a:r>
          </a:p>
        </p:txBody>
      </p:sp>
      <p:sp>
        <p:nvSpPr>
          <p:cNvPr id="31" name="h2p-9-text-30"/>
          <p:cNvSpPr txBox="1"/>
          <p:nvPr/>
        </p:nvSpPr>
        <p:spPr>
          <a:xfrm>
            <a:off x="2915107" y="4705502"/>
            <a:ext cx="291693" cy="418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>
                <a:solidFill>
                  <a:srgbClr val="1A8D85"/>
                </a:solidFill>
                <a:latin typeface="Noto Sans CJK SC"/>
              </a:rPr>
              <a:t>→</a:t>
            </a:r>
          </a:p>
        </p:txBody>
      </p:sp>
      <p:sp>
        <p:nvSpPr>
          <p:cNvPr id="32" name="h2p-9-box-31"/>
          <p:cNvSpPr/>
          <p:nvPr/>
        </p:nvSpPr>
        <p:spPr>
          <a:xfrm>
            <a:off x="3314700" y="4438497"/>
            <a:ext cx="2133295" cy="1047902"/>
          </a:xfrm>
          <a:prstGeom prst="roundRect">
            <a:avLst>
              <a:gd name="adj" fmla="val 1636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2p-9-text-32"/>
          <p:cNvSpPr txBox="1"/>
          <p:nvPr/>
        </p:nvSpPr>
        <p:spPr>
          <a:xfrm>
            <a:off x="3504895" y="4610404"/>
            <a:ext cx="1787652" cy="2020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02A43"/>
                </a:solidFill>
                <a:latin typeface="Noto Sans CJK SC"/>
              </a:rPr>
              <a:t>候选 Skill</a:t>
            </a:r>
          </a:p>
        </p:txBody>
      </p:sp>
      <p:sp>
        <p:nvSpPr>
          <p:cNvPr id="34" name="h2p-9-text-33"/>
          <p:cNvSpPr txBox="1"/>
          <p:nvPr/>
        </p:nvSpPr>
        <p:spPr>
          <a:xfrm>
            <a:off x="3504895" y="4914900"/>
            <a:ext cx="1787652" cy="1911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新版本 + 回归案例</a:t>
            </a:r>
          </a:p>
        </p:txBody>
      </p:sp>
      <p:sp>
        <p:nvSpPr>
          <p:cNvPr id="35" name="h2p-9-text-34"/>
          <p:cNvSpPr txBox="1"/>
          <p:nvPr/>
        </p:nvSpPr>
        <p:spPr>
          <a:xfrm>
            <a:off x="5543092" y="4705502"/>
            <a:ext cx="291693" cy="418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>
                <a:solidFill>
                  <a:srgbClr val="1A8D85"/>
                </a:solidFill>
                <a:latin typeface="Noto Sans CJK SC"/>
              </a:rPr>
              <a:t>→</a:t>
            </a:r>
          </a:p>
        </p:txBody>
      </p:sp>
      <p:sp>
        <p:nvSpPr>
          <p:cNvPr id="36" name="h2p-9-box-35"/>
          <p:cNvSpPr/>
          <p:nvPr/>
        </p:nvSpPr>
        <p:spPr>
          <a:xfrm>
            <a:off x="5943600" y="4438497"/>
            <a:ext cx="2133295" cy="1047902"/>
          </a:xfrm>
          <a:prstGeom prst="roundRect">
            <a:avLst>
              <a:gd name="adj" fmla="val 1636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h2p-9-text-36"/>
          <p:cNvSpPr txBox="1"/>
          <p:nvPr/>
        </p:nvSpPr>
        <p:spPr>
          <a:xfrm>
            <a:off x="6133795" y="4610404"/>
            <a:ext cx="1787652" cy="2020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02A43"/>
                </a:solidFill>
                <a:latin typeface="Noto Sans CJK SC"/>
              </a:rPr>
              <a:t>独立验证门</a:t>
            </a:r>
          </a:p>
        </p:txBody>
      </p:sp>
      <p:sp>
        <p:nvSpPr>
          <p:cNvPr id="38" name="h2p-9-text-37"/>
          <p:cNvSpPr txBox="1"/>
          <p:nvPr/>
        </p:nvSpPr>
        <p:spPr>
          <a:xfrm>
            <a:off x="6133795" y="4914900"/>
            <a:ext cx="1787652" cy="1911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新案例通过 + Human 边界</a:t>
            </a:r>
          </a:p>
        </p:txBody>
      </p:sp>
      <p:sp>
        <p:nvSpPr>
          <p:cNvPr id="39" name="h2p-9-text-38"/>
          <p:cNvSpPr txBox="1"/>
          <p:nvPr/>
        </p:nvSpPr>
        <p:spPr>
          <a:xfrm>
            <a:off x="8172907" y="4705502"/>
            <a:ext cx="291693" cy="418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>
                <a:solidFill>
                  <a:srgbClr val="1A8D85"/>
                </a:solidFill>
                <a:latin typeface="Noto Sans CJK SC"/>
              </a:rPr>
              <a:t>→</a:t>
            </a:r>
          </a:p>
        </p:txBody>
      </p:sp>
      <p:sp>
        <p:nvSpPr>
          <p:cNvPr id="40" name="h2p-9-box-39"/>
          <p:cNvSpPr/>
          <p:nvPr/>
        </p:nvSpPr>
        <p:spPr>
          <a:xfrm>
            <a:off x="8572500" y="4438497"/>
            <a:ext cx="2933395" cy="1047902"/>
          </a:xfrm>
          <a:prstGeom prst="roundRect">
            <a:avLst>
              <a:gd name="adj" fmla="val 16360"/>
            </a:avLst>
          </a:prstGeom>
          <a:solidFill>
            <a:srgbClr val="DCEEEA"/>
          </a:solidFill>
          <a:ln w="2794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h2p-9-text-40"/>
          <p:cNvSpPr txBox="1"/>
          <p:nvPr/>
        </p:nvSpPr>
        <p:spPr>
          <a:xfrm>
            <a:off x="8762695" y="4610404"/>
            <a:ext cx="2604211" cy="2020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02A43"/>
                </a:solidFill>
                <a:latin typeface="Noto Sans CJK SC"/>
              </a:rPr>
              <a:t>已验证资产</a:t>
            </a:r>
          </a:p>
        </p:txBody>
      </p:sp>
      <p:sp>
        <p:nvSpPr>
          <p:cNvPr id="42" name="h2p-9-text-41"/>
          <p:cNvSpPr txBox="1"/>
          <p:nvPr/>
        </p:nvSpPr>
        <p:spPr>
          <a:xfrm>
            <a:off x="8762695" y="4914900"/>
            <a:ext cx="2604211" cy="1911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Skill 版本 + Memory + 证据引用</a:t>
            </a:r>
          </a:p>
        </p:txBody>
      </p:sp>
      <p:sp>
        <p:nvSpPr>
          <p:cNvPr id="43" name="h2p-9-box-42"/>
          <p:cNvSpPr/>
          <p:nvPr/>
        </p:nvSpPr>
        <p:spPr>
          <a:xfrm>
            <a:off x="685800" y="5658307"/>
            <a:ext cx="10820095" cy="552297"/>
          </a:xfrm>
          <a:prstGeom prst="roundRect">
            <a:avLst>
              <a:gd name="adj" fmla="val 3103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h2p-9-text-43"/>
          <p:cNvSpPr txBox="1"/>
          <p:nvPr/>
        </p:nvSpPr>
        <p:spPr>
          <a:xfrm>
            <a:off x="914400" y="5771692"/>
            <a:ext cx="10589666" cy="216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00">
                <a:solidFill>
                  <a:srgbClr val="102A43"/>
                </a:solidFill>
                <a:latin typeface="Noto Sans CJK SC"/>
              </a:rPr>
              <a:t>Project Dossier</a:t>
            </a:r>
            <a:r>
              <a:rPr sz="1200">
                <a:solidFill>
                  <a:srgbClr val="102A43"/>
                </a:solidFill>
                <a:latin typeface="Noto Sans CJK SC"/>
              </a:rPr>
              <a:t> 保存共享状态；Step / Episode 级 </a:t>
            </a:r>
            <a:r>
              <a:rPr b="1" sz="1200">
                <a:solidFill>
                  <a:srgbClr val="102A43"/>
                </a:solidFill>
                <a:latin typeface="Noto Sans CJK SC"/>
              </a:rPr>
              <a:t>Trace</a:t>
            </a:r>
            <a:r>
              <a:rPr sz="1200">
                <a:solidFill>
                  <a:srgbClr val="102A43"/>
                </a:solidFill>
                <a:latin typeface="Noto Sans CJK SC"/>
              </a:rPr>
              <a:t> 记录成功与失败；风险动作由 Human 门禁截断。</a:t>
            </a:r>
          </a:p>
        </p:txBody>
      </p:sp>
      <p:sp>
        <p:nvSpPr>
          <p:cNvPr id="45" name="h2p-9-text-44"/>
          <p:cNvSpPr txBox="1"/>
          <p:nvPr/>
        </p:nvSpPr>
        <p:spPr>
          <a:xfrm>
            <a:off x="685800" y="6543446"/>
            <a:ext cx="1762963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Skill / 工具 / 上下文</a:t>
            </a:r>
          </a:p>
        </p:txBody>
      </p:sp>
      <p:sp>
        <p:nvSpPr>
          <p:cNvPr id="46" name="h2p-9-text-45"/>
          <p:cNvSpPr txBox="1"/>
          <p:nvPr/>
        </p:nvSpPr>
        <p:spPr>
          <a:xfrm>
            <a:off x="10815523" y="6543446"/>
            <a:ext cx="747979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设计契约 ·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0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0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10 / 12 · 交付物</a:t>
            </a:r>
          </a:p>
        </p:txBody>
      </p:sp>
      <p:sp>
        <p:nvSpPr>
          <p:cNvPr id="4" name="h2p-10-text-3"/>
          <p:cNvSpPr txBox="1"/>
          <p:nvPr/>
        </p:nvSpPr>
        <p:spPr>
          <a:xfrm>
            <a:off x="685800" y="724204"/>
            <a:ext cx="11036808" cy="314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250">
                <a:solidFill>
                  <a:srgbClr val="102A43"/>
                </a:solidFill>
                <a:latin typeface="Noto Sans CJK SC"/>
              </a:rPr>
              <a:t>交付的不是一张架构图，而是可复现的 AgentSolutionPackage。</a:t>
            </a:r>
          </a:p>
        </p:txBody>
      </p:sp>
      <p:sp>
        <p:nvSpPr>
          <p:cNvPr id="5" name="h2p-10-text-4"/>
          <p:cNvSpPr txBox="1"/>
          <p:nvPr/>
        </p:nvSpPr>
        <p:spPr>
          <a:xfrm>
            <a:off x="705002" y="1410004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方案版本、案例集、实验历史、Trace、失败记录与运行边界共同支撑五种合法结果。</a:t>
            </a:r>
          </a:p>
        </p:txBody>
      </p:sp>
      <p:sp>
        <p:nvSpPr>
          <p:cNvPr id="6" name="h2p-10-box-5"/>
          <p:cNvSpPr/>
          <p:nvPr/>
        </p:nvSpPr>
        <p:spPr>
          <a:xfrm>
            <a:off x="685800" y="1848002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0-box-6"/>
          <p:cNvSpPr/>
          <p:nvPr/>
        </p:nvSpPr>
        <p:spPr>
          <a:xfrm>
            <a:off x="685800" y="2152497"/>
            <a:ext cx="6476695" cy="3429000"/>
          </a:xfrm>
          <a:prstGeom prst="roundRect">
            <a:avLst>
              <a:gd name="adj" fmla="val 500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10-text-7"/>
          <p:cNvSpPr txBox="1"/>
          <p:nvPr/>
        </p:nvSpPr>
        <p:spPr>
          <a:xfrm>
            <a:off x="914400" y="2324404"/>
            <a:ext cx="1495958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AGENT SOLUTION PACKAGE</a:t>
            </a:r>
          </a:p>
        </p:txBody>
      </p:sp>
      <p:sp>
        <p:nvSpPr>
          <p:cNvPr id="9" name="h2p-10-box-8"/>
          <p:cNvSpPr/>
          <p:nvPr/>
        </p:nvSpPr>
        <p:spPr>
          <a:xfrm>
            <a:off x="914400" y="2704795"/>
            <a:ext cx="6019495" cy="724204"/>
          </a:xfrm>
          <a:prstGeom prst="roundRect">
            <a:avLst>
              <a:gd name="adj" fmla="val 2368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2p-10-text-9"/>
          <p:cNvSpPr txBox="1"/>
          <p:nvPr/>
        </p:nvSpPr>
        <p:spPr>
          <a:xfrm>
            <a:off x="1104595" y="2857500"/>
            <a:ext cx="504748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Mono CJK SC"/>
              </a:rPr>
              <a:t>SOLUTION</a:t>
            </a:r>
          </a:p>
        </p:txBody>
      </p:sp>
      <p:sp>
        <p:nvSpPr>
          <p:cNvPr id="11" name="h2p-10-text-10"/>
          <p:cNvSpPr txBox="1"/>
          <p:nvPr/>
        </p:nvSpPr>
        <p:spPr>
          <a:xfrm>
            <a:off x="2190902" y="2819095"/>
            <a:ext cx="4604918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102A43"/>
                </a:solidFill>
                <a:latin typeface="Noto Sans CJK SC"/>
              </a:rPr>
              <a:t>方案版本 + Tool / Skill / MCP / Memory / 模型 / 拓扑</a:t>
            </a:r>
          </a:p>
        </p:txBody>
      </p:sp>
      <p:sp>
        <p:nvSpPr>
          <p:cNvPr id="12" name="h2p-10-text-11"/>
          <p:cNvSpPr txBox="1"/>
          <p:nvPr/>
        </p:nvSpPr>
        <p:spPr>
          <a:xfrm>
            <a:off x="2190902" y="3105302"/>
            <a:ext cx="4604918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说明为什么够用，以及为什么不需要更复杂方案</a:t>
            </a:r>
          </a:p>
        </p:txBody>
      </p:sp>
      <p:sp>
        <p:nvSpPr>
          <p:cNvPr id="13" name="h2p-10-box-12"/>
          <p:cNvSpPr/>
          <p:nvPr/>
        </p:nvSpPr>
        <p:spPr>
          <a:xfrm>
            <a:off x="914400" y="3581704"/>
            <a:ext cx="6019495" cy="724204"/>
          </a:xfrm>
          <a:prstGeom prst="roundRect">
            <a:avLst>
              <a:gd name="adj" fmla="val 2368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10-text-13"/>
          <p:cNvSpPr txBox="1"/>
          <p:nvPr/>
        </p:nvSpPr>
        <p:spPr>
          <a:xfrm>
            <a:off x="1104595" y="3733495"/>
            <a:ext cx="504748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Mono CJK SC"/>
              </a:rPr>
              <a:t>EVIDENCE</a:t>
            </a:r>
          </a:p>
        </p:txBody>
      </p:sp>
      <p:sp>
        <p:nvSpPr>
          <p:cNvPr id="15" name="h2p-10-text-14"/>
          <p:cNvSpPr txBox="1"/>
          <p:nvPr/>
        </p:nvSpPr>
        <p:spPr>
          <a:xfrm>
            <a:off x="2190902" y="3696004"/>
            <a:ext cx="4604918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102A43"/>
                </a:solidFill>
                <a:latin typeface="Noto Sans CJK SC"/>
              </a:rPr>
              <a:t>案例版本 + 方案版本 + 实验历史 + Trace</a:t>
            </a:r>
          </a:p>
        </p:txBody>
      </p:sp>
      <p:sp>
        <p:nvSpPr>
          <p:cNvPr id="16" name="h2p-10-text-15"/>
          <p:cNvSpPr txBox="1"/>
          <p:nvPr/>
        </p:nvSpPr>
        <p:spPr>
          <a:xfrm>
            <a:off x="2190902" y="3981297"/>
            <a:ext cx="4604918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可复验、可审计，保留成本与适用边界</a:t>
            </a:r>
          </a:p>
        </p:txBody>
      </p:sp>
      <p:sp>
        <p:nvSpPr>
          <p:cNvPr id="17" name="h2p-10-box-16"/>
          <p:cNvSpPr/>
          <p:nvPr/>
        </p:nvSpPr>
        <p:spPr>
          <a:xfrm>
            <a:off x="914400" y="4457700"/>
            <a:ext cx="6019495" cy="875995"/>
          </a:xfrm>
          <a:prstGeom prst="roundRect">
            <a:avLst>
              <a:gd name="adj" fmla="val 19570"/>
            </a:avLst>
          </a:prstGeom>
          <a:solidFill>
            <a:srgbClr val="FFFFFF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10-text-17"/>
          <p:cNvSpPr txBox="1"/>
          <p:nvPr/>
        </p:nvSpPr>
        <p:spPr>
          <a:xfrm>
            <a:off x="1104595" y="4610404"/>
            <a:ext cx="504748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A5781C"/>
                </a:solidFill>
                <a:latin typeface="Noto Sans Mono CJK SC"/>
              </a:rPr>
              <a:t>BOUNDARY</a:t>
            </a:r>
          </a:p>
        </p:txBody>
      </p:sp>
      <p:sp>
        <p:nvSpPr>
          <p:cNvPr id="19" name="h2p-10-text-18"/>
          <p:cNvSpPr txBox="1"/>
          <p:nvPr/>
        </p:nvSpPr>
        <p:spPr>
          <a:xfrm>
            <a:off x="2190902" y="4572000"/>
            <a:ext cx="4604918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102A43"/>
                </a:solidFill>
                <a:latin typeface="Noto Sans CJK SC"/>
              </a:rPr>
              <a:t>权限 + Human 门禁 + 预算 + 异常 + 回滚</a:t>
            </a:r>
          </a:p>
        </p:txBody>
      </p:sp>
      <p:sp>
        <p:nvSpPr>
          <p:cNvPr id="20" name="h2p-10-text-19"/>
          <p:cNvSpPr txBox="1"/>
          <p:nvPr/>
        </p:nvSpPr>
        <p:spPr>
          <a:xfrm>
            <a:off x="2190902" y="4857292"/>
            <a:ext cx="4604918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明确能做、不能做、由谁批准以及失败后如何恢复</a:t>
            </a:r>
          </a:p>
        </p:txBody>
      </p:sp>
      <p:sp>
        <p:nvSpPr>
          <p:cNvPr id="21" name="h2p-10-box-20"/>
          <p:cNvSpPr/>
          <p:nvPr/>
        </p:nvSpPr>
        <p:spPr>
          <a:xfrm>
            <a:off x="7353604" y="2152497"/>
            <a:ext cx="4153204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6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2p-10-text-21"/>
          <p:cNvSpPr txBox="1"/>
          <p:nvPr/>
        </p:nvSpPr>
        <p:spPr>
          <a:xfrm>
            <a:off x="7582204" y="2324404"/>
            <a:ext cx="2243937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DELIVERY DECISION · 五种合法结果</a:t>
            </a:r>
          </a:p>
        </p:txBody>
      </p:sp>
      <p:sp>
        <p:nvSpPr>
          <p:cNvPr id="23" name="h2p-10-box-22"/>
          <p:cNvSpPr/>
          <p:nvPr/>
        </p:nvSpPr>
        <p:spPr>
          <a:xfrm>
            <a:off x="7582204" y="2648102"/>
            <a:ext cx="3696004" cy="476402"/>
          </a:xfrm>
          <a:prstGeom prst="roundRect">
            <a:avLst>
              <a:gd name="adj" fmla="val 3600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2p-10-text-23"/>
          <p:cNvSpPr txBox="1"/>
          <p:nvPr/>
        </p:nvSpPr>
        <p:spPr>
          <a:xfrm>
            <a:off x="7733995" y="2762402"/>
            <a:ext cx="349758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01 全自动方案</a:t>
            </a:r>
          </a:p>
        </p:txBody>
      </p:sp>
      <p:sp>
        <p:nvSpPr>
          <p:cNvPr id="25" name="h2p-10-box-24"/>
          <p:cNvSpPr/>
          <p:nvPr/>
        </p:nvSpPr>
        <p:spPr>
          <a:xfrm>
            <a:off x="7582204" y="3238804"/>
            <a:ext cx="3696004" cy="476402"/>
          </a:xfrm>
          <a:prstGeom prst="roundRect">
            <a:avLst>
              <a:gd name="adj" fmla="val 3600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2p-10-text-25"/>
          <p:cNvSpPr txBox="1"/>
          <p:nvPr/>
        </p:nvSpPr>
        <p:spPr>
          <a:xfrm>
            <a:off x="7733995" y="3353104"/>
            <a:ext cx="349758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02 部分自动化方案</a:t>
            </a:r>
          </a:p>
        </p:txBody>
      </p:sp>
      <p:sp>
        <p:nvSpPr>
          <p:cNvPr id="27" name="h2p-10-box-26"/>
          <p:cNvSpPr/>
          <p:nvPr/>
        </p:nvSpPr>
        <p:spPr>
          <a:xfrm>
            <a:off x="7582204" y="3829507"/>
            <a:ext cx="3696004" cy="476402"/>
          </a:xfrm>
          <a:prstGeom prst="roundRect">
            <a:avLst>
              <a:gd name="adj" fmla="val 3600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2p-10-text-27"/>
          <p:cNvSpPr txBox="1"/>
          <p:nvPr/>
        </p:nvSpPr>
        <p:spPr>
          <a:xfrm>
            <a:off x="7733995" y="3942892"/>
            <a:ext cx="349758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03 降级方案</a:t>
            </a:r>
          </a:p>
        </p:txBody>
      </p:sp>
      <p:sp>
        <p:nvSpPr>
          <p:cNvPr id="29" name="h2p-10-box-28"/>
          <p:cNvSpPr/>
          <p:nvPr/>
        </p:nvSpPr>
        <p:spPr>
          <a:xfrm>
            <a:off x="7582204" y="4419295"/>
            <a:ext cx="3696004" cy="476402"/>
          </a:xfrm>
          <a:prstGeom prst="roundRect">
            <a:avLst>
              <a:gd name="adj" fmla="val 3600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2p-10-text-29"/>
          <p:cNvSpPr txBox="1"/>
          <p:nvPr/>
        </p:nvSpPr>
        <p:spPr>
          <a:xfrm>
            <a:off x="7733995" y="4533595"/>
            <a:ext cx="349758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04 保留人工</a:t>
            </a:r>
          </a:p>
        </p:txBody>
      </p:sp>
      <p:sp>
        <p:nvSpPr>
          <p:cNvPr id="31" name="h2p-10-box-30"/>
          <p:cNvSpPr/>
          <p:nvPr/>
        </p:nvSpPr>
        <p:spPr>
          <a:xfrm>
            <a:off x="7582204" y="5009997"/>
            <a:ext cx="3696004" cy="476402"/>
          </a:xfrm>
          <a:prstGeom prst="roundRect">
            <a:avLst>
              <a:gd name="adj" fmla="val 36000"/>
            </a:avLst>
          </a:prstGeom>
          <a:solidFill>
            <a:srgbClr val="F8DDD4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2p-10-text-31"/>
          <p:cNvSpPr txBox="1"/>
          <p:nvPr/>
        </p:nvSpPr>
        <p:spPr>
          <a:xfrm>
            <a:off x="7733995" y="5124297"/>
            <a:ext cx="349758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05 拒绝自动化（有证据）</a:t>
            </a:r>
          </a:p>
        </p:txBody>
      </p:sp>
      <p:sp>
        <p:nvSpPr>
          <p:cNvPr id="33" name="h2p-10-box-32"/>
          <p:cNvSpPr/>
          <p:nvPr/>
        </p:nvSpPr>
        <p:spPr>
          <a:xfrm>
            <a:off x="685800" y="5753404"/>
            <a:ext cx="10820095" cy="457200"/>
          </a:xfrm>
          <a:prstGeom prst="roundRect">
            <a:avLst>
              <a:gd name="adj" fmla="val 37500"/>
            </a:avLst>
          </a:prstGeom>
          <a:solidFill>
            <a:srgbClr val="EEF1F5"/>
          </a:solidFill>
          <a:ln w="19050">
            <a:solidFill>
              <a:srgbClr val="D6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2p-10-text-33"/>
          <p:cNvSpPr txBox="1"/>
          <p:nvPr/>
        </p:nvSpPr>
        <p:spPr>
          <a:xfrm>
            <a:off x="810158" y="5848502"/>
            <a:ext cx="10589666" cy="216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00">
                <a:solidFill>
                  <a:srgbClr val="102A43"/>
                </a:solidFill>
                <a:latin typeface="Noto Sans CJK SC"/>
              </a:rPr>
              <a:t>当前正式候选证据不足，无法给出前四种结果；本轮结论是 requires_runtime_trial。</a:t>
            </a:r>
          </a:p>
        </p:txBody>
      </p:sp>
      <p:sp>
        <p:nvSpPr>
          <p:cNvPr id="35" name="h2p-10-text-34"/>
          <p:cNvSpPr txBox="1"/>
          <p:nvPr/>
        </p:nvSpPr>
        <p:spPr>
          <a:xfrm>
            <a:off x="685800" y="6543446"/>
            <a:ext cx="96194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方案包</a:t>
            </a:r>
          </a:p>
        </p:txBody>
      </p:sp>
      <p:sp>
        <p:nvSpPr>
          <p:cNvPr id="36" name="h2p-10-text-35"/>
          <p:cNvSpPr txBox="1"/>
          <p:nvPr/>
        </p:nvSpPr>
        <p:spPr>
          <a:xfrm>
            <a:off x="10708538" y="6543446"/>
            <a:ext cx="854964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可验收交付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1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1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11 / 12 · 当前进展</a:t>
            </a:r>
          </a:p>
        </p:txBody>
      </p:sp>
      <p:sp>
        <p:nvSpPr>
          <p:cNvPr id="4" name="h2p-11-text-3"/>
          <p:cNvSpPr txBox="1"/>
          <p:nvPr/>
        </p:nvSpPr>
        <p:spPr>
          <a:xfrm>
            <a:off x="685800" y="724204"/>
            <a:ext cx="11036808" cy="3767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700">
                <a:solidFill>
                  <a:srgbClr val="102A43"/>
                </a:solidFill>
                <a:latin typeface="Noto Sans CJK SC"/>
              </a:rPr>
              <a:t>证据账本：OpsPilot 为官方锚点，retail/airline 仅探索性 Demo。</a:t>
            </a:r>
          </a:p>
        </p:txBody>
      </p:sp>
      <p:sp>
        <p:nvSpPr>
          <p:cNvPr id="5" name="h2p-11-text-4"/>
          <p:cNvSpPr txBox="1"/>
          <p:nvPr/>
        </p:nvSpPr>
        <p:spPr>
          <a:xfrm>
            <a:off x="705002" y="1561795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每一层只回答它能证明的问题：官方案例、探索性可行性、正式候选验证绝不混写。</a:t>
            </a:r>
          </a:p>
        </p:txBody>
      </p:sp>
      <p:sp>
        <p:nvSpPr>
          <p:cNvPr id="6" name="h2p-11-box-5"/>
          <p:cNvSpPr/>
          <p:nvPr/>
        </p:nvSpPr>
        <p:spPr>
          <a:xfrm>
            <a:off x="685800" y="1962302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1-box-6"/>
          <p:cNvSpPr/>
          <p:nvPr/>
        </p:nvSpPr>
        <p:spPr>
          <a:xfrm>
            <a:off x="685800" y="2152497"/>
            <a:ext cx="3353104" cy="3047695"/>
          </a:xfrm>
          <a:prstGeom prst="roundRect">
            <a:avLst>
              <a:gd name="adj" fmla="val 5630"/>
            </a:avLst>
          </a:prstGeom>
          <a:solidFill>
            <a:srgbClr val="DFEAF2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11-text-7"/>
          <p:cNvSpPr txBox="1"/>
          <p:nvPr/>
        </p:nvSpPr>
        <p:spPr>
          <a:xfrm>
            <a:off x="914400" y="2324404"/>
            <a:ext cx="295351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426B86"/>
                </a:solidFill>
                <a:latin typeface="Noto Sans Mono CJK SC"/>
              </a:rPr>
              <a:t>OFFICIAL ANCHOR · 官方案例锚点</a:t>
            </a:r>
          </a:p>
        </p:txBody>
      </p:sp>
      <p:sp>
        <p:nvSpPr>
          <p:cNvPr id="9" name="h2p-11-text-8"/>
          <p:cNvSpPr txBox="1"/>
          <p:nvPr/>
        </p:nvSpPr>
        <p:spPr>
          <a:xfrm>
            <a:off x="914400" y="2686507"/>
            <a:ext cx="2953512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650">
                <a:solidFill>
                  <a:srgbClr val="102A43"/>
                </a:solidFill>
                <a:latin typeface="Noto Sans CJK SC"/>
              </a:rPr>
              <a:t>OpsPilot Zero</a:t>
            </a:r>
          </a:p>
        </p:txBody>
      </p:sp>
      <p:sp>
        <p:nvSpPr>
          <p:cNvPr id="10" name="h2p-11-text-9"/>
          <p:cNvSpPr txBox="1"/>
          <p:nvPr/>
        </p:nvSpPr>
        <p:spPr>
          <a:xfrm>
            <a:off x="914400" y="3066897"/>
            <a:ext cx="2953512" cy="426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官方发布示例；结构、业务执行 Agent、事故样本与工具契约已代码级核验。</a:t>
            </a:r>
          </a:p>
        </p:txBody>
      </p:sp>
      <p:sp>
        <p:nvSpPr>
          <p:cNvPr id="11" name="h2p-11-box-10"/>
          <p:cNvSpPr/>
          <p:nvPr/>
        </p:nvSpPr>
        <p:spPr>
          <a:xfrm>
            <a:off x="914400" y="4038904"/>
            <a:ext cx="2895904" cy="742492"/>
          </a:xfrm>
          <a:prstGeom prst="roundRect">
            <a:avLst>
              <a:gd name="adj" fmla="val 23080"/>
            </a:avLst>
          </a:prstGeom>
          <a:solidFill>
            <a:srgbClr val="FFFFFF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2p-11-text-11"/>
          <p:cNvSpPr txBox="1"/>
          <p:nvPr/>
        </p:nvSpPr>
        <p:spPr>
          <a:xfrm>
            <a:off x="1067104" y="4134002"/>
            <a:ext cx="2642616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00">
                <a:solidFill>
                  <a:srgbClr val="102A43"/>
                </a:solidFill>
                <a:latin typeface="Noto Sans CJK SC"/>
              </a:rPr>
              <a:t>证明：</a:t>
            </a:r>
            <a:r>
              <a:rPr sz="1200">
                <a:solidFill>
                  <a:srgbClr val="102A43"/>
                </a:solidFill>
                <a:latin typeface="Noto Sans CJK SC"/>
              </a:rPr>
              <a:t>案例与设计输入</a:t>
            </a:r>
          </a:p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00">
                <a:solidFill>
                  <a:srgbClr val="102A43"/>
                </a:solidFill>
                <a:latin typeface="Noto Sans CJK SC"/>
              </a:rPr>
              <a:t>不证明：</a:t>
            </a:r>
            <a:r>
              <a:rPr sz="1200">
                <a:solidFill>
                  <a:srgbClr val="102A43"/>
                </a:solidFill>
                <a:latin typeface="Noto Sans CJK SC"/>
              </a:rPr>
              <a:t>AgentFit 已运行</a:t>
            </a:r>
          </a:p>
        </p:txBody>
      </p:sp>
      <p:sp>
        <p:nvSpPr>
          <p:cNvPr id="13" name="h2p-11-box-12"/>
          <p:cNvSpPr/>
          <p:nvPr/>
        </p:nvSpPr>
        <p:spPr>
          <a:xfrm>
            <a:off x="4190695" y="2152497"/>
            <a:ext cx="3810304" cy="3047695"/>
          </a:xfrm>
          <a:prstGeom prst="roundRect">
            <a:avLst>
              <a:gd name="adj" fmla="val 563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11-text-13"/>
          <p:cNvSpPr txBox="1"/>
          <p:nvPr/>
        </p:nvSpPr>
        <p:spPr>
          <a:xfrm>
            <a:off x="4419295" y="2324404"/>
            <a:ext cx="3419856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D6A43B"/>
                </a:solidFill>
                <a:latin typeface="Noto Sans Mono CJK SC"/>
              </a:rPr>
              <a:t>EXPLORATORY DEMO · 探索性证据</a:t>
            </a:r>
          </a:p>
        </p:txBody>
      </p:sp>
      <p:sp>
        <p:nvSpPr>
          <p:cNvPr id="15" name="h2p-11-text-14"/>
          <p:cNvSpPr txBox="1"/>
          <p:nvPr/>
        </p:nvSpPr>
        <p:spPr>
          <a:xfrm>
            <a:off x="4419295" y="2686507"/>
            <a:ext cx="3419856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650">
                <a:solidFill>
                  <a:srgbClr val="102A43"/>
                </a:solidFill>
                <a:latin typeface="Noto Sans CJK SC"/>
              </a:rPr>
              <a:t>retail / airline overnight</a:t>
            </a:r>
          </a:p>
        </p:txBody>
      </p:sp>
      <p:sp>
        <p:nvSpPr>
          <p:cNvPr id="16" name="h2p-11-text-15"/>
          <p:cNvSpPr txBox="1"/>
          <p:nvPr/>
        </p:nvSpPr>
        <p:spPr>
          <a:xfrm>
            <a:off x="4419295" y="3066897"/>
            <a:ext cx="3419856" cy="426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使用 DeepSeek、OpenCode、本地路径、自建工具与代理评估器，留下可追溯运行记录。</a:t>
            </a:r>
          </a:p>
        </p:txBody>
      </p:sp>
      <p:sp>
        <p:nvSpPr>
          <p:cNvPr id="17" name="h2p-11-box-16"/>
          <p:cNvSpPr/>
          <p:nvPr/>
        </p:nvSpPr>
        <p:spPr>
          <a:xfrm>
            <a:off x="4419295" y="4038904"/>
            <a:ext cx="3353104" cy="742492"/>
          </a:xfrm>
          <a:prstGeom prst="roundRect">
            <a:avLst>
              <a:gd name="adj" fmla="val 23080"/>
            </a:avLst>
          </a:prstGeom>
          <a:solidFill>
            <a:srgbClr val="FFFFFF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11-text-17"/>
          <p:cNvSpPr txBox="1"/>
          <p:nvPr/>
        </p:nvSpPr>
        <p:spPr>
          <a:xfrm>
            <a:off x="4419295" y="4134002"/>
            <a:ext cx="3419856" cy="3858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02A43"/>
                </a:solidFill>
                <a:latin typeface="Noto Sans CJK SC"/>
              </a:rPr>
              <a:t>证明：</a:t>
            </a:r>
            <a:r>
              <a:rPr sz="1120">
                <a:solidFill>
                  <a:srgbClr val="102A43"/>
                </a:solidFill>
                <a:latin typeface="Noto Sans CJK SC"/>
              </a:rPr>
              <a:t>探索路径与失败线索</a:t>
            </a:r>
          </a:p>
          <a:p>
            <a:pPr marL="0" indent="0"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02A43"/>
                </a:solidFill>
                <a:latin typeface="Noto Sans CJK SC"/>
              </a:rPr>
              <a:t>不证明：</a:t>
            </a:r>
            <a:r>
              <a:rPr sz="1120">
                <a:solidFill>
                  <a:srgbClr val="102A43"/>
                </a:solidFill>
                <a:latin typeface="Noto Sans CJK SC"/>
              </a:rPr>
              <a:t>官方 evaluator / Candidate / 官方分数</a:t>
            </a:r>
          </a:p>
        </p:txBody>
      </p:sp>
      <p:sp>
        <p:nvSpPr>
          <p:cNvPr id="19" name="h2p-11-box-18"/>
          <p:cNvSpPr/>
          <p:nvPr/>
        </p:nvSpPr>
        <p:spPr>
          <a:xfrm>
            <a:off x="8153704" y="2152497"/>
            <a:ext cx="3353104" cy="3047695"/>
          </a:xfrm>
          <a:prstGeom prst="roundRect">
            <a:avLst>
              <a:gd name="adj" fmla="val 5630"/>
            </a:avLst>
          </a:prstGeom>
          <a:solidFill>
            <a:srgbClr val="F8DDD4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11-text-19"/>
          <p:cNvSpPr txBox="1"/>
          <p:nvPr/>
        </p:nvSpPr>
        <p:spPr>
          <a:xfrm>
            <a:off x="8382304" y="2324404"/>
            <a:ext cx="295351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26B4B"/>
                </a:solidFill>
                <a:latin typeface="Noto Sans Mono CJK SC"/>
              </a:rPr>
              <a:t>IN_PROGRESS · 正式候选</a:t>
            </a:r>
          </a:p>
        </p:txBody>
      </p:sp>
      <p:sp>
        <p:nvSpPr>
          <p:cNvPr id="21" name="h2p-11-text-20"/>
          <p:cNvSpPr txBox="1"/>
          <p:nvPr/>
        </p:nvSpPr>
        <p:spPr>
          <a:xfrm>
            <a:off x="8382304" y="2686507"/>
            <a:ext cx="2953512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650">
                <a:solidFill>
                  <a:srgbClr val="102A43"/>
                </a:solidFill>
                <a:latin typeface="Noto Sans CJK SC"/>
              </a:rPr>
              <a:t>AgentFit runtime</a:t>
            </a:r>
          </a:p>
        </p:txBody>
      </p:sp>
      <p:sp>
        <p:nvSpPr>
          <p:cNvPr id="22" name="h2p-11-text-21"/>
          <p:cNvSpPr txBox="1"/>
          <p:nvPr/>
        </p:nvSpPr>
        <p:spPr>
          <a:xfrm>
            <a:off x="8382304" y="3066897"/>
            <a:ext cx="2953512" cy="426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五元团队已实例化（Team Active），三轮 preparation 完成；冻结与统一 C0–C3 对照仍未完成。</a:t>
            </a:r>
          </a:p>
        </p:txBody>
      </p:sp>
      <p:sp>
        <p:nvSpPr>
          <p:cNvPr id="23" name="h2p-11-box-22"/>
          <p:cNvSpPr/>
          <p:nvPr/>
        </p:nvSpPr>
        <p:spPr>
          <a:xfrm>
            <a:off x="8382304" y="4038904"/>
            <a:ext cx="2895904" cy="875995"/>
          </a:xfrm>
          <a:prstGeom prst="roundRect">
            <a:avLst>
              <a:gd name="adj" fmla="val 19570"/>
            </a:avLst>
          </a:prstGeom>
          <a:solidFill>
            <a:srgbClr val="FFFFFF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2p-11-text-23"/>
          <p:cNvSpPr txBox="1"/>
          <p:nvPr/>
        </p:nvSpPr>
        <p:spPr>
          <a:xfrm>
            <a:off x="8458200" y="4134002"/>
            <a:ext cx="2798064" cy="2057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102A43"/>
                </a:solidFill>
                <a:latin typeface="Noto Sans CJK SC"/>
              </a:rPr>
              <a:t>待补：正式 Candidate / 真实 Episode</a:t>
            </a:r>
          </a:p>
        </p:txBody>
      </p:sp>
      <p:sp>
        <p:nvSpPr>
          <p:cNvPr id="25" name="h2p-11-text-24"/>
          <p:cNvSpPr txBox="1"/>
          <p:nvPr/>
        </p:nvSpPr>
        <p:spPr>
          <a:xfrm>
            <a:off x="8458200" y="4515307"/>
            <a:ext cx="2798064" cy="2971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C64C32"/>
                </a:solidFill>
                <a:latin typeface="Noto Sans Mono CJK SC"/>
              </a:rPr>
              <a:t>CandidateVersion × SampleVersion</a:t>
            </a:r>
          </a:p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C64C32"/>
                </a:solidFill>
                <a:latin typeface="Noto Sans Mono CJK SC"/>
              </a:rPr>
              <a:t>× RunIndex</a:t>
            </a:r>
          </a:p>
        </p:txBody>
      </p:sp>
      <p:sp>
        <p:nvSpPr>
          <p:cNvPr id="26" name="h2p-11-box-25"/>
          <p:cNvSpPr/>
          <p:nvPr/>
        </p:nvSpPr>
        <p:spPr>
          <a:xfrm>
            <a:off x="685800" y="5391302"/>
            <a:ext cx="10820095" cy="590702"/>
          </a:xfrm>
          <a:prstGeom prst="roundRect">
            <a:avLst>
              <a:gd name="adj" fmla="val 2903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2p-11-text-26"/>
          <p:cNvSpPr txBox="1"/>
          <p:nvPr/>
        </p:nvSpPr>
        <p:spPr>
          <a:xfrm>
            <a:off x="810158" y="5505602"/>
            <a:ext cx="10589666" cy="1929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02A43"/>
                </a:solidFill>
                <a:latin typeface="Noto Sans CJK SC"/>
              </a:rPr>
              <a:t>OpsPilot 是官方案例锚点；retail / airline 仅为探索性 Demo，使用非官方 evaluator，不是正式 Candidate，也不是官方分数。</a:t>
            </a:r>
          </a:p>
        </p:txBody>
      </p:sp>
      <p:sp>
        <p:nvSpPr>
          <p:cNvPr id="28" name="h2p-11-text-27"/>
          <p:cNvSpPr txBox="1"/>
          <p:nvPr/>
        </p:nvSpPr>
        <p:spPr>
          <a:xfrm>
            <a:off x="577900" y="6115507"/>
            <a:ext cx="11036808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若获准，下一门禁：冻结 ProjectCase → 在 AgentTeams 跑真实候选 → 由 GovernanceAuditor 审计</a:t>
            </a:r>
          </a:p>
        </p:txBody>
      </p:sp>
      <p:sp>
        <p:nvSpPr>
          <p:cNvPr id="29" name="h2p-11-text-28"/>
          <p:cNvSpPr txBox="1"/>
          <p:nvPr/>
        </p:nvSpPr>
        <p:spPr>
          <a:xfrm>
            <a:off x="685800" y="6543446"/>
            <a:ext cx="1068933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证据账本</a:t>
            </a:r>
          </a:p>
        </p:txBody>
      </p:sp>
      <p:sp>
        <p:nvSpPr>
          <p:cNvPr id="30" name="h2p-11-text-29"/>
          <p:cNvSpPr txBox="1"/>
          <p:nvPr/>
        </p:nvSpPr>
        <p:spPr>
          <a:xfrm>
            <a:off x="10387584" y="6543446"/>
            <a:ext cx="117591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候选对照仍待运行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2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2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12 / 12 · 从案例回到通用</a:t>
            </a:r>
          </a:p>
        </p:txBody>
      </p:sp>
      <p:sp>
        <p:nvSpPr>
          <p:cNvPr id="4" name="h2p-12-text-3"/>
          <p:cNvSpPr txBox="1"/>
          <p:nvPr/>
        </p:nvSpPr>
        <p:spPr>
          <a:xfrm>
            <a:off x="685800" y="724204"/>
            <a:ext cx="1103680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700">
                <a:solidFill>
                  <a:srgbClr val="FFFFFF"/>
                </a:solidFill>
                <a:latin typeface="Noto Sans CJK SC"/>
              </a:rPr>
              <a:t>从 OpsPilot 回到通用：Fit 是有证据选对方案。</a:t>
            </a:r>
          </a:p>
        </p:txBody>
      </p:sp>
      <p:sp>
        <p:nvSpPr>
          <p:cNvPr id="5" name="h2p-12-text-4"/>
          <p:cNvSpPr txBox="1"/>
          <p:nvPr/>
        </p:nvSpPr>
        <p:spPr>
          <a:xfrm>
            <a:off x="705002" y="1505102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C6D3DD"/>
                </a:solidFill>
                <a:latin typeface="Noto Sans CJK SC"/>
              </a:rPr>
              <a:t>OpsPilot 是第一个官方案例锚点；AgentFit 的通用价值，是让每个业务任务都得到最小充分的已验证方案。</a:t>
            </a:r>
          </a:p>
        </p:txBody>
      </p:sp>
      <p:sp>
        <p:nvSpPr>
          <p:cNvPr id="6" name="h2p-12-box-5"/>
          <p:cNvSpPr/>
          <p:nvPr/>
        </p:nvSpPr>
        <p:spPr>
          <a:xfrm>
            <a:off x="685800" y="1848002"/>
            <a:ext cx="10820095" cy="19202"/>
          </a:xfrm>
          <a:prstGeom prst="rect">
            <a:avLst/>
          </a:prstGeom>
          <a:solidFill>
            <a:srgbClr val="285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2-box-6"/>
          <p:cNvSpPr/>
          <p:nvPr/>
        </p:nvSpPr>
        <p:spPr>
          <a:xfrm>
            <a:off x="1714500" y="2648102"/>
            <a:ext cx="8762695" cy="19202"/>
          </a:xfrm>
          <a:prstGeom prst="rect">
            <a:avLst/>
          </a:prstGeom>
          <a:solidFill>
            <a:srgbClr val="1A8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12-box-7"/>
          <p:cNvSpPr/>
          <p:nvPr/>
        </p:nvSpPr>
        <p:spPr>
          <a:xfrm>
            <a:off x="685800" y="2266797"/>
            <a:ext cx="3200400" cy="2609697"/>
          </a:xfrm>
          <a:prstGeom prst="roundRect">
            <a:avLst>
              <a:gd name="adj" fmla="val 6569"/>
            </a:avLst>
          </a:prstGeom>
          <a:solidFill>
            <a:srgbClr val="132F47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2p-12-text-8"/>
          <p:cNvSpPr txBox="1"/>
          <p:nvPr/>
        </p:nvSpPr>
        <p:spPr>
          <a:xfrm>
            <a:off x="914400" y="2457907"/>
            <a:ext cx="369417" cy="3621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850">
                <a:solidFill>
                  <a:srgbClr val="74A8C6"/>
                </a:solidFill>
                <a:latin typeface="Noto Sans Mono CJK SC"/>
              </a:rPr>
              <a:t>01</a:t>
            </a:r>
          </a:p>
        </p:txBody>
      </p:sp>
      <p:sp>
        <p:nvSpPr>
          <p:cNvPr id="10" name="h2p-12-text-9"/>
          <p:cNvSpPr txBox="1"/>
          <p:nvPr/>
        </p:nvSpPr>
        <p:spPr>
          <a:xfrm>
            <a:off x="914400" y="3010204"/>
            <a:ext cx="2798064" cy="258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720">
                <a:solidFill>
                  <a:srgbClr val="FFFFFF"/>
                </a:solidFill>
                <a:latin typeface="Noto Sans CJK SC"/>
              </a:rPr>
              <a:t>从业务验收出发</a:t>
            </a:r>
          </a:p>
        </p:txBody>
      </p:sp>
      <p:sp>
        <p:nvSpPr>
          <p:cNvPr id="11" name="h2p-12-text-10"/>
          <p:cNvSpPr txBox="1"/>
          <p:nvPr/>
        </p:nvSpPr>
        <p:spPr>
          <a:xfrm>
            <a:off x="914400" y="3429000"/>
            <a:ext cx="2798064" cy="4855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C6D3DD"/>
                </a:solidFill>
                <a:latin typeface="Noto Sans CJK SC"/>
              </a:rPr>
              <a:t>材料、代表性案例和优先级先变成可验证 ProjectCase。</a:t>
            </a:r>
          </a:p>
        </p:txBody>
      </p:sp>
      <p:sp>
        <p:nvSpPr>
          <p:cNvPr id="12" name="h2p-12-text-11"/>
          <p:cNvSpPr txBox="1"/>
          <p:nvPr/>
        </p:nvSpPr>
        <p:spPr>
          <a:xfrm>
            <a:off x="914400" y="4476902"/>
            <a:ext cx="884224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74A8C6"/>
                </a:solidFill>
                <a:latin typeface="Noto Sans Mono CJK SC"/>
              </a:rPr>
              <a:t>BUSINESS FIRST</a:t>
            </a:r>
          </a:p>
        </p:txBody>
      </p:sp>
      <p:sp>
        <p:nvSpPr>
          <p:cNvPr id="13" name="h2p-12-text-12"/>
          <p:cNvSpPr txBox="1"/>
          <p:nvPr/>
        </p:nvSpPr>
        <p:spPr>
          <a:xfrm>
            <a:off x="4000500" y="3314700"/>
            <a:ext cx="330098" cy="466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>
                <a:solidFill>
                  <a:srgbClr val="74D0C7"/>
                </a:solidFill>
                <a:latin typeface="Noto Sans CJK SC"/>
              </a:rPr>
              <a:t>→</a:t>
            </a:r>
          </a:p>
        </p:txBody>
      </p:sp>
      <p:sp>
        <p:nvSpPr>
          <p:cNvPr id="14" name="h2p-12-box-13"/>
          <p:cNvSpPr/>
          <p:nvPr/>
        </p:nvSpPr>
        <p:spPr>
          <a:xfrm>
            <a:off x="4496104" y="2266797"/>
            <a:ext cx="3200400" cy="2609697"/>
          </a:xfrm>
          <a:prstGeom prst="roundRect">
            <a:avLst>
              <a:gd name="adj" fmla="val 6569"/>
            </a:avLst>
          </a:prstGeom>
          <a:solidFill>
            <a:srgbClr val="132F47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2p-12-text-14"/>
          <p:cNvSpPr txBox="1"/>
          <p:nvPr/>
        </p:nvSpPr>
        <p:spPr>
          <a:xfrm>
            <a:off x="4724704" y="2457907"/>
            <a:ext cx="369417" cy="3621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850">
                <a:solidFill>
                  <a:srgbClr val="74D0C7"/>
                </a:solidFill>
                <a:latin typeface="Noto Sans Mono CJK SC"/>
              </a:rPr>
              <a:t>02</a:t>
            </a:r>
          </a:p>
        </p:txBody>
      </p:sp>
      <p:sp>
        <p:nvSpPr>
          <p:cNvPr id="16" name="h2p-12-text-15"/>
          <p:cNvSpPr txBox="1"/>
          <p:nvPr/>
        </p:nvSpPr>
        <p:spPr>
          <a:xfrm>
            <a:off x="4724704" y="3010204"/>
            <a:ext cx="2798064" cy="258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720">
                <a:solidFill>
                  <a:srgbClr val="FFFFFF"/>
                </a:solidFill>
                <a:latin typeface="Noto Sans CJK SC"/>
              </a:rPr>
              <a:t>由简入繁地调整</a:t>
            </a:r>
          </a:p>
        </p:txBody>
      </p:sp>
      <p:sp>
        <p:nvSpPr>
          <p:cNvPr id="17" name="h2p-12-text-16"/>
          <p:cNvSpPr txBox="1"/>
          <p:nvPr/>
        </p:nvSpPr>
        <p:spPr>
          <a:xfrm>
            <a:off x="4724704" y="3429000"/>
            <a:ext cx="2798064" cy="4855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C6D3DD"/>
                </a:solidFill>
                <a:latin typeface="Noto Sans CJK SC"/>
              </a:rPr>
              <a:t>先做最小候选；只根据失败证据按层内白名单调整完整方案。</a:t>
            </a:r>
          </a:p>
        </p:txBody>
      </p:sp>
      <p:sp>
        <p:nvSpPr>
          <p:cNvPr id="18" name="h2p-12-text-17"/>
          <p:cNvSpPr txBox="1"/>
          <p:nvPr/>
        </p:nvSpPr>
        <p:spPr>
          <a:xfrm>
            <a:off x="4724704" y="4476902"/>
            <a:ext cx="821131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74D0C7"/>
                </a:solidFill>
                <a:latin typeface="Noto Sans Mono CJK SC"/>
              </a:rPr>
              <a:t>EVIDENCE LOOP</a:t>
            </a:r>
          </a:p>
        </p:txBody>
      </p:sp>
      <p:sp>
        <p:nvSpPr>
          <p:cNvPr id="19" name="h2p-12-text-18"/>
          <p:cNvSpPr txBox="1"/>
          <p:nvPr/>
        </p:nvSpPr>
        <p:spPr>
          <a:xfrm>
            <a:off x="7810804" y="3314700"/>
            <a:ext cx="330098" cy="466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>
                <a:solidFill>
                  <a:srgbClr val="D6A43B"/>
                </a:solidFill>
                <a:latin typeface="Noto Sans CJK SC"/>
              </a:rPr>
              <a:t>→</a:t>
            </a:r>
          </a:p>
        </p:txBody>
      </p:sp>
      <p:sp>
        <p:nvSpPr>
          <p:cNvPr id="20" name="h2p-12-box-19"/>
          <p:cNvSpPr/>
          <p:nvPr/>
        </p:nvSpPr>
        <p:spPr>
          <a:xfrm>
            <a:off x="8305495" y="2266797"/>
            <a:ext cx="3200400" cy="2609697"/>
          </a:xfrm>
          <a:prstGeom prst="roundRect">
            <a:avLst>
              <a:gd name="adj" fmla="val 6569"/>
            </a:avLst>
          </a:prstGeom>
          <a:solidFill>
            <a:srgbClr val="132F47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2p-12-text-20"/>
          <p:cNvSpPr txBox="1"/>
          <p:nvPr/>
        </p:nvSpPr>
        <p:spPr>
          <a:xfrm>
            <a:off x="8534095" y="2457907"/>
            <a:ext cx="369417" cy="3621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850">
                <a:solidFill>
                  <a:srgbClr val="D6A43B"/>
                </a:solidFill>
                <a:latin typeface="Noto Sans Mono CJK SC"/>
              </a:rPr>
              <a:t>03</a:t>
            </a:r>
          </a:p>
        </p:txBody>
      </p:sp>
      <p:sp>
        <p:nvSpPr>
          <p:cNvPr id="22" name="h2p-12-text-21"/>
          <p:cNvSpPr txBox="1"/>
          <p:nvPr/>
        </p:nvSpPr>
        <p:spPr>
          <a:xfrm>
            <a:off x="8534095" y="3010204"/>
            <a:ext cx="2798064" cy="258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720">
                <a:solidFill>
                  <a:srgbClr val="FFFFFF"/>
                </a:solidFill>
                <a:latin typeface="Noto Sans CJK SC"/>
              </a:rPr>
              <a:t>在新案例上停止</a:t>
            </a:r>
          </a:p>
        </p:txBody>
      </p:sp>
      <p:sp>
        <p:nvSpPr>
          <p:cNvPr id="23" name="h2p-12-text-22"/>
          <p:cNvSpPr txBox="1"/>
          <p:nvPr/>
        </p:nvSpPr>
        <p:spPr>
          <a:xfrm>
            <a:off x="8534095" y="3429000"/>
            <a:ext cx="2798064" cy="4855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C6D3DD"/>
                </a:solidFill>
                <a:latin typeface="Noto Sans CJK SC"/>
              </a:rPr>
              <a:t>交付最小充分方案包与持续学习资产；保留人工与拒绝自动化同样合法。</a:t>
            </a:r>
          </a:p>
        </p:txBody>
      </p:sp>
      <p:sp>
        <p:nvSpPr>
          <p:cNvPr id="24" name="h2p-12-text-23"/>
          <p:cNvSpPr txBox="1"/>
          <p:nvPr/>
        </p:nvSpPr>
        <p:spPr>
          <a:xfrm>
            <a:off x="8534095" y="4476902"/>
            <a:ext cx="694944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D6A43B"/>
                </a:solidFill>
                <a:latin typeface="Noto Sans Mono CJK SC"/>
              </a:rPr>
              <a:t>JUST ENOUGH</a:t>
            </a:r>
          </a:p>
        </p:txBody>
      </p:sp>
      <p:sp>
        <p:nvSpPr>
          <p:cNvPr id="25" name="h2p-12-box-24"/>
          <p:cNvSpPr/>
          <p:nvPr/>
        </p:nvSpPr>
        <p:spPr>
          <a:xfrm>
            <a:off x="3429000" y="5181904"/>
            <a:ext cx="5333695" cy="800100"/>
          </a:xfrm>
          <a:prstGeom prst="roundRect">
            <a:avLst>
              <a:gd name="adj" fmla="val 19050"/>
            </a:avLst>
          </a:prstGeom>
          <a:solidFill>
            <a:srgbClr val="132F47"/>
          </a:solidFill>
          <a:ln w="3810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2p-12-text-25"/>
          <p:cNvSpPr txBox="1"/>
          <p:nvPr/>
        </p:nvSpPr>
        <p:spPr>
          <a:xfrm>
            <a:off x="3531412" y="5419648"/>
            <a:ext cx="512978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7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720">
                <a:solidFill>
                  <a:srgbClr val="74D0C7"/>
                </a:solidFill>
                <a:latin typeface="Noto Sans Mono CJK SC"/>
              </a:rPr>
              <a:t>FIT = SIMPLE · TESTED · SUFFICIENT</a:t>
            </a:r>
          </a:p>
        </p:txBody>
      </p:sp>
      <p:sp>
        <p:nvSpPr>
          <p:cNvPr id="27" name="h2p-12-text-26"/>
          <p:cNvSpPr txBox="1"/>
          <p:nvPr/>
        </p:nvSpPr>
        <p:spPr>
          <a:xfrm>
            <a:off x="577900" y="6191402"/>
            <a:ext cx="11036808" cy="2295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80">
                <a:solidFill>
                  <a:srgbClr val="FFFFFF"/>
                </a:solidFill>
                <a:latin typeface="Noto Sans CJK SC"/>
              </a:rPr>
              <a:t>若获准，后续门禁：冻结 ProjectCase，在 AgentTeams 跑出首份真实证据 · requires_runtime_trial</a:t>
            </a:r>
          </a:p>
        </p:txBody>
      </p:sp>
      <p:sp>
        <p:nvSpPr>
          <p:cNvPr id="28" name="h2p-12-text-27"/>
          <p:cNvSpPr txBox="1"/>
          <p:nvPr/>
        </p:nvSpPr>
        <p:spPr>
          <a:xfrm>
            <a:off x="685800" y="6543446"/>
            <a:ext cx="149595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8FA6B9"/>
                </a:solidFill>
                <a:latin typeface="Noto Sans Mono CJK SC"/>
              </a:rPr>
              <a:t>AGENTFIT · GOAI AGENT INFRA</a:t>
            </a:r>
          </a:p>
        </p:txBody>
      </p:sp>
      <p:sp>
        <p:nvSpPr>
          <p:cNvPr id="29" name="h2p-12-text-28"/>
          <p:cNvSpPr txBox="1"/>
          <p:nvPr/>
        </p:nvSpPr>
        <p:spPr>
          <a:xfrm>
            <a:off x="11082528" y="6543446"/>
            <a:ext cx="480974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8FA6B9"/>
                </a:solidFill>
                <a:latin typeface="Noto Sans Mono CJK SC"/>
              </a:rPr>
              <a:t>Fit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3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3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A1 / 05 · 技术映射</a:t>
            </a:r>
          </a:p>
        </p:txBody>
      </p:sp>
      <p:sp>
        <p:nvSpPr>
          <p:cNvPr id="4" name="h2p-13-text-3"/>
          <p:cNvSpPr txBox="1"/>
          <p:nvPr/>
        </p:nvSpPr>
        <p:spPr>
          <a:xfrm>
            <a:off x="685800" y="666597"/>
            <a:ext cx="11036808" cy="314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250">
                <a:solidFill>
                  <a:srgbClr val="102A43"/>
                </a:solidFill>
                <a:latin typeface="Noto Sans CJK SC"/>
              </a:rPr>
              <a:t>七层 ML 映射、候选四元组与内外循环。</a:t>
            </a:r>
          </a:p>
        </p:txBody>
      </p:sp>
      <p:sp>
        <p:nvSpPr>
          <p:cNvPr id="5" name="h2p-13-text-4"/>
          <p:cNvSpPr txBox="1"/>
          <p:nvPr/>
        </p:nvSpPr>
        <p:spPr>
          <a:xfrm>
            <a:off x="705002" y="1257300"/>
            <a:ext cx="1049274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53697C"/>
                </a:solidFill>
                <a:latin typeface="Noto Sans CJK SC"/>
              </a:rPr>
              <a:t>这是高层 ML 开发流程的工程类比，不是已实现的优化器；主线仍是可审计的方案构建、比较与停止。</a:t>
            </a:r>
          </a:p>
        </p:txBody>
      </p:sp>
      <p:sp>
        <p:nvSpPr>
          <p:cNvPr id="6" name="h2p-13-box-5"/>
          <p:cNvSpPr/>
          <p:nvPr/>
        </p:nvSpPr>
        <p:spPr>
          <a:xfrm>
            <a:off x="685800" y="1695297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3-box-6"/>
          <p:cNvSpPr/>
          <p:nvPr/>
        </p:nvSpPr>
        <p:spPr>
          <a:xfrm>
            <a:off x="685800" y="1962302"/>
            <a:ext cx="5333695" cy="3238804"/>
          </a:xfrm>
          <a:prstGeom prst="roundRect">
            <a:avLst>
              <a:gd name="adj" fmla="val 5290"/>
            </a:avLst>
          </a:prstGeom>
          <a:solidFill>
            <a:srgbClr val="132F47"/>
          </a:solidFill>
          <a:ln w="19050">
            <a:solidFill>
              <a:srgbClr val="0B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13-text-7"/>
          <p:cNvSpPr txBox="1"/>
          <p:nvPr/>
        </p:nvSpPr>
        <p:spPr>
          <a:xfrm>
            <a:off x="914400" y="2095804"/>
            <a:ext cx="5052060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74D0C7"/>
                </a:solidFill>
                <a:latin typeface="Noto Sans Mono CJK SC"/>
              </a:rPr>
              <a:t>SEVEN-LAYER MAPPING · 七层 ML 映射</a:t>
            </a:r>
          </a:p>
        </p:txBody>
      </p:sp>
      <p:sp>
        <p:nvSpPr>
          <p:cNvPr id="9" name="h2p-13-text-8"/>
          <p:cNvSpPr txBox="1"/>
          <p:nvPr/>
        </p:nvSpPr>
        <p:spPr>
          <a:xfrm>
            <a:off x="914400" y="2361895"/>
            <a:ext cx="4955133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FFFFFF"/>
                </a:solidFill>
                <a:latin typeface="Noto Sans CJK SC"/>
              </a:rPr>
              <a:t>L1 样本语义 → 样本单位、边界、重放与标注契约</a:t>
            </a:r>
          </a:p>
        </p:txBody>
      </p:sp>
      <p:sp>
        <p:nvSpPr>
          <p:cNvPr id="10" name="h2p-13-text-9"/>
          <p:cNvSpPr txBox="1"/>
          <p:nvPr/>
        </p:nvSpPr>
        <p:spPr>
          <a:xfrm>
            <a:off x="914400" y="2667304"/>
            <a:ext cx="4955133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FFFFFF"/>
                </a:solidFill>
                <a:latin typeface="Noto Sans CJK SC"/>
              </a:rPr>
              <a:t>L2 任务语义 → 分布、输出、指标、损失与权衡</a:t>
            </a:r>
          </a:p>
        </p:txBody>
      </p:sp>
      <p:sp>
        <p:nvSpPr>
          <p:cNvPr id="11" name="h2p-13-text-10"/>
          <p:cNvSpPr txBox="1"/>
          <p:nvPr/>
        </p:nvSpPr>
        <p:spPr>
          <a:xfrm>
            <a:off x="914400" y="2971800"/>
            <a:ext cx="4955133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FFFFFF"/>
                </a:solidFill>
                <a:latin typeface="Noto Sans CJK SC"/>
              </a:rPr>
              <a:t>L3 能力语义 → 算子集、契约、权限与适用域</a:t>
            </a:r>
          </a:p>
        </p:txBody>
      </p:sp>
      <p:sp>
        <p:nvSpPr>
          <p:cNvPr id="12" name="h2p-13-text-11"/>
          <p:cNvSpPr txBox="1"/>
          <p:nvPr/>
        </p:nvSpPr>
        <p:spPr>
          <a:xfrm>
            <a:off x="914400" y="3276295"/>
            <a:ext cx="4955133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FFFFFF"/>
                </a:solidFill>
                <a:latin typeface="Noto Sans CJK SC"/>
              </a:rPr>
              <a:t>L4 候选表示 → 结构、分区、参数与共享范围</a:t>
            </a:r>
          </a:p>
        </p:txBody>
      </p:sp>
      <p:sp>
        <p:nvSpPr>
          <p:cNvPr id="13" name="h2p-13-text-12"/>
          <p:cNvSpPr txBox="1"/>
          <p:nvPr/>
        </p:nvSpPr>
        <p:spPr>
          <a:xfrm>
            <a:off x="914400" y="3581704"/>
            <a:ext cx="4955133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FFFFFF"/>
                </a:solidFill>
                <a:latin typeface="Noto Sans CJK SC"/>
              </a:rPr>
              <a:t>L5 内循环（inner loop）→ 固定候选内的局部调整类比</a:t>
            </a:r>
          </a:p>
        </p:txBody>
      </p:sp>
      <p:sp>
        <p:nvSpPr>
          <p:cNvPr id="14" name="h2p-13-text-13"/>
          <p:cNvSpPr txBox="1"/>
          <p:nvPr/>
        </p:nvSpPr>
        <p:spPr>
          <a:xfrm>
            <a:off x="914400" y="3886200"/>
            <a:ext cx="4955133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FFFFFF"/>
                </a:solidFill>
                <a:latin typeface="Noto Sans CJK SC"/>
              </a:rPr>
              <a:t>L6 外循环（outer loop）→ 新案例上的候选比较类比</a:t>
            </a:r>
          </a:p>
        </p:txBody>
      </p:sp>
      <p:sp>
        <p:nvSpPr>
          <p:cNvPr id="15" name="h2p-13-text-14"/>
          <p:cNvSpPr txBox="1"/>
          <p:nvPr/>
        </p:nvSpPr>
        <p:spPr>
          <a:xfrm>
            <a:off x="914400" y="4190695"/>
            <a:ext cx="4955133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FFFFFF"/>
                </a:solidFill>
                <a:latin typeface="Noto Sans CJK SC"/>
              </a:rPr>
              <a:t>L7 跨项目学习 → 多项目验证后才可能更新先验</a:t>
            </a:r>
          </a:p>
        </p:txBody>
      </p:sp>
      <p:sp>
        <p:nvSpPr>
          <p:cNvPr id="16" name="h2p-13-text-15"/>
          <p:cNvSpPr txBox="1"/>
          <p:nvPr/>
        </p:nvSpPr>
        <p:spPr>
          <a:xfrm>
            <a:off x="914400" y="4647895"/>
            <a:ext cx="4955133" cy="2057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D6A43B"/>
                </a:solidFill>
                <a:latin typeface="Noto Sans CJK SC"/>
              </a:rPr>
              <a:t>七层只作解释，不声明自动搜索、参数学习或 Meta-learning 已实现。</a:t>
            </a:r>
          </a:p>
        </p:txBody>
      </p:sp>
      <p:sp>
        <p:nvSpPr>
          <p:cNvPr id="17" name="h2p-13-box-16"/>
          <p:cNvSpPr/>
          <p:nvPr/>
        </p:nvSpPr>
        <p:spPr>
          <a:xfrm>
            <a:off x="6172200" y="1962302"/>
            <a:ext cx="5333695" cy="2686507"/>
          </a:xfrm>
          <a:prstGeom prst="roundRect">
            <a:avLst>
              <a:gd name="adj" fmla="val 638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13-text-17"/>
          <p:cNvSpPr txBox="1"/>
          <p:nvPr/>
        </p:nvSpPr>
        <p:spPr>
          <a:xfrm>
            <a:off x="6400800" y="2095804"/>
            <a:ext cx="728776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A8D85"/>
                </a:solidFill>
                <a:latin typeface="Noto Sans Mono CJK SC"/>
              </a:rPr>
              <a:t>候选四元组</a:t>
            </a:r>
          </a:p>
        </p:txBody>
      </p:sp>
      <p:sp>
        <p:nvSpPr>
          <p:cNvPr id="19" name="h2p-13-text-18"/>
          <p:cNvSpPr txBox="1"/>
          <p:nvPr/>
        </p:nvSpPr>
        <p:spPr>
          <a:xfrm>
            <a:off x="6400800" y="2361895"/>
            <a:ext cx="4955133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650">
                <a:solidFill>
                  <a:srgbClr val="102A43"/>
                </a:solidFill>
                <a:latin typeface="Noto Sans Mono CJK SC"/>
              </a:rPr>
              <a:t>Candidate = (G, Π, θ, ρ)</a:t>
            </a:r>
          </a:p>
        </p:txBody>
      </p:sp>
      <p:sp>
        <p:nvSpPr>
          <p:cNvPr id="20" name="h2p-13-text-19"/>
          <p:cNvSpPr txBox="1"/>
          <p:nvPr/>
        </p:nvSpPr>
        <p:spPr>
          <a:xfrm>
            <a:off x="6400800" y="2667304"/>
            <a:ext cx="4955133" cy="198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G 能力图 · Π Agent 分区 · θ 局部参数 · ρ 跨分区共享范围</a:t>
            </a:r>
          </a:p>
        </p:txBody>
      </p:sp>
      <p:sp>
        <p:nvSpPr>
          <p:cNvPr id="21" name="h2p-13-text-20"/>
          <p:cNvSpPr txBox="1"/>
          <p:nvPr/>
        </p:nvSpPr>
        <p:spPr>
          <a:xfrm>
            <a:off x="6400800" y="2933395"/>
            <a:ext cx="4955133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00">
                <a:solidFill>
                  <a:srgbClr val="1A8D85"/>
                </a:solidFill>
                <a:latin typeface="Noto Sans CJK SC"/>
              </a:rPr>
              <a:t>G · DAG 主干 + Π 分区中的有界 SCC</a:t>
            </a:r>
          </a:p>
        </p:txBody>
      </p:sp>
      <p:sp>
        <p:nvSpPr>
          <p:cNvPr id="22" name="h2p-13-box-21"/>
          <p:cNvSpPr/>
          <p:nvPr/>
        </p:nvSpPr>
        <p:spPr>
          <a:xfrm>
            <a:off x="6400800" y="3333902"/>
            <a:ext cx="590702" cy="2670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2p-13-text-22"/>
          <p:cNvSpPr txBox="1"/>
          <p:nvPr/>
        </p:nvSpPr>
        <p:spPr>
          <a:xfrm>
            <a:off x="6404457" y="3372307"/>
            <a:ext cx="58338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426B86"/>
                </a:solidFill>
                <a:latin typeface="Noto Sans CJK SC"/>
              </a:rPr>
              <a:t>去重</a:t>
            </a:r>
          </a:p>
        </p:txBody>
      </p:sp>
      <p:sp>
        <p:nvSpPr>
          <p:cNvPr id="24" name="h2p-13-text-23"/>
          <p:cNvSpPr txBox="1"/>
          <p:nvPr/>
        </p:nvSpPr>
        <p:spPr>
          <a:xfrm>
            <a:off x="7029907" y="3353104"/>
            <a:ext cx="15544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→</a:t>
            </a:r>
          </a:p>
        </p:txBody>
      </p:sp>
      <p:sp>
        <p:nvSpPr>
          <p:cNvPr id="25" name="h2p-13-box-24"/>
          <p:cNvSpPr/>
          <p:nvPr/>
        </p:nvSpPr>
        <p:spPr>
          <a:xfrm>
            <a:off x="7220102" y="3333902"/>
            <a:ext cx="590702" cy="2670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2p-13-text-25"/>
          <p:cNvSpPr txBox="1"/>
          <p:nvPr/>
        </p:nvSpPr>
        <p:spPr>
          <a:xfrm>
            <a:off x="7223760" y="3372307"/>
            <a:ext cx="58338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1A8D85"/>
                </a:solidFill>
                <a:latin typeface="Noto Sans CJK SC"/>
              </a:rPr>
              <a:t>检索</a:t>
            </a:r>
          </a:p>
        </p:txBody>
      </p:sp>
      <p:sp>
        <p:nvSpPr>
          <p:cNvPr id="27" name="h2p-13-text-26"/>
          <p:cNvSpPr txBox="1"/>
          <p:nvPr/>
        </p:nvSpPr>
        <p:spPr>
          <a:xfrm>
            <a:off x="7848295" y="3353104"/>
            <a:ext cx="15544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→</a:t>
            </a:r>
          </a:p>
        </p:txBody>
      </p:sp>
      <p:sp>
        <p:nvSpPr>
          <p:cNvPr id="28" name="h2p-13-box-27"/>
          <p:cNvSpPr/>
          <p:nvPr/>
        </p:nvSpPr>
        <p:spPr>
          <a:xfrm>
            <a:off x="8039404" y="3105302"/>
            <a:ext cx="1676095" cy="1047902"/>
          </a:xfrm>
          <a:prstGeom prst="roundRect">
            <a:avLst>
              <a:gd name="adj" fmla="val 10910"/>
            </a:avLst>
          </a:prstGeom>
          <a:solidFill>
            <a:srgbClr val="FEF6F4"/>
          </a:solidFill>
          <a:ln w="19050">
            <a:solidFill>
              <a:srgbClr val="F26B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2p-13-text-28"/>
          <p:cNvSpPr txBox="1"/>
          <p:nvPr/>
        </p:nvSpPr>
        <p:spPr>
          <a:xfrm>
            <a:off x="8134502" y="3161995"/>
            <a:ext cx="1515160" cy="180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C64C32"/>
                </a:solidFill>
                <a:latin typeface="Noto Sans CJK SC"/>
              </a:rPr>
              <a:t>Π · Agent A₁ 分区</a:t>
            </a:r>
          </a:p>
        </p:txBody>
      </p:sp>
      <p:sp>
        <p:nvSpPr>
          <p:cNvPr id="30" name="h2p-13-box-29"/>
          <p:cNvSpPr/>
          <p:nvPr/>
        </p:nvSpPr>
        <p:spPr>
          <a:xfrm>
            <a:off x="8134502" y="3409797"/>
            <a:ext cx="590702" cy="2670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2p-13-text-30"/>
          <p:cNvSpPr txBox="1"/>
          <p:nvPr/>
        </p:nvSpPr>
        <p:spPr>
          <a:xfrm>
            <a:off x="8138160" y="3448202"/>
            <a:ext cx="58338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F26B4B"/>
                </a:solidFill>
                <a:latin typeface="Noto Sans CJK SC"/>
              </a:rPr>
              <a:t>定位</a:t>
            </a:r>
          </a:p>
        </p:txBody>
      </p:sp>
      <p:sp>
        <p:nvSpPr>
          <p:cNvPr id="32" name="h2p-13-text-31"/>
          <p:cNvSpPr txBox="1"/>
          <p:nvPr/>
        </p:nvSpPr>
        <p:spPr>
          <a:xfrm>
            <a:off x="8762695" y="3429000"/>
            <a:ext cx="15544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→</a:t>
            </a:r>
          </a:p>
        </p:txBody>
      </p:sp>
      <p:sp>
        <p:nvSpPr>
          <p:cNvPr id="33" name="h2p-13-box-32"/>
          <p:cNvSpPr/>
          <p:nvPr/>
        </p:nvSpPr>
        <p:spPr>
          <a:xfrm>
            <a:off x="8953804" y="3409797"/>
            <a:ext cx="590702" cy="2670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2p-13-text-33"/>
          <p:cNvSpPr txBox="1"/>
          <p:nvPr/>
        </p:nvSpPr>
        <p:spPr>
          <a:xfrm>
            <a:off x="8957462" y="3448202"/>
            <a:ext cx="58338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F26B4B"/>
                </a:solidFill>
                <a:latin typeface="Noto Sans CJK SC"/>
              </a:rPr>
              <a:t>生成</a:t>
            </a:r>
          </a:p>
        </p:txBody>
      </p:sp>
      <p:sp>
        <p:nvSpPr>
          <p:cNvPr id="35" name="h2p-13-box-34"/>
          <p:cNvSpPr/>
          <p:nvPr/>
        </p:nvSpPr>
        <p:spPr>
          <a:xfrm>
            <a:off x="8343900" y="3781044"/>
            <a:ext cx="1067104" cy="19202"/>
          </a:xfrm>
          <a:prstGeom prst="rect">
            <a:avLst/>
          </a:prstGeom>
          <a:solidFill>
            <a:srgbClr val="1A8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h2p-13-text-35"/>
          <p:cNvSpPr txBox="1"/>
          <p:nvPr/>
        </p:nvSpPr>
        <p:spPr>
          <a:xfrm>
            <a:off x="8172907" y="3685946"/>
            <a:ext cx="155448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00">
                <a:solidFill>
                  <a:srgbClr val="1A8D85"/>
                </a:solidFill>
                <a:latin typeface="Noto Sans CJK SC"/>
              </a:rPr>
              <a:t>←</a:t>
            </a:r>
          </a:p>
        </p:txBody>
      </p:sp>
      <p:sp>
        <p:nvSpPr>
          <p:cNvPr id="37" name="h2p-13-text-36"/>
          <p:cNvSpPr txBox="1"/>
          <p:nvPr/>
        </p:nvSpPr>
        <p:spPr>
          <a:xfrm>
            <a:off x="8057692" y="3847795"/>
            <a:ext cx="1690725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A8D85"/>
                </a:solidFill>
                <a:latin typeface="Noto Sans CJK SC"/>
              </a:rPr>
              <a:t>生成 → 定位 · 最多 3 次 · 未通过退出</a:t>
            </a:r>
          </a:p>
        </p:txBody>
      </p:sp>
      <p:sp>
        <p:nvSpPr>
          <p:cNvPr id="38" name="h2p-13-text-37"/>
          <p:cNvSpPr txBox="1"/>
          <p:nvPr/>
        </p:nvSpPr>
        <p:spPr>
          <a:xfrm>
            <a:off x="9753904" y="3429000"/>
            <a:ext cx="15544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→</a:t>
            </a:r>
          </a:p>
        </p:txBody>
      </p:sp>
      <p:sp>
        <p:nvSpPr>
          <p:cNvPr id="39" name="h2p-13-box-38"/>
          <p:cNvSpPr/>
          <p:nvPr/>
        </p:nvSpPr>
        <p:spPr>
          <a:xfrm>
            <a:off x="9944100" y="3409797"/>
            <a:ext cx="590702" cy="2670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h2p-13-text-39"/>
          <p:cNvSpPr txBox="1"/>
          <p:nvPr/>
        </p:nvSpPr>
        <p:spPr>
          <a:xfrm>
            <a:off x="9947757" y="3448202"/>
            <a:ext cx="58338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1A8D85"/>
                </a:solidFill>
                <a:latin typeface="Noto Sans CJK SC"/>
              </a:rPr>
              <a:t>测试</a:t>
            </a:r>
          </a:p>
        </p:txBody>
      </p:sp>
      <p:sp>
        <p:nvSpPr>
          <p:cNvPr id="41" name="h2p-13-text-40"/>
          <p:cNvSpPr txBox="1"/>
          <p:nvPr/>
        </p:nvSpPr>
        <p:spPr>
          <a:xfrm>
            <a:off x="10572292" y="3429000"/>
            <a:ext cx="15544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→</a:t>
            </a:r>
          </a:p>
        </p:txBody>
      </p:sp>
      <p:sp>
        <p:nvSpPr>
          <p:cNvPr id="42" name="h2p-13-box-41"/>
          <p:cNvSpPr/>
          <p:nvPr/>
        </p:nvSpPr>
        <p:spPr>
          <a:xfrm>
            <a:off x="10763402" y="3409797"/>
            <a:ext cx="590702" cy="2670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h2p-13-text-42"/>
          <p:cNvSpPr txBox="1"/>
          <p:nvPr/>
        </p:nvSpPr>
        <p:spPr>
          <a:xfrm>
            <a:off x="10767060" y="3448202"/>
            <a:ext cx="58338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A5781C"/>
                </a:solidFill>
                <a:latin typeface="Noto Sans CJK SC"/>
              </a:rPr>
              <a:t>人工</a:t>
            </a:r>
          </a:p>
        </p:txBody>
      </p:sp>
      <p:sp>
        <p:nvSpPr>
          <p:cNvPr id="44" name="h2p-13-text-43"/>
          <p:cNvSpPr txBox="1"/>
          <p:nvPr/>
        </p:nvSpPr>
        <p:spPr>
          <a:xfrm>
            <a:off x="6400800" y="4267504"/>
            <a:ext cx="4955133" cy="198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主干顺序推进；局部返回边形成 SCC，并由重试上限终止。</a:t>
            </a:r>
          </a:p>
        </p:txBody>
      </p:sp>
      <p:sp>
        <p:nvSpPr>
          <p:cNvPr id="45" name="h2p-13-text-44"/>
          <p:cNvSpPr txBox="1"/>
          <p:nvPr/>
        </p:nvSpPr>
        <p:spPr>
          <a:xfrm>
            <a:off x="6400800" y="4496104"/>
            <a:ext cx="4955133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θ = Prompt / 阈值 / 重试 · ρ = 仓库 / 记忆 / 通信的共享边界</a:t>
            </a:r>
          </a:p>
        </p:txBody>
      </p:sp>
      <p:sp>
        <p:nvSpPr>
          <p:cNvPr id="46" name="h2p-13-box-45"/>
          <p:cNvSpPr/>
          <p:nvPr/>
        </p:nvSpPr>
        <p:spPr>
          <a:xfrm>
            <a:off x="6172200" y="4781397"/>
            <a:ext cx="2571292" cy="1695297"/>
          </a:xfrm>
          <a:prstGeom prst="roundRect">
            <a:avLst>
              <a:gd name="adj" fmla="val 1011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h2p-13-text-46"/>
          <p:cNvSpPr txBox="1"/>
          <p:nvPr/>
        </p:nvSpPr>
        <p:spPr>
          <a:xfrm>
            <a:off x="6400800" y="4914900"/>
            <a:ext cx="2195474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A8D85"/>
                </a:solidFill>
                <a:latin typeface="Noto Sans Mono CJK SC"/>
              </a:rPr>
              <a:t>INNER LOOP · 高层工程类比</a:t>
            </a:r>
          </a:p>
        </p:txBody>
      </p:sp>
      <p:sp>
        <p:nvSpPr>
          <p:cNvPr id="48" name="h2p-13-text-47"/>
          <p:cNvSpPr txBox="1"/>
          <p:nvPr/>
        </p:nvSpPr>
        <p:spPr>
          <a:xfrm>
            <a:off x="6400800" y="5143500"/>
            <a:ext cx="2195474" cy="1911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80">
                <a:solidFill>
                  <a:srgbClr val="102A43"/>
                </a:solidFill>
                <a:latin typeface="Noto Sans CJK SC"/>
              </a:rPr>
              <a:t>固定候选内局部调整</a:t>
            </a:r>
          </a:p>
        </p:txBody>
      </p:sp>
      <p:sp>
        <p:nvSpPr>
          <p:cNvPr id="49" name="h2p-13-text-48"/>
          <p:cNvSpPr txBox="1"/>
          <p:nvPr/>
        </p:nvSpPr>
        <p:spPr>
          <a:xfrm>
            <a:off x="6400800" y="5410504"/>
            <a:ext cx="2195474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固定 G / Π / ρ；只更新 θ 与分区内状态；记录 adaptation cases。</a:t>
            </a:r>
          </a:p>
        </p:txBody>
      </p:sp>
      <p:sp>
        <p:nvSpPr>
          <p:cNvPr id="50" name="h2p-13-text-49"/>
          <p:cNvSpPr txBox="1"/>
          <p:nvPr/>
        </p:nvSpPr>
        <p:spPr>
          <a:xfrm>
            <a:off x="6400800" y="6077102"/>
            <a:ext cx="2195474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00">
                <a:solidFill>
                  <a:srgbClr val="1A8D85"/>
                </a:solidFill>
                <a:latin typeface="Noto Sans CJK SC"/>
              </a:rPr>
              <a:t>不是已实现的优化器</a:t>
            </a:r>
          </a:p>
        </p:txBody>
      </p:sp>
      <p:sp>
        <p:nvSpPr>
          <p:cNvPr id="51" name="h2p-13-box-50"/>
          <p:cNvSpPr/>
          <p:nvPr/>
        </p:nvSpPr>
        <p:spPr>
          <a:xfrm>
            <a:off x="8934602" y="4781397"/>
            <a:ext cx="2571292" cy="1695297"/>
          </a:xfrm>
          <a:prstGeom prst="roundRect">
            <a:avLst>
              <a:gd name="adj" fmla="val 10110"/>
            </a:avLst>
          </a:prstGeom>
          <a:solidFill>
            <a:srgbClr val="F8DDD4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h2p-13-text-51"/>
          <p:cNvSpPr txBox="1"/>
          <p:nvPr/>
        </p:nvSpPr>
        <p:spPr>
          <a:xfrm>
            <a:off x="9163202" y="4914900"/>
            <a:ext cx="2195474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C64C32"/>
                </a:solidFill>
                <a:latin typeface="Noto Sans Mono CJK SC"/>
              </a:rPr>
              <a:t>OUTER LOOP · 高层工程类比</a:t>
            </a:r>
          </a:p>
        </p:txBody>
      </p:sp>
      <p:sp>
        <p:nvSpPr>
          <p:cNvPr id="53" name="h2p-13-text-52"/>
          <p:cNvSpPr txBox="1"/>
          <p:nvPr/>
        </p:nvSpPr>
        <p:spPr>
          <a:xfrm>
            <a:off x="9163202" y="5143500"/>
            <a:ext cx="2195474" cy="1911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80">
                <a:solidFill>
                  <a:srgbClr val="102A43"/>
                </a:solidFill>
                <a:latin typeface="Noto Sans CJK SC"/>
              </a:rPr>
              <a:t>比较完整候选</a:t>
            </a:r>
          </a:p>
        </p:txBody>
      </p:sp>
      <p:sp>
        <p:nvSpPr>
          <p:cNvPr id="54" name="h2p-13-text-53"/>
          <p:cNvSpPr txBox="1"/>
          <p:nvPr/>
        </p:nvSpPr>
        <p:spPr>
          <a:xfrm>
            <a:off x="9163202" y="5410504"/>
            <a:ext cx="219547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更新 G / Π / ρ；比较 validation samples；保留合格候选。</a:t>
            </a:r>
          </a:p>
        </p:txBody>
      </p:sp>
      <p:sp>
        <p:nvSpPr>
          <p:cNvPr id="55" name="h2p-13-text-54"/>
          <p:cNvSpPr txBox="1"/>
          <p:nvPr/>
        </p:nvSpPr>
        <p:spPr>
          <a:xfrm>
            <a:off x="9163202" y="6077102"/>
            <a:ext cx="2195474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00">
                <a:solidFill>
                  <a:srgbClr val="C64C32"/>
                </a:solidFill>
                <a:latin typeface="Noto Sans CJK SC"/>
              </a:rPr>
              <a:t>不预设多 Agent 胜出</a:t>
            </a:r>
          </a:p>
        </p:txBody>
      </p:sp>
      <p:sp>
        <p:nvSpPr>
          <p:cNvPr id="56" name="h2p-13-box-55"/>
          <p:cNvSpPr/>
          <p:nvPr/>
        </p:nvSpPr>
        <p:spPr>
          <a:xfrm>
            <a:off x="685800" y="5352897"/>
            <a:ext cx="5333695" cy="1123797"/>
          </a:xfrm>
          <a:prstGeom prst="roundRect">
            <a:avLst>
              <a:gd name="adj" fmla="val 15250"/>
            </a:avLst>
          </a:prstGeom>
          <a:solidFill>
            <a:srgbClr val="EEF1F5"/>
          </a:solidFill>
          <a:ln w="19050">
            <a:solidFill>
              <a:srgbClr val="D6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h2p-13-text-56"/>
          <p:cNvSpPr txBox="1"/>
          <p:nvPr/>
        </p:nvSpPr>
        <p:spPr>
          <a:xfrm>
            <a:off x="914400" y="5486400"/>
            <a:ext cx="5052060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53697C"/>
                </a:solidFill>
                <a:latin typeface="Noto Sans Mono CJK SC"/>
              </a:rPr>
              <a:t>类比边界 · 非实现声明</a:t>
            </a:r>
          </a:p>
        </p:txBody>
      </p:sp>
      <p:sp>
        <p:nvSpPr>
          <p:cNvPr id="58" name="h2p-13-text-57"/>
          <p:cNvSpPr txBox="1"/>
          <p:nvPr/>
        </p:nvSpPr>
        <p:spPr>
          <a:xfrm>
            <a:off x="914400" y="5734202"/>
            <a:ext cx="5052060" cy="2057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持续学习为设计语义：回归池防遗忘、漂移探针防语义漂移。设计推演（公开 retail 114 任务）：接口池 9→15 后复用率稳定于 1.00，资产边际成本递减。</a:t>
            </a:r>
          </a:p>
        </p:txBody>
      </p:sp>
      <p:sp>
        <p:nvSpPr>
          <p:cNvPr id="59" name="h2p-13-text-58"/>
          <p:cNvSpPr txBox="1"/>
          <p:nvPr/>
        </p:nvSpPr>
        <p:spPr>
          <a:xfrm>
            <a:off x="914400" y="6077102"/>
            <a:ext cx="5052060" cy="3959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Schema、自动候选搜索、跨项目 Meta-learning 均未实现；设计契约，非运行证据。</a:t>
            </a:r>
          </a:p>
        </p:txBody>
      </p:sp>
      <p:sp>
        <p:nvSpPr>
          <p:cNvPr id="60" name="h2p-13-text-59"/>
          <p:cNvSpPr txBox="1"/>
          <p:nvPr/>
        </p:nvSpPr>
        <p:spPr>
          <a:xfrm>
            <a:off x="685800" y="6543446"/>
            <a:ext cx="2671876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SAMPLE × TASK × CAPABILITY × SEARCH</a:t>
            </a:r>
          </a:p>
        </p:txBody>
      </p:sp>
      <p:sp>
        <p:nvSpPr>
          <p:cNvPr id="61" name="h2p-13-text-60"/>
          <p:cNvSpPr txBox="1"/>
          <p:nvPr/>
        </p:nvSpPr>
        <p:spPr>
          <a:xfrm>
            <a:off x="10815523" y="6543446"/>
            <a:ext cx="747979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技术附录 · A1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4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4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A2 / 05 · AGENT IDENTITY</a:t>
            </a:r>
          </a:p>
        </p:txBody>
      </p:sp>
      <p:sp>
        <p:nvSpPr>
          <p:cNvPr id="4" name="h2p-14-text-3"/>
          <p:cNvSpPr txBox="1"/>
          <p:nvPr/>
        </p:nvSpPr>
        <p:spPr>
          <a:xfrm>
            <a:off x="685800" y="666597"/>
            <a:ext cx="11036808" cy="314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250">
                <a:solidFill>
                  <a:srgbClr val="102A43"/>
                </a:solidFill>
                <a:latin typeface="Noto Sans CJK SC"/>
              </a:rPr>
              <a:t>五个 Agent Identity：判断权、状态边界与责任产物。</a:t>
            </a:r>
          </a:p>
        </p:txBody>
      </p:sp>
      <p:sp>
        <p:nvSpPr>
          <p:cNvPr id="5" name="h2p-14-text-4"/>
          <p:cNvSpPr txBox="1"/>
          <p:nvPr/>
        </p:nvSpPr>
        <p:spPr>
          <a:xfrm>
            <a:off x="705002" y="1257300"/>
            <a:ext cx="1049274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53697C"/>
                </a:solidFill>
                <a:latin typeface="Noto Sans CJK SC"/>
              </a:rPr>
              <a:t>五个固定元 Agent 各守一个判断边界；身份不能互相冒充，责任产物必须进入 Trace。</a:t>
            </a:r>
          </a:p>
        </p:txBody>
      </p:sp>
      <p:sp>
        <p:nvSpPr>
          <p:cNvPr id="6" name="h2p-14-box-5"/>
          <p:cNvSpPr/>
          <p:nvPr/>
        </p:nvSpPr>
        <p:spPr>
          <a:xfrm>
            <a:off x="685800" y="1695297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4-box-6"/>
          <p:cNvSpPr/>
          <p:nvPr/>
        </p:nvSpPr>
        <p:spPr>
          <a:xfrm>
            <a:off x="685800" y="1962302"/>
            <a:ext cx="2076602" cy="2857500"/>
          </a:xfrm>
          <a:prstGeom prst="roundRect">
            <a:avLst>
              <a:gd name="adj" fmla="val 8260"/>
            </a:avLst>
          </a:prstGeom>
          <a:solidFill>
            <a:srgbClr val="DFEAF2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14-text-7"/>
          <p:cNvSpPr txBox="1"/>
          <p:nvPr/>
        </p:nvSpPr>
        <p:spPr>
          <a:xfrm>
            <a:off x="838504" y="2095804"/>
            <a:ext cx="1325880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426B86"/>
                </a:solidFill>
                <a:latin typeface="Noto Sans Mono CJK SC"/>
              </a:rPr>
              <a:t>01 交付官 · 元 Agent</a:t>
            </a:r>
          </a:p>
        </p:txBody>
      </p:sp>
      <p:sp>
        <p:nvSpPr>
          <p:cNvPr id="9" name="h2p-14-text-8"/>
          <p:cNvSpPr txBox="1"/>
          <p:nvPr/>
        </p:nvSpPr>
        <p:spPr>
          <a:xfrm>
            <a:off x="838504" y="2361895"/>
            <a:ext cx="1826056" cy="1911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80">
                <a:solidFill>
                  <a:srgbClr val="102A43"/>
                </a:solidFill>
                <a:latin typeface="Noto Sans CJK SC"/>
              </a:rPr>
              <a:t>EngagementLead</a:t>
            </a:r>
          </a:p>
        </p:txBody>
      </p:sp>
      <p:sp>
        <p:nvSpPr>
          <p:cNvPr id="10" name="h2p-14-text-9"/>
          <p:cNvSpPr txBox="1"/>
          <p:nvPr/>
        </p:nvSpPr>
        <p:spPr>
          <a:xfrm>
            <a:off x="838504" y="2743200"/>
            <a:ext cx="1826056" cy="3465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53697C"/>
                </a:solidFill>
                <a:latin typeface="Noto Sans CJK SC"/>
              </a:rPr>
              <a:t>判断：</a:t>
            </a:r>
            <a:r>
              <a:rPr sz="980">
                <a:solidFill>
                  <a:srgbClr val="53697C"/>
                </a:solidFill>
                <a:latin typeface="Noto Sans CJK SC"/>
              </a:rPr>
              <a:t>继续、停止、交付或升级 Human。</a:t>
            </a:r>
          </a:p>
        </p:txBody>
      </p:sp>
      <p:sp>
        <p:nvSpPr>
          <p:cNvPr id="11" name="h2p-14-text-10"/>
          <p:cNvSpPr txBox="1"/>
          <p:nvPr/>
        </p:nvSpPr>
        <p:spPr>
          <a:xfrm>
            <a:off x="838504" y="3810304"/>
            <a:ext cx="1826056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426B86"/>
                </a:solidFill>
                <a:latin typeface="Noto Sans CJK SC"/>
              </a:rPr>
              <a:t>产物：</a:t>
            </a:r>
            <a:r>
              <a:rPr sz="980">
                <a:solidFill>
                  <a:srgbClr val="426B86"/>
                </a:solidFill>
                <a:latin typeface="Noto Sans CJK SC"/>
              </a:rPr>
              <a:t>项目简报 / 决议</a:t>
            </a:r>
          </a:p>
        </p:txBody>
      </p:sp>
      <p:sp>
        <p:nvSpPr>
          <p:cNvPr id="12" name="h2p-14-box-11"/>
          <p:cNvSpPr/>
          <p:nvPr/>
        </p:nvSpPr>
        <p:spPr>
          <a:xfrm>
            <a:off x="2876702" y="1962302"/>
            <a:ext cx="2076602" cy="2857500"/>
          </a:xfrm>
          <a:prstGeom prst="roundRect">
            <a:avLst>
              <a:gd name="adj" fmla="val 826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14-text-12"/>
          <p:cNvSpPr txBox="1"/>
          <p:nvPr/>
        </p:nvSpPr>
        <p:spPr>
          <a:xfrm>
            <a:off x="3028492" y="2095804"/>
            <a:ext cx="1579168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Mono CJK SC"/>
              </a:rPr>
              <a:t>02 业务架构师 · 元 Agent</a:t>
            </a:r>
          </a:p>
        </p:txBody>
      </p:sp>
      <p:sp>
        <p:nvSpPr>
          <p:cNvPr id="14" name="h2p-14-text-13"/>
          <p:cNvSpPr txBox="1"/>
          <p:nvPr/>
        </p:nvSpPr>
        <p:spPr>
          <a:xfrm>
            <a:off x="3028492" y="2361895"/>
            <a:ext cx="1826056" cy="1911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80">
                <a:solidFill>
                  <a:srgbClr val="102A43"/>
                </a:solidFill>
                <a:latin typeface="Noto Sans CJK SC"/>
              </a:rPr>
              <a:t>BusinessEngineer</a:t>
            </a:r>
          </a:p>
        </p:txBody>
      </p:sp>
      <p:sp>
        <p:nvSpPr>
          <p:cNvPr id="15" name="h2p-14-text-14"/>
          <p:cNvSpPr txBox="1"/>
          <p:nvPr/>
        </p:nvSpPr>
        <p:spPr>
          <a:xfrm>
            <a:off x="3028492" y="2743200"/>
            <a:ext cx="1826056" cy="3465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53697C"/>
                </a:solidFill>
                <a:latin typeface="Noto Sans CJK SC"/>
              </a:rPr>
              <a:t>判断：</a:t>
            </a:r>
            <a:r>
              <a:rPr sz="980">
                <a:solidFill>
                  <a:srgbClr val="53697C"/>
                </a:solidFill>
                <a:latin typeface="Noto Sans CJK SC"/>
              </a:rPr>
              <a:t>案例是否代表业务，验收能否冻结。</a:t>
            </a:r>
          </a:p>
        </p:txBody>
      </p:sp>
      <p:sp>
        <p:nvSpPr>
          <p:cNvPr id="16" name="h2p-14-text-15"/>
          <p:cNvSpPr txBox="1"/>
          <p:nvPr/>
        </p:nvSpPr>
        <p:spPr>
          <a:xfrm>
            <a:off x="3028492" y="3810304"/>
            <a:ext cx="1826056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CJK SC"/>
              </a:rPr>
              <a:t>产物：</a:t>
            </a:r>
            <a:r>
              <a:rPr sz="980">
                <a:solidFill>
                  <a:srgbClr val="1A8D85"/>
                </a:solidFill>
                <a:latin typeface="Noto Sans CJK SC"/>
              </a:rPr>
              <a:t>任务说明书</a:t>
            </a:r>
          </a:p>
        </p:txBody>
      </p:sp>
      <p:sp>
        <p:nvSpPr>
          <p:cNvPr id="17" name="h2p-14-box-16"/>
          <p:cNvSpPr/>
          <p:nvPr/>
        </p:nvSpPr>
        <p:spPr>
          <a:xfrm>
            <a:off x="5067604" y="1962302"/>
            <a:ext cx="2076602" cy="2857500"/>
          </a:xfrm>
          <a:prstGeom prst="roundRect">
            <a:avLst>
              <a:gd name="adj" fmla="val 826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14-text-17"/>
          <p:cNvSpPr txBox="1"/>
          <p:nvPr/>
        </p:nvSpPr>
        <p:spPr>
          <a:xfrm>
            <a:off x="5219395" y="2095804"/>
            <a:ext cx="1579168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Mono CJK SC"/>
              </a:rPr>
              <a:t>03 方案架构师 · 元 Agent</a:t>
            </a:r>
          </a:p>
        </p:txBody>
      </p:sp>
      <p:sp>
        <p:nvSpPr>
          <p:cNvPr id="19" name="h2p-14-text-18"/>
          <p:cNvSpPr txBox="1"/>
          <p:nvPr/>
        </p:nvSpPr>
        <p:spPr>
          <a:xfrm>
            <a:off x="5219395" y="2361895"/>
            <a:ext cx="1826056" cy="1911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80">
                <a:solidFill>
                  <a:srgbClr val="102A43"/>
                </a:solidFill>
                <a:latin typeface="Noto Sans CJK SC"/>
              </a:rPr>
              <a:t>AgentArchitect</a:t>
            </a:r>
          </a:p>
        </p:txBody>
      </p:sp>
      <p:sp>
        <p:nvSpPr>
          <p:cNvPr id="20" name="h2p-14-text-19"/>
          <p:cNvSpPr txBox="1"/>
          <p:nvPr/>
        </p:nvSpPr>
        <p:spPr>
          <a:xfrm>
            <a:off x="5219395" y="2743200"/>
            <a:ext cx="1826056" cy="3465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53697C"/>
                </a:solidFill>
                <a:latin typeface="Noto Sans CJK SC"/>
              </a:rPr>
              <a:t>判断：</a:t>
            </a:r>
            <a:r>
              <a:rPr sz="980">
                <a:solidFill>
                  <a:srgbClr val="53697C"/>
                </a:solidFill>
                <a:latin typeface="Noto Sans CJK SC"/>
              </a:rPr>
              <a:t>失败需要调整哪一维，复杂度是否必要。</a:t>
            </a:r>
          </a:p>
        </p:txBody>
      </p:sp>
      <p:sp>
        <p:nvSpPr>
          <p:cNvPr id="21" name="h2p-14-text-20"/>
          <p:cNvSpPr txBox="1"/>
          <p:nvPr/>
        </p:nvSpPr>
        <p:spPr>
          <a:xfrm>
            <a:off x="5219395" y="3810304"/>
            <a:ext cx="1826056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CJK SC"/>
              </a:rPr>
              <a:t>产物：</a:t>
            </a:r>
            <a:r>
              <a:rPr sz="980">
                <a:solidFill>
                  <a:srgbClr val="1A8D85"/>
                </a:solidFill>
                <a:latin typeface="Noto Sans CJK SC"/>
              </a:rPr>
              <a:t>候选方案集</a:t>
            </a:r>
          </a:p>
        </p:txBody>
      </p:sp>
      <p:sp>
        <p:nvSpPr>
          <p:cNvPr id="22" name="h2p-14-box-21"/>
          <p:cNvSpPr/>
          <p:nvPr/>
        </p:nvSpPr>
        <p:spPr>
          <a:xfrm>
            <a:off x="7258507" y="1962302"/>
            <a:ext cx="2076602" cy="2857500"/>
          </a:xfrm>
          <a:prstGeom prst="roundRect">
            <a:avLst>
              <a:gd name="adj" fmla="val 826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2p-14-text-22"/>
          <p:cNvSpPr txBox="1"/>
          <p:nvPr/>
        </p:nvSpPr>
        <p:spPr>
          <a:xfrm>
            <a:off x="7410297" y="2095804"/>
            <a:ext cx="1579168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Mono CJK SC"/>
              </a:rPr>
              <a:t>04 验证工程师 · 元 Agent</a:t>
            </a:r>
          </a:p>
        </p:txBody>
      </p:sp>
      <p:sp>
        <p:nvSpPr>
          <p:cNvPr id="24" name="h2p-14-text-23"/>
          <p:cNvSpPr txBox="1"/>
          <p:nvPr/>
        </p:nvSpPr>
        <p:spPr>
          <a:xfrm>
            <a:off x="7410297" y="2361895"/>
            <a:ext cx="1826056" cy="1911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80">
                <a:solidFill>
                  <a:srgbClr val="102A43"/>
                </a:solidFill>
                <a:latin typeface="Noto Sans CJK SC"/>
              </a:rPr>
              <a:t>ValidationEngineer</a:t>
            </a:r>
          </a:p>
        </p:txBody>
      </p:sp>
      <p:sp>
        <p:nvSpPr>
          <p:cNvPr id="25" name="h2p-14-text-24"/>
          <p:cNvSpPr txBox="1"/>
          <p:nvPr/>
        </p:nvSpPr>
        <p:spPr>
          <a:xfrm>
            <a:off x="7410297" y="2743200"/>
            <a:ext cx="1826056" cy="3465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53697C"/>
                </a:solidFill>
                <a:latin typeface="Noto Sans CJK SC"/>
              </a:rPr>
              <a:t>判断：</a:t>
            </a:r>
            <a:r>
              <a:rPr sz="980">
                <a:solidFill>
                  <a:srgbClr val="53697C"/>
                </a:solidFill>
                <a:latin typeface="Noto Sans CJK SC"/>
              </a:rPr>
              <a:t>运行是否合规，数据是否足以比较。</a:t>
            </a:r>
          </a:p>
        </p:txBody>
      </p:sp>
      <p:sp>
        <p:nvSpPr>
          <p:cNvPr id="26" name="h2p-14-text-25"/>
          <p:cNvSpPr txBox="1"/>
          <p:nvPr/>
        </p:nvSpPr>
        <p:spPr>
          <a:xfrm>
            <a:off x="7410297" y="3810304"/>
            <a:ext cx="1826056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CJK SC"/>
              </a:rPr>
              <a:t>产物：</a:t>
            </a:r>
            <a:r>
              <a:rPr sz="980">
                <a:solidFill>
                  <a:srgbClr val="1A8D85"/>
                </a:solidFill>
                <a:latin typeface="Noto Sans CJK SC"/>
              </a:rPr>
              <a:t>Execution Trace</a:t>
            </a:r>
          </a:p>
        </p:txBody>
      </p:sp>
      <p:sp>
        <p:nvSpPr>
          <p:cNvPr id="27" name="h2p-14-box-26"/>
          <p:cNvSpPr/>
          <p:nvPr/>
        </p:nvSpPr>
        <p:spPr>
          <a:xfrm>
            <a:off x="9448495" y="1962302"/>
            <a:ext cx="2057400" cy="2857500"/>
          </a:xfrm>
          <a:prstGeom prst="roundRect">
            <a:avLst>
              <a:gd name="adj" fmla="val 833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2p-14-text-27"/>
          <p:cNvSpPr txBox="1"/>
          <p:nvPr/>
        </p:nvSpPr>
        <p:spPr>
          <a:xfrm>
            <a:off x="9601200" y="2095804"/>
            <a:ext cx="1325880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D6A43B"/>
                </a:solidFill>
                <a:latin typeface="Noto Sans Mono CJK SC"/>
              </a:rPr>
              <a:t>05 审计官 · 元 Agent</a:t>
            </a:r>
          </a:p>
        </p:txBody>
      </p:sp>
      <p:sp>
        <p:nvSpPr>
          <p:cNvPr id="29" name="h2p-14-text-28"/>
          <p:cNvSpPr txBox="1"/>
          <p:nvPr/>
        </p:nvSpPr>
        <p:spPr>
          <a:xfrm>
            <a:off x="9601200" y="2361895"/>
            <a:ext cx="1806854" cy="1911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80">
                <a:solidFill>
                  <a:srgbClr val="102A43"/>
                </a:solidFill>
                <a:latin typeface="Noto Sans CJK SC"/>
              </a:rPr>
              <a:t>GovernanceAuditor</a:t>
            </a:r>
          </a:p>
        </p:txBody>
      </p:sp>
      <p:sp>
        <p:nvSpPr>
          <p:cNvPr id="30" name="h2p-14-text-29"/>
          <p:cNvSpPr txBox="1"/>
          <p:nvPr/>
        </p:nvSpPr>
        <p:spPr>
          <a:xfrm>
            <a:off x="9601200" y="2743200"/>
            <a:ext cx="1806854" cy="3465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53697C"/>
                </a:solidFill>
                <a:latin typeface="Noto Sans CJK SC"/>
              </a:rPr>
              <a:t>判断：</a:t>
            </a:r>
            <a:r>
              <a:rPr sz="980">
                <a:solidFill>
                  <a:srgbClr val="53697C"/>
                </a:solidFill>
                <a:latin typeface="Noto Sans CJK SC"/>
              </a:rPr>
              <a:t>证据能否支持选择、否决、降级与停止。</a:t>
            </a:r>
          </a:p>
        </p:txBody>
      </p:sp>
      <p:sp>
        <p:nvSpPr>
          <p:cNvPr id="31" name="h2p-14-text-30"/>
          <p:cNvSpPr txBox="1"/>
          <p:nvPr/>
        </p:nvSpPr>
        <p:spPr>
          <a:xfrm>
            <a:off x="9601200" y="3810304"/>
            <a:ext cx="1806854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D6A43B"/>
                </a:solidFill>
                <a:latin typeface="Noto Sans CJK SC"/>
              </a:rPr>
              <a:t>产物：</a:t>
            </a:r>
            <a:r>
              <a:rPr sz="980">
                <a:solidFill>
                  <a:srgbClr val="D6A43B"/>
                </a:solidFill>
                <a:latin typeface="Noto Sans CJK SC"/>
              </a:rPr>
              <a:t>决策账本</a:t>
            </a:r>
          </a:p>
        </p:txBody>
      </p:sp>
      <p:sp>
        <p:nvSpPr>
          <p:cNvPr id="32" name="h2p-14-box-31"/>
          <p:cNvSpPr/>
          <p:nvPr/>
        </p:nvSpPr>
        <p:spPr>
          <a:xfrm>
            <a:off x="685800" y="4990795"/>
            <a:ext cx="10820095" cy="1143000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 w="19050">
            <a:solidFill>
              <a:srgbClr val="D6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2p-14-text-32"/>
          <p:cNvSpPr txBox="1"/>
          <p:nvPr/>
        </p:nvSpPr>
        <p:spPr>
          <a:xfrm>
            <a:off x="914400" y="5143500"/>
            <a:ext cx="4012387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Identity 契约 · 元 Agent 与候选业务执行 Agent 使用同一字段</a:t>
            </a:r>
          </a:p>
        </p:txBody>
      </p:sp>
      <p:sp>
        <p:nvSpPr>
          <p:cNvPr id="34" name="h2p-14-text-33"/>
          <p:cNvSpPr txBox="1"/>
          <p:nvPr/>
        </p:nvSpPr>
        <p:spPr>
          <a:xfrm>
            <a:off x="914400" y="5447995"/>
            <a:ext cx="10589666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Name · Role · Capabilities · Inputs · Outputs · Dependencies · Decision Boundary · Trace</a:t>
            </a:r>
          </a:p>
        </p:txBody>
      </p:sp>
      <p:sp>
        <p:nvSpPr>
          <p:cNvPr id="35" name="h2p-14-text-34"/>
          <p:cNvSpPr txBox="1"/>
          <p:nvPr/>
        </p:nvSpPr>
        <p:spPr>
          <a:xfrm>
            <a:off x="914400" y="5810097"/>
            <a:ext cx="10589666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F26B4B"/>
                </a:solidFill>
                <a:latin typeface="Noto Sans CJK SC"/>
              </a:rPr>
              <a:t>候选冻结后，仅 GovernanceAuditor 消费 sealed holdout；其他角色不得读取。设计契约，非运行证据。</a:t>
            </a:r>
          </a:p>
        </p:txBody>
      </p:sp>
      <p:sp>
        <p:nvSpPr>
          <p:cNvPr id="36" name="h2p-14-text-35"/>
          <p:cNvSpPr txBox="1"/>
          <p:nvPr/>
        </p:nvSpPr>
        <p:spPr>
          <a:xfrm>
            <a:off x="685800" y="6543446"/>
            <a:ext cx="117591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五元责任链</a:t>
            </a:r>
          </a:p>
        </p:txBody>
      </p:sp>
      <p:sp>
        <p:nvSpPr>
          <p:cNvPr id="37" name="h2p-14-text-36"/>
          <p:cNvSpPr txBox="1"/>
          <p:nvPr/>
        </p:nvSpPr>
        <p:spPr>
          <a:xfrm>
            <a:off x="10548518" y="6543446"/>
            <a:ext cx="1014984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设计 Identity · A2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5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5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A3 / 05 · SKILL / MCP / CONTEXT</a:t>
            </a:r>
          </a:p>
        </p:txBody>
      </p:sp>
      <p:sp>
        <p:nvSpPr>
          <p:cNvPr id="4" name="h2p-15-text-3"/>
          <p:cNvSpPr txBox="1"/>
          <p:nvPr/>
        </p:nvSpPr>
        <p:spPr>
          <a:xfrm>
            <a:off x="685800" y="666597"/>
            <a:ext cx="11036808" cy="314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250">
                <a:solidFill>
                  <a:srgbClr val="102A43"/>
                </a:solidFill>
                <a:latin typeface="Noto Sans CJK SC"/>
              </a:rPr>
              <a:t>七个 Skill、Tool 与 MCP/HTTP 契约、Memory 与 Trace。</a:t>
            </a:r>
          </a:p>
        </p:txBody>
      </p:sp>
      <p:sp>
        <p:nvSpPr>
          <p:cNvPr id="5" name="h2p-15-text-4"/>
          <p:cNvSpPr txBox="1"/>
          <p:nvPr/>
        </p:nvSpPr>
        <p:spPr>
          <a:xfrm>
            <a:off x="705002" y="1257300"/>
            <a:ext cx="1049274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53697C"/>
                </a:solidFill>
                <a:latin typeface="Noto Sans CJK SC"/>
              </a:rPr>
              <a:t>Tool、Skill、MCP、Memory 各有边界；验证门只把有新案例证据的版本提升为可复用资产。</a:t>
            </a:r>
          </a:p>
        </p:txBody>
      </p:sp>
      <p:sp>
        <p:nvSpPr>
          <p:cNvPr id="6" name="h2p-15-box-5"/>
          <p:cNvSpPr/>
          <p:nvPr/>
        </p:nvSpPr>
        <p:spPr>
          <a:xfrm>
            <a:off x="685800" y="1695297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5-box-6"/>
          <p:cNvSpPr/>
          <p:nvPr/>
        </p:nvSpPr>
        <p:spPr>
          <a:xfrm>
            <a:off x="685800" y="1962302"/>
            <a:ext cx="10820095" cy="9144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15-text-7"/>
          <p:cNvSpPr txBox="1"/>
          <p:nvPr/>
        </p:nvSpPr>
        <p:spPr>
          <a:xfrm>
            <a:off x="914400" y="2114092"/>
            <a:ext cx="874166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A8D85"/>
                </a:solidFill>
                <a:latin typeface="Noto Sans Mono CJK SC"/>
              </a:rPr>
              <a:t>SEVEN SKILLS</a:t>
            </a:r>
          </a:p>
        </p:txBody>
      </p:sp>
      <p:sp>
        <p:nvSpPr>
          <p:cNvPr id="9" name="h2p-15-box-8"/>
          <p:cNvSpPr/>
          <p:nvPr/>
        </p:nvSpPr>
        <p:spPr>
          <a:xfrm>
            <a:off x="914400" y="2400300"/>
            <a:ext cx="1295704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2p-15-text-9"/>
          <p:cNvSpPr txBox="1"/>
          <p:nvPr/>
        </p:nvSpPr>
        <p:spPr>
          <a:xfrm>
            <a:off x="1000353" y="2438704"/>
            <a:ext cx="1146657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A8D85"/>
                </a:solidFill>
                <a:latin typeface="Noto Sans Mono CJK SC"/>
              </a:rPr>
              <a:t>1 任务编译</a:t>
            </a:r>
          </a:p>
        </p:txBody>
      </p:sp>
      <p:sp>
        <p:nvSpPr>
          <p:cNvPr id="11" name="h2p-15-box-10"/>
          <p:cNvSpPr/>
          <p:nvPr/>
        </p:nvSpPr>
        <p:spPr>
          <a:xfrm>
            <a:off x="2286000" y="2400300"/>
            <a:ext cx="1295704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2p-15-text-11"/>
          <p:cNvSpPr txBox="1"/>
          <p:nvPr/>
        </p:nvSpPr>
        <p:spPr>
          <a:xfrm>
            <a:off x="2371953" y="2438704"/>
            <a:ext cx="1146657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A8D85"/>
                </a:solidFill>
                <a:latin typeface="Noto Sans Mono CJK SC"/>
              </a:rPr>
              <a:t>2 能力对齐</a:t>
            </a:r>
          </a:p>
        </p:txBody>
      </p:sp>
      <p:sp>
        <p:nvSpPr>
          <p:cNvPr id="13" name="h2p-15-box-12"/>
          <p:cNvSpPr/>
          <p:nvPr/>
        </p:nvSpPr>
        <p:spPr>
          <a:xfrm>
            <a:off x="3657600" y="2400300"/>
            <a:ext cx="1295704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15-text-13"/>
          <p:cNvSpPr txBox="1"/>
          <p:nvPr/>
        </p:nvSpPr>
        <p:spPr>
          <a:xfrm>
            <a:off x="3743553" y="2438704"/>
            <a:ext cx="1146657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A8D85"/>
                </a:solidFill>
                <a:latin typeface="Noto Sans Mono CJK SC"/>
              </a:rPr>
              <a:t>3 候选建图</a:t>
            </a:r>
          </a:p>
        </p:txBody>
      </p:sp>
      <p:sp>
        <p:nvSpPr>
          <p:cNvPr id="15" name="h2p-15-box-14"/>
          <p:cNvSpPr/>
          <p:nvPr/>
        </p:nvSpPr>
        <p:spPr>
          <a:xfrm>
            <a:off x="5029200" y="2400300"/>
            <a:ext cx="1295704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2p-15-text-15"/>
          <p:cNvSpPr txBox="1"/>
          <p:nvPr/>
        </p:nvSpPr>
        <p:spPr>
          <a:xfrm>
            <a:off x="5115153" y="2438704"/>
            <a:ext cx="1146657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A8D85"/>
                </a:solidFill>
                <a:latin typeface="Noto Sans Mono CJK SC"/>
              </a:rPr>
              <a:t>4 统一试验</a:t>
            </a:r>
          </a:p>
        </p:txBody>
      </p:sp>
      <p:sp>
        <p:nvSpPr>
          <p:cNvPr id="17" name="h2p-15-box-16"/>
          <p:cNvSpPr/>
          <p:nvPr/>
        </p:nvSpPr>
        <p:spPr>
          <a:xfrm>
            <a:off x="6400800" y="2400300"/>
            <a:ext cx="1295704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15-text-17"/>
          <p:cNvSpPr txBox="1"/>
          <p:nvPr/>
        </p:nvSpPr>
        <p:spPr>
          <a:xfrm>
            <a:off x="6486753" y="2438704"/>
            <a:ext cx="1146657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A8D85"/>
                </a:solidFill>
                <a:latin typeface="Noto Sans Mono CJK SC"/>
              </a:rPr>
              <a:t>5 独立审计</a:t>
            </a:r>
          </a:p>
        </p:txBody>
      </p:sp>
      <p:sp>
        <p:nvSpPr>
          <p:cNvPr id="19" name="h2p-15-box-18"/>
          <p:cNvSpPr/>
          <p:nvPr/>
        </p:nvSpPr>
        <p:spPr>
          <a:xfrm>
            <a:off x="7772400" y="2400300"/>
            <a:ext cx="1295704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15-text-19"/>
          <p:cNvSpPr txBox="1"/>
          <p:nvPr/>
        </p:nvSpPr>
        <p:spPr>
          <a:xfrm>
            <a:off x="7858353" y="2438704"/>
            <a:ext cx="1146657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D6A43B"/>
                </a:solidFill>
                <a:latin typeface="Noto Sans Mono CJK SC"/>
              </a:rPr>
              <a:t>6 人工门禁</a:t>
            </a:r>
          </a:p>
        </p:txBody>
      </p:sp>
      <p:sp>
        <p:nvSpPr>
          <p:cNvPr id="21" name="h2p-15-box-20"/>
          <p:cNvSpPr/>
          <p:nvPr/>
        </p:nvSpPr>
        <p:spPr>
          <a:xfrm>
            <a:off x="9144000" y="2400300"/>
            <a:ext cx="1904695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2p-15-text-21"/>
          <p:cNvSpPr txBox="1"/>
          <p:nvPr/>
        </p:nvSpPr>
        <p:spPr>
          <a:xfrm>
            <a:off x="9229953" y="2438704"/>
            <a:ext cx="1768449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A8D85"/>
                </a:solidFill>
                <a:latin typeface="Noto Sans Mono CJK SC"/>
              </a:rPr>
              <a:t>7 经验沉淀</a:t>
            </a:r>
          </a:p>
        </p:txBody>
      </p:sp>
      <p:sp>
        <p:nvSpPr>
          <p:cNvPr id="23" name="h2p-15-box-22"/>
          <p:cNvSpPr/>
          <p:nvPr/>
        </p:nvSpPr>
        <p:spPr>
          <a:xfrm>
            <a:off x="685800" y="3047695"/>
            <a:ext cx="2476195" cy="2190902"/>
          </a:xfrm>
          <a:prstGeom prst="roundRect">
            <a:avLst>
              <a:gd name="adj" fmla="val 7829"/>
            </a:avLst>
          </a:prstGeom>
          <a:solidFill>
            <a:srgbClr val="DFEAF2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2p-15-text-23"/>
          <p:cNvSpPr txBox="1"/>
          <p:nvPr/>
        </p:nvSpPr>
        <p:spPr>
          <a:xfrm>
            <a:off x="875995" y="3200400"/>
            <a:ext cx="291693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426B86"/>
                </a:solidFill>
                <a:latin typeface="Noto Sans Mono CJK SC"/>
              </a:rPr>
              <a:t>TOOL</a:t>
            </a:r>
          </a:p>
        </p:txBody>
      </p:sp>
      <p:sp>
        <p:nvSpPr>
          <p:cNvPr id="25" name="h2p-15-text-24"/>
          <p:cNvSpPr txBox="1"/>
          <p:nvPr/>
        </p:nvSpPr>
        <p:spPr>
          <a:xfrm>
            <a:off x="875995" y="3524097"/>
            <a:ext cx="2136952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102A43"/>
                </a:solidFill>
                <a:latin typeface="Noto Sans CJK SC"/>
              </a:rPr>
              <a:t>一个原子动作</a:t>
            </a:r>
          </a:p>
        </p:txBody>
      </p:sp>
      <p:sp>
        <p:nvSpPr>
          <p:cNvPr id="26" name="h2p-15-text-25"/>
          <p:cNvSpPr txBox="1"/>
          <p:nvPr/>
        </p:nvSpPr>
        <p:spPr>
          <a:xfrm>
            <a:off x="875995" y="3866997"/>
            <a:ext cx="2136952" cy="426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最小权限；明确输入输出；不承载跨步骤方法。</a:t>
            </a:r>
          </a:p>
        </p:txBody>
      </p:sp>
      <p:sp>
        <p:nvSpPr>
          <p:cNvPr id="27" name="h2p-15-text-26"/>
          <p:cNvSpPr txBox="1"/>
          <p:nvPr/>
        </p:nvSpPr>
        <p:spPr>
          <a:xfrm>
            <a:off x="875995" y="4914900"/>
            <a:ext cx="2136952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426B86"/>
                </a:solidFill>
                <a:latin typeface="Noto Sans Mono CJK SC"/>
              </a:rPr>
              <a:t>读 / 写 / 查询</a:t>
            </a:r>
          </a:p>
        </p:txBody>
      </p:sp>
      <p:sp>
        <p:nvSpPr>
          <p:cNvPr id="28" name="h2p-15-box-27"/>
          <p:cNvSpPr/>
          <p:nvPr/>
        </p:nvSpPr>
        <p:spPr>
          <a:xfrm>
            <a:off x="3314700" y="3047695"/>
            <a:ext cx="2476195" cy="2190902"/>
          </a:xfrm>
          <a:prstGeom prst="roundRect">
            <a:avLst>
              <a:gd name="adj" fmla="val 7829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2p-15-text-28"/>
          <p:cNvSpPr txBox="1"/>
          <p:nvPr/>
        </p:nvSpPr>
        <p:spPr>
          <a:xfrm>
            <a:off x="3504895" y="3200400"/>
            <a:ext cx="364845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A8D85"/>
                </a:solidFill>
                <a:latin typeface="Noto Sans Mono CJK SC"/>
              </a:rPr>
              <a:t>SKILL</a:t>
            </a:r>
          </a:p>
        </p:txBody>
      </p:sp>
      <p:sp>
        <p:nvSpPr>
          <p:cNvPr id="30" name="h2p-15-text-29"/>
          <p:cNvSpPr txBox="1"/>
          <p:nvPr/>
        </p:nvSpPr>
        <p:spPr>
          <a:xfrm>
            <a:off x="3504895" y="3524097"/>
            <a:ext cx="2136952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102A43"/>
                </a:solidFill>
                <a:latin typeface="Noto Sans CJK SC"/>
              </a:rPr>
              <a:t>版本化方法</a:t>
            </a:r>
          </a:p>
        </p:txBody>
      </p:sp>
      <p:sp>
        <p:nvSpPr>
          <p:cNvPr id="31" name="h2p-15-text-30"/>
          <p:cNvSpPr txBox="1"/>
          <p:nvPr/>
        </p:nvSpPr>
        <p:spPr>
          <a:xfrm>
            <a:off x="3504895" y="3866997"/>
            <a:ext cx="2136952" cy="426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组织 Tool 与判断步骤；含失败处理、安全边界和回归案例。</a:t>
            </a:r>
          </a:p>
        </p:txBody>
      </p:sp>
      <p:sp>
        <p:nvSpPr>
          <p:cNvPr id="32" name="h2p-15-text-31"/>
          <p:cNvSpPr txBox="1"/>
          <p:nvPr/>
        </p:nvSpPr>
        <p:spPr>
          <a:xfrm>
            <a:off x="3504895" y="4914900"/>
            <a:ext cx="1020470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A8D85"/>
                </a:solidFill>
                <a:latin typeface="Noto Sans Mono CJK SC"/>
              </a:rPr>
              <a:t>验证前不得晋升</a:t>
            </a:r>
          </a:p>
        </p:txBody>
      </p:sp>
      <p:sp>
        <p:nvSpPr>
          <p:cNvPr id="33" name="h2p-15-box-32"/>
          <p:cNvSpPr/>
          <p:nvPr/>
        </p:nvSpPr>
        <p:spPr>
          <a:xfrm>
            <a:off x="5943600" y="3047695"/>
            <a:ext cx="2476195" cy="2190902"/>
          </a:xfrm>
          <a:prstGeom prst="roundRect">
            <a:avLst>
              <a:gd name="adj" fmla="val 7829"/>
            </a:avLst>
          </a:prstGeom>
          <a:solidFill>
            <a:srgbClr val="DFEAF2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2p-15-text-33"/>
          <p:cNvSpPr txBox="1"/>
          <p:nvPr/>
        </p:nvSpPr>
        <p:spPr>
          <a:xfrm>
            <a:off x="6133795" y="3200400"/>
            <a:ext cx="728776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426B86"/>
                </a:solidFill>
                <a:latin typeface="Noto Sans Mono CJK SC"/>
              </a:rPr>
              <a:t>MCP / HTTP</a:t>
            </a:r>
          </a:p>
        </p:txBody>
      </p:sp>
      <p:sp>
        <p:nvSpPr>
          <p:cNvPr id="35" name="h2p-15-text-34"/>
          <p:cNvSpPr txBox="1"/>
          <p:nvPr/>
        </p:nvSpPr>
        <p:spPr>
          <a:xfrm>
            <a:off x="6133795" y="3524097"/>
            <a:ext cx="2136952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102A43"/>
                </a:solidFill>
                <a:latin typeface="Noto Sans CJK SC"/>
              </a:rPr>
              <a:t>外部系统契约</a:t>
            </a:r>
          </a:p>
        </p:txBody>
      </p:sp>
      <p:sp>
        <p:nvSpPr>
          <p:cNvPr id="36" name="h2p-15-text-35"/>
          <p:cNvSpPr txBox="1"/>
          <p:nvPr/>
        </p:nvSpPr>
        <p:spPr>
          <a:xfrm>
            <a:off x="6133795" y="3866997"/>
            <a:ext cx="2136952" cy="426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Schema、鉴权、幂等、错误码和审计字段齐备才接入。</a:t>
            </a:r>
          </a:p>
        </p:txBody>
      </p:sp>
      <p:sp>
        <p:nvSpPr>
          <p:cNvPr id="37" name="h2p-15-text-36"/>
          <p:cNvSpPr txBox="1"/>
          <p:nvPr/>
        </p:nvSpPr>
        <p:spPr>
          <a:xfrm>
            <a:off x="6133795" y="4914900"/>
            <a:ext cx="1020470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426B86"/>
                </a:solidFill>
                <a:latin typeface="Noto Sans Mono CJK SC"/>
              </a:rPr>
              <a:t>真实绑定未实现</a:t>
            </a:r>
          </a:p>
        </p:txBody>
      </p:sp>
      <p:sp>
        <p:nvSpPr>
          <p:cNvPr id="38" name="h2p-15-box-37"/>
          <p:cNvSpPr/>
          <p:nvPr/>
        </p:nvSpPr>
        <p:spPr>
          <a:xfrm>
            <a:off x="8572500" y="3047695"/>
            <a:ext cx="2933395" cy="2190902"/>
          </a:xfrm>
          <a:prstGeom prst="roundRect">
            <a:avLst>
              <a:gd name="adj" fmla="val 7829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h2p-15-text-38"/>
          <p:cNvSpPr txBox="1"/>
          <p:nvPr/>
        </p:nvSpPr>
        <p:spPr>
          <a:xfrm>
            <a:off x="8762695" y="3200400"/>
            <a:ext cx="437083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D6A43B"/>
                </a:solidFill>
                <a:latin typeface="Noto Sans Mono CJK SC"/>
              </a:rPr>
              <a:t>MEMORY</a:t>
            </a:r>
          </a:p>
        </p:txBody>
      </p:sp>
      <p:sp>
        <p:nvSpPr>
          <p:cNvPr id="40" name="h2p-15-text-39"/>
          <p:cNvSpPr txBox="1"/>
          <p:nvPr/>
        </p:nvSpPr>
        <p:spPr>
          <a:xfrm>
            <a:off x="8762695" y="3524097"/>
            <a:ext cx="2604211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102A43"/>
                </a:solidFill>
                <a:latin typeface="Noto Sans CJK SC"/>
              </a:rPr>
              <a:t>已验证经验资产</a:t>
            </a:r>
          </a:p>
        </p:txBody>
      </p:sp>
      <p:sp>
        <p:nvSpPr>
          <p:cNvPr id="41" name="h2p-15-text-40"/>
          <p:cNvSpPr txBox="1"/>
          <p:nvPr/>
        </p:nvSpPr>
        <p:spPr>
          <a:xfrm>
            <a:off x="8762695" y="3866997"/>
            <a:ext cx="2604211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保存适用边界、失败模式、Skill 版本和证据引用；原始猜测不进入 Memory。</a:t>
            </a:r>
          </a:p>
        </p:txBody>
      </p:sp>
      <p:sp>
        <p:nvSpPr>
          <p:cNvPr id="42" name="h2p-15-text-41"/>
          <p:cNvSpPr txBox="1"/>
          <p:nvPr/>
        </p:nvSpPr>
        <p:spPr>
          <a:xfrm>
            <a:off x="8762695" y="4914900"/>
            <a:ext cx="1092708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A5781C"/>
                </a:solidFill>
                <a:latin typeface="Noto Sans Mono CJK SC"/>
              </a:rPr>
              <a:t>Dossier + Trace</a:t>
            </a:r>
          </a:p>
        </p:txBody>
      </p:sp>
      <p:sp>
        <p:nvSpPr>
          <p:cNvPr id="43" name="h2p-15-box-42"/>
          <p:cNvSpPr/>
          <p:nvPr/>
        </p:nvSpPr>
        <p:spPr>
          <a:xfrm>
            <a:off x="685800" y="5410504"/>
            <a:ext cx="10820095" cy="705002"/>
          </a:xfrm>
          <a:prstGeom prst="roundRect">
            <a:avLst>
              <a:gd name="adj" fmla="val 2432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h2p-15-text-43"/>
          <p:cNvSpPr txBox="1"/>
          <p:nvPr/>
        </p:nvSpPr>
        <p:spPr>
          <a:xfrm>
            <a:off x="914400" y="5524804"/>
            <a:ext cx="728776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A8D85"/>
                </a:solidFill>
                <a:latin typeface="Noto Sans Mono CJK SC"/>
              </a:rPr>
              <a:t>资产晋升门</a:t>
            </a:r>
          </a:p>
        </p:txBody>
      </p:sp>
      <p:sp>
        <p:nvSpPr>
          <p:cNvPr id="45" name="h2p-15-text-44"/>
          <p:cNvSpPr txBox="1"/>
          <p:nvPr/>
        </p:nvSpPr>
        <p:spPr>
          <a:xfrm>
            <a:off x="2133295" y="5505602"/>
            <a:ext cx="9326880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102A43"/>
                </a:solidFill>
                <a:latin typeface="Noto Sans CJK SC"/>
              </a:rPr>
              <a:t>失败模式 → 候选 Skill 版本 → 新案例独立验证 → Human / Governance 审批 → 已验证 Skill + Memory + 证据引用</a:t>
            </a:r>
          </a:p>
        </p:txBody>
      </p:sp>
      <p:sp>
        <p:nvSpPr>
          <p:cNvPr id="46" name="h2p-15-text-45"/>
          <p:cNvSpPr txBox="1"/>
          <p:nvPr/>
        </p:nvSpPr>
        <p:spPr>
          <a:xfrm>
            <a:off x="577900" y="6210604"/>
            <a:ext cx="11036808" cy="180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设计契约，非运行证据 · Project Dossier 保存共享状态，Step / Episode 级 Trace 保存轨迹</a:t>
            </a:r>
          </a:p>
        </p:txBody>
      </p:sp>
      <p:sp>
        <p:nvSpPr>
          <p:cNvPr id="47" name="h2p-15-text-46"/>
          <p:cNvSpPr txBox="1"/>
          <p:nvPr/>
        </p:nvSpPr>
        <p:spPr>
          <a:xfrm>
            <a:off x="685800" y="6543446"/>
            <a:ext cx="170992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Skill / MCP / 上下文</a:t>
            </a:r>
          </a:p>
        </p:txBody>
      </p:sp>
      <p:sp>
        <p:nvSpPr>
          <p:cNvPr id="48" name="h2p-15-text-47"/>
          <p:cNvSpPr txBox="1"/>
          <p:nvPr/>
        </p:nvSpPr>
        <p:spPr>
          <a:xfrm>
            <a:off x="10815523" y="6543446"/>
            <a:ext cx="747979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技术附录 · A3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6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6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A4 / 05 · HUMAN / RISK / ROLLBACK</a:t>
            </a:r>
          </a:p>
        </p:txBody>
      </p:sp>
      <p:sp>
        <p:nvSpPr>
          <p:cNvPr id="4" name="h2p-16-text-3"/>
          <p:cNvSpPr txBox="1"/>
          <p:nvPr/>
        </p:nvSpPr>
        <p:spPr>
          <a:xfrm>
            <a:off x="685800" y="666597"/>
            <a:ext cx="11036808" cy="3767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700">
                <a:solidFill>
                  <a:srgbClr val="102A43"/>
                </a:solidFill>
                <a:latin typeface="Noto Sans CJK SC"/>
              </a:rPr>
              <a:t>Human 门禁、风险、异常与回滚。</a:t>
            </a:r>
          </a:p>
        </p:txBody>
      </p:sp>
      <p:sp>
        <p:nvSpPr>
          <p:cNvPr id="5" name="h2p-16-text-4"/>
          <p:cNvSpPr txBox="1"/>
          <p:nvPr/>
        </p:nvSpPr>
        <p:spPr>
          <a:xfrm>
            <a:off x="705002" y="1257300"/>
            <a:ext cx="1049274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53697C"/>
                </a:solidFill>
                <a:latin typeface="Noto Sans CJK SC"/>
              </a:rPr>
              <a:t>Human 是闭环中的正式能力：高风险动作先停在门外，异常沿同一 Trace 进入降级、回滚或拒绝。</a:t>
            </a:r>
          </a:p>
        </p:txBody>
      </p:sp>
      <p:sp>
        <p:nvSpPr>
          <p:cNvPr id="6" name="h2p-16-box-5"/>
          <p:cNvSpPr/>
          <p:nvPr/>
        </p:nvSpPr>
        <p:spPr>
          <a:xfrm>
            <a:off x="685800" y="1695297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6-text-6"/>
          <p:cNvSpPr txBox="1"/>
          <p:nvPr/>
        </p:nvSpPr>
        <p:spPr>
          <a:xfrm>
            <a:off x="685800" y="1943100"/>
            <a:ext cx="2331720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D6A43B"/>
                </a:solidFill>
                <a:latin typeface="Noto Sans Mono CJK SC"/>
              </a:rPr>
              <a:t>HUMAN GATE · 一条可审计控制路径</a:t>
            </a:r>
          </a:p>
        </p:txBody>
      </p:sp>
      <p:sp>
        <p:nvSpPr>
          <p:cNvPr id="8" name="h2p-16-box-7"/>
          <p:cNvSpPr/>
          <p:nvPr/>
        </p:nvSpPr>
        <p:spPr>
          <a:xfrm>
            <a:off x="1676095" y="2571292"/>
            <a:ext cx="8839504" cy="19202"/>
          </a:xfrm>
          <a:prstGeom prst="rect">
            <a:avLst/>
          </a:prstGeom>
          <a:solidFill>
            <a:srgbClr val="D6A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2p-16-box-8"/>
          <p:cNvSpPr/>
          <p:nvPr/>
        </p:nvSpPr>
        <p:spPr>
          <a:xfrm>
            <a:off x="685800" y="2190902"/>
            <a:ext cx="1981504" cy="1067104"/>
          </a:xfrm>
          <a:prstGeom prst="roundRect">
            <a:avLst>
              <a:gd name="adj" fmla="val 16070"/>
            </a:avLst>
          </a:prstGeom>
          <a:solidFill>
            <a:srgbClr val="DFEAF2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2p-16-text-9"/>
          <p:cNvSpPr txBox="1"/>
          <p:nvPr/>
        </p:nvSpPr>
        <p:spPr>
          <a:xfrm>
            <a:off x="875995" y="2381097"/>
            <a:ext cx="1632204" cy="2020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02A43"/>
                </a:solidFill>
                <a:latin typeface="Noto Sans CJK SC"/>
              </a:rPr>
              <a:t>动作请求</a:t>
            </a:r>
          </a:p>
        </p:txBody>
      </p:sp>
      <p:sp>
        <p:nvSpPr>
          <p:cNvPr id="11" name="h2p-16-text-10"/>
          <p:cNvSpPr txBox="1"/>
          <p:nvPr/>
        </p:nvSpPr>
        <p:spPr>
          <a:xfrm>
            <a:off x="875995" y="2704795"/>
            <a:ext cx="1632204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范围、权限、预算</a:t>
            </a:r>
          </a:p>
        </p:txBody>
      </p:sp>
      <p:sp>
        <p:nvSpPr>
          <p:cNvPr id="12" name="h2p-16-box-11"/>
          <p:cNvSpPr/>
          <p:nvPr/>
        </p:nvSpPr>
        <p:spPr>
          <a:xfrm>
            <a:off x="2857500" y="2190902"/>
            <a:ext cx="1981504" cy="1067104"/>
          </a:xfrm>
          <a:prstGeom prst="roundRect">
            <a:avLst>
              <a:gd name="adj" fmla="val 1607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16-text-12"/>
          <p:cNvSpPr txBox="1"/>
          <p:nvPr/>
        </p:nvSpPr>
        <p:spPr>
          <a:xfrm>
            <a:off x="3047695" y="2381097"/>
            <a:ext cx="1632204" cy="2020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02A43"/>
                </a:solidFill>
                <a:latin typeface="Noto Sans CJK SC"/>
              </a:rPr>
              <a:t>风险分类</a:t>
            </a:r>
          </a:p>
        </p:txBody>
      </p:sp>
      <p:sp>
        <p:nvSpPr>
          <p:cNvPr id="14" name="h2p-16-text-13"/>
          <p:cNvSpPr txBox="1"/>
          <p:nvPr/>
        </p:nvSpPr>
        <p:spPr>
          <a:xfrm>
            <a:off x="3047695" y="2704795"/>
            <a:ext cx="1632204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可逆性与责任边界</a:t>
            </a:r>
          </a:p>
        </p:txBody>
      </p:sp>
      <p:sp>
        <p:nvSpPr>
          <p:cNvPr id="15" name="h2p-16-box-14"/>
          <p:cNvSpPr/>
          <p:nvPr/>
        </p:nvSpPr>
        <p:spPr>
          <a:xfrm>
            <a:off x="5029200" y="2190902"/>
            <a:ext cx="1981504" cy="1067104"/>
          </a:xfrm>
          <a:prstGeom prst="roundRect">
            <a:avLst>
              <a:gd name="adj" fmla="val 16070"/>
            </a:avLst>
          </a:prstGeom>
          <a:solidFill>
            <a:srgbClr val="F3E5B8"/>
          </a:solidFill>
          <a:ln w="2794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2p-16-text-15"/>
          <p:cNvSpPr txBox="1"/>
          <p:nvPr/>
        </p:nvSpPr>
        <p:spPr>
          <a:xfrm>
            <a:off x="5219395" y="2381097"/>
            <a:ext cx="1632204" cy="2020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02A43"/>
                </a:solidFill>
                <a:latin typeface="Noto Sans CJK SC"/>
              </a:rPr>
              <a:t>Human 审批</a:t>
            </a:r>
          </a:p>
        </p:txBody>
      </p:sp>
      <p:sp>
        <p:nvSpPr>
          <p:cNvPr id="17" name="h2p-16-text-16"/>
          <p:cNvSpPr txBox="1"/>
          <p:nvPr/>
        </p:nvSpPr>
        <p:spPr>
          <a:xfrm>
            <a:off x="5219395" y="2704795"/>
            <a:ext cx="1632204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批准 / 拒绝 / 超时</a:t>
            </a:r>
          </a:p>
        </p:txBody>
      </p:sp>
      <p:sp>
        <p:nvSpPr>
          <p:cNvPr id="18" name="h2p-16-box-17"/>
          <p:cNvSpPr/>
          <p:nvPr/>
        </p:nvSpPr>
        <p:spPr>
          <a:xfrm>
            <a:off x="7200900" y="2190902"/>
            <a:ext cx="1981504" cy="1067104"/>
          </a:xfrm>
          <a:prstGeom prst="roundRect">
            <a:avLst>
              <a:gd name="adj" fmla="val 1607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2p-16-text-18"/>
          <p:cNvSpPr txBox="1"/>
          <p:nvPr/>
        </p:nvSpPr>
        <p:spPr>
          <a:xfrm>
            <a:off x="7391095" y="2381097"/>
            <a:ext cx="1632204" cy="2020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02A43"/>
                </a:solidFill>
                <a:latin typeface="Noto Sans CJK SC"/>
              </a:rPr>
              <a:t>受控执行</a:t>
            </a:r>
          </a:p>
        </p:txBody>
      </p:sp>
      <p:sp>
        <p:nvSpPr>
          <p:cNvPr id="20" name="h2p-16-text-19"/>
          <p:cNvSpPr txBox="1"/>
          <p:nvPr/>
        </p:nvSpPr>
        <p:spPr>
          <a:xfrm>
            <a:off x="7391095" y="2704795"/>
            <a:ext cx="1632204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最小范围 + Trace</a:t>
            </a:r>
          </a:p>
        </p:txBody>
      </p:sp>
      <p:sp>
        <p:nvSpPr>
          <p:cNvPr id="21" name="h2p-16-box-20"/>
          <p:cNvSpPr/>
          <p:nvPr/>
        </p:nvSpPr>
        <p:spPr>
          <a:xfrm>
            <a:off x="9372600" y="2190902"/>
            <a:ext cx="2133295" cy="1067104"/>
          </a:xfrm>
          <a:prstGeom prst="roundRect">
            <a:avLst>
              <a:gd name="adj" fmla="val 16070"/>
            </a:avLst>
          </a:prstGeom>
          <a:solidFill>
            <a:srgbClr val="F8DDD4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2p-16-text-21"/>
          <p:cNvSpPr txBox="1"/>
          <p:nvPr/>
        </p:nvSpPr>
        <p:spPr>
          <a:xfrm>
            <a:off x="9562795" y="2381097"/>
            <a:ext cx="1787652" cy="2020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02A43"/>
                </a:solidFill>
                <a:latin typeface="Noto Sans CJK SC"/>
              </a:rPr>
              <a:t>验证 / 回滚</a:t>
            </a:r>
          </a:p>
        </p:txBody>
      </p:sp>
      <p:sp>
        <p:nvSpPr>
          <p:cNvPr id="23" name="h2p-16-text-22"/>
          <p:cNvSpPr txBox="1"/>
          <p:nvPr/>
        </p:nvSpPr>
        <p:spPr>
          <a:xfrm>
            <a:off x="9562795" y="2704795"/>
            <a:ext cx="1787652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失败即停并保留证据</a:t>
            </a:r>
          </a:p>
        </p:txBody>
      </p:sp>
      <p:sp>
        <p:nvSpPr>
          <p:cNvPr id="24" name="h2p-16-box-23"/>
          <p:cNvSpPr/>
          <p:nvPr/>
        </p:nvSpPr>
        <p:spPr>
          <a:xfrm>
            <a:off x="685800" y="3448202"/>
            <a:ext cx="10820095" cy="666597"/>
          </a:xfrm>
          <a:prstGeom prst="roundRect">
            <a:avLst>
              <a:gd name="adj" fmla="val 2571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2p-16-text-24"/>
          <p:cNvSpPr txBox="1"/>
          <p:nvPr/>
        </p:nvSpPr>
        <p:spPr>
          <a:xfrm>
            <a:off x="914400" y="3562502"/>
            <a:ext cx="10589666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00">
                <a:solidFill>
                  <a:srgbClr val="53697C"/>
                </a:solidFill>
                <a:latin typeface="Noto Sans CJK SC"/>
              </a:rPr>
              <a:t>必须人工批准：</a:t>
            </a:r>
            <a:r>
              <a:rPr sz="1200">
                <a:solidFill>
                  <a:srgbClr val="53697C"/>
                </a:solidFill>
                <a:latin typeface="Noto Sans CJK SC"/>
              </a:rPr>
              <a:t>外部系统写入 · 真实发布部署 · 责任转移 · 密钥/敏感数据访问 · 预算提升 · 交付决议</a:t>
            </a:r>
          </a:p>
        </p:txBody>
      </p:sp>
      <p:sp>
        <p:nvSpPr>
          <p:cNvPr id="26" name="h2p-16-text-25"/>
          <p:cNvSpPr txBox="1"/>
          <p:nvPr/>
        </p:nvSpPr>
        <p:spPr>
          <a:xfrm>
            <a:off x="914400" y="3829507"/>
            <a:ext cx="10589666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00">
                <a:solidFill>
                  <a:srgbClr val="F26B4B"/>
                </a:solidFill>
                <a:latin typeface="Noto Sans CJK SC"/>
              </a:rPr>
              <a:t>无批准 = 拒绝执行或安全降级 + 保留证据；不可逆操作默认拒绝</a:t>
            </a:r>
          </a:p>
        </p:txBody>
      </p:sp>
      <p:sp>
        <p:nvSpPr>
          <p:cNvPr id="27" name="h2p-16-box-26"/>
          <p:cNvSpPr/>
          <p:nvPr/>
        </p:nvSpPr>
        <p:spPr>
          <a:xfrm>
            <a:off x="685800" y="4304995"/>
            <a:ext cx="7086600" cy="1714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6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2p-16-text-27"/>
          <p:cNvSpPr txBox="1"/>
          <p:nvPr/>
        </p:nvSpPr>
        <p:spPr>
          <a:xfrm>
            <a:off x="914400" y="4457700"/>
            <a:ext cx="6761988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53697C"/>
                </a:solidFill>
                <a:latin typeface="Noto Sans Mono CJK SC"/>
              </a:rPr>
              <a:t>异常与恢复 · 同一 Trace 语义</a:t>
            </a:r>
          </a:p>
        </p:txBody>
      </p:sp>
      <p:sp>
        <p:nvSpPr>
          <p:cNvPr id="29" name="h2p-16-text-28"/>
          <p:cNvSpPr txBox="1"/>
          <p:nvPr/>
        </p:nvSpPr>
        <p:spPr>
          <a:xfrm>
            <a:off x="914400" y="4762195"/>
            <a:ext cx="6761988" cy="4416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六类异常进入同一 Trace 语义：Agent 不可用 · Schema 非法 · 预算耗尽</a:t>
            </a:r>
          </a:p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通信异常 · holdout 泄漏 · 循环失控。</a:t>
            </a:r>
          </a:p>
        </p:txBody>
      </p:sp>
      <p:sp>
        <p:nvSpPr>
          <p:cNvPr id="30" name="h2p-16-text-29"/>
          <p:cNvSpPr txBox="1"/>
          <p:nvPr/>
        </p:nvSpPr>
        <p:spPr>
          <a:xfrm>
            <a:off x="914400" y="5372100"/>
            <a:ext cx="6761988" cy="4416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对应恢复：阶段暂停 · 拒绝推进 · 硬停止</a:t>
            </a:r>
          </a:p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幂等重发 · 本轮无效 · 达上限停止。</a:t>
            </a:r>
          </a:p>
        </p:txBody>
      </p:sp>
      <p:sp>
        <p:nvSpPr>
          <p:cNvPr id="31" name="h2p-16-box-30"/>
          <p:cNvSpPr/>
          <p:nvPr/>
        </p:nvSpPr>
        <p:spPr>
          <a:xfrm>
            <a:off x="7925104" y="4304995"/>
            <a:ext cx="3581704" cy="171450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9050">
            <a:solidFill>
              <a:srgbClr val="536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2p-16-text-31"/>
          <p:cNvSpPr txBox="1"/>
          <p:nvPr/>
        </p:nvSpPr>
        <p:spPr>
          <a:xfrm>
            <a:off x="8153704" y="4457700"/>
            <a:ext cx="3186684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53697C"/>
                </a:solidFill>
                <a:latin typeface="Noto Sans Mono CJK SC"/>
              </a:rPr>
              <a:t>允许的动作档位</a:t>
            </a:r>
          </a:p>
        </p:txBody>
      </p:sp>
      <p:sp>
        <p:nvSpPr>
          <p:cNvPr id="33" name="h2p-16-box-32"/>
          <p:cNvSpPr/>
          <p:nvPr/>
        </p:nvSpPr>
        <p:spPr>
          <a:xfrm>
            <a:off x="8153704" y="4800600"/>
            <a:ext cx="1485900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2p-16-text-33"/>
          <p:cNvSpPr txBox="1"/>
          <p:nvPr/>
        </p:nvSpPr>
        <p:spPr>
          <a:xfrm>
            <a:off x="8238744" y="4839004"/>
            <a:ext cx="1340510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A8D85"/>
                </a:solidFill>
                <a:latin typeface="Noto Sans Mono CJK SC"/>
              </a:rPr>
              <a:t>只读诊断</a:t>
            </a:r>
          </a:p>
        </p:txBody>
      </p:sp>
      <p:sp>
        <p:nvSpPr>
          <p:cNvPr id="35" name="h2p-16-box-34"/>
          <p:cNvSpPr/>
          <p:nvPr/>
        </p:nvSpPr>
        <p:spPr>
          <a:xfrm>
            <a:off x="9791395" y="4800600"/>
            <a:ext cx="1485900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h2p-16-text-35"/>
          <p:cNvSpPr txBox="1"/>
          <p:nvPr/>
        </p:nvSpPr>
        <p:spPr>
          <a:xfrm>
            <a:off x="9877348" y="4839004"/>
            <a:ext cx="1340510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A8D85"/>
                </a:solidFill>
                <a:latin typeface="Noto Sans Mono CJK SC"/>
              </a:rPr>
              <a:t>低风险执行</a:t>
            </a:r>
          </a:p>
        </p:txBody>
      </p:sp>
      <p:sp>
        <p:nvSpPr>
          <p:cNvPr id="37" name="h2p-16-box-36"/>
          <p:cNvSpPr/>
          <p:nvPr/>
        </p:nvSpPr>
        <p:spPr>
          <a:xfrm>
            <a:off x="8153704" y="5257800"/>
            <a:ext cx="1485900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h2p-16-text-37"/>
          <p:cNvSpPr txBox="1"/>
          <p:nvPr/>
        </p:nvSpPr>
        <p:spPr>
          <a:xfrm>
            <a:off x="8238744" y="5296204"/>
            <a:ext cx="1340510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D6A43B"/>
                </a:solidFill>
                <a:latin typeface="Noto Sans Mono CJK SC"/>
              </a:rPr>
              <a:t>灰度 + 审批</a:t>
            </a:r>
          </a:p>
        </p:txBody>
      </p:sp>
      <p:sp>
        <p:nvSpPr>
          <p:cNvPr id="39" name="h2p-16-box-38"/>
          <p:cNvSpPr/>
          <p:nvPr/>
        </p:nvSpPr>
        <p:spPr>
          <a:xfrm>
            <a:off x="9791395" y="5257800"/>
            <a:ext cx="1485900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h2p-16-text-39"/>
          <p:cNvSpPr txBox="1"/>
          <p:nvPr/>
        </p:nvSpPr>
        <p:spPr>
          <a:xfrm>
            <a:off x="9877348" y="5296204"/>
            <a:ext cx="1340510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F26B4B"/>
                </a:solidFill>
                <a:latin typeface="Noto Sans Mono CJK SC"/>
              </a:rPr>
              <a:t>只生成方案</a:t>
            </a:r>
          </a:p>
        </p:txBody>
      </p:sp>
      <p:sp>
        <p:nvSpPr>
          <p:cNvPr id="41" name="h2p-16-text-40"/>
          <p:cNvSpPr txBox="1"/>
          <p:nvPr/>
        </p:nvSpPr>
        <p:spPr>
          <a:xfrm>
            <a:off x="577900" y="6210604"/>
            <a:ext cx="11036808" cy="180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53697C"/>
                </a:solidFill>
                <a:latin typeface="Noto Sans CJK SC"/>
              </a:rPr>
              <a:t>设计契约，非运行证据 · 成功与失败同等留证 · 完整清单见 risk-and-human-gates.md</a:t>
            </a:r>
          </a:p>
        </p:txBody>
      </p:sp>
      <p:sp>
        <p:nvSpPr>
          <p:cNvPr id="42" name="h2p-16-text-41"/>
          <p:cNvSpPr txBox="1"/>
          <p:nvPr/>
        </p:nvSpPr>
        <p:spPr>
          <a:xfrm>
            <a:off x="685800" y="6543446"/>
            <a:ext cx="1068933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安全设计</a:t>
            </a:r>
          </a:p>
        </p:txBody>
      </p:sp>
      <p:sp>
        <p:nvSpPr>
          <p:cNvPr id="43" name="h2p-16-text-42"/>
          <p:cNvSpPr txBox="1"/>
          <p:nvPr/>
        </p:nvSpPr>
        <p:spPr>
          <a:xfrm>
            <a:off x="10815523" y="6543446"/>
            <a:ext cx="747979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技术附录 · A4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7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7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A5 / 05 · 开放 / 依赖 / 当前边界</a:t>
            </a:r>
          </a:p>
        </p:txBody>
      </p:sp>
      <p:sp>
        <p:nvSpPr>
          <p:cNvPr id="4" name="h2p-17-text-3"/>
          <p:cNvSpPr txBox="1"/>
          <p:nvPr/>
        </p:nvSpPr>
        <p:spPr>
          <a:xfrm>
            <a:off x="685800" y="666597"/>
            <a:ext cx="11036808" cy="314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250">
                <a:solidFill>
                  <a:srgbClr val="102A43"/>
                </a:solidFill>
                <a:latin typeface="Noto Sans CJK SC"/>
              </a:rPr>
              <a:t>开放、依赖、许可证、baseline 引用与未实现边界。</a:t>
            </a:r>
          </a:p>
        </p:txBody>
      </p:sp>
      <p:sp>
        <p:nvSpPr>
          <p:cNvPr id="5" name="h2p-17-text-4"/>
          <p:cNvSpPr txBox="1"/>
          <p:nvPr/>
        </p:nvSpPr>
        <p:spPr>
          <a:xfrm>
            <a:off x="705002" y="1257300"/>
            <a:ext cx="1049274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53697C"/>
                </a:solidFill>
                <a:latin typeface="Noto Sans CJK SC"/>
              </a:rPr>
              <a:t>仓库当前为私有，项目许可证尚未选择；任何“已开源”声明都不成立。</a:t>
            </a:r>
          </a:p>
        </p:txBody>
      </p:sp>
      <p:sp>
        <p:nvSpPr>
          <p:cNvPr id="6" name="h2p-17-box-5"/>
          <p:cNvSpPr/>
          <p:nvPr/>
        </p:nvSpPr>
        <p:spPr>
          <a:xfrm>
            <a:off x="685800" y="1695297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7-box-6"/>
          <p:cNvSpPr/>
          <p:nvPr/>
        </p:nvSpPr>
        <p:spPr>
          <a:xfrm>
            <a:off x="685800" y="1962302"/>
            <a:ext cx="3504895" cy="3143707"/>
          </a:xfrm>
          <a:prstGeom prst="roundRect">
            <a:avLst>
              <a:gd name="adj" fmla="val 545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17-text-7"/>
          <p:cNvSpPr txBox="1"/>
          <p:nvPr/>
        </p:nvSpPr>
        <p:spPr>
          <a:xfrm>
            <a:off x="914400" y="2114092"/>
            <a:ext cx="1224381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计划开放 · 未发布</a:t>
            </a:r>
          </a:p>
        </p:txBody>
      </p:sp>
      <p:sp>
        <p:nvSpPr>
          <p:cNvPr id="9" name="h2p-17-text-8"/>
          <p:cNvSpPr txBox="1"/>
          <p:nvPr/>
        </p:nvSpPr>
        <p:spPr>
          <a:xfrm>
            <a:off x="914400" y="2438704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任务 / 能力 / 候选 / Trace Schema</a:t>
            </a:r>
          </a:p>
        </p:txBody>
      </p:sp>
      <p:sp>
        <p:nvSpPr>
          <p:cNvPr id="10" name="h2p-17-text-9"/>
          <p:cNvSpPr txBox="1"/>
          <p:nvPr/>
        </p:nvSpPr>
        <p:spPr>
          <a:xfrm>
            <a:off x="914400" y="2819095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五个 Agent Identity 与七个 Skill 契约</a:t>
            </a:r>
          </a:p>
        </p:txBody>
      </p:sp>
      <p:sp>
        <p:nvSpPr>
          <p:cNvPr id="11" name="h2p-17-text-10"/>
          <p:cNvSpPr txBox="1"/>
          <p:nvPr/>
        </p:nvSpPr>
        <p:spPr>
          <a:xfrm>
            <a:off x="914400" y="3200400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评测与 Human 门禁模板</a:t>
            </a:r>
          </a:p>
        </p:txBody>
      </p:sp>
      <p:sp>
        <p:nvSpPr>
          <p:cNvPr id="12" name="h2p-17-text-11"/>
          <p:cNvSpPr txBox="1"/>
          <p:nvPr/>
        </p:nvSpPr>
        <p:spPr>
          <a:xfrm>
            <a:off x="914400" y="3581704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脱敏样例与生成链</a:t>
            </a:r>
          </a:p>
        </p:txBody>
      </p:sp>
      <p:sp>
        <p:nvSpPr>
          <p:cNvPr id="13" name="h2p-17-text-12"/>
          <p:cNvSpPr txBox="1"/>
          <p:nvPr/>
        </p:nvSpPr>
        <p:spPr>
          <a:xfrm>
            <a:off x="914400" y="4267504"/>
            <a:ext cx="3148279" cy="3118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CJK SC"/>
              </a:rPr>
              <a:t>开放前门禁：选 License · 清点第三方许可 · 完成脱敏与复现</a:t>
            </a:r>
          </a:p>
        </p:txBody>
      </p:sp>
      <p:sp>
        <p:nvSpPr>
          <p:cNvPr id="14" name="h2p-17-box-13"/>
          <p:cNvSpPr/>
          <p:nvPr/>
        </p:nvSpPr>
        <p:spPr>
          <a:xfrm>
            <a:off x="4343400" y="1962302"/>
            <a:ext cx="3504895" cy="3143707"/>
          </a:xfrm>
          <a:prstGeom prst="roundRect">
            <a:avLst>
              <a:gd name="adj" fmla="val 545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2p-17-text-14"/>
          <p:cNvSpPr txBox="1"/>
          <p:nvPr/>
        </p:nvSpPr>
        <p:spPr>
          <a:xfrm>
            <a:off x="4572000" y="2114092"/>
            <a:ext cx="1768449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D6A43B"/>
                </a:solidFill>
                <a:latin typeface="Noto Sans Mono CJK SC"/>
              </a:rPr>
              <a:t>依赖与既有基础 · 必须披露</a:t>
            </a:r>
          </a:p>
        </p:txBody>
      </p:sp>
      <p:sp>
        <p:nvSpPr>
          <p:cNvPr id="16" name="h2p-17-text-15"/>
          <p:cNvSpPr txBox="1"/>
          <p:nvPr/>
        </p:nvSpPr>
        <p:spPr>
          <a:xfrm>
            <a:off x="4572000" y="2438704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AgentTeams：运行底座（官方 baseline 亦基于它）</a:t>
            </a:r>
          </a:p>
        </p:txBody>
      </p:sp>
      <p:sp>
        <p:nvSpPr>
          <p:cNvPr id="17" name="h2p-17-text-16"/>
          <p:cNvSpPr txBox="1"/>
          <p:nvPr/>
        </p:nvSpPr>
        <p:spPr>
          <a:xfrm>
            <a:off x="4572000" y="2819095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商业 LLM API：闭源模型依赖</a:t>
            </a:r>
          </a:p>
        </p:txBody>
      </p:sp>
      <p:sp>
        <p:nvSpPr>
          <p:cNvPr id="18" name="h2p-17-text-17"/>
          <p:cNvSpPr txBox="1"/>
          <p:nvPr/>
        </p:nvSpPr>
        <p:spPr>
          <a:xfrm>
            <a:off x="4572000" y="3200400"/>
            <a:ext cx="3148279" cy="3712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OpsPilot Zero：官方发布示例，作 baseline 与首个 ProjectCase 参考</a:t>
            </a:r>
          </a:p>
        </p:txBody>
      </p:sp>
      <p:sp>
        <p:nvSpPr>
          <p:cNvPr id="19" name="h2p-17-text-18"/>
          <p:cNvSpPr txBox="1"/>
          <p:nvPr/>
        </p:nvSpPr>
        <p:spPr>
          <a:xfrm>
            <a:off x="4572000" y="3733495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官方 Skills / MCP：按需复用</a:t>
            </a:r>
          </a:p>
        </p:txBody>
      </p:sp>
      <p:sp>
        <p:nvSpPr>
          <p:cNvPr id="20" name="h2p-17-text-19"/>
          <p:cNvSpPr txBox="1"/>
          <p:nvPr/>
        </p:nvSpPr>
        <p:spPr>
          <a:xfrm>
            <a:off x="4572000" y="4114800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第三方库：固定版本与许可证</a:t>
            </a:r>
          </a:p>
        </p:txBody>
      </p:sp>
      <p:sp>
        <p:nvSpPr>
          <p:cNvPr id="21" name="h2p-17-text-20"/>
          <p:cNvSpPr txBox="1"/>
          <p:nvPr/>
        </p:nvSpPr>
        <p:spPr>
          <a:xfrm>
            <a:off x="4572000" y="4647895"/>
            <a:ext cx="3148279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D6A43B"/>
                </a:solidFill>
                <a:latin typeface="Noto Sans CJK SC"/>
              </a:rPr>
              <a:t>密钥由基础设施持有，不进 Agent 上下文</a:t>
            </a:r>
          </a:p>
        </p:txBody>
      </p:sp>
      <p:sp>
        <p:nvSpPr>
          <p:cNvPr id="22" name="h2p-17-box-21"/>
          <p:cNvSpPr/>
          <p:nvPr/>
        </p:nvSpPr>
        <p:spPr>
          <a:xfrm>
            <a:off x="8001000" y="1962302"/>
            <a:ext cx="3504895" cy="3143707"/>
          </a:xfrm>
          <a:prstGeom prst="roundRect">
            <a:avLst>
              <a:gd name="adj" fmla="val 5450"/>
            </a:avLst>
          </a:prstGeom>
          <a:solidFill>
            <a:srgbClr val="F8DDD4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2p-17-text-22"/>
          <p:cNvSpPr txBox="1"/>
          <p:nvPr/>
        </p:nvSpPr>
        <p:spPr>
          <a:xfrm>
            <a:off x="8229600" y="2114092"/>
            <a:ext cx="1904695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26B4B"/>
                </a:solidFill>
                <a:latin typeface="Noto Sans Mono CJK SC"/>
              </a:rPr>
              <a:t>当前未实现 · 不包装成完成态</a:t>
            </a:r>
          </a:p>
        </p:txBody>
      </p:sp>
      <p:sp>
        <p:nvSpPr>
          <p:cNvPr id="24" name="h2p-17-text-23"/>
          <p:cNvSpPr txBox="1"/>
          <p:nvPr/>
        </p:nvSpPr>
        <p:spPr>
          <a:xfrm>
            <a:off x="8229600" y="2438704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机器可执行 Schema 与自动候选搜索</a:t>
            </a:r>
          </a:p>
        </p:txBody>
      </p:sp>
      <p:sp>
        <p:nvSpPr>
          <p:cNvPr id="25" name="h2p-17-text-24"/>
          <p:cNvSpPr txBox="1"/>
          <p:nvPr/>
        </p:nvSpPr>
        <p:spPr>
          <a:xfrm>
            <a:off x="8229600" y="2819095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真实 ProjectCase 与冻结 manifest</a:t>
            </a:r>
          </a:p>
        </p:txBody>
      </p:sp>
      <p:sp>
        <p:nvSpPr>
          <p:cNvPr id="26" name="h2p-17-text-25"/>
          <p:cNvSpPr txBox="1"/>
          <p:nvPr/>
        </p:nvSpPr>
        <p:spPr>
          <a:xfrm>
            <a:off x="8229600" y="3200400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AgentFit × AgentTeams 端到端集成</a:t>
            </a:r>
          </a:p>
        </p:txBody>
      </p:sp>
      <p:sp>
        <p:nvSpPr>
          <p:cNvPr id="27" name="h2p-17-text-26"/>
          <p:cNvSpPr txBox="1"/>
          <p:nvPr/>
        </p:nvSpPr>
        <p:spPr>
          <a:xfrm>
            <a:off x="8229600" y="3581704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统一预算下的 C0/C1/C2/C3 对照</a:t>
            </a:r>
          </a:p>
        </p:txBody>
      </p:sp>
      <p:sp>
        <p:nvSpPr>
          <p:cNvPr id="28" name="h2p-17-text-27"/>
          <p:cNvSpPr txBox="1"/>
          <p:nvPr/>
        </p:nvSpPr>
        <p:spPr>
          <a:xfrm>
            <a:off x="8229600" y="3962095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真实 Episode、Trace 与 ROI</a:t>
            </a:r>
          </a:p>
        </p:txBody>
      </p:sp>
      <p:sp>
        <p:nvSpPr>
          <p:cNvPr id="29" name="h2p-17-text-28"/>
          <p:cNvSpPr txBox="1"/>
          <p:nvPr/>
        </p:nvSpPr>
        <p:spPr>
          <a:xfrm>
            <a:off x="8229600" y="4343400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跨项目 Meta-learning</a:t>
            </a:r>
          </a:p>
        </p:txBody>
      </p:sp>
      <p:sp>
        <p:nvSpPr>
          <p:cNvPr id="30" name="h2p-17-text-29"/>
          <p:cNvSpPr txBox="1"/>
          <p:nvPr/>
        </p:nvSpPr>
        <p:spPr>
          <a:xfrm>
            <a:off x="8229600" y="4724704"/>
            <a:ext cx="3148279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F26B4B"/>
                </a:solidFill>
                <a:latin typeface="Noto Sans CJK SC"/>
              </a:rPr>
              <a:t>未达可复现门禁时不提交代码包</a:t>
            </a:r>
          </a:p>
        </p:txBody>
      </p:sp>
      <p:sp>
        <p:nvSpPr>
          <p:cNvPr id="31" name="h2p-17-box-30"/>
          <p:cNvSpPr/>
          <p:nvPr/>
        </p:nvSpPr>
        <p:spPr>
          <a:xfrm>
            <a:off x="685800" y="5277002"/>
            <a:ext cx="10820095" cy="875995"/>
          </a:xfrm>
          <a:prstGeom prst="roundRect">
            <a:avLst>
              <a:gd name="adj" fmla="val 19570"/>
            </a:avLst>
          </a:prstGeom>
          <a:solidFill>
            <a:srgbClr val="EEF1F5"/>
          </a:solidFill>
          <a:ln w="19050">
            <a:solidFill>
              <a:srgbClr val="D6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2p-17-text-31"/>
          <p:cNvSpPr txBox="1"/>
          <p:nvPr/>
        </p:nvSpPr>
        <p:spPr>
          <a:xfrm>
            <a:off x="914400" y="5410504"/>
            <a:ext cx="252557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baseline 引用与核验</a:t>
            </a:r>
          </a:p>
        </p:txBody>
      </p:sp>
      <p:sp>
        <p:nvSpPr>
          <p:cNvPr id="33" name="h2p-17-text-32"/>
          <p:cNvSpPr txBox="1"/>
          <p:nvPr/>
        </p:nvSpPr>
        <p:spPr>
          <a:xfrm>
            <a:off x="914400" y="5676595"/>
            <a:ext cx="10589666" cy="1792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OpsPilot Zero（官方示例 DEMO，代码级审计）· GOAI Agent Infra 赛道官网参考方向（核验 2026-08-10，仅场景启发）</a:t>
            </a:r>
          </a:p>
        </p:txBody>
      </p:sp>
      <p:sp>
        <p:nvSpPr>
          <p:cNvPr id="34" name="h2p-17-text-33"/>
          <p:cNvSpPr txBox="1"/>
          <p:nvPr/>
        </p:nvSpPr>
        <p:spPr>
          <a:xfrm>
            <a:off x="914400" y="5982004"/>
            <a:ext cx="10589666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718190"/>
                </a:solidFill>
                <a:latin typeface="Noto Sans CJK SC"/>
              </a:rPr>
              <a:t>官网参考案例与 baseline 均非 AgentFit 运行证据；设计契约，非运行证据。</a:t>
            </a:r>
          </a:p>
        </p:txBody>
      </p:sp>
      <p:sp>
        <p:nvSpPr>
          <p:cNvPr id="35" name="h2p-17-text-34"/>
          <p:cNvSpPr txBox="1"/>
          <p:nvPr/>
        </p:nvSpPr>
        <p:spPr>
          <a:xfrm>
            <a:off x="685800" y="6543446"/>
            <a:ext cx="1068933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当前事实</a:t>
            </a:r>
          </a:p>
        </p:txBody>
      </p:sp>
      <p:sp>
        <p:nvSpPr>
          <p:cNvPr id="36" name="h2p-17-text-35"/>
          <p:cNvSpPr txBox="1"/>
          <p:nvPr/>
        </p:nvSpPr>
        <p:spPr>
          <a:xfrm>
            <a:off x="10815523" y="6543446"/>
            <a:ext cx="747979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技术附录 · A5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AgentFit 初赛提交版</dc:title>
  <dc:subject>OpsPilot baseline 作首个 ProjectCase 的通用方案建筑师路演</dc:subject>
  <dc:creator>AgentFit Team</dc:creator>
  <cp:keywords>AgentFit, AgentTeams, OpsPilot, preliminary submission, HTML-first</cp:keywords>
  <dc:description>Final preliminary submission. OpsPilot baseline is a code-level audited reference and first ProjectCase input, not AgentFit runtime evidence.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