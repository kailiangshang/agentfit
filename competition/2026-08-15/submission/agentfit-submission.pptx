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01 / 12 · AGENTFIT · 方案建筑师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0100"/>
            <a:ext cx="6667500" cy="11109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>
                <a:solidFill>
                  <a:srgbClr val="102A43"/>
                </a:solidFill>
                <a:latin typeface="Noto Sans CJK SC"/>
              </a:rPr>
              <a:t>企业真正缺少的，</a:t>
            </a:r>
          </a:p>
          <a:p>
            <a:r>
              <a:rPr sz="5400" b="1">
                <a:solidFill>
                  <a:srgbClr val="102A43"/>
                </a:solidFill>
                <a:latin typeface="Noto Sans CJK SC"/>
              </a:rPr>
              <a:t>是选对 Agent 方案。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2324100"/>
            <a:ext cx="6572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场景是活分布，样本持续流入；AgentFit 依据证据在四层资产上受控演化，用回归池守住旧能力。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43250"/>
            <a:ext cx="6286500" cy="2114550"/>
          </a:xfrm>
          <a:prstGeom prst="roundRect">
            <a:avLst>
              <a:gd name="adj" fmla="val 8108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3352800"/>
            <a:ext cx="6096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74D0C7"/>
                </a:solidFill>
                <a:latin typeface="Courier New"/>
              </a:rPr>
              <a:t>业务输入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2500" y="3695700"/>
            <a:ext cx="1657350" cy="323850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3752850"/>
            <a:ext cx="1504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C6D3DD"/>
                </a:solidFill>
                <a:latin typeface="Noto Sans CJK SC"/>
              </a:rPr>
              <a:t>企业材料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24150" y="3695700"/>
            <a:ext cx="1657350" cy="323850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350" y="3752850"/>
            <a:ext cx="1504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C6D3DD"/>
                </a:solidFill>
                <a:latin typeface="Noto Sans CJK SC"/>
              </a:rPr>
              <a:t>代表性案例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3695700"/>
            <a:ext cx="2209800" cy="323850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752850"/>
            <a:ext cx="2057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C6D3DD"/>
                </a:solidFill>
                <a:latin typeface="Noto Sans CJK SC"/>
              </a:rPr>
              <a:t>优先级与 Human 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4324350"/>
            <a:ext cx="5753100" cy="248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FFFFFF"/>
                </a:solidFill>
                <a:latin typeface="Noto Sans CJK SC"/>
              </a:rPr>
              <a:t>不是先堆 Agent，而是先做最小候选；未通过验收时只动涉案层——工具层不许改接口，DAG 层不许改排查链。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0" y="1181100"/>
            <a:ext cx="4267200" cy="4533900"/>
          </a:xfrm>
          <a:prstGeom prst="roundRect">
            <a:avLst>
              <a:gd name="adj" fmla="val 4017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2850" y="1466850"/>
            <a:ext cx="352425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74D0C7"/>
                </a:solidFill>
                <a:latin typeface="Courier New"/>
              </a:rPr>
              <a:t>AGENTFIT · 持续学习循环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2850" y="1885950"/>
            <a:ext cx="501396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74D0C7"/>
                </a:solidFill>
                <a:latin typeface="Courier Ne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905000"/>
            <a:ext cx="28575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Noto Sans CJK SC"/>
              </a:rPr>
              <a:t>样本流入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190750"/>
            <a:ext cx="2857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C6D3DD"/>
                </a:solidFill>
                <a:latin typeface="Noto Sans CJK SC"/>
              </a:rPr>
              <a:t>实体分组防泄漏污染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34300" y="2400300"/>
            <a:ext cx="19050" cy="419100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62850" y="2800350"/>
            <a:ext cx="501396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74D0C7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819400"/>
            <a:ext cx="28575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Noto Sans CJK SC"/>
              </a:rPr>
              <a:t>层内拟合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105150"/>
            <a:ext cx="2857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C6D3DD"/>
                </a:solidFill>
                <a:latin typeface="Noto Sans CJK SC"/>
              </a:rPr>
              <a:t>更新按层白名单 · 不越层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34300" y="3314700"/>
            <a:ext cx="19050" cy="419100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850" y="3714750"/>
            <a:ext cx="501396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74D0C7"/>
                </a:solidFill>
                <a:latin typeface="Courier New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733800"/>
            <a:ext cx="28575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Noto Sans CJK SC"/>
              </a:rPr>
              <a:t>回归验证后演化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019550"/>
            <a:ext cx="2857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C6D3DD"/>
                </a:solidFill>
                <a:latin typeface="Noto Sans CJK SC"/>
              </a:rPr>
              <a:t>回归池防遗忘 · 漂移探针触发新一轮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8150" y="4610100"/>
            <a:ext cx="2628900" cy="723900"/>
          </a:xfrm>
          <a:prstGeom prst="roundRect">
            <a:avLst>
              <a:gd name="adj" fmla="val 23684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4350" y="4800600"/>
            <a:ext cx="2476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0">
                <a:solidFill>
                  <a:srgbClr val="74D0C7"/>
                </a:solidFill>
                <a:latin typeface="Noto Sans CJK SC"/>
              </a:rPr>
              <a:t>JUST ENOUGH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638800"/>
            <a:ext cx="10820400" cy="2705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Noto Sans CJK SC"/>
              </a:rPr>
              <a:t>不是一次性方案，而是可审计、可回滚的持续学习系统。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0"/>
            <a:ext cx="215912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× AgentTeams · 初赛提交版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方案路演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02 / 12 · 官方示例 · 证据锚点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02A43"/>
                </a:solidFill>
                <a:latin typeface="Noto Sans CJK SC"/>
              </a:rPr>
              <a:t>OpsPilot 官方示例：4 个 Worker 加 1 个 Leader，仍未回答该用哪种。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19250"/>
            <a:ext cx="108013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官方发布的可运行 baseline 是 AgentFit 第一个 ProjectCase 的输入；它证明这类故障值得做，却没回答“该用哪种方案”。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930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228850"/>
            <a:ext cx="5334000" cy="3505200"/>
          </a:xfrm>
          <a:prstGeom prst="roundRect">
            <a:avLst>
              <a:gd name="adj" fmla="val 4891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57450"/>
            <a:ext cx="2409825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官方 BASELINE · OpsPilot 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1300"/>
            <a:ext cx="48768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102A43"/>
                </a:solidFill>
                <a:latin typeface="Noto Sans CJK SC"/>
              </a:rPr>
              <a:t>零人工运维多 Agent 排查与自愈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4876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面向云上与自建 IDC 业务故障，把人工排障链拆成可并行、可回放的协作单元。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14750"/>
            <a:ext cx="48768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baseline 自带的业务执行 Agent（非 AgentFit 元团队）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81450"/>
            <a:ext cx="49530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Alert Intake · Commander（Leader）· RCA Analyst · Data Advisor · Planner · Executor · Verifier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724400"/>
            <a:ext cx="4876800" cy="723900"/>
          </a:xfrm>
          <a:prstGeom prst="roundRect">
            <a:avLst>
              <a:gd name="adj" fmla="val 23684"/>
            </a:avLst>
          </a:prstGeom>
          <a:solidFill>
            <a:srgbClr val="F6F2E8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838700"/>
            <a:ext cx="4000500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demo 事故 · db.pool.maxSize: 50 -&gt;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" y="5086350"/>
            <a:ext cx="4572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/api/order/create 5xx 升高 · 连接池耗尽 · 5–10 分钟初诊目标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2228850"/>
            <a:ext cx="5219700" cy="3505200"/>
          </a:xfrm>
          <a:prstGeom prst="roundRect">
            <a:avLst>
              <a:gd name="adj" fmla="val 4891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2457450"/>
            <a:ext cx="2476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AGENTFIT 拿它做什么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781300"/>
            <a:ext cx="47625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102A43"/>
                </a:solidFill>
                <a:latin typeface="Noto Sans CJK SC"/>
              </a:rPr>
              <a:t>首个 ProjectCase 与证据锚点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15100" y="3238500"/>
            <a:ext cx="4762500" cy="704850"/>
          </a:xfrm>
          <a:prstGeom prst="roundRect">
            <a:avLst>
              <a:gd name="adj" fmla="val 2432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3352800"/>
            <a:ext cx="4457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不是：把 OpsPilot 当成 AgentFit 已跑通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3600450"/>
            <a:ext cx="4457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而是：拿它的 Agent、事故、工具契约做输入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0" y="41338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baseline 给出一种现成的多 Agent 结构；AgentFit 要回答的是——同一任务下 C0 / C1 / C2 / C3 哪个方案更合适。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5100" y="5181600"/>
            <a:ext cx="4762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F26B4B"/>
                </a:solidFill>
                <a:latin typeface="Noto Sans CJK SC"/>
              </a:rPr>
              <a:t>边界：设计契约，非运行证据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924550"/>
            <a:ext cx="10820400" cy="2434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102A43"/>
                </a:solidFill>
                <a:latin typeface="Noto Sans CJK SC"/>
              </a:rPr>
              <a:t>OpsPilot 证明这类故障值得做；AgentFit 证明的是“该用哪种方案做”。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0"/>
            <a:ext cx="120986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证据锚点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0"/>
            <a:ext cx="1664589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首个 ProjectCase 参考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03 / 12 · 从材料到可验收档案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102A43"/>
                </a:solidFill>
                <a:latin typeface="Noto Sans CJK SC"/>
              </a:rPr>
              <a:t>AgentFit 把 baseline 材料编译成首个 ProjectCase。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8115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企业给出的材料、案例和优先级，先被整理成可验收、可重放、可追溯的档案；场景是活分布，档案随演化版本化。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8120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09800"/>
            <a:ext cx="205778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426B86"/>
                </a:solidFill>
                <a:latin typeface="Courier New"/>
              </a:rPr>
              <a:t>企业输入 · 保留来源与时间边界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533650"/>
            <a:ext cx="2762250" cy="2362200"/>
          </a:xfrm>
          <a:prstGeom prst="roundRect">
            <a:avLst>
              <a:gd name="adj" fmla="val 7258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426B8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5650"/>
            <a:ext cx="23050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业务材料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76650"/>
            <a:ext cx="2305050" cy="220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客诉、告警、日志、Trace、指标、变更、Runbook 与 OpsPilot baseline。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450" y="2533650"/>
            <a:ext cx="2762250" cy="2362200"/>
          </a:xfrm>
          <a:prstGeom prst="roundRect">
            <a:avLst>
              <a:gd name="adj" fmla="val 7258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9050" y="274320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426B86"/>
                </a:solidFill>
                <a:latin typeface="Courier New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9050" y="3295650"/>
            <a:ext cx="23050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代表性案例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9050" y="3676650"/>
            <a:ext cx="2305050" cy="220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覆盖常见、困难、失败与高风险场景；明确什么能冻结、重放和评价。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5100" y="2533650"/>
            <a:ext cx="2381250" cy="2362200"/>
          </a:xfrm>
          <a:prstGeom prst="roundRect">
            <a:avLst>
              <a:gd name="adj" fmla="val 7258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43700" y="274320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D6A43B"/>
                </a:solidFill>
                <a:latin typeface="Courier New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3700" y="3295650"/>
            <a:ext cx="19240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优先级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43700" y="3676650"/>
            <a:ext cx="1924050" cy="220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结果质量、时延、成本、安全与 Human 边界的取舍。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8750" y="3371850"/>
            <a:ext cx="300609" cy="470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5950" y="2343150"/>
            <a:ext cx="2000250" cy="2743200"/>
          </a:xfrm>
          <a:prstGeom prst="roundRect">
            <a:avLst>
              <a:gd name="adj" fmla="val 8571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34550" y="2571750"/>
            <a:ext cx="1481709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VERSIONED DOSSIER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4550" y="2971800"/>
            <a:ext cx="1543050" cy="258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>
                <a:solidFill>
                  <a:srgbClr val="102A43"/>
                </a:solidFill>
                <a:latin typeface="Noto Sans CJK SC"/>
              </a:rPr>
              <a:t>ProjectCase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4550" y="3409950"/>
            <a:ext cx="1543050" cy="1000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任务契约</a:t>
            </a:r>
          </a:p>
          <a:p>
            <a:r>
              <a:rPr sz="1400" b="0">
                <a:solidFill>
                  <a:srgbClr val="53697C"/>
                </a:solidFill>
                <a:latin typeface="Noto Sans CJK SC"/>
              </a:rPr>
              <a:t>样本清单</a:t>
            </a:r>
          </a:p>
          <a:p>
            <a:r>
              <a:rPr sz="1400" b="0">
                <a:solidFill>
                  <a:srgbClr val="53697C"/>
                </a:solidFill>
                <a:latin typeface="Noto Sans CJK SC"/>
              </a:rPr>
              <a:t>验收标准</a:t>
            </a:r>
          </a:p>
          <a:p>
            <a:r>
              <a:rPr sz="1400" b="0">
                <a:solidFill>
                  <a:srgbClr val="53697C"/>
                </a:solidFill>
                <a:latin typeface="Noto Sans CJK SC"/>
              </a:rPr>
              <a:t>能力边界</a:t>
            </a:r>
          </a:p>
          <a:p>
            <a:r>
              <a:rPr sz="1400" b="0">
                <a:solidFill>
                  <a:srgbClr val="53697C"/>
                </a:solidFill>
                <a:latin typeface="Noto Sans CJK SC"/>
              </a:rPr>
              <a:t>评测协议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4550" y="4648200"/>
            <a:ext cx="15430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A8D85"/>
                </a:solidFill>
                <a:latin typeface="Noto Sans CJK SC"/>
              </a:rPr>
              <a:t>Human 确认后冻结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219700"/>
            <a:ext cx="10820400" cy="7429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53050"/>
            <a:ext cx="10382250" cy="234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ProjectCase</a:t>
            </a:r>
            <a:r>
              <a:rPr sz="1700" b="0">
                <a:solidFill>
                  <a:srgbClr val="102A43"/>
                </a:solidFill>
                <a:latin typeface="Noto Sans CJK SC"/>
              </a:rPr>
              <a:t> 描述整个任务分布与方案边界；SourceObservation 不是 TaskSample，项目档案也不等于某次运行。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734050"/>
            <a:ext cx="103822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F26B4B"/>
                </a:solidFill>
                <a:latin typeface="Noto Sans CJK SC"/>
              </a:rPr>
              <a:t>设计契约，非运行证据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0"/>
            <a:ext cx="1505331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ProjectCase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0" y="0"/>
            <a:ext cx="1014984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材料 → 档案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04 / 12 · 一个样本长什么样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102A43"/>
                </a:solidFill>
                <a:latin typeface="Noto Sans CJK SC"/>
              </a:rPr>
              <a:t>两个事故变成 TaskSample：输入、输出与验收。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8115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同一合同结构承载不同事故：给什么、要什么、怎样才算通过。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8120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52650"/>
            <a:ext cx="5295900" cy="3333750"/>
          </a:xfrm>
          <a:prstGeom prst="roundRect">
            <a:avLst>
              <a:gd name="adj" fmla="val 5142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62200"/>
            <a:ext cx="485775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F26B4B"/>
                </a:solidFill>
                <a:latin typeface="Courier New"/>
              </a:rPr>
              <a:t>TaskSample · 事故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47950"/>
            <a:ext cx="48577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C64C32"/>
                </a:solidFill>
                <a:latin typeface="Courier New"/>
              </a:rPr>
              <a:t>db_pool_exhausted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850"/>
            <a:ext cx="485775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订单 5xx 升高 · 数据库连接池耗尽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352800"/>
            <a:ext cx="4857750" cy="533400"/>
          </a:xfrm>
          <a:prstGeom prst="roundRect">
            <a:avLst>
              <a:gd name="adj" fmla="val 32142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486150"/>
            <a:ext cx="460057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0700" y="3467100"/>
            <a:ext cx="37909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告警、Trace、变更 50→8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00500"/>
            <a:ext cx="4857750" cy="533400"/>
          </a:xfrm>
          <a:prstGeom prst="roundRect">
            <a:avLst>
              <a:gd name="adj" fmla="val 32142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133850"/>
            <a:ext cx="5368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0700" y="4114800"/>
            <a:ext cx="37909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根因、回滚计划、恢复验证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648200"/>
            <a:ext cx="4857750" cy="6096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4819650"/>
            <a:ext cx="5368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ACCEPT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0700" y="4762500"/>
            <a:ext cx="3790950" cy="180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可追溯 · 可验证 · 无未批准写入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2152650"/>
            <a:ext cx="5295900" cy="3333750"/>
          </a:xfrm>
          <a:prstGeom prst="roundRect">
            <a:avLst>
              <a:gd name="adj" fmla="val 5142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8900" y="2362200"/>
            <a:ext cx="485775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Courier New"/>
              </a:rPr>
              <a:t>TaskSample · 事故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2647950"/>
            <a:ext cx="48577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A5781C"/>
                </a:solidFill>
                <a:latin typeface="Courier New"/>
              </a:rPr>
              <a:t>slow_sql_degradation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2990850"/>
            <a:ext cx="485775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P99 延迟爬升 · 慢 SQL 逐步劣化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38900" y="3352800"/>
            <a:ext cx="4857750" cy="533400"/>
          </a:xfrm>
          <a:prstGeom prst="roundRect">
            <a:avLst>
              <a:gd name="adj" fmla="val 32142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91300" y="3486150"/>
            <a:ext cx="460057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67100"/>
            <a:ext cx="37909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指标、慢日志、Trace、近 24h 变更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38900" y="4000500"/>
            <a:ext cx="4857750" cy="533400"/>
          </a:xfrm>
          <a:prstGeom prst="roundRect">
            <a:avLst>
              <a:gd name="adj" fmla="val 32142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1300" y="4133850"/>
            <a:ext cx="5368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OUTPUT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114800"/>
            <a:ext cx="37909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慢 SQL、处置建议、影响面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38900" y="4648200"/>
            <a:ext cx="4857750" cy="6096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91300" y="4819650"/>
            <a:ext cx="5368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ACCEPT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762500"/>
            <a:ext cx="3790950" cy="180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可复核 · 范围受限 · 缺口显式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657850"/>
            <a:ext cx="10820400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772150"/>
            <a:ext cx="1038225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02A43"/>
                </a:solidFill>
                <a:latin typeface="Noto Sans CJK SC"/>
              </a:rPr>
              <a:t>TaskSample = 可独立冻结、重放、执行和评价的最小单位；切分按实体分组防泄漏——实体重复是虚假复用，学习信号按任务语义计算。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0"/>
            <a:ext cx="144037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TaskSample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0" y="0"/>
            <a:ext cx="144875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设计契约，非运行证据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05 / 12 · LAYERED SOLUTION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方案空间按四层资产组织，调整逐层受控。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002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七个方案维度不再并列漂浮：工具、Skill、MCP、Memory、模型、Agent 拓扑与 Human 边界各归其层。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002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90750"/>
            <a:ext cx="4953000" cy="742950"/>
          </a:xfrm>
          <a:prstGeom prst="roundRect">
            <a:avLst>
              <a:gd name="adj" fmla="val 2307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24100"/>
            <a:ext cx="843915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426B86"/>
                </a:solidFill>
                <a:latin typeface="Courier New"/>
              </a:rPr>
              <a:t>L1 · SOLID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33650"/>
            <a:ext cx="447675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原子接口 · 固定资产（知识库 / 查询 / CMDB）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47675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53697C"/>
                </a:solidFill>
                <a:latin typeface="Noto Sans CJK SC"/>
              </a:rPr>
              <a:t>全局共享；无复杂可配置参数；受控生长（观察区 + 升格门限）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933700"/>
            <a:ext cx="19050" cy="19050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3124200"/>
            <a:ext cx="4953000" cy="742950"/>
          </a:xfrm>
          <a:prstGeom prst="roundRect">
            <a:avLst>
              <a:gd name="adj" fmla="val 2307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57550"/>
            <a:ext cx="12277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426B86"/>
                </a:solidFill>
                <a:latin typeface="Courier New"/>
              </a:rPr>
              <a:t>L2 · TOOL /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67100"/>
            <a:ext cx="447675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source tool 封装 · 唯一合法触达 L1 的层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76650"/>
            <a:ext cx="447675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53697C"/>
                </a:solidFill>
                <a:latin typeface="Noto Sans CJK SC"/>
              </a:rPr>
              <a:t>聚合、分析、切片的口径在此唯一定义；模型等参数在此校准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867150"/>
            <a:ext cx="19050" cy="19050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057650"/>
            <a:ext cx="4953000" cy="742950"/>
          </a:xfrm>
          <a:prstGeom prst="roundRect">
            <a:avLst>
              <a:gd name="adj" fmla="val 2307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91000"/>
            <a:ext cx="153485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L3 · SKILL /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400550"/>
            <a:ext cx="447675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可复用知识 · 排查链、问题路由、人工门限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10100"/>
            <a:ext cx="447675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53697C"/>
                </a:solidFill>
                <a:latin typeface="Noto Sans CJK SC"/>
              </a:rPr>
              <a:t>可变；每次变更绑定证据并通过回归池门；可晋升共享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00600"/>
            <a:ext cx="19050" cy="19050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4991100"/>
            <a:ext cx="4953000" cy="742950"/>
          </a:xfrm>
          <a:prstGeom prst="roundRect">
            <a:avLst>
              <a:gd name="adj" fmla="val 23076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124450"/>
            <a:ext cx="6903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L4 · DAG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34000"/>
            <a:ext cx="447675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Agent 组合与流程 · Agent 拓扑与 Human 边界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543550"/>
            <a:ext cx="447675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53697C"/>
                </a:solidFill>
                <a:latin typeface="Noto Sans CJK SC"/>
              </a:rPr>
              <a:t>结构变更需影子模式验证；责任分区在此定义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0" y="2190750"/>
            <a:ext cx="2819400" cy="3543300"/>
          </a:xfrm>
          <a:prstGeom prst="roundRect">
            <a:avLst>
              <a:gd name="adj" fmla="val 6081"/>
            </a:avLst>
          </a:prstGeom>
          <a:solidFill>
            <a:srgbClr val="FFFFFF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343150"/>
            <a:ext cx="238125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触达纪律 · 代码强制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667000"/>
            <a:ext cx="2381250" cy="1928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1 知识层不得直接调用接口层</a:t>
            </a:r>
          </a:p>
          <a:p>
            <a:r>
              <a:rPr sz="1500"/>
              <a:t> </a:t>
            </a:r>
          </a:p>
          <a:p>
            <a:r>
              <a:rPr sz="1500" b="0">
                <a:solidFill>
                  <a:srgbClr val="53697C"/>
                </a:solidFill>
                <a:latin typeface="Noto Sans CJK SC"/>
              </a:rPr>
              <a:t>2 聚合分析必须经 source tool 二次封装</a:t>
            </a:r>
          </a:p>
          <a:p>
            <a:r>
              <a:rPr sz="1500"/>
              <a:t> </a:t>
            </a:r>
          </a:p>
          <a:p>
            <a:r>
              <a:rPr sz="1500" b="0">
                <a:solidFill>
                  <a:srgbClr val="53697C"/>
                </a:solidFill>
                <a:latin typeface="Noto Sans CJK SC"/>
              </a:rPr>
              <a:t>3 知识产出只供 Agent 消费</a:t>
            </a:r>
          </a:p>
          <a:p>
            <a:r>
              <a:rPr sz="1500"/>
              <a:t> </a:t>
            </a:r>
          </a:p>
          <a:p>
            <a:r>
              <a:rPr sz="1500" b="0">
                <a:solidFill>
                  <a:srgbClr val="53697C"/>
                </a:solidFill>
                <a:latin typeface="Noto Sans CJK SC"/>
              </a:rPr>
              <a:t>4 共享范围随层递减，Solid 全局但原子化</a:t>
            </a:r>
          </a:p>
          <a:p>
            <a:r>
              <a:rPr sz="1500"/>
              <a:t> </a:t>
            </a:r>
          </a:p>
          <a:p>
            <a:r>
              <a:rPr sz="1500" b="0">
                <a:solidFill>
                  <a:srgbClr val="53697C"/>
                </a:solidFill>
                <a:latin typeface="Noto Sans CJK SC"/>
              </a:rPr>
              <a:t>5 越层依赖在 schema 校验即拒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5391150"/>
            <a:ext cx="2381250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不是 prompt 自觉，是 checker 拒绝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91600" y="2190750"/>
            <a:ext cx="2514600" cy="3543300"/>
          </a:xfrm>
          <a:prstGeom prst="roundRect">
            <a:avLst>
              <a:gd name="adj" fmla="val 6818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20200" y="234315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L4 拓扑谱系 · 只是其中一维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20200" y="2686050"/>
            <a:ext cx="2057400" cy="51435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2819400"/>
            <a:ext cx="17526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C0 · Agentless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20200" y="3314700"/>
            <a:ext cx="2057400" cy="51435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72600" y="3448050"/>
            <a:ext cx="17526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C1 · 单 Agent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20200" y="3943350"/>
            <a:ext cx="2057400" cy="51435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72600" y="4076700"/>
            <a:ext cx="17526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C2 · 多 Agent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20200" y="4572000"/>
            <a:ext cx="2057400" cy="51435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4705350"/>
            <a:ext cx="17526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C3 · Human 混合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0200" y="5219700"/>
            <a:ext cx="209550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1A8D85"/>
                </a:solidFill>
                <a:latin typeface="Noto Sans CJK SC"/>
              </a:rPr>
              <a:t>七维变量 × 四层治理 = 完整方案空间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5905500"/>
            <a:ext cx="10820400" cy="476250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6000750"/>
            <a:ext cx="10382250" cy="2028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02A43"/>
                </a:solidFill>
                <a:latin typeface="Noto Sans CJK SC"/>
              </a:rPr>
              <a:t>SIMPLE FIRST = 复杂度控制 + 层级纪律：七维属于同一搜索空间、各归其层；只有失败证据证明有价值，才增加一维或一层。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0"/>
            <a:ext cx="141941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完整方案空间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四层资产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06 / 12 · CONTINUAL LEARNING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2880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102A43"/>
                </a:solidFill>
                <a:latin typeface="Noto Sans CJK SC"/>
              </a:rPr>
              <a:t>样本驱动的持续学习：离散信用分配，回归防遗忘。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621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机器学习的工程纪律硬映射化：样本的价值不在喂给模型，而在驱动一次受控的层级图编辑。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621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76400" y="2476500"/>
            <a:ext cx="8839200" cy="1905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190750"/>
            <a:ext cx="1981200" cy="2305050"/>
          </a:xfrm>
          <a:prstGeom prst="roundRect">
            <a:avLst>
              <a:gd name="adj" fmla="val 8653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426B8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819400"/>
            <a:ext cx="16002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样本分类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219450"/>
            <a:ext cx="16002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A 确认 / B 修正 / C 扩展 / D 重构 / E 退役 / F 漂移，分类后分层路由。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4114800"/>
            <a:ext cx="69627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ROUTING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57500" y="2190750"/>
            <a:ext cx="1981200" cy="23050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80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1A8D85"/>
                </a:solidFill>
                <a:latin typeface="Courier New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2819400"/>
            <a:ext cx="16002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层内更新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8000" y="3219450"/>
            <a:ext cx="16002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只开放涉案层的算子白名单；离散信用分配，不越层代改。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0" y="4114800"/>
            <a:ext cx="113919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DISCRETE FIT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2190750"/>
            <a:ext cx="1981200" cy="23050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97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1A8D85"/>
                </a:solidFill>
                <a:latin typeface="Courier New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9700" y="2819400"/>
            <a:ext cx="16002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回归验证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9700" y="3219450"/>
            <a:ext cx="16002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RegressionPool 全量回归；老子场景退化即 FAIL，回滚或走人工门。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9700" y="4114800"/>
            <a:ext cx="105060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ANTI-FORGET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00900" y="2190750"/>
            <a:ext cx="1981200" cy="2305050"/>
          </a:xfrm>
          <a:prstGeom prst="roundRect">
            <a:avLst>
              <a:gd name="adj" fmla="val 8653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14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D6A43B"/>
                </a:solidFill>
                <a:latin typeface="Courier New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2819400"/>
            <a:ext cx="16002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资产沉淀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181350"/>
            <a:ext cx="1752600" cy="178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Solid 池受控生长、知识版本化、ScenarioLedger 追加记录。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4114800"/>
            <a:ext cx="60769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A5781C"/>
                </a:solidFill>
                <a:latin typeface="Courier New"/>
              </a:rPr>
              <a:t>LEDGER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2600" y="2190750"/>
            <a:ext cx="2133600" cy="2305050"/>
          </a:xfrm>
          <a:prstGeom prst="roundRect">
            <a:avLst>
              <a:gd name="adj" fmla="val 8035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631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F26B4B"/>
                </a:solidFill>
                <a:latin typeface="Courier New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63100" y="281940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漂移触发新一轮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6900" y="3219450"/>
            <a:ext cx="19050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探针检测分布变化；由治理角色裁定，不由优化器自判。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4114800"/>
            <a:ext cx="149352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C64C32"/>
                </a:solidFill>
                <a:latin typeface="Courier New"/>
              </a:rPr>
              <a:t>DRIFT → NEW CASE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4610100"/>
            <a:ext cx="10820400" cy="7429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705350"/>
            <a:ext cx="10382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单轮骨架 · 五阶段闭环 = 持续学习的一个周期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953000"/>
            <a:ext cx="1038225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周期内：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定义验收与样本工程 → 最小方案假设（C0/C1 起步）→ 批量试验 → Trace 误差分析定位到层 → 新案例验证 / 停止；按失败模式调整七维方案；不越过 Human 门禁。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410200"/>
            <a:ext cx="10820400" cy="704850"/>
          </a:xfrm>
          <a:prstGeom prst="roundRect">
            <a:avLst>
              <a:gd name="adj" fmla="val 24324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48640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Courier New"/>
              </a:rPr>
              <a:t>多速率演化 · 设计契约（非运行结果）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573405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F8DDD4"/>
          </a:solidFill>
          <a:ln w="19050">
            <a:solidFill>
              <a:srgbClr val="C64C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0600" y="5772150"/>
            <a:ext cx="2247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C64C32"/>
                </a:solidFill>
                <a:latin typeface="Noto Sans CJK SC"/>
              </a:rPr>
              <a:t>L4 最快 · 参数微调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29000" y="573405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05200" y="5772150"/>
            <a:ext cx="2247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L3 中速 · 增量 + 重构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573405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19800" y="5772150"/>
            <a:ext cx="2247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426B86"/>
                </a:solidFill>
                <a:latin typeface="Noto Sans CJK SC"/>
              </a:rPr>
              <a:t>L2 慢速 · 跟随上下两层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58200" y="573405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34400" y="5772150"/>
            <a:ext cx="2247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A5781C"/>
                </a:solidFill>
                <a:latin typeface="Noto Sans CJK SC"/>
              </a:rPr>
              <a:t>L1 最慢 · 强治理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210300"/>
            <a:ext cx="108204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3697C"/>
                </a:solidFill>
                <a:latin typeface="Noto Sans CJK SC"/>
              </a:rPr>
              <a:t>当前候选对照仍待真实运行 · requires_runtime_trial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0"/>
            <a:ext cx="141941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持续学习闭环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0" y="0"/>
            <a:ext cx="92487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最简合格者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07 / 12 · 元团队 · 两层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27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>
                <a:solidFill>
                  <a:srgbClr val="102A43"/>
                </a:solidFill>
                <a:latin typeface="Noto Sans CJK SC"/>
              </a:rPr>
              <a:t>五个元 Agent 组成 AgentFit Learning Loop，分别负责目标、样本、方案、实验与诊断。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002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五个固定身份共同覆盖闭环并交接责任；它们不是候选中的业务执行 Agent，而是一条可审计的方案工程流水线。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002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52650"/>
            <a:ext cx="10820400" cy="457200"/>
          </a:xfrm>
          <a:prstGeom prst="roundRect">
            <a:avLst>
              <a:gd name="adj" fmla="val 375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66950"/>
            <a:ext cx="1038225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Noto Sans CJK SC"/>
              </a:rPr>
              <a:t>上层 · 元 Agent</a:t>
            </a:r>
            <a:r>
              <a:rPr sz="1500" b="0">
                <a:solidFill>
                  <a:srgbClr val="53697C"/>
                </a:solidFill>
                <a:latin typeface="Noto Sans CJK SC"/>
              </a:rPr>
              <a:t>：定义、设计、运行、分析、停止 </a:t>
            </a:r>
            <a:r>
              <a:rPr sz="1500" b="1">
                <a:solidFill>
                  <a:srgbClr val="53697C"/>
                </a:solidFill>
                <a:latin typeface="Noto Sans CJK SC"/>
              </a:rPr>
              <a:t>下层 · 业务执行 Agent</a:t>
            </a:r>
            <a:r>
              <a:rPr sz="1500" b="0">
                <a:solidFill>
                  <a:srgbClr val="53697C"/>
                </a:solidFill>
                <a:latin typeface="Noto Sans CJK SC"/>
              </a:rPr>
              <a:t>：只存在于被评测的候选方案内部</a:t>
            </a:r>
          </a:p>
        </p:txBody>
      </p:sp>
      <p:sp>
        <p:nvSpPr>
          <p:cNvPr id="8" name="Rectangle 7"/>
          <p:cNvSpPr/>
          <p:nvPr/>
        </p:nvSpPr>
        <p:spPr>
          <a:xfrm>
            <a:off x="1676400" y="3028950"/>
            <a:ext cx="8839200" cy="1905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781300"/>
            <a:ext cx="1981200" cy="2076450"/>
          </a:xfrm>
          <a:prstGeom prst="roundRect">
            <a:avLst>
              <a:gd name="adj" fmla="val 8653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9146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目标 / 停止控制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2575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01 交付官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524250"/>
            <a:ext cx="16764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829050"/>
            <a:ext cx="16764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设目标与停止门；整合证据作交付或降级决定。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57500" y="2781300"/>
            <a:ext cx="1981200" cy="20764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09900" y="29146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业务理解 / 样本工程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9900" y="32575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02 业务架构师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9900" y="3524250"/>
            <a:ext cx="16764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9900" y="3829050"/>
            <a:ext cx="16764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编译案例与验收；冻结指标、预算和 Human 边界。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2781300"/>
            <a:ext cx="1981200" cy="20764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81600" y="29146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方案建模 / 结构选择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600" y="32575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03 方案架构师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3524250"/>
            <a:ext cx="16764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3829050"/>
            <a:ext cx="16764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构建最小候选；按失败模式调整完整七维。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00900" y="2781300"/>
            <a:ext cx="1981200" cy="20764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53300" y="29146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批量试验 / 指标采集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3300" y="32575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04 验证工程师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3300" y="3524250"/>
            <a:ext cx="16764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53300" y="3829050"/>
            <a:ext cx="16764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受控运行候选；统一预算采集 Episode 与 Trace。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72600" y="2781300"/>
            <a:ext cx="2133600" cy="2076450"/>
          </a:xfrm>
          <a:prstGeom prst="roundRect">
            <a:avLst>
              <a:gd name="adj" fmla="val 8256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25000" y="2914650"/>
            <a:ext cx="182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D6A43B"/>
                </a:solidFill>
                <a:latin typeface="Courier New"/>
              </a:rPr>
              <a:t>误差分析 / 治理审计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5000" y="3257550"/>
            <a:ext cx="182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A5781C"/>
                </a:solidFill>
                <a:latin typeface="Courier New"/>
              </a:rPr>
              <a:t>05 审计官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3524250"/>
            <a:ext cx="18288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3829050"/>
            <a:ext cx="18288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独立审计新案例；建议选择、否决或降级。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5048250"/>
            <a:ext cx="10820400" cy="876300"/>
          </a:xfrm>
          <a:prstGeom prst="roundRect">
            <a:avLst>
              <a:gd name="adj" fmla="val 19565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181600"/>
            <a:ext cx="3159442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D6A43B"/>
                </a:solidFill>
                <a:latin typeface="Courier New"/>
              </a:rPr>
              <a:t>候选业务执行 Agent · 被五元团队设计与评测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448300"/>
            <a:ext cx="1038225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C0 无；C1 一个；C2 多个（可包含 OpsPilot 式执行体）；C3 由 Human 承担高风险动作。元 Agent 不得被候选执行 Agent 替代。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115050"/>
            <a:ext cx="108204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3697C"/>
                </a:solidFill>
                <a:latin typeface="Noto Sans CJK SC"/>
              </a:rPr>
              <a:t>一个固定身份不可用，所对应阶段保持未完成；其他身份不得冒充其责任产物。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0"/>
            <a:ext cx="131464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五元责任链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0" y="0"/>
            <a:ext cx="119519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设计 Identity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08 / 12 · 落地映射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AgentTeams 承载 Worker、Team、Room、Human；AgentFit 落地 Dossier 与 Trace。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002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AgentTeams 提供原生底座，AgentFit 只补方案工程层；不改核心、不建新前端。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002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90750"/>
            <a:ext cx="10820400" cy="3638550"/>
          </a:xfrm>
          <a:prstGeom prst="roundRect">
            <a:avLst>
              <a:gd name="adj" fmla="val 4712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24100"/>
            <a:ext cx="19050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AgentFit 对象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9700" y="232410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AgentTeams 落点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8700" y="2324100"/>
            <a:ext cx="19050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后续运行映射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590800"/>
            <a:ext cx="10363200" cy="19050"/>
          </a:xfrm>
          <a:prstGeom prst="rect">
            <a:avLst/>
          </a:prstGeom>
          <a:solidFill>
            <a:srgbClr val="E3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2415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EngagementLead 交付官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9700" y="272415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Manager / Team Leader（Team）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8700" y="272415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阶段控制 Skill + 项目状态文件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02895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6230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BusinessEngineer 业务架构师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9700" y="316230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8700" y="316230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Sample/Task 编译 Skill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46710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60045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AgentArchitect 方案架构师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9700" y="360045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8700" y="360045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能力对齐 + 候选设计 Skill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90525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03860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ValidationEngineer 验证工程师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9700" y="403860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独立 Worker + 沙箱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8700" y="403860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统一预算评测工具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434340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47675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GovernanceAuditor 审计官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9700" y="447675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独立 Worker + 独立权限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8700" y="447675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只读证据 + 审计 Skill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478155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91490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阶段委派 / Human 审批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9700" y="491490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Room（房间通信）+ Human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8700" y="491490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结构化 Task + 批准/拒绝留痕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21970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5305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AgentFit Dossier / ExecutionTrace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9700" y="535305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共享 Artifact + Room 消息引用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8700" y="535305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Step / Episode 级 Trace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981700"/>
            <a:ext cx="10820400" cy="2434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102A43"/>
                </a:solidFill>
                <a:latin typeface="Noto Sans CJK SC"/>
              </a:rPr>
              <a:t>AgentFit 定义 Dossier 与 Trace；AgentTeams 承载其存储、通信、身份和权限。设计契约，非运行证据。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0"/>
            <a:ext cx="144037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× AGENTTEAMS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0" y="0"/>
            <a:ext cx="2219896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Worker / Team / Room / Human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09 / 12 · TRACEABILITY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追溯四件套：实体分组、hash 链账本、检查器族、泳道报告。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002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Skill、工具契约与共享状态之下，是四层可机器审计的追溯底座；指标由检查器从证据计算，不采信自述。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002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90750"/>
            <a:ext cx="2476500" cy="1714500"/>
          </a:xfrm>
          <a:prstGeom prst="roundRect">
            <a:avLst>
              <a:gd name="adj" fmla="val 10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234315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426B86"/>
                </a:solidFill>
                <a:latin typeface="Courier New"/>
              </a:rPr>
              <a:t>① 实体分组 · 防泄漏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2686050"/>
            <a:ext cx="2095500" cy="224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02A43"/>
                </a:solidFill>
                <a:latin typeface="Noto Sans CJK SC"/>
              </a:rPr>
              <a:t>切分的唯一防线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3028950"/>
            <a:ext cx="20955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实体键只用于近重复分组；实体重复是虚假复用，学习信号按任务语义计算。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638550"/>
            <a:ext cx="1616583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426B86"/>
                </a:solidFill>
                <a:latin typeface="Courier New"/>
              </a:rPr>
              <a:t>同实体跨 split 即 FAIL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4700" y="2190750"/>
            <a:ext cx="2476500" cy="1714500"/>
          </a:xfrm>
          <a:prstGeom prst="roundRect">
            <a:avLst>
              <a:gd name="adj" fmla="val 10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5200" y="234315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② HASH 链账本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5200" y="2686050"/>
            <a:ext cx="2095500" cy="224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02A43"/>
                </a:solidFill>
                <a:latin typeface="Noto Sans CJK SC"/>
              </a:rPr>
              <a:t>训练日志级演化史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3028950"/>
            <a:ext cx="20955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RoundRecord 记录每轮"证据→诊断→层内变更→度量"；ScenarioLedger 链接批次。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3638550"/>
            <a:ext cx="942975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断链即不可审计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2190750"/>
            <a:ext cx="2476500" cy="1714500"/>
          </a:xfrm>
          <a:prstGeom prst="roundRect">
            <a:avLst>
              <a:gd name="adj" fmla="val 1000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4100" y="234315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F26B4B"/>
                </a:solidFill>
                <a:latin typeface="Courier New"/>
              </a:rPr>
              <a:t>③ 检查器族 · 代码执政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4100" y="2686050"/>
            <a:ext cx="2095500" cy="224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02A43"/>
                </a:solidFill>
                <a:latin typeface="Noto Sans CJK SC"/>
              </a:rPr>
              <a:t>规则有了执行器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4100" y="3028950"/>
            <a:ext cx="20955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层级触达、泄漏、治理引用保真（逐字对照）、门禁顺序——全部机器拒绝。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4100" y="3638550"/>
            <a:ext cx="801814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M2 起代码化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72500" y="2190750"/>
            <a:ext cx="2933700" cy="1714500"/>
          </a:xfrm>
          <a:prstGeom prst="roundRect">
            <a:avLst>
              <a:gd name="adj" fmla="val 10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0" y="2343150"/>
            <a:ext cx="25527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Courier New"/>
              </a:rPr>
              <a:t>④ 泳道报告 · 可视化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3000" y="2686050"/>
            <a:ext cx="2552700" cy="224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02A43"/>
                </a:solidFill>
                <a:latin typeface="Noto Sans CJK SC"/>
              </a:rPr>
              <a:t>四层证据泳道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0" y="3028950"/>
            <a:ext cx="25527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sample → solid → tool → knowledge → DAG → decision 的 lineage；指标下钻到 event/hash。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3000" y="3638550"/>
            <a:ext cx="1155954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自包含 HTML 工件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133850"/>
            <a:ext cx="19431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验证资产如何累积（回归门内）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438650"/>
            <a:ext cx="2133600" cy="1047750"/>
          </a:xfrm>
          <a:prstGeom prst="roundRect">
            <a:avLst>
              <a:gd name="adj" fmla="val 16363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失败模式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300" y="4914900"/>
            <a:ext cx="17526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Trace + 适用边界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4650" y="4705350"/>
            <a:ext cx="253365" cy="371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4700" y="4438650"/>
            <a:ext cx="2133600" cy="1047750"/>
          </a:xfrm>
          <a:prstGeom prst="roundRect">
            <a:avLst>
              <a:gd name="adj" fmla="val 1636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05200" y="461010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层内修正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05200" y="4914900"/>
            <a:ext cx="17526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新版本 + 证据引用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43550" y="4705350"/>
            <a:ext cx="253365" cy="371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4438650"/>
            <a:ext cx="2133600" cy="1047750"/>
          </a:xfrm>
          <a:prstGeom prst="roundRect">
            <a:avLst>
              <a:gd name="adj" fmla="val 16363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34100" y="461010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回归验证门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34100" y="4914900"/>
            <a:ext cx="17526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RegressionPool 通过 + Human 边界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72450" y="4705350"/>
            <a:ext cx="253365" cy="371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72500" y="4438650"/>
            <a:ext cx="2933700" cy="1047750"/>
          </a:xfrm>
          <a:prstGeom prst="roundRect">
            <a:avLst>
              <a:gd name="adj" fmla="val 1636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3000" y="4610100"/>
            <a:ext cx="25527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已验证资产（L3 版本化）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3000" y="4914900"/>
            <a:ext cx="25527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Skill 版本 + Memory + 证据引用 + 回滚指针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657850"/>
            <a:ext cx="10820400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772150"/>
            <a:ext cx="1038225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Project Dossier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 保存共享状态与上下文；Step / Episode 级 </a:t>
            </a:r>
            <a:r>
              <a:rPr sz="1600" b="1">
                <a:solidFill>
                  <a:srgbClr val="102A43"/>
                </a:solidFill>
                <a:latin typeface="Noto Sans CJK SC"/>
              </a:rPr>
              <a:t>Trace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 是唯一事实源；风险动作由 Human 门禁截断。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0"/>
            <a:ext cx="2238756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追溯底座 / Skill / 上下文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设计契约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10 / 12 · 交付物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交付的不是一张架构图，而是可复现的 AgentSolutionPackage。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方案版本、回归池、资产版本与回滚、实验历史、失败记录与运行边界，共同支撑五种合法结果。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52650"/>
            <a:ext cx="6477000" cy="3429000"/>
          </a:xfrm>
          <a:prstGeom prst="roundRect">
            <a:avLst>
              <a:gd name="adj" fmla="val 5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24100"/>
            <a:ext cx="1895094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AGENT SOLUTION PACKAGE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05100"/>
            <a:ext cx="6019800" cy="7239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900" y="2857500"/>
            <a:ext cx="6903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0750" y="2819400"/>
            <a:ext cx="451485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方案版本 + 四层资产 + 持续学习资产（可回滚）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105150"/>
            <a:ext cx="45148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说明为什么够用，以及为什么不需要更复杂方案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81400"/>
            <a:ext cx="6019800" cy="7239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900" y="3733800"/>
            <a:ext cx="6903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0750" y="3695700"/>
            <a:ext cx="451485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案例版本 + 方案版本 + 实验历史 + Trace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45148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可复验、可审计，保留成本与适用边界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457700"/>
            <a:ext cx="6019800" cy="8763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4610100"/>
            <a:ext cx="6903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0750" y="4572000"/>
            <a:ext cx="451485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权限 + Human 门禁 + 预算 + 异常 + 回滚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57750"/>
            <a:ext cx="45148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明确能做、不能做、由谁批准以及失败后如何恢复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53300" y="2152650"/>
            <a:ext cx="415290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1900" y="2324100"/>
            <a:ext cx="2529839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DELIVERY DECISION · 五种合法结果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1900" y="264795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34300" y="276225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01 全自动方案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1900" y="323850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34300" y="335280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02 部分自动化方案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1900" y="382905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34300" y="394335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03 降级方案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1900" y="441960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34300" y="453390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04 保留人工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1900" y="501015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34300" y="512445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05 拒绝自动化（有证据）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753100"/>
            <a:ext cx="10820400" cy="457200"/>
          </a:xfrm>
          <a:prstGeom prst="roundRect">
            <a:avLst>
              <a:gd name="adj" fmla="val 375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848350"/>
            <a:ext cx="1038225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02A43"/>
                </a:solidFill>
                <a:latin typeface="Noto Sans CJK SC"/>
              </a:rPr>
              <a:t>当前正式候选证据不足，无法给出前四种结果；本轮结论是 requires_runtime_trial。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0"/>
            <a:ext cx="110509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方案包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0" y="0"/>
            <a:ext cx="92487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可验收交付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11 / 12 · 当前进展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102A43"/>
                </a:solidFill>
                <a:latin typeface="Noto Sans CJK SC"/>
              </a:rPr>
              <a:t>证据账本：OpsPilot 为官方锚点，retail/airline 仅探索性 Demo。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621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每一层只回答它能证明的问题：官方案例、探索性可行性、正式候选验证绝不混写。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621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52650"/>
            <a:ext cx="3352800" cy="3048000"/>
          </a:xfrm>
          <a:prstGeom prst="roundRect">
            <a:avLst>
              <a:gd name="adj" fmla="val 5625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24100"/>
            <a:ext cx="28956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426B86"/>
                </a:solidFill>
                <a:latin typeface="Courier New"/>
              </a:rPr>
              <a:t>OFFICIAL ANCHOR · 官方案例锚点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86050"/>
            <a:ext cx="289560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OpsPilot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7050"/>
            <a:ext cx="28956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官方发布示例；结构、业务执行 Agent、事故样本与工具契约已代码级核验。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038600"/>
            <a:ext cx="2895600" cy="7429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4133850"/>
            <a:ext cx="259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证明：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案例与设计输入</a:t>
            </a:r>
          </a:p>
          <a:p>
            <a:r>
              <a:rPr sz="1600" b="1">
                <a:solidFill>
                  <a:srgbClr val="102A43"/>
                </a:solidFill>
                <a:latin typeface="Noto Sans CJK SC"/>
              </a:rPr>
              <a:t>不证明：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AgentFit 已运行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91000" y="2152650"/>
            <a:ext cx="3810000" cy="3048000"/>
          </a:xfrm>
          <a:prstGeom prst="roundRect">
            <a:avLst>
              <a:gd name="adj" fmla="val 5625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9600" y="2324100"/>
            <a:ext cx="33528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Courier New"/>
              </a:rPr>
              <a:t>EXPLORATORY DEMO · 探索性证据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9600" y="2686050"/>
            <a:ext cx="335280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retail / airline overnight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9600" y="3067050"/>
            <a:ext cx="33528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使用 DeepSeek、OpenCode、本地路径、自建工具与代理评估器，留下可追溯运行记录。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9600" y="4038600"/>
            <a:ext cx="3352800" cy="7429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9600" y="4133850"/>
            <a:ext cx="3352800" cy="3857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02A43"/>
                </a:solidFill>
                <a:latin typeface="Noto Sans CJK SC"/>
              </a:rPr>
              <a:t>证明：</a:t>
            </a:r>
            <a:r>
              <a:rPr sz="1500" b="0">
                <a:solidFill>
                  <a:srgbClr val="102A43"/>
                </a:solidFill>
                <a:latin typeface="Noto Sans CJK SC"/>
              </a:rPr>
              <a:t>探索路径与失败线索</a:t>
            </a:r>
          </a:p>
          <a:p>
            <a:r>
              <a:rPr sz="1500" b="1">
                <a:solidFill>
                  <a:srgbClr val="102A43"/>
                </a:solidFill>
                <a:latin typeface="Noto Sans CJK SC"/>
              </a:rPr>
              <a:t>不证明：</a:t>
            </a:r>
            <a:r>
              <a:rPr sz="1500" b="0">
                <a:solidFill>
                  <a:srgbClr val="102A43"/>
                </a:solidFill>
                <a:latin typeface="Noto Sans CJK SC"/>
              </a:rPr>
              <a:t>官方 evaluator / Candidate / 官方分数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3400" y="2152650"/>
            <a:ext cx="3352800" cy="3048000"/>
          </a:xfrm>
          <a:prstGeom prst="roundRect">
            <a:avLst>
              <a:gd name="adj" fmla="val 5625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2000" y="2324100"/>
            <a:ext cx="28956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F26B4B"/>
                </a:solidFill>
                <a:latin typeface="Courier New"/>
              </a:rPr>
              <a:t>IN_PROGRESS · 正式候选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2686050"/>
            <a:ext cx="289560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AgentFit runtime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3067050"/>
            <a:ext cx="28956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五元团队已实例化（Team Active）。R3 实测：106 事件、治理审查 SUCCESS（有条件）、未分配角色零活动；冻结与 C0–C3 对照仍未完成。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82000" y="4038600"/>
            <a:ext cx="2895600" cy="8763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4133850"/>
            <a:ext cx="27432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02A43"/>
                </a:solidFill>
                <a:latin typeface="Noto Sans CJK SC"/>
              </a:rPr>
              <a:t>待补：正式 Candidate / 真实 Episode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514850"/>
            <a:ext cx="2743200" cy="297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CandidateVersion × SampleVersion</a:t>
            </a:r>
          </a:p>
          <a:p>
            <a:r>
              <a:rPr sz="1300" b="1">
                <a:solidFill>
                  <a:srgbClr val="C64C32"/>
                </a:solidFill>
                <a:latin typeface="Courier New"/>
              </a:rPr>
              <a:t>× RunIndex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391150"/>
            <a:ext cx="10820400" cy="590550"/>
          </a:xfrm>
          <a:prstGeom prst="roundRect">
            <a:avLst>
              <a:gd name="adj" fmla="val 29032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505450"/>
            <a:ext cx="1038225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02A43"/>
                </a:solidFill>
                <a:latin typeface="Noto Sans CJK SC"/>
              </a:rPr>
              <a:t>OpsPilot 是官方案例锚点；retail / airline 仅为探索性 Demo，使用非官方 evaluator，不是正式 Candidate，也不是官方分数。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115050"/>
            <a:ext cx="108204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3697C"/>
                </a:solidFill>
                <a:latin typeface="Noto Sans CJK SC"/>
              </a:rPr>
              <a:t>若获准，下一门禁：冻结 ProjectCase → 在 AgentTeams 跑真实候选 → 由 GovernanceAuditor 审计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0"/>
            <a:ext cx="120986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证据账本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0" y="0"/>
            <a:ext cx="12392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候选对照仍待运行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12 / 12 · 从案例回到通用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102A43"/>
                </a:solidFill>
                <a:latin typeface="Noto Sans CJK SC"/>
              </a:rPr>
              <a:t>从 OpsPilot 回到通用：Fit 是有证据选对方案。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0495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OpsPilot 是第一个官方案例锚点；AgentFit 的通用价值，是让每个业务任务都得到最小充分的已验证方案，并伴随场景持续演化。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714500" y="2647950"/>
            <a:ext cx="8763000" cy="1905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266950"/>
            <a:ext cx="3200400" cy="2609850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5745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74A8C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09900"/>
            <a:ext cx="2743200" cy="258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Noto Sans CJK SC"/>
              </a:rPr>
              <a:t>从业务验收出发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29000"/>
            <a:ext cx="2743200" cy="242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solidFill>
                  <a:srgbClr val="C6D3DD"/>
                </a:solidFill>
                <a:latin typeface="Noto Sans CJK SC"/>
              </a:rPr>
              <a:t>材料与样本流先变成可验证 ProjectCase 与实体分组。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1151001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74A8C6"/>
                </a:solidFill>
                <a:latin typeface="Courier New"/>
              </a:rPr>
              <a:t>BUSINESS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500" y="3314700"/>
            <a:ext cx="276987" cy="4210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95800" y="2266950"/>
            <a:ext cx="3200400" cy="2609850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4400" y="245745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74D0C7"/>
                </a:solidFill>
                <a:latin typeface="Courier New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400" y="3009900"/>
            <a:ext cx="2743200" cy="258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Noto Sans CJK SC"/>
              </a:rPr>
              <a:t>层内受控地调整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4400" y="3429000"/>
            <a:ext cx="2743200" cy="242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solidFill>
                  <a:srgbClr val="C6D3DD"/>
                </a:solidFill>
                <a:latin typeface="Noto Sans CJK SC"/>
              </a:rPr>
              <a:t>先做最小候选；只根据失败证据按层内白名单调整完整方案。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4400" y="4476750"/>
            <a:ext cx="10742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74D0C7"/>
                </a:solidFill>
                <a:latin typeface="Courier New"/>
              </a:rPr>
              <a:t>EVIDENCE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0500" y="3314700"/>
            <a:ext cx="276987" cy="4210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05800" y="2266950"/>
            <a:ext cx="3200400" cy="2609850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34400" y="245745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D6A43B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3009900"/>
            <a:ext cx="2743200" cy="258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Noto Sans CJK SC"/>
              </a:rPr>
              <a:t>在新案例上停止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3429000"/>
            <a:ext cx="2743200" cy="242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solidFill>
                  <a:srgbClr val="C6D3DD"/>
                </a:solidFill>
                <a:latin typeface="Noto Sans CJK SC"/>
              </a:rPr>
              <a:t>交付最小充分方案包与持续学习资产；保留人工与拒绝自动化同样合法。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476750"/>
            <a:ext cx="920686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D6A43B"/>
                </a:solidFill>
                <a:latin typeface="Courier New"/>
              </a:rPr>
              <a:t>JUST ENOUGH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5181600"/>
            <a:ext cx="5334000" cy="800100"/>
          </a:xfrm>
          <a:prstGeom prst="roundRect">
            <a:avLst>
              <a:gd name="adj" fmla="val 21428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05200" y="5381625"/>
            <a:ext cx="5181600" cy="2190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0">
                <a:solidFill>
                  <a:srgbClr val="74D0C7"/>
                </a:solidFill>
                <a:latin typeface="Noto Sans CJK SC"/>
              </a:rPr>
              <a:t>FIT = SIMPLE · TESTED · SUFFICIENT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191250"/>
            <a:ext cx="10820400" cy="229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Noto Sans CJK SC"/>
              </a:rPr>
              <a:t>若获准，后续门禁：冻结 ProjectCase，在 AgentTeams 跑出首份真实证据 · requires_runtime_trial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0"/>
            <a:ext cx="1830133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GOAI AGENT INFRA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0" y="0"/>
            <a:ext cx="595884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Fit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A1 / 05 · HARD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七层 ML 映射升级为硬映射：持续学习视角。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不再是解释性类比：每个映射绑定机器可查对象（内容哈希 / 冻结签名 / 账本 / 指标）。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2150"/>
            <a:ext cx="5334000" cy="3238500"/>
          </a:xfrm>
          <a:prstGeom prst="roundRect">
            <a:avLst>
              <a:gd name="adj" fmla="val 5294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9550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74D0C7"/>
                </a:solidFill>
                <a:latin typeface="Courier New"/>
              </a:rPr>
              <a:t>AGENT → ML HARD MAPPING · 硬映射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6220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TaskSample ↔ 数据实例 → content_hash + 脱敏证据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4795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SampleSetManifest ×4 ↔ train/val/holdout/stress split → 冻结签名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3370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Candidate (G,Π,θ,ρ) ↔ 模型 + 超参 → candidate_version 哈希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1945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Episode ↔ 一次前向 → trace event_ids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0520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层内更新白名单 ↔ 离散信用分配（取代梯度假设）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9095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RegressionPool ↔ replay 回归套件 → 防灾难性遗忘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7670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复用率 / 缺口率曲线 ↔ 训练成本曲线；漂移探针 ↔ drift 检测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6750"/>
            <a:ext cx="4857750" cy="180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D6A43B"/>
                </a:solidFill>
                <a:latin typeface="Noto Sans CJK SC"/>
              </a:rPr>
              <a:t>实体污染警示：同名实体重复 ≠ 复用。设计推演（公开 retail 114 任务）：接口池 9→15，T3 起复用率 1.00。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962150"/>
            <a:ext cx="5334000" cy="2686050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095500"/>
            <a:ext cx="79057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候选四元组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62200"/>
            <a:ext cx="48577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Courier New"/>
              </a:rPr>
              <a:t>Candidate = (G, Π, θ, ρ)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667000"/>
            <a:ext cx="485775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G 能力图（节点带 layer 标签）· Π Agent 分区 · θ 局部参数 · ρ 跨分区共享范围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33700"/>
            <a:ext cx="485775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A8D85"/>
                </a:solidFill>
                <a:latin typeface="Noto Sans CJK SC"/>
              </a:rPr>
              <a:t>G · DAG 主干 + Π 分区中的有界 SCC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337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去重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9450" y="33528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9950" y="33337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检索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8600" y="33528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9100" y="3105150"/>
            <a:ext cx="1676400" cy="1047750"/>
          </a:xfrm>
          <a:prstGeom prst="rect">
            <a:avLst/>
          </a:prstGeom>
          <a:solidFill>
            <a:srgbClr val="FEF6F4"/>
          </a:solidFill>
          <a:ln w="19050">
            <a:solidFill>
              <a:srgbClr val="FE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4350" y="3162300"/>
            <a:ext cx="14859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C64C32"/>
                </a:solidFill>
                <a:latin typeface="Noto Sans CJK SC"/>
              </a:rPr>
              <a:t>Π · Agent A₁ 分区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4350" y="34099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定位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3000" y="34290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53500" y="34099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生成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43900" y="3781425"/>
            <a:ext cx="1066800" cy="19050"/>
          </a:xfrm>
          <a:prstGeom prst="rect">
            <a:avLst/>
          </a:prstGeom>
          <a:solidFill>
            <a:srgbClr val="1A8D85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2450" y="3686175"/>
            <a:ext cx="170688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A8D85"/>
                </a:solidFill>
                <a:latin typeface="Noto Sans CJK SC"/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58150" y="3848100"/>
            <a:ext cx="16573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生成 → 定位 · 最多 3 次 · 未通过退出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3600" y="34290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44100" y="34099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测试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2750" y="34290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63250" y="34099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人工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267200"/>
            <a:ext cx="485775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主干顺序推进；局部返回边形成 SCC，并由重试上限终止。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495800"/>
            <a:ext cx="4857750" cy="185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θ = Prompt / 阈值 / 重试 · ρ = 仓库 / 记忆 / 通信的共享边界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4781550"/>
            <a:ext cx="2571750" cy="1695450"/>
          </a:xfrm>
          <a:prstGeom prst="roundRect">
            <a:avLst>
              <a:gd name="adj" fmla="val 10112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914900"/>
            <a:ext cx="2152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INNER · 层内拟合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143500"/>
            <a:ext cx="215265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涉案层参数微调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410200"/>
            <a:ext cx="215265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固定 G / Π / ρ；只动涉案层 θ；DSPy / TextGrad 可插拔，不入自研。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6076950"/>
            <a:ext cx="215265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A8D85"/>
                </a:solidFill>
                <a:latin typeface="Noto Sans CJK SC"/>
              </a:rPr>
              <a:t>优化器是工具，不是产品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34450" y="4781550"/>
            <a:ext cx="2571750" cy="1695450"/>
          </a:xfrm>
          <a:prstGeom prst="roundRect">
            <a:avLst>
              <a:gd name="adj" fmla="val 10112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3050" y="4914900"/>
            <a:ext cx="2152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C64C32"/>
                </a:solidFill>
                <a:latin typeface="Courier New"/>
              </a:rPr>
              <a:t>OUTER · 候选对照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3050" y="5143500"/>
            <a:ext cx="215265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对照即回归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3050" y="5410200"/>
            <a:ext cx="215265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新候选必须在旧冻结样本上不退化方可胜出；不预设多 Agent 胜出。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3050" y="6076950"/>
            <a:ext cx="215265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C64C32"/>
                </a:solidFill>
                <a:latin typeface="Noto Sans CJK SC"/>
              </a:rPr>
              <a:t>防过拟合新批次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5353050"/>
            <a:ext cx="5334000" cy="1123950"/>
          </a:xfrm>
          <a:prstGeom prst="roundRect">
            <a:avLst>
              <a:gd name="adj" fmla="val 15254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48640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Courier New"/>
              </a:rPr>
              <a:t>类比边界 · 非实现声明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5734050"/>
            <a:ext cx="49530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五阶段闭环 = 持续学习的单轮骨架；硬映射为设计契约，M2 起代码化。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6076950"/>
            <a:ext cx="495300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Schema、检查器族、账本校验均未实现；不声明训练、自动搜索或跨场景 Meta-learning。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0"/>
            <a:ext cx="306438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SAMPLE × TASK × CAPABILITY × SEARCH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技术附录 · A1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A2 / 05 · AGENT IDENTITY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五个 Agent Identity：判断权、状态边界与责任产物。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五个固定元 Agent 各守一个判断边界；身份不能互相冒充，责任产物必须进入 Trace。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2150"/>
            <a:ext cx="2076450" cy="2857500"/>
          </a:xfrm>
          <a:prstGeom prst="roundRect">
            <a:avLst>
              <a:gd name="adj" fmla="val 825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200" y="2095500"/>
            <a:ext cx="149275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426B86"/>
                </a:solidFill>
                <a:latin typeface="Courier New"/>
              </a:rPr>
              <a:t>01 交付官 · 元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362200"/>
            <a:ext cx="179070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743200"/>
            <a:ext cx="179070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继续、停止、交付或升级 Human。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810000"/>
            <a:ext cx="1790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426B86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426B86"/>
                </a:solidFill>
                <a:latin typeface="Noto Sans CJK SC"/>
              </a:rPr>
              <a:t>项目简报 / 决议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6550" y="1962150"/>
            <a:ext cx="2076450" cy="2857500"/>
          </a:xfrm>
          <a:prstGeom prst="roundRect">
            <a:avLst>
              <a:gd name="adj" fmla="val 825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28950" y="2095500"/>
            <a:ext cx="174040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02 业务架构师 · 元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8950" y="2362200"/>
            <a:ext cx="179070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8950" y="2743200"/>
            <a:ext cx="179070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案例是否代表业务，验收能否冻结。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950" y="3810000"/>
            <a:ext cx="1790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1A8D85"/>
                </a:solidFill>
                <a:latin typeface="Noto Sans CJK SC"/>
              </a:rPr>
              <a:t>任务说明书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67300" y="1962150"/>
            <a:ext cx="2076450" cy="2857500"/>
          </a:xfrm>
          <a:prstGeom prst="roundRect">
            <a:avLst>
              <a:gd name="adj" fmla="val 825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9700" y="2095500"/>
            <a:ext cx="174040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03 方案架构师 · 元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9700" y="2362200"/>
            <a:ext cx="179070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9700" y="2743200"/>
            <a:ext cx="179070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失败需要调整哪一维，复杂度是否必要。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9700" y="3810000"/>
            <a:ext cx="1790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1A8D85"/>
                </a:solidFill>
                <a:latin typeface="Noto Sans CJK SC"/>
              </a:rPr>
              <a:t>候选方案集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8050" y="1962150"/>
            <a:ext cx="2076450" cy="2857500"/>
          </a:xfrm>
          <a:prstGeom prst="roundRect">
            <a:avLst>
              <a:gd name="adj" fmla="val 825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0450" y="2095500"/>
            <a:ext cx="174040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04 验证工程师 · 元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0450" y="2362200"/>
            <a:ext cx="179070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0450" y="2743200"/>
            <a:ext cx="179070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运行是否合规，数据是否足以比较。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0450" y="3810000"/>
            <a:ext cx="1790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1A8D85"/>
                </a:solidFill>
                <a:latin typeface="Noto Sans CJK SC"/>
              </a:rPr>
              <a:t>Execution Trace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48800" y="1962150"/>
            <a:ext cx="2057400" cy="2857500"/>
          </a:xfrm>
          <a:prstGeom prst="roundRect">
            <a:avLst>
              <a:gd name="adj" fmla="val 8333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0" y="2095500"/>
            <a:ext cx="149275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D6A43B"/>
                </a:solidFill>
                <a:latin typeface="Courier New"/>
              </a:rPr>
              <a:t>05 审计官 · 元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362200"/>
            <a:ext cx="177165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2743200"/>
            <a:ext cx="177165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证据能否支持选择、否决、降级与停止。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810000"/>
            <a:ext cx="17716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D6A43B"/>
                </a:solidFill>
                <a:latin typeface="Noto Sans CJK SC"/>
              </a:rPr>
              <a:t>决策账本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991100"/>
            <a:ext cx="10820400" cy="1143000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143500"/>
            <a:ext cx="435940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Identity 契约 · 元 Agent 与候选业务执行 Agent 使用同一字段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448300"/>
            <a:ext cx="103822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Name · Role · Capabilities · Inputs · Outputs · Dependencies · Decision Boundary · Trace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10250"/>
            <a:ext cx="103822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F26B4B"/>
                </a:solidFill>
                <a:latin typeface="Noto Sans CJK SC"/>
              </a:rPr>
              <a:t>候选冻结后，仅 GovernanceAuditor 消费 sealed holdout；其他角色不得读取。设计契约，非运行证据。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0"/>
            <a:ext cx="131464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五元责任链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0" y="0"/>
            <a:ext cx="119519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设计 Identity · A2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A3 / 05 · SKILL / MCP 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七个 Skill、Tool 与 MCP/HTTP 契约、Memory 与 Trace。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Tool、Skill、MCP、Memory 各有边界；验证门只把有新案例证据的版本提升为可复用资产。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2150"/>
            <a:ext cx="10820400" cy="914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14550"/>
            <a:ext cx="113919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SEVEN SKILLS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6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1 任务编译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22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2 能力对齐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8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3 候选建图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054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4 统一试验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5 独立审计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86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D6A43B"/>
                </a:solidFill>
                <a:latin typeface="Noto Sans CJK SC"/>
              </a:rPr>
              <a:t>6 人工门禁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400300"/>
            <a:ext cx="1905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0200" y="2428875"/>
            <a:ext cx="17526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7 经验沉淀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048000"/>
            <a:ext cx="2476500" cy="2190750"/>
          </a:xfrm>
          <a:prstGeom prst="roundRect">
            <a:avLst>
              <a:gd name="adj" fmla="val 782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3200400"/>
            <a:ext cx="124777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TOOL · L2 封装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" y="3524250"/>
            <a:ext cx="20955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一个原子动作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300" y="3867150"/>
            <a:ext cx="20955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最小权限；明确输入输出；不承载跨步骤方法。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6300" y="4914900"/>
            <a:ext cx="2095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读 / 写 / 查询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14700" y="3048000"/>
            <a:ext cx="2476500" cy="2190750"/>
          </a:xfrm>
          <a:prstGeom prst="roundRect">
            <a:avLst>
              <a:gd name="adj" fmla="val 782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5200" y="3200400"/>
            <a:ext cx="133635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SKILL · L3 知识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5200" y="3524250"/>
            <a:ext cx="20955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版本化方法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5200" y="3867150"/>
            <a:ext cx="20955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组织 Tool 与判断步骤；含失败处理、安全边界和回归案例。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5200" y="4914900"/>
            <a:ext cx="107632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验证前不得晋升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0" y="3048000"/>
            <a:ext cx="2476500" cy="2190750"/>
          </a:xfrm>
          <a:prstGeom prst="roundRect">
            <a:avLst>
              <a:gd name="adj" fmla="val 782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4100" y="3200400"/>
            <a:ext cx="177927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MCP / HTTP · L2 封装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4100" y="3524250"/>
            <a:ext cx="20955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外部系统契约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34100" y="3867150"/>
            <a:ext cx="20955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Schema、鉴权、幂等、错误码和审计字段齐备才接入。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34100" y="4914900"/>
            <a:ext cx="107632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真实绑定未实现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72500" y="3048000"/>
            <a:ext cx="2933700" cy="2190750"/>
          </a:xfrm>
          <a:prstGeom prst="roundRect">
            <a:avLst>
              <a:gd name="adj" fmla="val 7826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63000" y="3200400"/>
            <a:ext cx="142494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D6A43B"/>
                </a:solidFill>
                <a:latin typeface="Courier New"/>
              </a:rPr>
              <a:t>MEMORY · L3 知识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63000" y="3524250"/>
            <a:ext cx="25527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已验证经验资产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63000" y="3867150"/>
            <a:ext cx="25527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保存适用边界、失败模式、Skill 版本和证据引用；原始猜测不进入 Memory。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3000" y="4914900"/>
            <a:ext cx="140493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A5781C"/>
                </a:solidFill>
                <a:latin typeface="Courier New"/>
              </a:rPr>
              <a:t>Dossier + Trace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410200"/>
            <a:ext cx="10820400" cy="704850"/>
          </a:xfrm>
          <a:prstGeom prst="roundRect">
            <a:avLst>
              <a:gd name="adj" fmla="val 2432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524500"/>
            <a:ext cx="79057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资产晋升门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33600" y="5505450"/>
            <a:ext cx="91440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02A43"/>
                </a:solidFill>
                <a:latin typeface="Noto Sans CJK SC"/>
              </a:rPr>
              <a:t>失败模式 → 层内修正 + 证据引用 → RegressionPool 回归 → Human / Governance 审批 → 已验证 Skill + Memory（L3 版本化）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210300"/>
            <a:ext cx="108204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3697C"/>
                </a:solidFill>
                <a:latin typeface="Noto Sans CJK SC"/>
              </a:rPr>
              <a:t>设计契约，非运行证据 · Project Dossier 保存共享状态，Step / Episode 级 Trace 保存轨迹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0"/>
            <a:ext cx="201453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Skill / MCP / 上下文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技术附录 · A3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A4 / 05 · HUMAN / RISK / ROLLBACK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4400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1">
                <a:solidFill>
                  <a:srgbClr val="102A43"/>
                </a:solidFill>
                <a:latin typeface="Noto Sans CJK SC"/>
              </a:rPr>
              <a:t>Human 门禁、风险、异常与回滚。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Human 是闭环中的正式能力：高风险动作先停在门外，异常沿同一 Trace 进入降级、回滚或拒绝。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43100"/>
            <a:ext cx="251364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D6A43B"/>
                </a:solidFill>
                <a:latin typeface="Courier New"/>
              </a:rPr>
              <a:t>HUMAN GATE · 一条可审计控制路径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76400" y="2571750"/>
            <a:ext cx="8839200" cy="19050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190750"/>
            <a:ext cx="1981200" cy="1066800"/>
          </a:xfrm>
          <a:prstGeom prst="roundRect">
            <a:avLst>
              <a:gd name="adj" fmla="val 16071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2381250"/>
            <a:ext cx="16002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动作请求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2705100"/>
            <a:ext cx="16002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范围、权限、预算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7500" y="2190750"/>
            <a:ext cx="1981200" cy="1066800"/>
          </a:xfrm>
          <a:prstGeom prst="roundRect">
            <a:avLst>
              <a:gd name="adj" fmla="val 16071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8000" y="2381250"/>
            <a:ext cx="16002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风险分类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2705100"/>
            <a:ext cx="16002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可逆性与责任边界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190750"/>
            <a:ext cx="1981200" cy="1066800"/>
          </a:xfrm>
          <a:prstGeom prst="roundRect">
            <a:avLst>
              <a:gd name="adj" fmla="val 16071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9700" y="2381250"/>
            <a:ext cx="16002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Human 审批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9700" y="2705100"/>
            <a:ext cx="16002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批准 / 拒绝 / 超时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0900" y="2190750"/>
            <a:ext cx="1981200" cy="1066800"/>
          </a:xfrm>
          <a:prstGeom prst="roundRect">
            <a:avLst>
              <a:gd name="adj" fmla="val 16071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1400" y="2381250"/>
            <a:ext cx="16002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受控执行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1400" y="2705100"/>
            <a:ext cx="16002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最小范围 + Trace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72600" y="2190750"/>
            <a:ext cx="2133600" cy="1066800"/>
          </a:xfrm>
          <a:prstGeom prst="roundRect">
            <a:avLst>
              <a:gd name="adj" fmla="val 16071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63100" y="238125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验证 / 回滚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3100" y="2705100"/>
            <a:ext cx="17526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失败即停并保留证据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448050"/>
            <a:ext cx="10820400" cy="666750"/>
          </a:xfrm>
          <a:prstGeom prst="roundRect">
            <a:avLst>
              <a:gd name="adj" fmla="val 25714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562350"/>
            <a:ext cx="1038225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53697C"/>
                </a:solidFill>
                <a:latin typeface="Noto Sans CJK SC"/>
              </a:rPr>
              <a:t>必须人工批准：</a:t>
            </a:r>
            <a:r>
              <a:rPr sz="1600" b="0">
                <a:solidFill>
                  <a:srgbClr val="53697C"/>
                </a:solidFill>
                <a:latin typeface="Noto Sans CJK SC"/>
              </a:rPr>
              <a:t>外部系统写入 · 真实发布部署 · 责任转移 · 密钥/敏感数据访问 · 预算提升 · 交付决议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29050"/>
            <a:ext cx="1038225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F26B4B"/>
                </a:solidFill>
                <a:latin typeface="Noto Sans CJK SC"/>
              </a:rPr>
              <a:t>无批准 = 拒绝执行或安全降级 + 保留证据；不可逆操作默认拒绝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305300"/>
            <a:ext cx="7086600" cy="1714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457700"/>
            <a:ext cx="6629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Courier New"/>
              </a:rPr>
              <a:t>异常与恢复 · 同一 Trace 语义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762500"/>
            <a:ext cx="6629400" cy="441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六类异常进入同一 Trace 语义：Agent 不可用 · Schema 非法 · 预算耗尽</a:t>
            </a:r>
          </a:p>
          <a:p>
            <a:r>
              <a:rPr sz="1600" b="0">
                <a:solidFill>
                  <a:srgbClr val="53697C"/>
                </a:solidFill>
                <a:latin typeface="Noto Sans CJK SC"/>
              </a:rPr>
              <a:t>通信异常 · holdout 泄漏 · 循环失控。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372100"/>
            <a:ext cx="6629400" cy="441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对应恢复：阶段暂停 · 拒绝推进 · 硬停止</a:t>
            </a:r>
          </a:p>
          <a:p>
            <a:r>
              <a:rPr sz="1600" b="0">
                <a:solidFill>
                  <a:srgbClr val="53697C"/>
                </a:solidFill>
                <a:latin typeface="Noto Sans CJK SC"/>
              </a:rPr>
              <a:t>幂等重发 · 本轮无效 · 达上限停止。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24800" y="4305300"/>
            <a:ext cx="3581400" cy="1714500"/>
          </a:xfrm>
          <a:prstGeom prst="roundRect">
            <a:avLst>
              <a:gd name="adj" fmla="val 1000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3400" y="4457700"/>
            <a:ext cx="3124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Courier New"/>
              </a:rPr>
              <a:t>允许的动作档位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53400" y="4800600"/>
            <a:ext cx="14859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4829175"/>
            <a:ext cx="133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只读诊断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91700" y="4800600"/>
            <a:ext cx="14859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67900" y="4829175"/>
            <a:ext cx="133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低风险执行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53400" y="5257800"/>
            <a:ext cx="14859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5286375"/>
            <a:ext cx="133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D6A43B"/>
                </a:solidFill>
                <a:latin typeface="Noto Sans CJK SC"/>
              </a:rPr>
              <a:t>灰度 + 审批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91700" y="5257800"/>
            <a:ext cx="14859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67900" y="5286375"/>
            <a:ext cx="133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26B4B"/>
                </a:solidFill>
                <a:latin typeface="Noto Sans CJK SC"/>
              </a:rPr>
              <a:t>只生成方案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6210300"/>
            <a:ext cx="108204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3697C"/>
                </a:solidFill>
                <a:latin typeface="Noto Sans CJK SC"/>
              </a:rPr>
              <a:t>设计契约，非运行证据 · 成功与失败同等留证 · 完整清单见 risk-and-human-gates.md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0"/>
            <a:ext cx="120986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安全设计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技术附录 · A4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A5 / 05 · 开放 / 依赖 / 当前边界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开放、依赖、许可证、baseline 引用与未实现边界。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仓库当前为私有，项目许可证尚未选择；任何“已开源”声明都不成立。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2150"/>
            <a:ext cx="3505200" cy="3143250"/>
          </a:xfrm>
          <a:prstGeom prst="roundRect">
            <a:avLst>
              <a:gd name="adj" fmla="val 5454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14550"/>
            <a:ext cx="125768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计划开放 · 未发布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38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任务 / 能力 / 候选 / Trace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9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五个 Agent Identity 与七个 Skill 契约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评测与 Human 门禁模板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81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脱敏样例与生成链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67200"/>
            <a:ext cx="30861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A8D85"/>
                </a:solidFill>
                <a:latin typeface="Noto Sans CJK SC"/>
              </a:rPr>
              <a:t>开放前门禁：选 License · 清点第三方许可 · 完成脱敏与复现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962150"/>
            <a:ext cx="3505200" cy="3143250"/>
          </a:xfrm>
          <a:prstGeom prst="roundRect">
            <a:avLst>
              <a:gd name="adj" fmla="val 5454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114550"/>
            <a:ext cx="179108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Courier New"/>
              </a:rPr>
              <a:t>依赖与既有基础 · 必须披露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38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AgentTeams：运行底座（官方 baseline 亦基于它）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19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商业 LLM API：闭源模型依赖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200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OpsPilot Zero：官方发布示例，作 baseline 与首个 ProjectCase 参考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7338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官方 Skills / MCP：按需复用；Higress / Nacos：随 AgentTeams 内置复用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1148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第三方库：固定版本与许可证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648200"/>
            <a:ext cx="30861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D6A43B"/>
                </a:solidFill>
                <a:latin typeface="Noto Sans CJK SC"/>
              </a:rPr>
              <a:t>密钥由基础设施持有，不进 Agent 上下文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962150"/>
            <a:ext cx="3505200" cy="3143250"/>
          </a:xfrm>
          <a:prstGeom prst="roundRect">
            <a:avLst>
              <a:gd name="adj" fmla="val 5454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114550"/>
            <a:ext cx="192443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F26B4B"/>
                </a:solidFill>
                <a:latin typeface="Courier New"/>
              </a:rPr>
              <a:t>当前未实现 · 不包装成完成态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38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机器可执行 Schema 与自动候选搜索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819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真实 ProjectCase 与冻结 manifest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200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AgentFit × AgentTeams 端到端集成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581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统一预算下的 C0/C1/C2/C3 对照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962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真实 Episode、Trace 与 ROI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343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跨场景迁移（远期）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724400"/>
            <a:ext cx="30861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F26B4B"/>
                </a:solidFill>
                <a:latin typeface="Noto Sans CJK SC"/>
              </a:rPr>
              <a:t>未达可复现门禁时不提交代码包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276850"/>
            <a:ext cx="10820400" cy="876300"/>
          </a:xfrm>
          <a:prstGeom prst="roundRect">
            <a:avLst>
              <a:gd name="adj" fmla="val 19565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10200"/>
            <a:ext cx="2476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baseline 引用与核验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76900"/>
            <a:ext cx="10382250" cy="193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OpsPilot Zero（官方示例 DEMO，代码级审计）· GOAI Agent Infra 赛道官网参考方向（核验 2026-08-10，仅场景启发）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981700"/>
            <a:ext cx="1038225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718190"/>
                </a:solidFill>
                <a:latin typeface="Noto Sans CJK SC"/>
              </a:rPr>
              <a:t>官网参考案例与 baseline 均非 AgentFit 运行证据；设计契约，非运行证据。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0"/>
            <a:ext cx="120986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当前事实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技术附录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