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01 / 12 · AGENTFIT</a:t>
            </a:r>
          </a:p>
        </p:txBody>
      </p:sp>
      <p:sp>
        <p:nvSpPr>
          <p:cNvPr id="4" name="h2p-1-text-3"/>
          <p:cNvSpPr txBox="1"/>
          <p:nvPr/>
        </p:nvSpPr>
        <p:spPr>
          <a:xfrm>
            <a:off x="685800" y="800100"/>
            <a:ext cx="6995160" cy="1193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350">
                <a:solidFill>
                  <a:srgbClr val="FFFFFF"/>
                </a:solidFill>
                <a:latin typeface="Noto Sans CJK SC"/>
              </a:rPr>
              <a:t>Agent 架构</a:t>
            </a:r>
          </a:p>
          <a:p>
            <a:pPr marL="0" indent="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350">
                <a:solidFill>
                  <a:srgbClr val="FFFFFF"/>
                </a:solidFill>
                <a:latin typeface="Noto Sans CJK SC"/>
              </a:rPr>
              <a:t>不该靠猜。</a:t>
            </a:r>
          </a:p>
        </p:txBody>
      </p:sp>
      <p:sp>
        <p:nvSpPr>
          <p:cNvPr id="5" name="h2p-1-text-4"/>
          <p:cNvSpPr txBox="1"/>
          <p:nvPr/>
        </p:nvSpPr>
        <p:spPr>
          <a:xfrm>
            <a:off x="705002" y="2190902"/>
            <a:ext cx="6703466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6D3DD"/>
                </a:solidFill>
                <a:latin typeface="Noto Sans CJK SC"/>
              </a:rPr>
              <a:t>给业务任务量体裁衣，寻找“刚好够用”的 Agent 方案。</a:t>
            </a:r>
          </a:p>
        </p:txBody>
      </p:sp>
      <p:sp>
        <p:nvSpPr>
          <p:cNvPr id="6" name="h2p-1-box-5"/>
          <p:cNvSpPr/>
          <p:nvPr/>
        </p:nvSpPr>
        <p:spPr>
          <a:xfrm>
            <a:off x="7334402" y="705002"/>
            <a:ext cx="4171492" cy="4438497"/>
          </a:xfrm>
          <a:prstGeom prst="roundRect">
            <a:avLst>
              <a:gd name="adj" fmla="val 594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-text-6"/>
          <p:cNvSpPr txBox="1"/>
          <p:nvPr/>
        </p:nvSpPr>
        <p:spPr>
          <a:xfrm>
            <a:off x="7658100" y="990295"/>
            <a:ext cx="136062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同一任务 · 四种候选</a:t>
            </a:r>
          </a:p>
        </p:txBody>
      </p:sp>
      <p:sp>
        <p:nvSpPr>
          <p:cNvPr id="8" name="h2p-1-box-7"/>
          <p:cNvSpPr/>
          <p:nvPr/>
        </p:nvSpPr>
        <p:spPr>
          <a:xfrm>
            <a:off x="7658100" y="1410004"/>
            <a:ext cx="1428292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1-text-8"/>
          <p:cNvSpPr txBox="1"/>
          <p:nvPr/>
        </p:nvSpPr>
        <p:spPr>
          <a:xfrm>
            <a:off x="7779715" y="1495044"/>
            <a:ext cx="118506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D3DD"/>
                </a:solidFill>
                <a:latin typeface="Noto Sans Mono CJK SC"/>
              </a:rPr>
              <a:t>0 Agent</a:t>
            </a:r>
          </a:p>
        </p:txBody>
      </p:sp>
      <p:sp>
        <p:nvSpPr>
          <p:cNvPr id="10" name="h2p-1-box-9"/>
          <p:cNvSpPr/>
          <p:nvPr/>
        </p:nvSpPr>
        <p:spPr>
          <a:xfrm>
            <a:off x="9753904" y="1410004"/>
            <a:ext cx="1428292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1-text-10"/>
          <p:cNvSpPr txBox="1"/>
          <p:nvPr/>
        </p:nvSpPr>
        <p:spPr>
          <a:xfrm>
            <a:off x="9875520" y="1495044"/>
            <a:ext cx="118506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D3DD"/>
                </a:solidFill>
                <a:latin typeface="Noto Sans Mono CJK SC"/>
              </a:rPr>
              <a:t>1 Agent</a:t>
            </a:r>
          </a:p>
        </p:txBody>
      </p:sp>
      <p:sp>
        <p:nvSpPr>
          <p:cNvPr id="12" name="h2p-1-box-11"/>
          <p:cNvSpPr/>
          <p:nvPr/>
        </p:nvSpPr>
        <p:spPr>
          <a:xfrm>
            <a:off x="7658100" y="2133295"/>
            <a:ext cx="1428292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1-text-12"/>
          <p:cNvSpPr txBox="1"/>
          <p:nvPr/>
        </p:nvSpPr>
        <p:spPr>
          <a:xfrm>
            <a:off x="7779715" y="2219248"/>
            <a:ext cx="118506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D3DD"/>
                </a:solidFill>
                <a:latin typeface="Noto Sans Mono CJK SC"/>
              </a:rPr>
              <a:t>N Agents</a:t>
            </a:r>
          </a:p>
        </p:txBody>
      </p:sp>
      <p:sp>
        <p:nvSpPr>
          <p:cNvPr id="14" name="h2p-1-box-13"/>
          <p:cNvSpPr/>
          <p:nvPr/>
        </p:nvSpPr>
        <p:spPr>
          <a:xfrm>
            <a:off x="9753904" y="2133295"/>
            <a:ext cx="1428292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1-text-14"/>
          <p:cNvSpPr txBox="1"/>
          <p:nvPr/>
        </p:nvSpPr>
        <p:spPr>
          <a:xfrm>
            <a:off x="9875520" y="2219248"/>
            <a:ext cx="118506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Human 混合</a:t>
            </a:r>
          </a:p>
        </p:txBody>
      </p:sp>
      <p:sp>
        <p:nvSpPr>
          <p:cNvPr id="16" name="h2p-1-box-15"/>
          <p:cNvSpPr/>
          <p:nvPr/>
        </p:nvSpPr>
        <p:spPr>
          <a:xfrm>
            <a:off x="8363102" y="1790395"/>
            <a:ext cx="19202" cy="1656892"/>
          </a:xfrm>
          <a:prstGeom prst="rect">
            <a:avLst/>
          </a:prstGeom>
          <a:solidFill>
            <a:srgbClr val="285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2p-1-box-16"/>
          <p:cNvSpPr/>
          <p:nvPr/>
        </p:nvSpPr>
        <p:spPr>
          <a:xfrm>
            <a:off x="10458907" y="1790395"/>
            <a:ext cx="19202" cy="1656892"/>
          </a:xfrm>
          <a:prstGeom prst="rect">
            <a:avLst/>
          </a:prstGeom>
          <a:solidFill>
            <a:srgbClr val="285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-box-17"/>
          <p:cNvSpPr/>
          <p:nvPr/>
        </p:nvSpPr>
        <p:spPr>
          <a:xfrm>
            <a:off x="8363102" y="3429000"/>
            <a:ext cx="2114092" cy="19202"/>
          </a:xfrm>
          <a:prstGeom prst="rect">
            <a:avLst/>
          </a:prstGeom>
          <a:solidFill>
            <a:srgbClr val="285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1-text-18"/>
          <p:cNvSpPr txBox="1"/>
          <p:nvPr/>
        </p:nvSpPr>
        <p:spPr>
          <a:xfrm>
            <a:off x="9315907" y="3276295"/>
            <a:ext cx="291693" cy="418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>
                <a:solidFill>
                  <a:srgbClr val="74D0C7"/>
                </a:solidFill>
                <a:latin typeface="Noto Sans CJK SC"/>
              </a:rPr>
              <a:t>↓</a:t>
            </a:r>
          </a:p>
        </p:txBody>
      </p:sp>
      <p:sp>
        <p:nvSpPr>
          <p:cNvPr id="20" name="h2p-1-box-19"/>
          <p:cNvSpPr/>
          <p:nvPr/>
        </p:nvSpPr>
        <p:spPr>
          <a:xfrm>
            <a:off x="8172907" y="3771900"/>
            <a:ext cx="2476195" cy="875995"/>
          </a:xfrm>
          <a:prstGeom prst="roundRect">
            <a:avLst>
              <a:gd name="adj" fmla="val 17390"/>
            </a:avLst>
          </a:prstGeom>
          <a:solidFill>
            <a:srgbClr val="132F47"/>
          </a:solidFill>
          <a:ln w="3810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1-text-20"/>
          <p:cNvSpPr txBox="1"/>
          <p:nvPr/>
        </p:nvSpPr>
        <p:spPr>
          <a:xfrm>
            <a:off x="8302752" y="4048048"/>
            <a:ext cx="2214676" cy="267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100">
                <a:solidFill>
                  <a:srgbClr val="74D0C7"/>
                </a:solidFill>
                <a:latin typeface="Noto Sans Mono CJK SC"/>
              </a:rPr>
              <a:t>FIT</a:t>
            </a:r>
          </a:p>
        </p:txBody>
      </p:sp>
      <p:sp>
        <p:nvSpPr>
          <p:cNvPr id="22" name="h2p-1-text-21"/>
          <p:cNvSpPr txBox="1"/>
          <p:nvPr/>
        </p:nvSpPr>
        <p:spPr>
          <a:xfrm>
            <a:off x="7817205" y="4800600"/>
            <a:ext cx="3205886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6D3DD"/>
                </a:solidFill>
                <a:latin typeface="Noto Sans CJK SC"/>
              </a:rPr>
              <a:t>统一验收 · 最小复杂度 · 可审计</a:t>
            </a:r>
          </a:p>
        </p:txBody>
      </p:sp>
      <p:sp>
        <p:nvSpPr>
          <p:cNvPr id="23" name="h2p-1-box-22"/>
          <p:cNvSpPr/>
          <p:nvPr/>
        </p:nvSpPr>
        <p:spPr>
          <a:xfrm>
            <a:off x="685800" y="3448202"/>
            <a:ext cx="6096304" cy="1695297"/>
          </a:xfrm>
          <a:prstGeom prst="roundRect">
            <a:avLst>
              <a:gd name="adj" fmla="val 10110"/>
            </a:avLst>
          </a:prstGeom>
          <a:solidFill>
            <a:srgbClr val="132F47"/>
          </a:solidFill>
          <a:ln w="19050">
            <a:solidFill>
              <a:srgbClr val="2851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1-text-23"/>
          <p:cNvSpPr txBox="1"/>
          <p:nvPr/>
        </p:nvSpPr>
        <p:spPr>
          <a:xfrm>
            <a:off x="952804" y="3696004"/>
            <a:ext cx="252557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AGENT 方案建筑师</a:t>
            </a:r>
          </a:p>
        </p:txBody>
      </p:sp>
      <p:sp>
        <p:nvSpPr>
          <p:cNvPr id="25" name="h2p-1-text-24"/>
          <p:cNvSpPr txBox="1"/>
          <p:nvPr/>
        </p:nvSpPr>
        <p:spPr>
          <a:xfrm>
            <a:off x="952804" y="4038904"/>
            <a:ext cx="5673852" cy="5522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FFFFFF"/>
                </a:solidFill>
                <a:latin typeface="Noto Sans CJK SC"/>
              </a:rPr>
              <a:t>把业务任务与可用能力编译成可搜索的架构空间，</a:t>
            </a:r>
          </a:p>
          <a:p>
            <a:pPr marL="0" indent="0" algn="l">
              <a:lnSpc>
                <a:spcPts val="2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FFFFFF"/>
                </a:solidFill>
                <a:latin typeface="Noto Sans CJK SC"/>
              </a:rPr>
              <a:t>通过统一评测选择最小充分方案。</a:t>
            </a:r>
          </a:p>
        </p:txBody>
      </p:sp>
      <p:sp>
        <p:nvSpPr>
          <p:cNvPr id="26" name="h2p-1-text-25"/>
          <p:cNvSpPr txBox="1"/>
          <p:nvPr/>
        </p:nvSpPr>
        <p:spPr>
          <a:xfrm>
            <a:off x="952804" y="4762195"/>
            <a:ext cx="5673852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D6A43B"/>
                </a:solidFill>
                <a:latin typeface="Noto Sans CJK SC"/>
              </a:rPr>
              <a:t>合法答案也可以是：保留人工 / 拒绝自动化</a:t>
            </a:r>
          </a:p>
        </p:txBody>
      </p:sp>
      <p:sp>
        <p:nvSpPr>
          <p:cNvPr id="27" name="h2p-1-text-26"/>
          <p:cNvSpPr txBox="1"/>
          <p:nvPr/>
        </p:nvSpPr>
        <p:spPr>
          <a:xfrm>
            <a:off x="685800" y="5581497"/>
            <a:ext cx="11036808" cy="270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FFFFFF"/>
                </a:solidFill>
                <a:latin typeface="Noto Sans CJK SC"/>
              </a:rPr>
              <a:t>AgentFit 运行在 AgentTeams 上 · 方案选择，不重造运行底座</a:t>
            </a:r>
          </a:p>
        </p:txBody>
      </p:sp>
      <p:sp>
        <p:nvSpPr>
          <p:cNvPr id="28" name="h2p-1-text-27"/>
          <p:cNvSpPr txBox="1"/>
          <p:nvPr/>
        </p:nvSpPr>
        <p:spPr>
          <a:xfrm>
            <a:off x="685800" y="6543446"/>
            <a:ext cx="101498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GOAI · AGENT INFRA</a:t>
            </a:r>
          </a:p>
        </p:txBody>
      </p:sp>
      <p:sp>
        <p:nvSpPr>
          <p:cNvPr id="29" name="h2p-1-text-28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方案路演 ·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2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2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02 / 12 · 问题</a:t>
            </a:r>
          </a:p>
        </p:txBody>
      </p:sp>
      <p:sp>
        <p:nvSpPr>
          <p:cNvPr id="4" name="h2p-2-text-3"/>
          <p:cNvSpPr txBox="1"/>
          <p:nvPr/>
        </p:nvSpPr>
        <p:spPr>
          <a:xfrm>
            <a:off x="685800" y="724204"/>
            <a:ext cx="11036808" cy="4526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300">
                <a:solidFill>
                  <a:srgbClr val="102A43"/>
                </a:solidFill>
                <a:latin typeface="Noto Sans CJK SC"/>
              </a:rPr>
              <a:t>企业不知道的，不只是“用几个 Agent”</a:t>
            </a:r>
          </a:p>
        </p:txBody>
      </p:sp>
      <p:sp>
        <p:nvSpPr>
          <p:cNvPr id="5" name="h2p-2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创建 Agent 之前，任务本身通常还没有被定义。</a:t>
            </a:r>
          </a:p>
        </p:txBody>
      </p:sp>
      <p:sp>
        <p:nvSpPr>
          <p:cNvPr id="6" name="h2p-2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2-box-6"/>
          <p:cNvSpPr/>
          <p:nvPr/>
        </p:nvSpPr>
        <p:spPr>
          <a:xfrm>
            <a:off x="685800" y="2210104"/>
            <a:ext cx="3010204" cy="3353104"/>
          </a:xfrm>
          <a:prstGeom prst="roundRect">
            <a:avLst>
              <a:gd name="adj" fmla="val 5700"/>
            </a:avLst>
          </a:prstGeom>
          <a:solidFill>
            <a:srgbClr val="132F47"/>
          </a:solidFill>
          <a:ln w="19050">
            <a:solidFill>
              <a:srgbClr val="0B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2-text-7"/>
          <p:cNvSpPr txBox="1"/>
          <p:nvPr/>
        </p:nvSpPr>
        <p:spPr>
          <a:xfrm>
            <a:off x="971092" y="2457907"/>
            <a:ext cx="1632204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用户反馈定位 · 示意场景</a:t>
            </a:r>
          </a:p>
        </p:txBody>
      </p:sp>
      <p:sp>
        <p:nvSpPr>
          <p:cNvPr id="9" name="h2p-2-text-8"/>
          <p:cNvSpPr txBox="1"/>
          <p:nvPr/>
        </p:nvSpPr>
        <p:spPr>
          <a:xfrm>
            <a:off x="971092" y="2895904"/>
            <a:ext cx="2487168" cy="1003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6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950">
                <a:solidFill>
                  <a:srgbClr val="FFFFFF"/>
                </a:solidFill>
                <a:latin typeface="Noto Sans CJK SC"/>
              </a:rPr>
              <a:t>“预测结果明显不对，今天比昨天差很多。”</a:t>
            </a:r>
          </a:p>
        </p:txBody>
      </p:sp>
      <p:sp>
        <p:nvSpPr>
          <p:cNvPr id="10" name="h2p-2-box-9"/>
          <p:cNvSpPr/>
          <p:nvPr/>
        </p:nvSpPr>
        <p:spPr>
          <a:xfrm>
            <a:off x="971092" y="4095597"/>
            <a:ext cx="2438704" cy="19202"/>
          </a:xfrm>
          <a:prstGeom prst="rect">
            <a:avLst/>
          </a:prstGeom>
          <a:solidFill>
            <a:srgbClr val="285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2-text-10"/>
          <p:cNvSpPr txBox="1"/>
          <p:nvPr/>
        </p:nvSpPr>
        <p:spPr>
          <a:xfrm>
            <a:off x="971092" y="4324197"/>
            <a:ext cx="2487168" cy="357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6D3DD"/>
                </a:solidFill>
                <a:latin typeface="Noto Sans CJK SC"/>
              </a:rPr>
              <a:t>一句话不是任务契约。</a:t>
            </a:r>
          </a:p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6D3DD"/>
                </a:solidFill>
                <a:latin typeface="Noto Sans CJK SC"/>
              </a:rPr>
              <a:t>它只说明：有人遇到了问题。</a:t>
            </a:r>
          </a:p>
        </p:txBody>
      </p:sp>
      <p:sp>
        <p:nvSpPr>
          <p:cNvPr id="12" name="h2p-2-text-11"/>
          <p:cNvSpPr txBox="1"/>
          <p:nvPr/>
        </p:nvSpPr>
        <p:spPr>
          <a:xfrm>
            <a:off x="3905402" y="3562502"/>
            <a:ext cx="350215" cy="49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>
                <a:solidFill>
                  <a:srgbClr val="1A8D85"/>
                </a:solidFill>
                <a:latin typeface="Noto Sans CJK SC"/>
              </a:rPr>
              <a:t>→</a:t>
            </a:r>
          </a:p>
        </p:txBody>
      </p:sp>
      <p:sp>
        <p:nvSpPr>
          <p:cNvPr id="13" name="h2p-2-box-12"/>
          <p:cNvSpPr/>
          <p:nvPr/>
        </p:nvSpPr>
        <p:spPr>
          <a:xfrm>
            <a:off x="4515307" y="2210104"/>
            <a:ext cx="6991502" cy="3353104"/>
          </a:xfrm>
          <a:prstGeom prst="roundRect">
            <a:avLst>
              <a:gd name="adj" fmla="val 5110"/>
            </a:avLst>
          </a:prstGeom>
          <a:solidFill>
            <a:srgbClr val="FFFFFF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2-text-13"/>
          <p:cNvSpPr txBox="1"/>
          <p:nvPr/>
        </p:nvSpPr>
        <p:spPr>
          <a:xfrm>
            <a:off x="4800600" y="2457907"/>
            <a:ext cx="1224381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Mono CJK SC"/>
              </a:rPr>
              <a:t>五个尚未回答的问题</a:t>
            </a:r>
          </a:p>
        </p:txBody>
      </p:sp>
      <p:sp>
        <p:nvSpPr>
          <p:cNvPr id="15" name="h2p-2-text-14"/>
          <p:cNvSpPr txBox="1"/>
          <p:nvPr/>
        </p:nvSpPr>
        <p:spPr>
          <a:xfrm>
            <a:off x="4800600" y="2876702"/>
            <a:ext cx="330098" cy="3236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550">
                <a:solidFill>
                  <a:srgbClr val="1A8D85"/>
                </a:solidFill>
                <a:latin typeface="Noto Sans Mono CJK SC"/>
              </a:rPr>
              <a:t>01</a:t>
            </a:r>
          </a:p>
        </p:txBody>
      </p:sp>
      <p:sp>
        <p:nvSpPr>
          <p:cNvPr id="16" name="h2p-2-text-15"/>
          <p:cNvSpPr txBox="1"/>
          <p:nvPr/>
        </p:nvSpPr>
        <p:spPr>
          <a:xfrm>
            <a:off x="5391302" y="2933395"/>
            <a:ext cx="407822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输入</a:t>
            </a:r>
          </a:p>
        </p:txBody>
      </p:sp>
      <p:sp>
        <p:nvSpPr>
          <p:cNvPr id="17" name="h2p-2-text-16"/>
          <p:cNvSpPr txBox="1"/>
          <p:nvPr/>
        </p:nvSpPr>
        <p:spPr>
          <a:xfrm>
            <a:off x="6248095" y="2933395"/>
            <a:ext cx="4857292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哪些反馈、日志、版本与业务上下文可用？</a:t>
            </a:r>
          </a:p>
        </p:txBody>
      </p:sp>
      <p:sp>
        <p:nvSpPr>
          <p:cNvPr id="18" name="h2p-2-text-17"/>
          <p:cNvSpPr txBox="1"/>
          <p:nvPr/>
        </p:nvSpPr>
        <p:spPr>
          <a:xfrm>
            <a:off x="4800600" y="3409797"/>
            <a:ext cx="330098" cy="3236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550">
                <a:solidFill>
                  <a:srgbClr val="1A8D85"/>
                </a:solidFill>
                <a:latin typeface="Noto Sans Mono CJK SC"/>
              </a:rPr>
              <a:t>02</a:t>
            </a:r>
          </a:p>
        </p:txBody>
      </p:sp>
      <p:sp>
        <p:nvSpPr>
          <p:cNvPr id="19" name="h2p-2-text-18"/>
          <p:cNvSpPr txBox="1"/>
          <p:nvPr/>
        </p:nvSpPr>
        <p:spPr>
          <a:xfrm>
            <a:off x="5391302" y="3467404"/>
            <a:ext cx="407822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输出</a:t>
            </a:r>
          </a:p>
        </p:txBody>
      </p:sp>
      <p:sp>
        <p:nvSpPr>
          <p:cNvPr id="20" name="h2p-2-text-19"/>
          <p:cNvSpPr txBox="1"/>
          <p:nvPr/>
        </p:nvSpPr>
        <p:spPr>
          <a:xfrm>
            <a:off x="6248095" y="3467404"/>
            <a:ext cx="4857292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要定位根因、给出结论，还是执行修复？</a:t>
            </a:r>
          </a:p>
        </p:txBody>
      </p:sp>
      <p:sp>
        <p:nvSpPr>
          <p:cNvPr id="21" name="h2p-2-text-20"/>
          <p:cNvSpPr txBox="1"/>
          <p:nvPr/>
        </p:nvSpPr>
        <p:spPr>
          <a:xfrm>
            <a:off x="4800600" y="3942892"/>
            <a:ext cx="330098" cy="3236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550">
                <a:solidFill>
                  <a:srgbClr val="1A8D85"/>
                </a:solidFill>
                <a:latin typeface="Noto Sans Mono CJK SC"/>
              </a:rPr>
              <a:t>03</a:t>
            </a:r>
          </a:p>
        </p:txBody>
      </p:sp>
      <p:sp>
        <p:nvSpPr>
          <p:cNvPr id="22" name="h2p-2-text-21"/>
          <p:cNvSpPr txBox="1"/>
          <p:nvPr/>
        </p:nvSpPr>
        <p:spPr>
          <a:xfrm>
            <a:off x="5391302" y="4000500"/>
            <a:ext cx="407822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验收</a:t>
            </a:r>
          </a:p>
        </p:txBody>
      </p:sp>
      <p:sp>
        <p:nvSpPr>
          <p:cNvPr id="23" name="h2p-2-text-22"/>
          <p:cNvSpPr txBox="1"/>
          <p:nvPr/>
        </p:nvSpPr>
        <p:spPr>
          <a:xfrm>
            <a:off x="6248095" y="4000500"/>
            <a:ext cx="4857292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什么结果算正确，谁来确认，失败如何处理？</a:t>
            </a:r>
          </a:p>
        </p:txBody>
      </p:sp>
      <p:sp>
        <p:nvSpPr>
          <p:cNvPr id="24" name="h2p-2-text-23"/>
          <p:cNvSpPr txBox="1"/>
          <p:nvPr/>
        </p:nvSpPr>
        <p:spPr>
          <a:xfrm>
            <a:off x="4800600" y="4476902"/>
            <a:ext cx="330098" cy="3236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550">
                <a:solidFill>
                  <a:srgbClr val="1A8D85"/>
                </a:solidFill>
                <a:latin typeface="Noto Sans Mono CJK SC"/>
              </a:rPr>
              <a:t>04</a:t>
            </a:r>
          </a:p>
        </p:txBody>
      </p:sp>
      <p:sp>
        <p:nvSpPr>
          <p:cNvPr id="25" name="h2p-2-text-24"/>
          <p:cNvSpPr txBox="1"/>
          <p:nvPr/>
        </p:nvSpPr>
        <p:spPr>
          <a:xfrm>
            <a:off x="5391302" y="4533595"/>
            <a:ext cx="407822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责任</a:t>
            </a:r>
          </a:p>
        </p:txBody>
      </p:sp>
      <p:sp>
        <p:nvSpPr>
          <p:cNvPr id="26" name="h2p-2-text-25"/>
          <p:cNvSpPr txBox="1"/>
          <p:nvPr/>
        </p:nvSpPr>
        <p:spPr>
          <a:xfrm>
            <a:off x="6248095" y="4533595"/>
            <a:ext cx="4857292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哪些动作可自动执行，哪些必须交给 Human？</a:t>
            </a:r>
          </a:p>
        </p:txBody>
      </p:sp>
      <p:sp>
        <p:nvSpPr>
          <p:cNvPr id="27" name="h2p-2-text-26"/>
          <p:cNvSpPr txBox="1"/>
          <p:nvPr/>
        </p:nvSpPr>
        <p:spPr>
          <a:xfrm>
            <a:off x="4800600" y="5009997"/>
            <a:ext cx="330098" cy="3236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550">
                <a:solidFill>
                  <a:srgbClr val="1A8D85"/>
                </a:solidFill>
                <a:latin typeface="Noto Sans Mono CJK SC"/>
              </a:rPr>
              <a:t>05</a:t>
            </a:r>
          </a:p>
        </p:txBody>
      </p:sp>
      <p:sp>
        <p:nvSpPr>
          <p:cNvPr id="28" name="h2p-2-text-27"/>
          <p:cNvSpPr txBox="1"/>
          <p:nvPr/>
        </p:nvSpPr>
        <p:spPr>
          <a:xfrm>
            <a:off x="5391302" y="5067604"/>
            <a:ext cx="407822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代价</a:t>
            </a:r>
          </a:p>
        </p:txBody>
      </p:sp>
      <p:sp>
        <p:nvSpPr>
          <p:cNvPr id="29" name="h2p-2-text-28"/>
          <p:cNvSpPr txBox="1"/>
          <p:nvPr/>
        </p:nvSpPr>
        <p:spPr>
          <a:xfrm>
            <a:off x="6248095" y="5067604"/>
            <a:ext cx="4857292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允许多少成本、时延、重试与复杂度？</a:t>
            </a:r>
          </a:p>
        </p:txBody>
      </p:sp>
      <p:sp>
        <p:nvSpPr>
          <p:cNvPr id="30" name="h2p-2-text-29"/>
          <p:cNvSpPr txBox="1"/>
          <p:nvPr/>
        </p:nvSpPr>
        <p:spPr>
          <a:xfrm>
            <a:off x="577900" y="5848502"/>
            <a:ext cx="11036808" cy="270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02A43"/>
                </a:solidFill>
                <a:latin typeface="Noto Sans CJK SC"/>
              </a:rPr>
              <a:t>先定义任务，再讨论 Agent；否则只是把不确定性藏进 Prompt。</a:t>
            </a:r>
          </a:p>
        </p:txBody>
      </p:sp>
      <p:sp>
        <p:nvSpPr>
          <p:cNvPr id="31" name="h2p-2-text-30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任务语义</a:t>
            </a:r>
          </a:p>
        </p:txBody>
      </p:sp>
      <p:sp>
        <p:nvSpPr>
          <p:cNvPr id="32" name="h2p-2-text-31"/>
          <p:cNvSpPr txBox="1"/>
          <p:nvPr/>
        </p:nvSpPr>
        <p:spPr>
          <a:xfrm>
            <a:off x="10067544" y="6543446"/>
            <a:ext cx="149595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示意场景 · 非运行证据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3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3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03 / 12 · 缺失层</a:t>
            </a:r>
          </a:p>
        </p:txBody>
      </p:sp>
      <p:sp>
        <p:nvSpPr>
          <p:cNvPr id="4" name="h2p-3-text-3"/>
          <p:cNvSpPr txBox="1"/>
          <p:nvPr/>
        </p:nvSpPr>
        <p:spPr>
          <a:xfrm>
            <a:off x="685800" y="724204"/>
            <a:ext cx="11036808" cy="4526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300">
                <a:solidFill>
                  <a:srgbClr val="102A43"/>
                </a:solidFill>
                <a:latin typeface="Noto Sans CJK SC"/>
              </a:rPr>
              <a:t>平台提供砖块，但企业仍缺一位建筑师</a:t>
            </a:r>
          </a:p>
        </p:txBody>
      </p:sp>
      <p:sp>
        <p:nvSpPr>
          <p:cNvPr id="5" name="h2p-3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“能运行 Agent”与“知道该运行什么方案”是两件事。</a:t>
            </a:r>
          </a:p>
        </p:txBody>
      </p:sp>
      <p:sp>
        <p:nvSpPr>
          <p:cNvPr id="6" name="h2p-3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3-box-6"/>
          <p:cNvSpPr/>
          <p:nvPr/>
        </p:nvSpPr>
        <p:spPr>
          <a:xfrm>
            <a:off x="685800" y="2266797"/>
            <a:ext cx="2857500" cy="2915107"/>
          </a:xfrm>
          <a:prstGeom prst="roundRect">
            <a:avLst>
              <a:gd name="adj" fmla="val 600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3-text-7"/>
          <p:cNvSpPr txBox="1"/>
          <p:nvPr/>
        </p:nvSpPr>
        <p:spPr>
          <a:xfrm>
            <a:off x="952804" y="2533802"/>
            <a:ext cx="233172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HEAVY · 全能平台</a:t>
            </a:r>
          </a:p>
        </p:txBody>
      </p:sp>
      <p:sp>
        <p:nvSpPr>
          <p:cNvPr id="9" name="h2p-3-text-8"/>
          <p:cNvSpPr txBox="1"/>
          <p:nvPr/>
        </p:nvSpPr>
        <p:spPr>
          <a:xfrm>
            <a:off x="952804" y="2915107"/>
            <a:ext cx="2370124" cy="269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>
                <a:solidFill>
                  <a:srgbClr val="102A43"/>
                </a:solidFill>
                <a:latin typeface="Noto Sans CJK SC"/>
              </a:rPr>
              <a:t>什么都有</a:t>
            </a:r>
          </a:p>
        </p:txBody>
      </p:sp>
      <p:sp>
        <p:nvSpPr>
          <p:cNvPr id="10" name="h2p-3-text-9"/>
          <p:cNvSpPr txBox="1"/>
          <p:nvPr/>
        </p:nvSpPr>
        <p:spPr>
          <a:xfrm>
            <a:off x="952804" y="3353104"/>
            <a:ext cx="2370124" cy="486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身份、编排、知识库、工具、监控、界面……</a:t>
            </a:r>
          </a:p>
        </p:txBody>
      </p:sp>
      <p:sp>
        <p:nvSpPr>
          <p:cNvPr id="11" name="h2p-3-box-10"/>
          <p:cNvSpPr/>
          <p:nvPr/>
        </p:nvSpPr>
        <p:spPr>
          <a:xfrm>
            <a:off x="952804" y="4114800"/>
            <a:ext cx="2324404" cy="19202"/>
          </a:xfrm>
          <a:prstGeom prst="rect">
            <a:avLst/>
          </a:prstGeom>
          <a:solidFill>
            <a:srgbClr val="A9C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3-text-11"/>
          <p:cNvSpPr txBox="1"/>
          <p:nvPr/>
        </p:nvSpPr>
        <p:spPr>
          <a:xfrm>
            <a:off x="952804" y="4324197"/>
            <a:ext cx="2370124" cy="486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426B86"/>
                </a:solidFill>
                <a:latin typeface="Noto Sans CJK SC"/>
              </a:rPr>
              <a:t>代价：先学会整个平台，才能开始定义自己的问题。</a:t>
            </a:r>
          </a:p>
        </p:txBody>
      </p:sp>
      <p:sp>
        <p:nvSpPr>
          <p:cNvPr id="13" name="h2p-3-box-12"/>
          <p:cNvSpPr/>
          <p:nvPr/>
        </p:nvSpPr>
        <p:spPr>
          <a:xfrm>
            <a:off x="4019702" y="2095804"/>
            <a:ext cx="4153204" cy="3257092"/>
          </a:xfrm>
          <a:prstGeom prst="roundRect">
            <a:avLst>
              <a:gd name="adj" fmla="val 702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3-text-13"/>
          <p:cNvSpPr txBox="1"/>
          <p:nvPr/>
        </p:nvSpPr>
        <p:spPr>
          <a:xfrm>
            <a:off x="4324197" y="2381097"/>
            <a:ext cx="884224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MISSING LAYER</a:t>
            </a:r>
          </a:p>
        </p:txBody>
      </p:sp>
      <p:sp>
        <p:nvSpPr>
          <p:cNvPr id="15" name="h2p-3-text-14"/>
          <p:cNvSpPr txBox="1"/>
          <p:nvPr/>
        </p:nvSpPr>
        <p:spPr>
          <a:xfrm>
            <a:off x="4324197" y="2799892"/>
            <a:ext cx="3614623" cy="337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FFFFFF"/>
                </a:solidFill>
                <a:latin typeface="Noto Sans CJK SC"/>
              </a:rPr>
              <a:t>Agent 方案建筑师</a:t>
            </a:r>
          </a:p>
        </p:txBody>
      </p:sp>
      <p:sp>
        <p:nvSpPr>
          <p:cNvPr id="16" name="h2p-3-text-15"/>
          <p:cNvSpPr txBox="1"/>
          <p:nvPr/>
        </p:nvSpPr>
        <p:spPr>
          <a:xfrm>
            <a:off x="4324197" y="3314700"/>
            <a:ext cx="3614623" cy="7296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量体：把需求编译成任务契约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画图：生成多种架构候选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验房：用同一标准比较证据</a:t>
            </a:r>
          </a:p>
        </p:txBody>
      </p:sp>
      <p:sp>
        <p:nvSpPr>
          <p:cNvPr id="17" name="h2p-3-box-16"/>
          <p:cNvSpPr/>
          <p:nvPr/>
        </p:nvSpPr>
        <p:spPr>
          <a:xfrm>
            <a:off x="4876495" y="4400092"/>
            <a:ext cx="2438704" cy="609904"/>
          </a:xfrm>
          <a:prstGeom prst="roundRect">
            <a:avLst>
              <a:gd name="adj" fmla="val 25000"/>
            </a:avLst>
          </a:prstGeom>
          <a:solidFill>
            <a:srgbClr val="132F47"/>
          </a:solidFill>
          <a:ln w="3810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3-text-17"/>
          <p:cNvSpPr txBox="1"/>
          <p:nvPr/>
        </p:nvSpPr>
        <p:spPr>
          <a:xfrm>
            <a:off x="5008168" y="4591202"/>
            <a:ext cx="21762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>
                <a:solidFill>
                  <a:srgbClr val="74D0C7"/>
                </a:solidFill>
                <a:latin typeface="Noto Sans Mono CJK SC"/>
              </a:rPr>
              <a:t>AGENTFIT</a:t>
            </a:r>
          </a:p>
        </p:txBody>
      </p:sp>
      <p:sp>
        <p:nvSpPr>
          <p:cNvPr id="19" name="h2p-3-box-18"/>
          <p:cNvSpPr/>
          <p:nvPr/>
        </p:nvSpPr>
        <p:spPr>
          <a:xfrm>
            <a:off x="8648395" y="2266797"/>
            <a:ext cx="2857500" cy="2915107"/>
          </a:xfrm>
          <a:prstGeom prst="roundRect">
            <a:avLst>
              <a:gd name="adj" fmla="val 600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3-text-19"/>
          <p:cNvSpPr txBox="1"/>
          <p:nvPr/>
        </p:nvSpPr>
        <p:spPr>
          <a:xfrm>
            <a:off x="8915400" y="2533802"/>
            <a:ext cx="233172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4C32"/>
                </a:solidFill>
                <a:latin typeface="Noto Sans Mono CJK SC"/>
              </a:rPr>
              <a:t>LIGHT · 灵活框架</a:t>
            </a:r>
          </a:p>
        </p:txBody>
      </p:sp>
      <p:sp>
        <p:nvSpPr>
          <p:cNvPr id="21" name="h2p-3-text-20"/>
          <p:cNvSpPr txBox="1"/>
          <p:nvPr/>
        </p:nvSpPr>
        <p:spPr>
          <a:xfrm>
            <a:off x="8915400" y="2915107"/>
            <a:ext cx="2370124" cy="269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>
                <a:solidFill>
                  <a:srgbClr val="102A43"/>
                </a:solidFill>
                <a:latin typeface="Noto Sans CJK SC"/>
              </a:rPr>
              <a:t>什么都能做</a:t>
            </a:r>
          </a:p>
        </p:txBody>
      </p:sp>
      <p:sp>
        <p:nvSpPr>
          <p:cNvPr id="22" name="h2p-3-text-21"/>
          <p:cNvSpPr txBox="1"/>
          <p:nvPr/>
        </p:nvSpPr>
        <p:spPr>
          <a:xfrm>
            <a:off x="8915400" y="3353104"/>
            <a:ext cx="2370124" cy="486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模型、循环、工具接口足够自由，业务逻辑自行开发。</a:t>
            </a:r>
          </a:p>
        </p:txBody>
      </p:sp>
      <p:sp>
        <p:nvSpPr>
          <p:cNvPr id="23" name="h2p-3-box-22"/>
          <p:cNvSpPr/>
          <p:nvPr/>
        </p:nvSpPr>
        <p:spPr>
          <a:xfrm>
            <a:off x="8915400" y="4114800"/>
            <a:ext cx="2324404" cy="19202"/>
          </a:xfrm>
          <a:prstGeom prst="rect">
            <a:avLst/>
          </a:prstGeom>
          <a:solidFill>
            <a:srgbClr val="E8A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3-text-23"/>
          <p:cNvSpPr txBox="1"/>
          <p:nvPr/>
        </p:nvSpPr>
        <p:spPr>
          <a:xfrm>
            <a:off x="8915400" y="4324197"/>
            <a:ext cx="2370124" cy="486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C64C32"/>
                </a:solidFill>
                <a:latin typeface="Noto Sans CJK SC"/>
              </a:rPr>
              <a:t>代价：方案设计、评测和审计仍从零开始。</a:t>
            </a:r>
          </a:p>
        </p:txBody>
      </p:sp>
      <p:sp>
        <p:nvSpPr>
          <p:cNvPr id="25" name="h2p-3-text-24"/>
          <p:cNvSpPr txBox="1"/>
          <p:nvPr/>
        </p:nvSpPr>
        <p:spPr>
          <a:xfrm>
            <a:off x="1821484" y="5790895"/>
            <a:ext cx="8549640" cy="284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AgentFit 是方案工程层，不是另一个 Agent 运行时。</a:t>
            </a:r>
          </a:p>
        </p:txBody>
      </p:sp>
      <p:sp>
        <p:nvSpPr>
          <p:cNvPr id="26" name="h2p-3-text-25"/>
          <p:cNvSpPr txBox="1"/>
          <p:nvPr/>
        </p:nvSpPr>
        <p:spPr>
          <a:xfrm>
            <a:off x="685800" y="6543446"/>
            <a:ext cx="96194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缺失层</a:t>
            </a:r>
          </a:p>
        </p:txBody>
      </p:sp>
      <p:sp>
        <p:nvSpPr>
          <p:cNvPr id="27" name="h2p-3-text-26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产品边界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4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4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04 / 12 · 方法</a:t>
            </a:r>
          </a:p>
        </p:txBody>
      </p:sp>
      <p:sp>
        <p:nvSpPr>
          <p:cNvPr id="4" name="h2p-4-text-3"/>
          <p:cNvSpPr txBox="1"/>
          <p:nvPr/>
        </p:nvSpPr>
        <p:spPr>
          <a:xfrm>
            <a:off x="685800" y="724204"/>
            <a:ext cx="11036808" cy="4526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300">
                <a:solidFill>
                  <a:srgbClr val="FFFFFF"/>
                </a:solidFill>
                <a:latin typeface="Noto Sans CJK SC"/>
              </a:rPr>
              <a:t>AgentFit 先量体，再裁衣，最后试穿</a:t>
            </a:r>
          </a:p>
        </p:txBody>
      </p:sp>
      <p:sp>
        <p:nvSpPr>
          <p:cNvPr id="5" name="h2p-4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6D3DD"/>
                </a:solidFill>
                <a:latin typeface="Noto Sans CJK SC"/>
              </a:rPr>
              <a:t>每一步都有可检查的输入、产物与停止条件。</a:t>
            </a:r>
          </a:p>
        </p:txBody>
      </p:sp>
      <p:sp>
        <p:nvSpPr>
          <p:cNvPr id="6" name="h2p-4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285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4-box-6"/>
          <p:cNvSpPr/>
          <p:nvPr/>
        </p:nvSpPr>
        <p:spPr>
          <a:xfrm>
            <a:off x="685800" y="2286000"/>
            <a:ext cx="3200400" cy="3124504"/>
          </a:xfrm>
          <a:prstGeom prst="roundRect">
            <a:avLst>
              <a:gd name="adj" fmla="val 5490"/>
            </a:avLst>
          </a:prstGeom>
          <a:solidFill>
            <a:srgbClr val="132F47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4-text-7"/>
          <p:cNvSpPr txBox="1"/>
          <p:nvPr/>
        </p:nvSpPr>
        <p:spPr>
          <a:xfrm>
            <a:off x="952804" y="2571292"/>
            <a:ext cx="544068" cy="5330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200">
                <a:solidFill>
                  <a:srgbClr val="74A8C6"/>
                </a:solidFill>
                <a:latin typeface="Noto Sans Mono CJK SC"/>
              </a:rPr>
              <a:t>01</a:t>
            </a:r>
          </a:p>
        </p:txBody>
      </p:sp>
      <p:sp>
        <p:nvSpPr>
          <p:cNvPr id="9" name="h2p-4-text-8"/>
          <p:cNvSpPr txBox="1"/>
          <p:nvPr/>
        </p:nvSpPr>
        <p:spPr>
          <a:xfrm>
            <a:off x="952804" y="3257092"/>
            <a:ext cx="583387" cy="337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FFFFFF"/>
                </a:solidFill>
                <a:latin typeface="Noto Sans CJK SC"/>
              </a:rPr>
              <a:t>量体</a:t>
            </a:r>
          </a:p>
        </p:txBody>
      </p:sp>
      <p:sp>
        <p:nvSpPr>
          <p:cNvPr id="10" name="h2p-4-text-9"/>
          <p:cNvSpPr txBox="1"/>
          <p:nvPr/>
        </p:nvSpPr>
        <p:spPr>
          <a:xfrm>
            <a:off x="952804" y="3714292"/>
            <a:ext cx="2720340" cy="7296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把材料变成任务语义：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输入、输出、指标、预算、风险与 Human 边界。</a:t>
            </a:r>
          </a:p>
        </p:txBody>
      </p:sp>
      <p:sp>
        <p:nvSpPr>
          <p:cNvPr id="11" name="h2p-4-box-10"/>
          <p:cNvSpPr/>
          <p:nvPr/>
        </p:nvSpPr>
        <p:spPr>
          <a:xfrm>
            <a:off x="952804" y="4762195"/>
            <a:ext cx="2667304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4-text-11"/>
          <p:cNvSpPr txBox="1"/>
          <p:nvPr/>
        </p:nvSpPr>
        <p:spPr>
          <a:xfrm>
            <a:off x="1061618" y="4848148"/>
            <a:ext cx="244876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A9C3D5"/>
                </a:solidFill>
                <a:latin typeface="Noto Sans Mono CJK SC"/>
              </a:rPr>
              <a:t>产物：任务说明书</a:t>
            </a:r>
          </a:p>
        </p:txBody>
      </p:sp>
      <p:sp>
        <p:nvSpPr>
          <p:cNvPr id="13" name="h2p-4-text-12"/>
          <p:cNvSpPr txBox="1"/>
          <p:nvPr/>
        </p:nvSpPr>
        <p:spPr>
          <a:xfrm>
            <a:off x="4000500" y="3467404"/>
            <a:ext cx="330098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>
                <a:solidFill>
                  <a:srgbClr val="74D0C7"/>
                </a:solidFill>
                <a:latin typeface="Noto Sans CJK SC"/>
              </a:rPr>
              <a:t>→</a:t>
            </a:r>
          </a:p>
        </p:txBody>
      </p:sp>
      <p:sp>
        <p:nvSpPr>
          <p:cNvPr id="14" name="h2p-4-box-13"/>
          <p:cNvSpPr/>
          <p:nvPr/>
        </p:nvSpPr>
        <p:spPr>
          <a:xfrm>
            <a:off x="4496104" y="2286000"/>
            <a:ext cx="3200400" cy="3124504"/>
          </a:xfrm>
          <a:prstGeom prst="roundRect">
            <a:avLst>
              <a:gd name="adj" fmla="val 549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4-text-14"/>
          <p:cNvSpPr txBox="1"/>
          <p:nvPr/>
        </p:nvSpPr>
        <p:spPr>
          <a:xfrm>
            <a:off x="4762195" y="2571292"/>
            <a:ext cx="544068" cy="5330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200">
                <a:solidFill>
                  <a:srgbClr val="74D0C7"/>
                </a:solidFill>
                <a:latin typeface="Noto Sans Mono CJK SC"/>
              </a:rPr>
              <a:t>02</a:t>
            </a:r>
          </a:p>
        </p:txBody>
      </p:sp>
      <p:sp>
        <p:nvSpPr>
          <p:cNvPr id="16" name="h2p-4-text-15"/>
          <p:cNvSpPr txBox="1"/>
          <p:nvPr/>
        </p:nvSpPr>
        <p:spPr>
          <a:xfrm>
            <a:off x="4762195" y="3257092"/>
            <a:ext cx="583387" cy="337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FFFFFF"/>
                </a:solidFill>
                <a:latin typeface="Noto Sans CJK SC"/>
              </a:rPr>
              <a:t>裁衣</a:t>
            </a:r>
          </a:p>
        </p:txBody>
      </p:sp>
      <p:sp>
        <p:nvSpPr>
          <p:cNvPr id="17" name="h2p-4-text-16"/>
          <p:cNvSpPr txBox="1"/>
          <p:nvPr/>
        </p:nvSpPr>
        <p:spPr>
          <a:xfrm>
            <a:off x="4762195" y="3714292"/>
            <a:ext cx="2720340" cy="7296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把能力编译成可组合算子：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模型、规则、Skill、MCP、工具、记忆与 Human。</a:t>
            </a:r>
          </a:p>
        </p:txBody>
      </p:sp>
      <p:sp>
        <p:nvSpPr>
          <p:cNvPr id="18" name="h2p-4-box-17"/>
          <p:cNvSpPr/>
          <p:nvPr/>
        </p:nvSpPr>
        <p:spPr>
          <a:xfrm>
            <a:off x="4762195" y="4762195"/>
            <a:ext cx="2667304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4-text-18"/>
          <p:cNvSpPr txBox="1"/>
          <p:nvPr/>
        </p:nvSpPr>
        <p:spPr>
          <a:xfrm>
            <a:off x="4871923" y="4848148"/>
            <a:ext cx="244876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产物：能力清单 + 缺口</a:t>
            </a:r>
          </a:p>
        </p:txBody>
      </p:sp>
      <p:sp>
        <p:nvSpPr>
          <p:cNvPr id="20" name="h2p-4-text-19"/>
          <p:cNvSpPr txBox="1"/>
          <p:nvPr/>
        </p:nvSpPr>
        <p:spPr>
          <a:xfrm>
            <a:off x="7810804" y="3467404"/>
            <a:ext cx="330098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>
                <a:solidFill>
                  <a:srgbClr val="D6A43B"/>
                </a:solidFill>
                <a:latin typeface="Noto Sans CJK SC"/>
              </a:rPr>
              <a:t>→</a:t>
            </a:r>
          </a:p>
        </p:txBody>
      </p:sp>
      <p:sp>
        <p:nvSpPr>
          <p:cNvPr id="21" name="h2p-4-box-20"/>
          <p:cNvSpPr/>
          <p:nvPr/>
        </p:nvSpPr>
        <p:spPr>
          <a:xfrm>
            <a:off x="8305495" y="2286000"/>
            <a:ext cx="3200400" cy="3124504"/>
          </a:xfrm>
          <a:prstGeom prst="roundRect">
            <a:avLst>
              <a:gd name="adj" fmla="val 5490"/>
            </a:avLst>
          </a:prstGeom>
          <a:solidFill>
            <a:srgbClr val="132F47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4-text-21"/>
          <p:cNvSpPr txBox="1"/>
          <p:nvPr/>
        </p:nvSpPr>
        <p:spPr>
          <a:xfrm>
            <a:off x="8572500" y="2571292"/>
            <a:ext cx="544068" cy="5330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200">
                <a:solidFill>
                  <a:srgbClr val="D6A43B"/>
                </a:solidFill>
                <a:latin typeface="Noto Sans Mono CJK SC"/>
              </a:rPr>
              <a:t>03</a:t>
            </a:r>
          </a:p>
        </p:txBody>
      </p:sp>
      <p:sp>
        <p:nvSpPr>
          <p:cNvPr id="23" name="h2p-4-text-22"/>
          <p:cNvSpPr txBox="1"/>
          <p:nvPr/>
        </p:nvSpPr>
        <p:spPr>
          <a:xfrm>
            <a:off x="8572500" y="3257092"/>
            <a:ext cx="583387" cy="337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FFFFFF"/>
                </a:solidFill>
                <a:latin typeface="Noto Sans CJK SC"/>
              </a:rPr>
              <a:t>试穿</a:t>
            </a:r>
          </a:p>
        </p:txBody>
      </p:sp>
      <p:sp>
        <p:nvSpPr>
          <p:cNvPr id="24" name="h2p-4-text-23"/>
          <p:cNvSpPr txBox="1"/>
          <p:nvPr/>
        </p:nvSpPr>
        <p:spPr>
          <a:xfrm>
            <a:off x="8572500" y="3714292"/>
            <a:ext cx="2720340" cy="486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让不同候选在同一输入、预算、指标、安全线下公平赛跑。</a:t>
            </a:r>
          </a:p>
        </p:txBody>
      </p:sp>
      <p:sp>
        <p:nvSpPr>
          <p:cNvPr id="25" name="h2p-4-box-24"/>
          <p:cNvSpPr/>
          <p:nvPr/>
        </p:nvSpPr>
        <p:spPr>
          <a:xfrm>
            <a:off x="8572500" y="4762195"/>
            <a:ext cx="2667304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2p-4-text-25"/>
          <p:cNvSpPr txBox="1"/>
          <p:nvPr/>
        </p:nvSpPr>
        <p:spPr>
          <a:xfrm>
            <a:off x="8682228" y="4848148"/>
            <a:ext cx="244876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产物：选择 + 证据</a:t>
            </a:r>
          </a:p>
        </p:txBody>
      </p:sp>
      <p:sp>
        <p:nvSpPr>
          <p:cNvPr id="27" name="h2p-4-text-26"/>
          <p:cNvSpPr txBox="1"/>
          <p:nvPr/>
        </p:nvSpPr>
        <p:spPr>
          <a:xfrm>
            <a:off x="577900" y="5790895"/>
            <a:ext cx="11036808" cy="270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FFFFFF"/>
                </a:solidFill>
                <a:latin typeface="Noto Sans CJK SC"/>
              </a:rPr>
              <a:t>缺口无法补齐，或所有候选不合格，就停止并给出拒绝决定。</a:t>
            </a:r>
          </a:p>
        </p:txBody>
      </p:sp>
      <p:sp>
        <p:nvSpPr>
          <p:cNvPr id="28" name="h2p-4-text-27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AGENTFIT · 量体裁衣</a:t>
            </a:r>
          </a:p>
        </p:txBody>
      </p:sp>
      <p:sp>
        <p:nvSpPr>
          <p:cNvPr id="29" name="h2p-4-text-28"/>
          <p:cNvSpPr txBox="1"/>
          <p:nvPr/>
        </p:nvSpPr>
        <p:spPr>
          <a:xfrm>
            <a:off x="10708538" y="6543446"/>
            <a:ext cx="85496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单向责任链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5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5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05 / 12 · 搜索空间</a:t>
            </a:r>
          </a:p>
        </p:txBody>
      </p:sp>
      <p:sp>
        <p:nvSpPr>
          <p:cNvPr id="4" name="h2p-5-text-3"/>
          <p:cNvSpPr txBox="1"/>
          <p:nvPr/>
        </p:nvSpPr>
        <p:spPr>
          <a:xfrm>
            <a:off x="685800" y="724204"/>
            <a:ext cx="11036808" cy="4526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300">
                <a:solidFill>
                  <a:srgbClr val="102A43"/>
                </a:solidFill>
                <a:latin typeface="Noto Sans CJK SC"/>
              </a:rPr>
              <a:t>无、单、多 Agent 是同一个搜索空间</a:t>
            </a:r>
          </a:p>
        </p:txBody>
      </p:sp>
      <p:sp>
        <p:nvSpPr>
          <p:cNvPr id="5" name="h2p-5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先画能力图，再决定哪些局部值得拥有独立身份与责任。</a:t>
            </a:r>
          </a:p>
        </p:txBody>
      </p:sp>
      <p:sp>
        <p:nvSpPr>
          <p:cNvPr id="6" name="h2p-5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5-box-6"/>
          <p:cNvSpPr/>
          <p:nvPr/>
        </p:nvSpPr>
        <p:spPr>
          <a:xfrm>
            <a:off x="685800" y="2210104"/>
            <a:ext cx="2438704" cy="3143707"/>
          </a:xfrm>
          <a:prstGeom prst="roundRect">
            <a:avLst>
              <a:gd name="adj" fmla="val 7030"/>
            </a:avLst>
          </a:prstGeom>
          <a:solidFill>
            <a:srgbClr val="FFFFFF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5-text-7"/>
          <p:cNvSpPr txBox="1"/>
          <p:nvPr/>
        </p:nvSpPr>
        <p:spPr>
          <a:xfrm>
            <a:off x="914400" y="2438704"/>
            <a:ext cx="102047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C0 · AGENTLESS</a:t>
            </a:r>
          </a:p>
        </p:txBody>
      </p:sp>
      <p:sp>
        <p:nvSpPr>
          <p:cNvPr id="9" name="h2p-5-text-8"/>
          <p:cNvSpPr txBox="1"/>
          <p:nvPr/>
        </p:nvSpPr>
        <p:spPr>
          <a:xfrm>
            <a:off x="914400" y="2781604"/>
            <a:ext cx="894283" cy="258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720">
                <a:solidFill>
                  <a:srgbClr val="102A43"/>
                </a:solidFill>
                <a:latin typeface="Noto Sans CJK SC"/>
              </a:rPr>
              <a:t>固定流程</a:t>
            </a:r>
          </a:p>
        </p:txBody>
      </p:sp>
      <p:sp>
        <p:nvSpPr>
          <p:cNvPr id="10" name="h2p-5-box-9"/>
          <p:cNvSpPr/>
          <p:nvPr/>
        </p:nvSpPr>
        <p:spPr>
          <a:xfrm>
            <a:off x="914400" y="3372307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5-text-10"/>
          <p:cNvSpPr txBox="1"/>
          <p:nvPr/>
        </p:nvSpPr>
        <p:spPr>
          <a:xfrm>
            <a:off x="929030" y="3534156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规则</a:t>
            </a:r>
          </a:p>
        </p:txBody>
      </p:sp>
      <p:sp>
        <p:nvSpPr>
          <p:cNvPr id="12" name="h2p-5-box-11"/>
          <p:cNvSpPr/>
          <p:nvPr/>
        </p:nvSpPr>
        <p:spPr>
          <a:xfrm>
            <a:off x="1923897" y="3372307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5-text-12"/>
          <p:cNvSpPr txBox="1"/>
          <p:nvPr/>
        </p:nvSpPr>
        <p:spPr>
          <a:xfrm>
            <a:off x="1938528" y="3534156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工具</a:t>
            </a:r>
          </a:p>
        </p:txBody>
      </p:sp>
      <p:sp>
        <p:nvSpPr>
          <p:cNvPr id="14" name="h2p-5-box-13"/>
          <p:cNvSpPr/>
          <p:nvPr/>
        </p:nvSpPr>
        <p:spPr>
          <a:xfrm>
            <a:off x="1428292" y="3619195"/>
            <a:ext cx="495604" cy="19202"/>
          </a:xfrm>
          <a:prstGeom prst="rect">
            <a:avLst/>
          </a:prstGeom>
          <a:solidFill>
            <a:srgbClr val="42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5-text-14"/>
          <p:cNvSpPr txBox="1"/>
          <p:nvPr/>
        </p:nvSpPr>
        <p:spPr>
          <a:xfrm>
            <a:off x="914400" y="4190695"/>
            <a:ext cx="2020824" cy="486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能力按预设顺序执行，没有独立决策主体。</a:t>
            </a:r>
          </a:p>
        </p:txBody>
      </p:sp>
      <p:sp>
        <p:nvSpPr>
          <p:cNvPr id="16" name="h2p-5-text-15"/>
          <p:cNvSpPr txBox="1"/>
          <p:nvPr/>
        </p:nvSpPr>
        <p:spPr>
          <a:xfrm>
            <a:off x="914400" y="4914900"/>
            <a:ext cx="202082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26B86"/>
                </a:solidFill>
                <a:latin typeface="Noto Sans CJK SC"/>
              </a:rPr>
              <a:t>强基线 · 低复杂度</a:t>
            </a:r>
          </a:p>
        </p:txBody>
      </p:sp>
      <p:sp>
        <p:nvSpPr>
          <p:cNvPr id="17" name="h2p-5-box-16"/>
          <p:cNvSpPr/>
          <p:nvPr/>
        </p:nvSpPr>
        <p:spPr>
          <a:xfrm>
            <a:off x="3390595" y="2210104"/>
            <a:ext cx="2438704" cy="3143707"/>
          </a:xfrm>
          <a:prstGeom prst="roundRect">
            <a:avLst>
              <a:gd name="adj" fmla="val 703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5-text-17"/>
          <p:cNvSpPr txBox="1"/>
          <p:nvPr/>
        </p:nvSpPr>
        <p:spPr>
          <a:xfrm>
            <a:off x="3619195" y="2438704"/>
            <a:ext cx="2020824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C1 · LOCAL AGENTIZE</a:t>
            </a:r>
          </a:p>
        </p:txBody>
      </p:sp>
      <p:sp>
        <p:nvSpPr>
          <p:cNvPr id="19" name="h2p-5-text-18"/>
          <p:cNvSpPr txBox="1"/>
          <p:nvPr/>
        </p:nvSpPr>
        <p:spPr>
          <a:xfrm>
            <a:off x="3619195" y="2781604"/>
            <a:ext cx="1340510" cy="258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720">
                <a:solidFill>
                  <a:srgbClr val="102A43"/>
                </a:solidFill>
                <a:latin typeface="Noto Sans CJK SC"/>
              </a:rPr>
              <a:t>只让难点决策</a:t>
            </a:r>
          </a:p>
        </p:txBody>
      </p:sp>
      <p:sp>
        <p:nvSpPr>
          <p:cNvPr id="20" name="h2p-5-box-19"/>
          <p:cNvSpPr/>
          <p:nvPr/>
        </p:nvSpPr>
        <p:spPr>
          <a:xfrm>
            <a:off x="3619195" y="3372307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5-text-20"/>
          <p:cNvSpPr txBox="1"/>
          <p:nvPr/>
        </p:nvSpPr>
        <p:spPr>
          <a:xfrm>
            <a:off x="3633825" y="3534156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规则</a:t>
            </a:r>
          </a:p>
        </p:txBody>
      </p:sp>
      <p:sp>
        <p:nvSpPr>
          <p:cNvPr id="22" name="h2p-5-box-21"/>
          <p:cNvSpPr/>
          <p:nvPr/>
        </p:nvSpPr>
        <p:spPr>
          <a:xfrm>
            <a:off x="4628692" y="3372307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1A8D85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5-text-22"/>
          <p:cNvSpPr txBox="1"/>
          <p:nvPr/>
        </p:nvSpPr>
        <p:spPr>
          <a:xfrm>
            <a:off x="4643323" y="3534156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FFF"/>
                </a:solidFill>
                <a:latin typeface="Noto Sans Mono CJK SC"/>
              </a:rPr>
              <a:t>Agent</a:t>
            </a:r>
          </a:p>
        </p:txBody>
      </p:sp>
      <p:sp>
        <p:nvSpPr>
          <p:cNvPr id="24" name="h2p-5-box-23"/>
          <p:cNvSpPr/>
          <p:nvPr/>
        </p:nvSpPr>
        <p:spPr>
          <a:xfrm>
            <a:off x="4134002" y="3619195"/>
            <a:ext cx="495604" cy="19202"/>
          </a:xfrm>
          <a:prstGeom prst="rect">
            <a:avLst/>
          </a:prstGeom>
          <a:solidFill>
            <a:srgbClr val="1A8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5-text-24"/>
          <p:cNvSpPr txBox="1"/>
          <p:nvPr/>
        </p:nvSpPr>
        <p:spPr>
          <a:xfrm>
            <a:off x="3619195" y="4190695"/>
            <a:ext cx="2020824" cy="486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不确定子图拥有决策闭环，其余保持确定性。</a:t>
            </a:r>
          </a:p>
        </p:txBody>
      </p:sp>
      <p:sp>
        <p:nvSpPr>
          <p:cNvPr id="26" name="h2p-5-text-25"/>
          <p:cNvSpPr txBox="1"/>
          <p:nvPr/>
        </p:nvSpPr>
        <p:spPr>
          <a:xfrm>
            <a:off x="3619195" y="4914900"/>
            <a:ext cx="202082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1A8D85"/>
                </a:solidFill>
                <a:latin typeface="Noto Sans CJK SC"/>
              </a:rPr>
              <a:t>精准增加自主性</a:t>
            </a:r>
          </a:p>
        </p:txBody>
      </p:sp>
      <p:sp>
        <p:nvSpPr>
          <p:cNvPr id="27" name="h2p-5-box-26"/>
          <p:cNvSpPr/>
          <p:nvPr/>
        </p:nvSpPr>
        <p:spPr>
          <a:xfrm>
            <a:off x="6096304" y="2210104"/>
            <a:ext cx="2438704" cy="3143707"/>
          </a:xfrm>
          <a:prstGeom prst="roundRect">
            <a:avLst>
              <a:gd name="adj" fmla="val 7030"/>
            </a:avLst>
          </a:prstGeom>
          <a:solidFill>
            <a:srgbClr val="FFFFFF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5-text-27"/>
          <p:cNvSpPr txBox="1"/>
          <p:nvPr/>
        </p:nvSpPr>
        <p:spPr>
          <a:xfrm>
            <a:off x="6324904" y="2438704"/>
            <a:ext cx="1224381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A5781C"/>
                </a:solidFill>
                <a:latin typeface="Noto Sans Mono CJK SC"/>
              </a:rPr>
              <a:t>C2 · SINGLE AGENT</a:t>
            </a:r>
          </a:p>
        </p:txBody>
      </p:sp>
      <p:sp>
        <p:nvSpPr>
          <p:cNvPr id="29" name="h2p-5-text-28"/>
          <p:cNvSpPr txBox="1"/>
          <p:nvPr/>
        </p:nvSpPr>
        <p:spPr>
          <a:xfrm>
            <a:off x="6324904" y="2781604"/>
            <a:ext cx="1340510" cy="258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720">
                <a:solidFill>
                  <a:srgbClr val="102A43"/>
                </a:solidFill>
                <a:latin typeface="Noto Sans CJK SC"/>
              </a:rPr>
              <a:t>一个责任主体</a:t>
            </a:r>
          </a:p>
        </p:txBody>
      </p:sp>
      <p:sp>
        <p:nvSpPr>
          <p:cNvPr id="30" name="h2p-5-box-29"/>
          <p:cNvSpPr/>
          <p:nvPr/>
        </p:nvSpPr>
        <p:spPr>
          <a:xfrm>
            <a:off x="7114946" y="3372307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D6A43B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2p-5-text-30"/>
          <p:cNvSpPr txBox="1"/>
          <p:nvPr/>
        </p:nvSpPr>
        <p:spPr>
          <a:xfrm>
            <a:off x="7129576" y="3534156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FFF"/>
                </a:solidFill>
                <a:latin typeface="Noto Sans Mono CJK SC"/>
              </a:rPr>
              <a:t>Agent</a:t>
            </a:r>
          </a:p>
        </p:txBody>
      </p:sp>
      <p:sp>
        <p:nvSpPr>
          <p:cNvPr id="32" name="h2p-5-text-31"/>
          <p:cNvSpPr txBox="1"/>
          <p:nvPr/>
        </p:nvSpPr>
        <p:spPr>
          <a:xfrm>
            <a:off x="6324904" y="4190695"/>
            <a:ext cx="2020824" cy="486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统一上下文和决策，但权限集中、自验偏差更高。</a:t>
            </a:r>
          </a:p>
        </p:txBody>
      </p:sp>
      <p:sp>
        <p:nvSpPr>
          <p:cNvPr id="33" name="h2p-5-text-32"/>
          <p:cNvSpPr txBox="1"/>
          <p:nvPr/>
        </p:nvSpPr>
        <p:spPr>
          <a:xfrm>
            <a:off x="6324904" y="4914900"/>
            <a:ext cx="202082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A5781C"/>
                </a:solidFill>
                <a:latin typeface="Noto Sans CJK SC"/>
              </a:rPr>
              <a:t>少通信 · 长上下文</a:t>
            </a:r>
          </a:p>
        </p:txBody>
      </p:sp>
      <p:sp>
        <p:nvSpPr>
          <p:cNvPr id="34" name="h2p-5-box-33"/>
          <p:cNvSpPr/>
          <p:nvPr/>
        </p:nvSpPr>
        <p:spPr>
          <a:xfrm>
            <a:off x="8801100" y="2210104"/>
            <a:ext cx="2704795" cy="3143707"/>
          </a:xfrm>
          <a:prstGeom prst="roundRect">
            <a:avLst>
              <a:gd name="adj" fmla="val 634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2p-5-text-34"/>
          <p:cNvSpPr txBox="1"/>
          <p:nvPr/>
        </p:nvSpPr>
        <p:spPr>
          <a:xfrm>
            <a:off x="9029700" y="2438704"/>
            <a:ext cx="169986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4C32"/>
                </a:solidFill>
                <a:latin typeface="Noto Sans Mono CJK SC"/>
              </a:rPr>
              <a:t>C3 · MULTI AGENT + HUMAN</a:t>
            </a:r>
          </a:p>
        </p:txBody>
      </p:sp>
      <p:sp>
        <p:nvSpPr>
          <p:cNvPr id="36" name="h2p-5-text-35"/>
          <p:cNvSpPr txBox="1"/>
          <p:nvPr/>
        </p:nvSpPr>
        <p:spPr>
          <a:xfrm>
            <a:off x="9029700" y="2781604"/>
            <a:ext cx="1564538" cy="258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720">
                <a:solidFill>
                  <a:srgbClr val="102A43"/>
                </a:solidFill>
                <a:latin typeface="Noto Sans CJK SC"/>
              </a:rPr>
              <a:t>分责并独立验证</a:t>
            </a:r>
          </a:p>
        </p:txBody>
      </p:sp>
      <p:sp>
        <p:nvSpPr>
          <p:cNvPr id="37" name="h2p-5-box-36"/>
          <p:cNvSpPr/>
          <p:nvPr/>
        </p:nvSpPr>
        <p:spPr>
          <a:xfrm>
            <a:off x="9029700" y="3372307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F26B4B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2p-5-text-37"/>
          <p:cNvSpPr txBox="1"/>
          <p:nvPr/>
        </p:nvSpPr>
        <p:spPr>
          <a:xfrm>
            <a:off x="9044330" y="3534156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FFF"/>
                </a:solidFill>
                <a:latin typeface="Noto Sans Mono CJK SC"/>
              </a:rPr>
              <a:t>设计</a:t>
            </a:r>
          </a:p>
        </p:txBody>
      </p:sp>
      <p:sp>
        <p:nvSpPr>
          <p:cNvPr id="39" name="h2p-5-box-38"/>
          <p:cNvSpPr/>
          <p:nvPr/>
        </p:nvSpPr>
        <p:spPr>
          <a:xfrm>
            <a:off x="10001707" y="3372307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F26B4B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2p-5-text-39"/>
          <p:cNvSpPr txBox="1"/>
          <p:nvPr/>
        </p:nvSpPr>
        <p:spPr>
          <a:xfrm>
            <a:off x="10015423" y="3534156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FFF"/>
                </a:solidFill>
                <a:latin typeface="Noto Sans Mono CJK SC"/>
              </a:rPr>
              <a:t>验证</a:t>
            </a:r>
          </a:p>
        </p:txBody>
      </p:sp>
      <p:sp>
        <p:nvSpPr>
          <p:cNvPr id="41" name="h2p-5-box-40"/>
          <p:cNvSpPr/>
          <p:nvPr/>
        </p:nvSpPr>
        <p:spPr>
          <a:xfrm>
            <a:off x="10934395" y="3372307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h2p-5-text-41"/>
          <p:cNvSpPr txBox="1"/>
          <p:nvPr/>
        </p:nvSpPr>
        <p:spPr>
          <a:xfrm>
            <a:off x="10949025" y="3534156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A5781C"/>
                </a:solidFill>
                <a:latin typeface="Noto Sans Mono CJK SC"/>
              </a:rPr>
              <a:t>Human</a:t>
            </a:r>
          </a:p>
        </p:txBody>
      </p:sp>
      <p:sp>
        <p:nvSpPr>
          <p:cNvPr id="43" name="h2p-5-box-42"/>
          <p:cNvSpPr/>
          <p:nvPr/>
        </p:nvSpPr>
        <p:spPr>
          <a:xfrm>
            <a:off x="9544507" y="3619195"/>
            <a:ext cx="437997" cy="19202"/>
          </a:xfrm>
          <a:prstGeom prst="rect">
            <a:avLst/>
          </a:prstGeom>
          <a:solidFill>
            <a:srgbClr val="F2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2p-5-box-43"/>
          <p:cNvSpPr/>
          <p:nvPr/>
        </p:nvSpPr>
        <p:spPr>
          <a:xfrm>
            <a:off x="10515600" y="3619195"/>
            <a:ext cx="400507" cy="19202"/>
          </a:xfrm>
          <a:prstGeom prst="rect">
            <a:avLst/>
          </a:prstGeom>
          <a:solidFill>
            <a:srgbClr val="D6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h2p-5-text-44"/>
          <p:cNvSpPr txBox="1"/>
          <p:nvPr/>
        </p:nvSpPr>
        <p:spPr>
          <a:xfrm>
            <a:off x="9029700" y="4190695"/>
            <a:ext cx="2292400" cy="486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责任与上下文隔离更强，也新增通信和审计成本。</a:t>
            </a:r>
          </a:p>
        </p:txBody>
      </p:sp>
      <p:sp>
        <p:nvSpPr>
          <p:cNvPr id="46" name="h2p-5-text-45"/>
          <p:cNvSpPr txBox="1"/>
          <p:nvPr/>
        </p:nvSpPr>
        <p:spPr>
          <a:xfrm>
            <a:off x="9029700" y="4914900"/>
            <a:ext cx="229240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64C32"/>
                </a:solidFill>
                <a:latin typeface="Noto Sans CJK SC"/>
              </a:rPr>
              <a:t>必须证明边际价值</a:t>
            </a:r>
          </a:p>
        </p:txBody>
      </p:sp>
      <p:sp>
        <p:nvSpPr>
          <p:cNvPr id="47" name="h2p-5-box-46"/>
          <p:cNvSpPr/>
          <p:nvPr/>
        </p:nvSpPr>
        <p:spPr>
          <a:xfrm>
            <a:off x="2667304" y="5715000"/>
            <a:ext cx="6858000" cy="381304"/>
          </a:xfrm>
          <a:prstGeom prst="roundRect">
            <a:avLst>
              <a:gd name="adj" fmla="val 50000"/>
            </a:avLst>
          </a:prstGeom>
          <a:solidFill>
            <a:srgbClr val="0B2236"/>
          </a:solidFill>
          <a:ln w="19050">
            <a:solidFill>
              <a:srgbClr val="0B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2p-5-text-47"/>
          <p:cNvSpPr txBox="1"/>
          <p:nvPr/>
        </p:nvSpPr>
        <p:spPr>
          <a:xfrm>
            <a:off x="2734056" y="5800953"/>
            <a:ext cx="6723583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FFFFFF"/>
                </a:solidFill>
                <a:latin typeface="Noto Sans Mono CJK SC"/>
              </a:rPr>
              <a:t>Agent 数量是搜索变量，不是项目目标</a:t>
            </a:r>
          </a:p>
        </p:txBody>
      </p:sp>
      <p:sp>
        <p:nvSpPr>
          <p:cNvPr id="49" name="h2p-5-text-48"/>
          <p:cNvSpPr txBox="1"/>
          <p:nvPr/>
        </p:nvSpPr>
        <p:spPr>
          <a:xfrm>
            <a:off x="685800" y="6543446"/>
            <a:ext cx="96194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能力图</a:t>
            </a:r>
          </a:p>
        </p:txBody>
      </p:sp>
      <p:sp>
        <p:nvSpPr>
          <p:cNvPr id="50" name="h2p-5-text-49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四类候选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6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6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06 / 12 · 选择规则</a:t>
            </a:r>
          </a:p>
        </p:txBody>
      </p:sp>
      <p:sp>
        <p:nvSpPr>
          <p:cNvPr id="4" name="h2p-6-text-3"/>
          <p:cNvSpPr txBox="1"/>
          <p:nvPr/>
        </p:nvSpPr>
        <p:spPr>
          <a:xfrm>
            <a:off x="685800" y="724204"/>
            <a:ext cx="11036808" cy="4526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300">
                <a:solidFill>
                  <a:srgbClr val="FFFFFF"/>
                </a:solidFill>
                <a:latin typeface="Noto Sans CJK SC"/>
              </a:rPr>
              <a:t>最简单的合格者获胜</a:t>
            </a:r>
          </a:p>
        </p:txBody>
      </p:sp>
      <p:sp>
        <p:nvSpPr>
          <p:cNvPr id="5" name="h2p-6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6D3DD"/>
                </a:solidFill>
                <a:latin typeface="Noto Sans CJK SC"/>
              </a:rPr>
              <a:t>候选共享同一套试卷；复杂度本身也是成本。</a:t>
            </a:r>
          </a:p>
        </p:txBody>
      </p:sp>
      <p:sp>
        <p:nvSpPr>
          <p:cNvPr id="6" name="h2p-6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285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6-text-6"/>
          <p:cNvSpPr txBox="1"/>
          <p:nvPr/>
        </p:nvSpPr>
        <p:spPr>
          <a:xfrm>
            <a:off x="685800" y="2190902"/>
            <a:ext cx="54406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8FA6B9"/>
                </a:solidFill>
                <a:latin typeface="Noto Sans Mono CJK SC"/>
              </a:rPr>
              <a:t>统一起点</a:t>
            </a:r>
          </a:p>
        </p:txBody>
      </p:sp>
      <p:sp>
        <p:nvSpPr>
          <p:cNvPr id="8" name="h2p-6-box-7"/>
          <p:cNvSpPr/>
          <p:nvPr/>
        </p:nvSpPr>
        <p:spPr>
          <a:xfrm>
            <a:off x="685800" y="2457907"/>
            <a:ext cx="2190902" cy="2342692"/>
          </a:xfrm>
          <a:prstGeom prst="roundRect">
            <a:avLst>
              <a:gd name="adj" fmla="val 7829"/>
            </a:avLst>
          </a:prstGeom>
          <a:solidFill>
            <a:srgbClr val="132F47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6-text-8"/>
          <p:cNvSpPr txBox="1"/>
          <p:nvPr/>
        </p:nvSpPr>
        <p:spPr>
          <a:xfrm>
            <a:off x="933602" y="2723997"/>
            <a:ext cx="932688" cy="269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>
                <a:solidFill>
                  <a:srgbClr val="FFFFFF"/>
                </a:solidFill>
                <a:latin typeface="Noto Sans CJK SC"/>
              </a:rPr>
              <a:t>同一试卷</a:t>
            </a:r>
          </a:p>
        </p:txBody>
      </p:sp>
      <p:sp>
        <p:nvSpPr>
          <p:cNvPr id="10" name="h2p-6-text-9"/>
          <p:cNvSpPr txBox="1"/>
          <p:nvPr/>
        </p:nvSpPr>
        <p:spPr>
          <a:xfrm>
            <a:off x="933602" y="3161995"/>
            <a:ext cx="1729130" cy="9729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相同输入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相同模型与工具边界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相同预算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相同安全门禁</a:t>
            </a:r>
          </a:p>
        </p:txBody>
      </p:sp>
      <p:sp>
        <p:nvSpPr>
          <p:cNvPr id="11" name="h2p-6-text-10"/>
          <p:cNvSpPr txBox="1"/>
          <p:nvPr/>
        </p:nvSpPr>
        <p:spPr>
          <a:xfrm>
            <a:off x="3066897" y="3314700"/>
            <a:ext cx="330098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>
                <a:solidFill>
                  <a:srgbClr val="74D0C7"/>
                </a:solidFill>
                <a:latin typeface="Noto Sans CJK SC"/>
              </a:rPr>
              <a:t>→</a:t>
            </a:r>
          </a:p>
        </p:txBody>
      </p:sp>
      <p:sp>
        <p:nvSpPr>
          <p:cNvPr id="12" name="h2p-6-text-11"/>
          <p:cNvSpPr txBox="1"/>
          <p:nvPr/>
        </p:nvSpPr>
        <p:spPr>
          <a:xfrm>
            <a:off x="3619195" y="2190902"/>
            <a:ext cx="54406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候选赛道</a:t>
            </a:r>
          </a:p>
        </p:txBody>
      </p:sp>
      <p:sp>
        <p:nvSpPr>
          <p:cNvPr id="13" name="h2p-6-box-12"/>
          <p:cNvSpPr/>
          <p:nvPr/>
        </p:nvSpPr>
        <p:spPr>
          <a:xfrm>
            <a:off x="3619195" y="2457907"/>
            <a:ext cx="3143707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6-text-13"/>
          <p:cNvSpPr txBox="1"/>
          <p:nvPr/>
        </p:nvSpPr>
        <p:spPr>
          <a:xfrm>
            <a:off x="3724351" y="2542946"/>
            <a:ext cx="293430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D3DD"/>
                </a:solidFill>
                <a:latin typeface="Noto Sans Mono CJK SC"/>
              </a:rPr>
              <a:t>C0 · 无 Agent 基线</a:t>
            </a:r>
          </a:p>
        </p:txBody>
      </p:sp>
      <p:sp>
        <p:nvSpPr>
          <p:cNvPr id="15" name="h2p-6-box-14"/>
          <p:cNvSpPr/>
          <p:nvPr/>
        </p:nvSpPr>
        <p:spPr>
          <a:xfrm>
            <a:off x="3619195" y="2971800"/>
            <a:ext cx="3143707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6-text-15"/>
          <p:cNvSpPr txBox="1"/>
          <p:nvPr/>
        </p:nvSpPr>
        <p:spPr>
          <a:xfrm>
            <a:off x="3724351" y="3057753"/>
            <a:ext cx="293430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A9C3D5"/>
                </a:solidFill>
                <a:latin typeface="Noto Sans Mono CJK SC"/>
              </a:rPr>
              <a:t>C1 · 局部 Agentize</a:t>
            </a:r>
          </a:p>
        </p:txBody>
      </p:sp>
      <p:sp>
        <p:nvSpPr>
          <p:cNvPr id="17" name="h2p-6-box-16"/>
          <p:cNvSpPr/>
          <p:nvPr/>
        </p:nvSpPr>
        <p:spPr>
          <a:xfrm>
            <a:off x="3619195" y="3485692"/>
            <a:ext cx="3143707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6-text-17"/>
          <p:cNvSpPr txBox="1"/>
          <p:nvPr/>
        </p:nvSpPr>
        <p:spPr>
          <a:xfrm>
            <a:off x="3724351" y="3571646"/>
            <a:ext cx="293430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C2 · 单 Agent</a:t>
            </a:r>
          </a:p>
        </p:txBody>
      </p:sp>
      <p:sp>
        <p:nvSpPr>
          <p:cNvPr id="19" name="h2p-6-box-18"/>
          <p:cNvSpPr/>
          <p:nvPr/>
        </p:nvSpPr>
        <p:spPr>
          <a:xfrm>
            <a:off x="3619195" y="4000500"/>
            <a:ext cx="3143707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6-text-19"/>
          <p:cNvSpPr txBox="1"/>
          <p:nvPr/>
        </p:nvSpPr>
        <p:spPr>
          <a:xfrm>
            <a:off x="3724351" y="4086453"/>
            <a:ext cx="293430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6AA92"/>
                </a:solidFill>
                <a:latin typeface="Noto Sans Mono CJK SC"/>
              </a:rPr>
              <a:t>C3 · 多 Agent + Human</a:t>
            </a:r>
          </a:p>
        </p:txBody>
      </p:sp>
      <p:sp>
        <p:nvSpPr>
          <p:cNvPr id="21" name="h2p-6-box-20"/>
          <p:cNvSpPr/>
          <p:nvPr/>
        </p:nvSpPr>
        <p:spPr>
          <a:xfrm>
            <a:off x="6762902" y="2648102"/>
            <a:ext cx="857707" cy="19202"/>
          </a:xfrm>
          <a:prstGeom prst="rect">
            <a:avLst/>
          </a:prstGeom>
          <a:solidFill>
            <a:srgbClr val="536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6-box-21"/>
          <p:cNvSpPr/>
          <p:nvPr/>
        </p:nvSpPr>
        <p:spPr>
          <a:xfrm>
            <a:off x="6762902" y="3161995"/>
            <a:ext cx="857707" cy="19202"/>
          </a:xfrm>
          <a:prstGeom prst="rect">
            <a:avLst/>
          </a:prstGeom>
          <a:solidFill>
            <a:srgbClr val="42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6-box-22"/>
          <p:cNvSpPr/>
          <p:nvPr/>
        </p:nvSpPr>
        <p:spPr>
          <a:xfrm>
            <a:off x="6762902" y="3676802"/>
            <a:ext cx="857707" cy="19202"/>
          </a:xfrm>
          <a:prstGeom prst="rect">
            <a:avLst/>
          </a:prstGeom>
          <a:solidFill>
            <a:srgbClr val="1A8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6-box-23"/>
          <p:cNvSpPr/>
          <p:nvPr/>
        </p:nvSpPr>
        <p:spPr>
          <a:xfrm>
            <a:off x="6762902" y="4190695"/>
            <a:ext cx="857707" cy="19202"/>
          </a:xfrm>
          <a:prstGeom prst="rect">
            <a:avLst/>
          </a:prstGeom>
          <a:solidFill>
            <a:srgbClr val="F2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6-box-24"/>
          <p:cNvSpPr/>
          <p:nvPr/>
        </p:nvSpPr>
        <p:spPr>
          <a:xfrm>
            <a:off x="7619695" y="2648102"/>
            <a:ext cx="19202" cy="1561795"/>
          </a:xfrm>
          <a:prstGeom prst="rect">
            <a:avLst/>
          </a:prstGeom>
          <a:solidFill>
            <a:srgbClr val="D6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2p-6-text-25"/>
          <p:cNvSpPr txBox="1"/>
          <p:nvPr/>
        </p:nvSpPr>
        <p:spPr>
          <a:xfrm>
            <a:off x="7733995" y="3219602"/>
            <a:ext cx="330098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>
                <a:solidFill>
                  <a:srgbClr val="D6A43B"/>
                </a:solidFill>
                <a:latin typeface="Noto Sans CJK SC"/>
              </a:rPr>
              <a:t>→</a:t>
            </a:r>
          </a:p>
        </p:txBody>
      </p:sp>
      <p:sp>
        <p:nvSpPr>
          <p:cNvPr id="27" name="h2p-6-text-26"/>
          <p:cNvSpPr txBox="1"/>
          <p:nvPr/>
        </p:nvSpPr>
        <p:spPr>
          <a:xfrm>
            <a:off x="8268004" y="2190902"/>
            <a:ext cx="68031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共同验收线</a:t>
            </a:r>
          </a:p>
        </p:txBody>
      </p:sp>
      <p:sp>
        <p:nvSpPr>
          <p:cNvPr id="28" name="h2p-6-box-27"/>
          <p:cNvSpPr/>
          <p:nvPr/>
        </p:nvSpPr>
        <p:spPr>
          <a:xfrm>
            <a:off x="8268004" y="2457907"/>
            <a:ext cx="3238804" cy="2342692"/>
          </a:xfrm>
          <a:prstGeom prst="roundRect">
            <a:avLst>
              <a:gd name="adj" fmla="val 7320"/>
            </a:avLst>
          </a:prstGeom>
          <a:solidFill>
            <a:srgbClr val="132F47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6-text-28"/>
          <p:cNvSpPr txBox="1"/>
          <p:nvPr/>
        </p:nvSpPr>
        <p:spPr>
          <a:xfrm>
            <a:off x="8534095" y="2723997"/>
            <a:ext cx="1632204" cy="269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>
                <a:solidFill>
                  <a:srgbClr val="FFFFFF"/>
                </a:solidFill>
                <a:latin typeface="Noto Sans CJK SC"/>
              </a:rPr>
              <a:t>先合格，再排序</a:t>
            </a:r>
          </a:p>
        </p:txBody>
      </p:sp>
      <p:sp>
        <p:nvSpPr>
          <p:cNvPr id="30" name="h2p-6-text-29"/>
          <p:cNvSpPr txBox="1"/>
          <p:nvPr/>
        </p:nvSpPr>
        <p:spPr>
          <a:xfrm>
            <a:off x="8534095" y="3161995"/>
            <a:ext cx="2759659" cy="7296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正确性 · 稳定性 · 成本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时延 · 权限 · 可回滚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Agent 边际价值</a:t>
            </a:r>
          </a:p>
        </p:txBody>
      </p:sp>
      <p:sp>
        <p:nvSpPr>
          <p:cNvPr id="31" name="h2p-6-box-30"/>
          <p:cNvSpPr/>
          <p:nvPr/>
        </p:nvSpPr>
        <p:spPr>
          <a:xfrm>
            <a:off x="8534095" y="4153204"/>
            <a:ext cx="2704795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6-text-31"/>
          <p:cNvSpPr txBox="1"/>
          <p:nvPr/>
        </p:nvSpPr>
        <p:spPr>
          <a:xfrm>
            <a:off x="8643823" y="4238244"/>
            <a:ext cx="248716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Human 可否决</a:t>
            </a:r>
          </a:p>
        </p:txBody>
      </p:sp>
      <p:sp>
        <p:nvSpPr>
          <p:cNvPr id="33" name="h2p-6-text-32"/>
          <p:cNvSpPr txBox="1"/>
          <p:nvPr/>
        </p:nvSpPr>
        <p:spPr>
          <a:xfrm>
            <a:off x="9715500" y="4819802"/>
            <a:ext cx="291693" cy="418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>
                <a:solidFill>
                  <a:srgbClr val="D6A43B"/>
                </a:solidFill>
                <a:latin typeface="Noto Sans CJK SC"/>
              </a:rPr>
              <a:t>↓</a:t>
            </a:r>
          </a:p>
        </p:txBody>
      </p:sp>
      <p:sp>
        <p:nvSpPr>
          <p:cNvPr id="34" name="h2p-6-box-33"/>
          <p:cNvSpPr/>
          <p:nvPr/>
        </p:nvSpPr>
        <p:spPr>
          <a:xfrm>
            <a:off x="8268004" y="5219395"/>
            <a:ext cx="3238804" cy="724204"/>
          </a:xfrm>
          <a:prstGeom prst="roundRect">
            <a:avLst>
              <a:gd name="adj" fmla="val 21050"/>
            </a:avLst>
          </a:prstGeom>
          <a:solidFill>
            <a:srgbClr val="132F47"/>
          </a:solidFill>
          <a:ln w="3810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2p-6-text-34"/>
          <p:cNvSpPr txBox="1"/>
          <p:nvPr/>
        </p:nvSpPr>
        <p:spPr>
          <a:xfrm>
            <a:off x="8390534" y="5458053"/>
            <a:ext cx="2992831" cy="2093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74D0C7"/>
                </a:solidFill>
                <a:latin typeface="Noto Sans Mono CJK SC"/>
              </a:rPr>
              <a:t>PASS + MIN COMPLEXITY</a:t>
            </a:r>
          </a:p>
        </p:txBody>
      </p:sp>
      <p:sp>
        <p:nvSpPr>
          <p:cNvPr id="36" name="h2p-6-text-35"/>
          <p:cNvSpPr txBox="1"/>
          <p:nvPr/>
        </p:nvSpPr>
        <p:spPr>
          <a:xfrm>
            <a:off x="3579876" y="5447995"/>
            <a:ext cx="4080052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6AA92"/>
                </a:solidFill>
                <a:latin typeface="Noto Sans CJK SC"/>
              </a:rPr>
              <a:t>全部不合格 → 拒绝自动化</a:t>
            </a:r>
          </a:p>
        </p:txBody>
      </p:sp>
      <p:sp>
        <p:nvSpPr>
          <p:cNvPr id="37" name="h2p-6-text-36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AGENTFIT · 统一评测</a:t>
            </a:r>
          </a:p>
        </p:txBody>
      </p:sp>
      <p:sp>
        <p:nvSpPr>
          <p:cNvPr id="38" name="h2p-6-text-37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选择规则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7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7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07 / 12 · 元团队</a:t>
            </a:r>
          </a:p>
        </p:txBody>
      </p:sp>
      <p:sp>
        <p:nvSpPr>
          <p:cNvPr id="4" name="h2p-7-text-3"/>
          <p:cNvSpPr txBox="1"/>
          <p:nvPr/>
        </p:nvSpPr>
        <p:spPr>
          <a:xfrm>
            <a:off x="685800" y="724204"/>
            <a:ext cx="11036808" cy="4526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300">
                <a:solidFill>
                  <a:srgbClr val="102A43"/>
                </a:solidFill>
                <a:latin typeface="Noto Sans CJK SC"/>
              </a:rPr>
              <a:t>五个元 Agent 把方案选择变成责任闭环</a:t>
            </a:r>
          </a:p>
        </p:txBody>
      </p:sp>
      <p:sp>
        <p:nvSpPr>
          <p:cNvPr id="5" name="h2p-7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不是五张角色卡：每个 Agent 对一个独立判断与责任产物负责。</a:t>
            </a:r>
          </a:p>
        </p:txBody>
      </p:sp>
      <p:sp>
        <p:nvSpPr>
          <p:cNvPr id="6" name="h2p-7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7-box-6"/>
          <p:cNvSpPr/>
          <p:nvPr/>
        </p:nvSpPr>
        <p:spPr>
          <a:xfrm>
            <a:off x="1199692" y="3161995"/>
            <a:ext cx="9791395" cy="38404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7-box-7"/>
          <p:cNvSpPr/>
          <p:nvPr/>
        </p:nvSpPr>
        <p:spPr>
          <a:xfrm>
            <a:off x="685800" y="2915107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0B2236"/>
          </a:solidFill>
          <a:ln w="19050">
            <a:solidFill>
              <a:srgbClr val="0B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7-text-8"/>
          <p:cNvSpPr txBox="1"/>
          <p:nvPr/>
        </p:nvSpPr>
        <p:spPr>
          <a:xfrm>
            <a:off x="700430" y="3076956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FFF"/>
                </a:solidFill>
                <a:latin typeface="Noto Sans Mono CJK SC"/>
              </a:rPr>
              <a:t>01</a:t>
            </a:r>
          </a:p>
        </p:txBody>
      </p:sp>
      <p:sp>
        <p:nvSpPr>
          <p:cNvPr id="10" name="h2p-7-text-9"/>
          <p:cNvSpPr txBox="1"/>
          <p:nvPr/>
        </p:nvSpPr>
        <p:spPr>
          <a:xfrm>
            <a:off x="685800" y="3638397"/>
            <a:ext cx="1806854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交付官</a:t>
            </a:r>
          </a:p>
        </p:txBody>
      </p:sp>
      <p:sp>
        <p:nvSpPr>
          <p:cNvPr id="11" name="h2p-7-text-10"/>
          <p:cNvSpPr txBox="1"/>
          <p:nvPr/>
        </p:nvSpPr>
        <p:spPr>
          <a:xfrm>
            <a:off x="685800" y="3962095"/>
            <a:ext cx="1806854" cy="357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冻结目标与阶段</a:t>
            </a:r>
          </a:p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产物：项目简报</a:t>
            </a:r>
          </a:p>
        </p:txBody>
      </p:sp>
      <p:sp>
        <p:nvSpPr>
          <p:cNvPr id="12" name="h2p-7-text-11"/>
          <p:cNvSpPr txBox="1"/>
          <p:nvPr/>
        </p:nvSpPr>
        <p:spPr>
          <a:xfrm>
            <a:off x="685800" y="4515307"/>
            <a:ext cx="95189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18190"/>
                </a:solidFill>
                <a:latin typeface="Noto Sans Mono CJK SC"/>
              </a:rPr>
              <a:t>EngagementLead</a:t>
            </a:r>
          </a:p>
        </p:txBody>
      </p:sp>
      <p:sp>
        <p:nvSpPr>
          <p:cNvPr id="13" name="h2p-7-box-12"/>
          <p:cNvSpPr/>
          <p:nvPr/>
        </p:nvSpPr>
        <p:spPr>
          <a:xfrm>
            <a:off x="2915107" y="2915107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426B86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7-text-13"/>
          <p:cNvSpPr txBox="1"/>
          <p:nvPr/>
        </p:nvSpPr>
        <p:spPr>
          <a:xfrm>
            <a:off x="2928823" y="3076956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FFF"/>
                </a:solidFill>
                <a:latin typeface="Noto Sans Mono CJK SC"/>
              </a:rPr>
              <a:t>02</a:t>
            </a:r>
          </a:p>
        </p:txBody>
      </p:sp>
      <p:sp>
        <p:nvSpPr>
          <p:cNvPr id="15" name="h2p-7-text-14"/>
          <p:cNvSpPr txBox="1"/>
          <p:nvPr/>
        </p:nvSpPr>
        <p:spPr>
          <a:xfrm>
            <a:off x="2915107" y="3638397"/>
            <a:ext cx="1806854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业务架构师</a:t>
            </a:r>
          </a:p>
        </p:txBody>
      </p:sp>
      <p:sp>
        <p:nvSpPr>
          <p:cNvPr id="16" name="h2p-7-text-15"/>
          <p:cNvSpPr txBox="1"/>
          <p:nvPr/>
        </p:nvSpPr>
        <p:spPr>
          <a:xfrm>
            <a:off x="2915107" y="3962095"/>
            <a:ext cx="1806854" cy="357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编译任务语义</a:t>
            </a:r>
          </a:p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产物：任务说明书</a:t>
            </a:r>
          </a:p>
        </p:txBody>
      </p:sp>
      <p:sp>
        <p:nvSpPr>
          <p:cNvPr id="17" name="h2p-7-text-16"/>
          <p:cNvSpPr txBox="1"/>
          <p:nvPr/>
        </p:nvSpPr>
        <p:spPr>
          <a:xfrm>
            <a:off x="2915107" y="4515307"/>
            <a:ext cx="108813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18190"/>
                </a:solidFill>
                <a:latin typeface="Noto Sans Mono CJK SC"/>
              </a:rPr>
              <a:t>BusinessEngineer</a:t>
            </a:r>
          </a:p>
        </p:txBody>
      </p:sp>
      <p:sp>
        <p:nvSpPr>
          <p:cNvPr id="18" name="h2p-7-box-17"/>
          <p:cNvSpPr/>
          <p:nvPr/>
        </p:nvSpPr>
        <p:spPr>
          <a:xfrm>
            <a:off x="5143500" y="2915107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1A8D85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7-text-18"/>
          <p:cNvSpPr txBox="1"/>
          <p:nvPr/>
        </p:nvSpPr>
        <p:spPr>
          <a:xfrm>
            <a:off x="5158130" y="3076956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FFF"/>
                </a:solidFill>
                <a:latin typeface="Noto Sans Mono CJK SC"/>
              </a:rPr>
              <a:t>03</a:t>
            </a:r>
          </a:p>
        </p:txBody>
      </p:sp>
      <p:sp>
        <p:nvSpPr>
          <p:cNvPr id="20" name="h2p-7-text-19"/>
          <p:cNvSpPr txBox="1"/>
          <p:nvPr/>
        </p:nvSpPr>
        <p:spPr>
          <a:xfrm>
            <a:off x="5143500" y="3638397"/>
            <a:ext cx="1806854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方案架构师</a:t>
            </a:r>
          </a:p>
        </p:txBody>
      </p:sp>
      <p:sp>
        <p:nvSpPr>
          <p:cNvPr id="21" name="h2p-7-text-20"/>
          <p:cNvSpPr txBox="1"/>
          <p:nvPr/>
        </p:nvSpPr>
        <p:spPr>
          <a:xfrm>
            <a:off x="5143500" y="3962095"/>
            <a:ext cx="1806854" cy="357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生成并列候选</a:t>
            </a:r>
          </a:p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产物：候选方案集</a:t>
            </a:r>
          </a:p>
        </p:txBody>
      </p:sp>
      <p:sp>
        <p:nvSpPr>
          <p:cNvPr id="22" name="h2p-7-text-21"/>
          <p:cNvSpPr txBox="1"/>
          <p:nvPr/>
        </p:nvSpPr>
        <p:spPr>
          <a:xfrm>
            <a:off x="5143500" y="4515307"/>
            <a:ext cx="95189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18190"/>
                </a:solidFill>
                <a:latin typeface="Noto Sans Mono CJK SC"/>
              </a:rPr>
              <a:t>AgentArchitect</a:t>
            </a:r>
          </a:p>
        </p:txBody>
      </p:sp>
      <p:sp>
        <p:nvSpPr>
          <p:cNvPr id="23" name="h2p-7-box-22"/>
          <p:cNvSpPr/>
          <p:nvPr/>
        </p:nvSpPr>
        <p:spPr>
          <a:xfrm>
            <a:off x="7371892" y="2915107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F26B4B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7-text-23"/>
          <p:cNvSpPr txBox="1"/>
          <p:nvPr/>
        </p:nvSpPr>
        <p:spPr>
          <a:xfrm>
            <a:off x="7386523" y="3076956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FFF"/>
                </a:solidFill>
                <a:latin typeface="Noto Sans Mono CJK SC"/>
              </a:rPr>
              <a:t>04</a:t>
            </a:r>
          </a:p>
        </p:txBody>
      </p:sp>
      <p:sp>
        <p:nvSpPr>
          <p:cNvPr id="25" name="h2p-7-text-24"/>
          <p:cNvSpPr txBox="1"/>
          <p:nvPr/>
        </p:nvSpPr>
        <p:spPr>
          <a:xfrm>
            <a:off x="7371892" y="3638397"/>
            <a:ext cx="1806854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验证工程师</a:t>
            </a:r>
          </a:p>
        </p:txBody>
      </p:sp>
      <p:sp>
        <p:nvSpPr>
          <p:cNvPr id="26" name="h2p-7-text-25"/>
          <p:cNvSpPr txBox="1"/>
          <p:nvPr/>
        </p:nvSpPr>
        <p:spPr>
          <a:xfrm>
            <a:off x="7371892" y="3962095"/>
            <a:ext cx="1806854" cy="357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执行公平试验</a:t>
            </a:r>
          </a:p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产物：执行轨迹</a:t>
            </a:r>
          </a:p>
        </p:txBody>
      </p:sp>
      <p:sp>
        <p:nvSpPr>
          <p:cNvPr id="27" name="h2p-7-text-26"/>
          <p:cNvSpPr txBox="1"/>
          <p:nvPr/>
        </p:nvSpPr>
        <p:spPr>
          <a:xfrm>
            <a:off x="7371892" y="4515307"/>
            <a:ext cx="1224381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18190"/>
                </a:solidFill>
                <a:latin typeface="Noto Sans Mono CJK SC"/>
              </a:rPr>
              <a:t>ValidationEngineer</a:t>
            </a:r>
          </a:p>
        </p:txBody>
      </p:sp>
      <p:sp>
        <p:nvSpPr>
          <p:cNvPr id="28" name="h2p-7-box-27"/>
          <p:cNvSpPr/>
          <p:nvPr/>
        </p:nvSpPr>
        <p:spPr>
          <a:xfrm>
            <a:off x="9601200" y="2915107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D6A43B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7-text-28"/>
          <p:cNvSpPr txBox="1"/>
          <p:nvPr/>
        </p:nvSpPr>
        <p:spPr>
          <a:xfrm>
            <a:off x="9615830" y="3076956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FFF"/>
                </a:solidFill>
                <a:latin typeface="Noto Sans Mono CJK SC"/>
              </a:rPr>
              <a:t>05</a:t>
            </a:r>
          </a:p>
        </p:txBody>
      </p:sp>
      <p:sp>
        <p:nvSpPr>
          <p:cNvPr id="30" name="h2p-7-text-29"/>
          <p:cNvSpPr txBox="1"/>
          <p:nvPr/>
        </p:nvSpPr>
        <p:spPr>
          <a:xfrm>
            <a:off x="9601200" y="3638397"/>
            <a:ext cx="1943100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审计官</a:t>
            </a:r>
          </a:p>
        </p:txBody>
      </p:sp>
      <p:sp>
        <p:nvSpPr>
          <p:cNvPr id="31" name="h2p-7-text-30"/>
          <p:cNvSpPr txBox="1"/>
          <p:nvPr/>
        </p:nvSpPr>
        <p:spPr>
          <a:xfrm>
            <a:off x="9601200" y="3962095"/>
            <a:ext cx="1943100" cy="357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独立审计证据</a:t>
            </a:r>
          </a:p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产物：决策账本</a:t>
            </a:r>
          </a:p>
        </p:txBody>
      </p:sp>
      <p:sp>
        <p:nvSpPr>
          <p:cNvPr id="32" name="h2p-7-text-31"/>
          <p:cNvSpPr txBox="1"/>
          <p:nvPr/>
        </p:nvSpPr>
        <p:spPr>
          <a:xfrm>
            <a:off x="9601200" y="4515307"/>
            <a:ext cx="1155801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18190"/>
                </a:solidFill>
                <a:latin typeface="Noto Sans Mono CJK SC"/>
              </a:rPr>
              <a:t>GovernanceAuditor</a:t>
            </a:r>
          </a:p>
        </p:txBody>
      </p:sp>
      <p:sp>
        <p:nvSpPr>
          <p:cNvPr id="33" name="h2p-7-box-32"/>
          <p:cNvSpPr/>
          <p:nvPr/>
        </p:nvSpPr>
        <p:spPr>
          <a:xfrm>
            <a:off x="4038904" y="2190902"/>
            <a:ext cx="4114800" cy="513892"/>
          </a:xfrm>
          <a:prstGeom prst="roundRect">
            <a:avLst>
              <a:gd name="adj" fmla="val 5000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2p-7-text-33"/>
          <p:cNvSpPr txBox="1"/>
          <p:nvPr/>
        </p:nvSpPr>
        <p:spPr>
          <a:xfrm>
            <a:off x="4230928" y="2324404"/>
            <a:ext cx="3730752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A5781C"/>
                </a:solidFill>
                <a:latin typeface="Noto Sans CJK SC"/>
              </a:rPr>
              <a:t>HUMAN GATE · 批准任务、预算与高风险动作</a:t>
            </a:r>
          </a:p>
        </p:txBody>
      </p:sp>
      <p:sp>
        <p:nvSpPr>
          <p:cNvPr id="35" name="h2p-7-box-34"/>
          <p:cNvSpPr/>
          <p:nvPr/>
        </p:nvSpPr>
        <p:spPr>
          <a:xfrm>
            <a:off x="1790395" y="5219395"/>
            <a:ext cx="8610904" cy="761695"/>
          </a:xfrm>
          <a:prstGeom prst="roundRect">
            <a:avLst>
              <a:gd name="adj" fmla="val 22500"/>
            </a:avLst>
          </a:prstGeom>
          <a:solidFill>
            <a:srgbClr val="132F47"/>
          </a:solidFill>
          <a:ln w="19050">
            <a:solidFill>
              <a:srgbClr val="0B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2p-7-text-35"/>
          <p:cNvSpPr txBox="1"/>
          <p:nvPr/>
        </p:nvSpPr>
        <p:spPr>
          <a:xfrm>
            <a:off x="1976932" y="5410504"/>
            <a:ext cx="8238744" cy="2569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FFFFFF"/>
                </a:solidFill>
                <a:latin typeface="Noto Sans CJK SC"/>
              </a:rPr>
              <a:t>同一项目档案 · 每次交接有产物 · 每次决策有 Trace · 审计后回到交付官</a:t>
            </a:r>
          </a:p>
        </p:txBody>
      </p:sp>
      <p:sp>
        <p:nvSpPr>
          <p:cNvPr id="37" name="h2p-7-text-36"/>
          <p:cNvSpPr txBox="1"/>
          <p:nvPr/>
        </p:nvSpPr>
        <p:spPr>
          <a:xfrm>
            <a:off x="685800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五元责任链</a:t>
            </a:r>
          </a:p>
        </p:txBody>
      </p:sp>
      <p:sp>
        <p:nvSpPr>
          <p:cNvPr id="38" name="h2p-7-text-37"/>
          <p:cNvSpPr txBox="1"/>
          <p:nvPr/>
        </p:nvSpPr>
        <p:spPr>
          <a:xfrm>
            <a:off x="10548518" y="6543446"/>
            <a:ext cx="101498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设计 Identity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8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8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08 / 12 · 系统边界</a:t>
            </a:r>
          </a:p>
        </p:txBody>
      </p:sp>
      <p:sp>
        <p:nvSpPr>
          <p:cNvPr id="4" name="h2p-8-text-3"/>
          <p:cNvSpPr txBox="1"/>
          <p:nvPr/>
        </p:nvSpPr>
        <p:spPr>
          <a:xfrm>
            <a:off x="685800" y="724204"/>
            <a:ext cx="11036808" cy="4526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300">
                <a:solidFill>
                  <a:srgbClr val="FFFFFF"/>
                </a:solidFill>
                <a:latin typeface="Noto Sans CJK SC"/>
              </a:rPr>
              <a:t>AgentTeams 让团队运行，AgentFit 负责选对方案</a:t>
            </a:r>
          </a:p>
        </p:txBody>
      </p:sp>
      <p:sp>
        <p:nvSpPr>
          <p:cNvPr id="5" name="h2p-8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6D3DD"/>
                </a:solidFill>
                <a:latin typeface="Noto Sans CJK SC"/>
              </a:rPr>
              <a:t>复用平台原生能力；AgentFit 只补方案工程层。</a:t>
            </a:r>
          </a:p>
        </p:txBody>
      </p:sp>
      <p:sp>
        <p:nvSpPr>
          <p:cNvPr id="6" name="h2p-8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285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8-box-6"/>
          <p:cNvSpPr/>
          <p:nvPr/>
        </p:nvSpPr>
        <p:spPr>
          <a:xfrm>
            <a:off x="685800" y="2210104"/>
            <a:ext cx="10820095" cy="1352397"/>
          </a:xfrm>
          <a:prstGeom prst="roundRect">
            <a:avLst>
              <a:gd name="adj" fmla="val 1268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8-text-7"/>
          <p:cNvSpPr txBox="1"/>
          <p:nvPr/>
        </p:nvSpPr>
        <p:spPr>
          <a:xfrm>
            <a:off x="952804" y="2438704"/>
            <a:ext cx="291510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AGENTFIT · 方案决策层</a:t>
            </a:r>
          </a:p>
        </p:txBody>
      </p:sp>
      <p:sp>
        <p:nvSpPr>
          <p:cNvPr id="9" name="h2p-8-text-8"/>
          <p:cNvSpPr txBox="1"/>
          <p:nvPr/>
        </p:nvSpPr>
        <p:spPr>
          <a:xfrm>
            <a:off x="952804" y="2819095"/>
            <a:ext cx="972007" cy="280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80">
                <a:solidFill>
                  <a:srgbClr val="FFFFFF"/>
                </a:solidFill>
                <a:latin typeface="Noto Sans CJK SC"/>
              </a:rPr>
              <a:t>任务说明</a:t>
            </a:r>
          </a:p>
        </p:txBody>
      </p:sp>
      <p:sp>
        <p:nvSpPr>
          <p:cNvPr id="10" name="h2p-8-text-9"/>
          <p:cNvSpPr txBox="1"/>
          <p:nvPr/>
        </p:nvSpPr>
        <p:spPr>
          <a:xfrm>
            <a:off x="3429000" y="2819095"/>
            <a:ext cx="972007" cy="280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80">
                <a:solidFill>
                  <a:srgbClr val="FFFFFF"/>
                </a:solidFill>
                <a:latin typeface="Noto Sans CJK SC"/>
              </a:rPr>
              <a:t>候选搜索</a:t>
            </a:r>
          </a:p>
        </p:txBody>
      </p:sp>
      <p:sp>
        <p:nvSpPr>
          <p:cNvPr id="11" name="h2p-8-text-10"/>
          <p:cNvSpPr txBox="1"/>
          <p:nvPr/>
        </p:nvSpPr>
        <p:spPr>
          <a:xfrm>
            <a:off x="5905195" y="2819095"/>
            <a:ext cx="972007" cy="280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80">
                <a:solidFill>
                  <a:srgbClr val="FFFFFF"/>
                </a:solidFill>
                <a:latin typeface="Noto Sans CJK SC"/>
              </a:rPr>
              <a:t>统一评测</a:t>
            </a:r>
          </a:p>
        </p:txBody>
      </p:sp>
      <p:sp>
        <p:nvSpPr>
          <p:cNvPr id="12" name="h2p-8-text-11"/>
          <p:cNvSpPr txBox="1"/>
          <p:nvPr/>
        </p:nvSpPr>
        <p:spPr>
          <a:xfrm>
            <a:off x="8382304" y="2819095"/>
            <a:ext cx="972007" cy="280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80">
                <a:solidFill>
                  <a:srgbClr val="FFFFFF"/>
                </a:solidFill>
                <a:latin typeface="Noto Sans CJK SC"/>
              </a:rPr>
              <a:t>审计交付</a:t>
            </a:r>
          </a:p>
        </p:txBody>
      </p:sp>
      <p:sp>
        <p:nvSpPr>
          <p:cNvPr id="13" name="h2p-8-box-12"/>
          <p:cNvSpPr/>
          <p:nvPr/>
        </p:nvSpPr>
        <p:spPr>
          <a:xfrm>
            <a:off x="2571292" y="2991002"/>
            <a:ext cx="629107" cy="19202"/>
          </a:xfrm>
          <a:prstGeom prst="rect">
            <a:avLst/>
          </a:prstGeom>
          <a:solidFill>
            <a:srgbClr val="74D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8-box-13"/>
          <p:cNvSpPr/>
          <p:nvPr/>
        </p:nvSpPr>
        <p:spPr>
          <a:xfrm>
            <a:off x="5048402" y="2991002"/>
            <a:ext cx="629107" cy="19202"/>
          </a:xfrm>
          <a:prstGeom prst="rect">
            <a:avLst/>
          </a:prstGeom>
          <a:solidFill>
            <a:srgbClr val="74D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8-box-14"/>
          <p:cNvSpPr/>
          <p:nvPr/>
        </p:nvSpPr>
        <p:spPr>
          <a:xfrm>
            <a:off x="7524597" y="2991002"/>
            <a:ext cx="629107" cy="19202"/>
          </a:xfrm>
          <a:prstGeom prst="rect">
            <a:avLst/>
          </a:prstGeom>
          <a:solidFill>
            <a:srgbClr val="74D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8-text-15"/>
          <p:cNvSpPr txBox="1"/>
          <p:nvPr/>
        </p:nvSpPr>
        <p:spPr>
          <a:xfrm>
            <a:off x="5943600" y="3600907"/>
            <a:ext cx="291693" cy="418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>
                <a:solidFill>
                  <a:srgbClr val="D6A43B"/>
                </a:solidFill>
                <a:latin typeface="Noto Sans CJK SC"/>
              </a:rPr>
              <a:t>↓</a:t>
            </a:r>
          </a:p>
        </p:txBody>
      </p:sp>
      <p:sp>
        <p:nvSpPr>
          <p:cNvPr id="17" name="h2p-8-box-16"/>
          <p:cNvSpPr/>
          <p:nvPr/>
        </p:nvSpPr>
        <p:spPr>
          <a:xfrm>
            <a:off x="2018995" y="3942892"/>
            <a:ext cx="8153704" cy="875995"/>
          </a:xfrm>
          <a:prstGeom prst="roundRect">
            <a:avLst>
              <a:gd name="adj" fmla="val 1957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8-text-17"/>
          <p:cNvSpPr txBox="1"/>
          <p:nvPr/>
        </p:nvSpPr>
        <p:spPr>
          <a:xfrm>
            <a:off x="2286000" y="4153204"/>
            <a:ext cx="1836115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A5781C"/>
                </a:solidFill>
                <a:latin typeface="Noto Sans Mono CJK SC"/>
              </a:rPr>
              <a:t>PROJECT DOSSIER · 项目档案</a:t>
            </a:r>
          </a:p>
        </p:txBody>
      </p:sp>
      <p:sp>
        <p:nvSpPr>
          <p:cNvPr id="19" name="h2p-8-text-18"/>
          <p:cNvSpPr txBox="1"/>
          <p:nvPr/>
        </p:nvSpPr>
        <p:spPr>
          <a:xfrm>
            <a:off x="2286000" y="4438497"/>
            <a:ext cx="7772400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102A43"/>
                </a:solidFill>
                <a:latin typeface="Noto Sans CJK SC"/>
              </a:rPr>
              <a:t>版本化状态 · 结构化产物 · Execution Trace · 决策账本 · 审批记录</a:t>
            </a:r>
          </a:p>
        </p:txBody>
      </p:sp>
      <p:sp>
        <p:nvSpPr>
          <p:cNvPr id="20" name="h2p-8-text-19"/>
          <p:cNvSpPr txBox="1"/>
          <p:nvPr/>
        </p:nvSpPr>
        <p:spPr>
          <a:xfrm>
            <a:off x="5943600" y="4857292"/>
            <a:ext cx="291693" cy="418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>
                <a:solidFill>
                  <a:srgbClr val="74D0C7"/>
                </a:solidFill>
                <a:latin typeface="Noto Sans CJK SC"/>
              </a:rPr>
              <a:t>↓</a:t>
            </a:r>
          </a:p>
        </p:txBody>
      </p:sp>
      <p:sp>
        <p:nvSpPr>
          <p:cNvPr id="21" name="h2p-8-box-20"/>
          <p:cNvSpPr/>
          <p:nvPr/>
        </p:nvSpPr>
        <p:spPr>
          <a:xfrm>
            <a:off x="685800" y="5219395"/>
            <a:ext cx="10820095" cy="875995"/>
          </a:xfrm>
          <a:prstGeom prst="roundRect">
            <a:avLst>
              <a:gd name="adj" fmla="val 19570"/>
            </a:avLst>
          </a:prstGeom>
          <a:solidFill>
            <a:srgbClr val="132F47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8-text-21"/>
          <p:cNvSpPr txBox="1"/>
          <p:nvPr/>
        </p:nvSpPr>
        <p:spPr>
          <a:xfrm>
            <a:off x="952804" y="5429707"/>
            <a:ext cx="291510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A9C3D5"/>
                </a:solidFill>
                <a:latin typeface="Noto Sans Mono CJK SC"/>
              </a:rPr>
              <a:t>AGENTTEAMS · 运行底座</a:t>
            </a:r>
          </a:p>
        </p:txBody>
      </p:sp>
      <p:sp>
        <p:nvSpPr>
          <p:cNvPr id="23" name="h2p-8-text-22"/>
          <p:cNvSpPr txBox="1"/>
          <p:nvPr/>
        </p:nvSpPr>
        <p:spPr>
          <a:xfrm>
            <a:off x="952804" y="5734202"/>
            <a:ext cx="10492740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FFFFFF"/>
                </a:solidFill>
                <a:latin typeface="Noto Sans CJK SC"/>
              </a:rPr>
              <a:t>身份与通信 · Worker / Team / Human · 容器与权限 · Skill / MCP · 共享存储 · 生命周期</a:t>
            </a:r>
          </a:p>
        </p:txBody>
      </p:sp>
      <p:sp>
        <p:nvSpPr>
          <p:cNvPr id="24" name="h2p-8-text-23"/>
          <p:cNvSpPr txBox="1"/>
          <p:nvPr/>
        </p:nvSpPr>
        <p:spPr>
          <a:xfrm>
            <a:off x="685800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AGENTFIT × AGENTTEAMS</a:t>
            </a:r>
          </a:p>
        </p:txBody>
      </p:sp>
      <p:sp>
        <p:nvSpPr>
          <p:cNvPr id="25" name="h2p-8-text-24"/>
          <p:cNvSpPr txBox="1"/>
          <p:nvPr/>
        </p:nvSpPr>
        <p:spPr>
          <a:xfrm>
            <a:off x="10067544" y="6543446"/>
            <a:ext cx="149595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不改核心 · 不建新前端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9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9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09 / 12 · 场景广度</a:t>
            </a:r>
          </a:p>
        </p:txBody>
      </p:sp>
      <p:sp>
        <p:nvSpPr>
          <p:cNvPr id="4" name="h2p-9-text-3"/>
          <p:cNvSpPr txBox="1"/>
          <p:nvPr/>
        </p:nvSpPr>
        <p:spPr>
          <a:xfrm>
            <a:off x="685800" y="724204"/>
            <a:ext cx="11036808" cy="4526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300">
                <a:solidFill>
                  <a:srgbClr val="102A43"/>
                </a:solidFill>
                <a:latin typeface="Noto Sans CJK SC"/>
              </a:rPr>
              <a:t>不同行业，共用一种方案决策方法</a:t>
            </a:r>
          </a:p>
        </p:txBody>
      </p:sp>
      <p:sp>
        <p:nvSpPr>
          <p:cNvPr id="5" name="h2p-9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官网参考案例只证明场景广度；它们不是 AgentFit 运行证据。</a:t>
            </a:r>
          </a:p>
        </p:txBody>
      </p:sp>
      <p:sp>
        <p:nvSpPr>
          <p:cNvPr id="6" name="h2p-9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9-box-6"/>
          <p:cNvSpPr/>
          <p:nvPr/>
        </p:nvSpPr>
        <p:spPr>
          <a:xfrm>
            <a:off x="685800" y="2152497"/>
            <a:ext cx="2457907" cy="2857500"/>
          </a:xfrm>
          <a:prstGeom prst="roundRect">
            <a:avLst>
              <a:gd name="adj" fmla="val 698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9-text-7"/>
          <p:cNvSpPr txBox="1"/>
          <p:nvPr/>
        </p:nvSpPr>
        <p:spPr>
          <a:xfrm>
            <a:off x="914400" y="2381097"/>
            <a:ext cx="74797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01 · AIOPS</a:t>
            </a:r>
          </a:p>
        </p:txBody>
      </p:sp>
      <p:sp>
        <p:nvSpPr>
          <p:cNvPr id="9" name="h2p-9-text-8"/>
          <p:cNvSpPr txBox="1"/>
          <p:nvPr/>
        </p:nvSpPr>
        <p:spPr>
          <a:xfrm>
            <a:off x="914400" y="2743200"/>
            <a:ext cx="2040026" cy="258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720">
                <a:solidFill>
                  <a:srgbClr val="102A43"/>
                </a:solidFill>
                <a:latin typeface="Noto Sans CJK SC"/>
              </a:rPr>
              <a:t>零人工运维</a:t>
            </a:r>
          </a:p>
        </p:txBody>
      </p:sp>
      <p:sp>
        <p:nvSpPr>
          <p:cNvPr id="10" name="h2p-9-text-9"/>
          <p:cNvSpPr txBox="1"/>
          <p:nvPr/>
        </p:nvSpPr>
        <p:spPr>
          <a:xfrm>
            <a:off x="914400" y="3219602"/>
            <a:ext cx="2040026" cy="9729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告警聚合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根因定位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修复与恢复验证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事故复盘</a:t>
            </a:r>
          </a:p>
        </p:txBody>
      </p:sp>
      <p:sp>
        <p:nvSpPr>
          <p:cNvPr id="11" name="h2p-9-box-10"/>
          <p:cNvSpPr/>
          <p:nvPr/>
        </p:nvSpPr>
        <p:spPr>
          <a:xfrm>
            <a:off x="3390595" y="2152497"/>
            <a:ext cx="2457907" cy="2857500"/>
          </a:xfrm>
          <a:prstGeom prst="roundRect">
            <a:avLst>
              <a:gd name="adj" fmla="val 698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9-text-11"/>
          <p:cNvSpPr txBox="1"/>
          <p:nvPr/>
        </p:nvSpPr>
        <p:spPr>
          <a:xfrm>
            <a:off x="3619195" y="2381097"/>
            <a:ext cx="884224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02 · SERVICE</a:t>
            </a:r>
          </a:p>
        </p:txBody>
      </p:sp>
      <p:sp>
        <p:nvSpPr>
          <p:cNvPr id="13" name="h2p-9-text-12"/>
          <p:cNvSpPr txBox="1"/>
          <p:nvPr/>
        </p:nvSpPr>
        <p:spPr>
          <a:xfrm>
            <a:off x="3619195" y="2743200"/>
            <a:ext cx="2040026" cy="258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720">
                <a:solidFill>
                  <a:srgbClr val="102A43"/>
                </a:solidFill>
                <a:latin typeface="Noto Sans CJK SC"/>
              </a:rPr>
              <a:t>智能客服自主闭环</a:t>
            </a:r>
          </a:p>
        </p:txBody>
      </p:sp>
      <p:sp>
        <p:nvSpPr>
          <p:cNvPr id="14" name="h2p-9-text-13"/>
          <p:cNvSpPr txBox="1"/>
          <p:nvPr/>
        </p:nvSpPr>
        <p:spPr>
          <a:xfrm>
            <a:off x="3619195" y="3219602"/>
            <a:ext cx="2040026" cy="9729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会话聚合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意图与分级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方案执行与确认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案例复盘</a:t>
            </a:r>
          </a:p>
        </p:txBody>
      </p:sp>
      <p:sp>
        <p:nvSpPr>
          <p:cNvPr id="15" name="h2p-9-box-14"/>
          <p:cNvSpPr/>
          <p:nvPr/>
        </p:nvSpPr>
        <p:spPr>
          <a:xfrm>
            <a:off x="6096304" y="2152497"/>
            <a:ext cx="2457907" cy="2857500"/>
          </a:xfrm>
          <a:prstGeom prst="roundRect">
            <a:avLst>
              <a:gd name="adj" fmla="val 698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9-text-15"/>
          <p:cNvSpPr txBox="1"/>
          <p:nvPr/>
        </p:nvSpPr>
        <p:spPr>
          <a:xfrm>
            <a:off x="6324904" y="2381097"/>
            <a:ext cx="95189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4C32"/>
                </a:solidFill>
                <a:latin typeface="Noto Sans Mono CJK SC"/>
              </a:rPr>
              <a:t>03 · SOFTWARE</a:t>
            </a:r>
          </a:p>
        </p:txBody>
      </p:sp>
      <p:sp>
        <p:nvSpPr>
          <p:cNvPr id="17" name="h2p-9-text-16"/>
          <p:cNvSpPr txBox="1"/>
          <p:nvPr/>
        </p:nvSpPr>
        <p:spPr>
          <a:xfrm>
            <a:off x="6324904" y="2743200"/>
            <a:ext cx="2040026" cy="258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720">
                <a:solidFill>
                  <a:srgbClr val="102A43"/>
                </a:solidFill>
                <a:latin typeface="Noto Sans CJK SC"/>
              </a:rPr>
              <a:t>软件研发全流程协同</a:t>
            </a:r>
          </a:p>
        </p:txBody>
      </p:sp>
      <p:sp>
        <p:nvSpPr>
          <p:cNvPr id="18" name="h2p-9-text-17"/>
          <p:cNvSpPr txBox="1"/>
          <p:nvPr/>
        </p:nvSpPr>
        <p:spPr>
          <a:xfrm>
            <a:off x="6324904" y="3219602"/>
            <a:ext cx="2040026" cy="9729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缺陷聚合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代码定位与修复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测试发布确认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上线复盘</a:t>
            </a:r>
          </a:p>
        </p:txBody>
      </p:sp>
      <p:sp>
        <p:nvSpPr>
          <p:cNvPr id="19" name="h2p-9-box-18"/>
          <p:cNvSpPr/>
          <p:nvPr/>
        </p:nvSpPr>
        <p:spPr>
          <a:xfrm>
            <a:off x="8801100" y="2152497"/>
            <a:ext cx="2704795" cy="2857500"/>
          </a:xfrm>
          <a:prstGeom prst="roundRect">
            <a:avLst>
              <a:gd name="adj" fmla="val 634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9-text-19"/>
          <p:cNvSpPr txBox="1"/>
          <p:nvPr/>
        </p:nvSpPr>
        <p:spPr>
          <a:xfrm>
            <a:off x="9029700" y="2381097"/>
            <a:ext cx="884224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A5781C"/>
                </a:solidFill>
                <a:latin typeface="Noto Sans Mono CJK SC"/>
              </a:rPr>
              <a:t>04 · FINANCE</a:t>
            </a:r>
          </a:p>
        </p:txBody>
      </p:sp>
      <p:sp>
        <p:nvSpPr>
          <p:cNvPr id="21" name="h2p-9-text-20"/>
          <p:cNvSpPr txBox="1"/>
          <p:nvPr/>
        </p:nvSpPr>
        <p:spPr>
          <a:xfrm>
            <a:off x="9029700" y="2743200"/>
            <a:ext cx="2292400" cy="258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720">
                <a:solidFill>
                  <a:srgbClr val="102A43"/>
                </a:solidFill>
                <a:latin typeface="Noto Sans CJK SC"/>
              </a:rPr>
              <a:t>金融风控与理赔自动化</a:t>
            </a:r>
          </a:p>
        </p:txBody>
      </p:sp>
      <p:sp>
        <p:nvSpPr>
          <p:cNvPr id="22" name="h2p-9-text-21"/>
          <p:cNvSpPr txBox="1"/>
          <p:nvPr/>
        </p:nvSpPr>
        <p:spPr>
          <a:xfrm>
            <a:off x="9029700" y="3219602"/>
            <a:ext cx="2292400" cy="9729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风险信号聚合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风险定位与处置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合规审计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事件复盘</a:t>
            </a:r>
          </a:p>
        </p:txBody>
      </p:sp>
      <p:sp>
        <p:nvSpPr>
          <p:cNvPr id="23" name="h2p-9-box-22"/>
          <p:cNvSpPr/>
          <p:nvPr/>
        </p:nvSpPr>
        <p:spPr>
          <a:xfrm>
            <a:off x="685800" y="5257800"/>
            <a:ext cx="10820095" cy="685800"/>
          </a:xfrm>
          <a:prstGeom prst="roundRect">
            <a:avLst>
              <a:gd name="adj" fmla="val 25000"/>
            </a:avLst>
          </a:prstGeom>
          <a:solidFill>
            <a:srgbClr val="132F47"/>
          </a:solidFill>
          <a:ln w="19050">
            <a:solidFill>
              <a:srgbClr val="0B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9-text-23"/>
          <p:cNvSpPr txBox="1"/>
          <p:nvPr/>
        </p:nvSpPr>
        <p:spPr>
          <a:xfrm>
            <a:off x="868680" y="5467197"/>
            <a:ext cx="10453420" cy="2569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FFFFFF"/>
                </a:solidFill>
                <a:latin typeface="Noto Sans CJK SC"/>
              </a:rPr>
              <a:t>共同骨架：输入 → 判断 → 执行 → 验证 → 沉淀 ｜ Agent 数量由任务与风险决定</a:t>
            </a:r>
          </a:p>
        </p:txBody>
      </p:sp>
      <p:sp>
        <p:nvSpPr>
          <p:cNvPr id="25" name="h2p-9-text-24"/>
          <p:cNvSpPr txBox="1"/>
          <p:nvPr/>
        </p:nvSpPr>
        <p:spPr>
          <a:xfrm>
            <a:off x="685800" y="6543446"/>
            <a:ext cx="3312871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来源：https://goaihz.com/tracks?track=infra · 核验 2026-08-10</a:t>
            </a:r>
          </a:p>
        </p:txBody>
      </p:sp>
      <p:sp>
        <p:nvSpPr>
          <p:cNvPr id="26" name="h2p-9-text-25"/>
          <p:cNvSpPr txBox="1"/>
          <p:nvPr/>
        </p:nvSpPr>
        <p:spPr>
          <a:xfrm>
            <a:off x="9853574" y="6543446"/>
            <a:ext cx="170992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官网参考案例 · 非运行证据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0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0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10 / 12 · 交付物</a:t>
            </a:r>
          </a:p>
        </p:txBody>
      </p:sp>
      <p:sp>
        <p:nvSpPr>
          <p:cNvPr id="4" name="h2p-10-text-3"/>
          <p:cNvSpPr txBox="1"/>
          <p:nvPr/>
        </p:nvSpPr>
        <p:spPr>
          <a:xfrm>
            <a:off x="685800" y="724204"/>
            <a:ext cx="11036808" cy="4526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300">
                <a:solidFill>
                  <a:srgbClr val="FFFFFF"/>
                </a:solidFill>
                <a:latin typeface="Noto Sans CJK SC"/>
              </a:rPr>
              <a:t>最终交付的不是 Prompt，而是可验收方案包</a:t>
            </a:r>
          </a:p>
        </p:txBody>
      </p:sp>
      <p:sp>
        <p:nvSpPr>
          <p:cNvPr id="5" name="h2p-10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6D3DD"/>
                </a:solidFill>
                <a:latin typeface="Noto Sans CJK SC"/>
              </a:rPr>
              <a:t>方案、理由、证据与安全边界一起交付。</a:t>
            </a:r>
          </a:p>
        </p:txBody>
      </p:sp>
      <p:sp>
        <p:nvSpPr>
          <p:cNvPr id="6" name="h2p-10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285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0-box-6"/>
          <p:cNvSpPr/>
          <p:nvPr/>
        </p:nvSpPr>
        <p:spPr>
          <a:xfrm>
            <a:off x="685800" y="2190902"/>
            <a:ext cx="7239304" cy="3353104"/>
          </a:xfrm>
          <a:prstGeom prst="roundRect">
            <a:avLst>
              <a:gd name="adj" fmla="val 5110"/>
            </a:avLst>
          </a:prstGeom>
          <a:solidFill>
            <a:srgbClr val="132F47"/>
          </a:solidFill>
          <a:ln w="19050">
            <a:solidFill>
              <a:srgbClr val="2851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0-text-7"/>
          <p:cNvSpPr txBox="1"/>
          <p:nvPr/>
        </p:nvSpPr>
        <p:spPr>
          <a:xfrm>
            <a:off x="971092" y="2438704"/>
            <a:ext cx="149595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AGENT SOLUTION PACKAGE</a:t>
            </a:r>
          </a:p>
        </p:txBody>
      </p:sp>
      <p:sp>
        <p:nvSpPr>
          <p:cNvPr id="9" name="h2p-10-box-8"/>
          <p:cNvSpPr/>
          <p:nvPr/>
        </p:nvSpPr>
        <p:spPr>
          <a:xfrm>
            <a:off x="971092" y="2952597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1A8D85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10-text-9"/>
          <p:cNvSpPr txBox="1"/>
          <p:nvPr/>
        </p:nvSpPr>
        <p:spPr>
          <a:xfrm>
            <a:off x="985723" y="3114446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FFF"/>
                </a:solidFill>
                <a:latin typeface="Noto Sans Mono CJK SC"/>
              </a:rPr>
              <a:t>01</a:t>
            </a:r>
          </a:p>
        </p:txBody>
      </p:sp>
      <p:sp>
        <p:nvSpPr>
          <p:cNvPr id="11" name="h2p-10-text-10"/>
          <p:cNvSpPr txBox="1"/>
          <p:nvPr/>
        </p:nvSpPr>
        <p:spPr>
          <a:xfrm>
            <a:off x="1676095" y="3010204"/>
            <a:ext cx="640994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FFFFFF"/>
                </a:solidFill>
                <a:latin typeface="Noto Sans CJK SC"/>
              </a:rPr>
              <a:t>架构图</a:t>
            </a:r>
          </a:p>
        </p:txBody>
      </p:sp>
      <p:sp>
        <p:nvSpPr>
          <p:cNvPr id="12" name="h2p-10-text-11"/>
          <p:cNvSpPr txBox="1"/>
          <p:nvPr/>
        </p:nvSpPr>
        <p:spPr>
          <a:xfrm>
            <a:off x="2991002" y="3010204"/>
            <a:ext cx="460491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能力、Agent、通信、共享范围与 Human 门禁</a:t>
            </a:r>
          </a:p>
        </p:txBody>
      </p:sp>
      <p:sp>
        <p:nvSpPr>
          <p:cNvPr id="13" name="h2p-10-box-12"/>
          <p:cNvSpPr/>
          <p:nvPr/>
        </p:nvSpPr>
        <p:spPr>
          <a:xfrm>
            <a:off x="971092" y="3543300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426B86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10-text-13"/>
          <p:cNvSpPr txBox="1"/>
          <p:nvPr/>
        </p:nvSpPr>
        <p:spPr>
          <a:xfrm>
            <a:off x="985723" y="3705148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FFF"/>
                </a:solidFill>
                <a:latin typeface="Noto Sans Mono CJK SC"/>
              </a:rPr>
              <a:t>02</a:t>
            </a:r>
          </a:p>
        </p:txBody>
      </p:sp>
      <p:sp>
        <p:nvSpPr>
          <p:cNvPr id="15" name="h2p-10-text-14"/>
          <p:cNvSpPr txBox="1"/>
          <p:nvPr/>
        </p:nvSpPr>
        <p:spPr>
          <a:xfrm>
            <a:off x="1676095" y="3600907"/>
            <a:ext cx="854964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FFFFFF"/>
                </a:solidFill>
                <a:latin typeface="Noto Sans CJK SC"/>
              </a:rPr>
              <a:t>决策说明</a:t>
            </a:r>
          </a:p>
        </p:txBody>
      </p:sp>
      <p:sp>
        <p:nvSpPr>
          <p:cNvPr id="16" name="h2p-10-text-15"/>
          <p:cNvSpPr txBox="1"/>
          <p:nvPr/>
        </p:nvSpPr>
        <p:spPr>
          <a:xfrm>
            <a:off x="2991002" y="3600907"/>
            <a:ext cx="460491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为什么这样拆，为什么不用更复杂方案</a:t>
            </a:r>
          </a:p>
        </p:txBody>
      </p:sp>
      <p:sp>
        <p:nvSpPr>
          <p:cNvPr id="17" name="h2p-10-box-16"/>
          <p:cNvSpPr/>
          <p:nvPr/>
        </p:nvSpPr>
        <p:spPr>
          <a:xfrm>
            <a:off x="971092" y="4134002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F26B4B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0-text-17"/>
          <p:cNvSpPr txBox="1"/>
          <p:nvPr/>
        </p:nvSpPr>
        <p:spPr>
          <a:xfrm>
            <a:off x="985723" y="4295851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FFF"/>
                </a:solidFill>
                <a:latin typeface="Noto Sans Mono CJK SC"/>
              </a:rPr>
              <a:t>03</a:t>
            </a:r>
          </a:p>
        </p:txBody>
      </p:sp>
      <p:sp>
        <p:nvSpPr>
          <p:cNvPr id="19" name="h2p-10-text-18"/>
          <p:cNvSpPr txBox="1"/>
          <p:nvPr/>
        </p:nvSpPr>
        <p:spPr>
          <a:xfrm>
            <a:off x="1676095" y="4190695"/>
            <a:ext cx="640994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FFFFFF"/>
                </a:solidFill>
                <a:latin typeface="Noto Sans CJK SC"/>
              </a:rPr>
              <a:t>证据包</a:t>
            </a:r>
          </a:p>
        </p:txBody>
      </p:sp>
      <p:sp>
        <p:nvSpPr>
          <p:cNvPr id="20" name="h2p-10-text-19"/>
          <p:cNvSpPr txBox="1"/>
          <p:nvPr/>
        </p:nvSpPr>
        <p:spPr>
          <a:xfrm>
            <a:off x="2991002" y="4190695"/>
            <a:ext cx="460491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统一试验、Execution Trace、失败与成本记录</a:t>
            </a:r>
          </a:p>
        </p:txBody>
      </p:sp>
      <p:sp>
        <p:nvSpPr>
          <p:cNvPr id="21" name="h2p-10-box-20"/>
          <p:cNvSpPr/>
          <p:nvPr/>
        </p:nvSpPr>
        <p:spPr>
          <a:xfrm>
            <a:off x="971092" y="4724704"/>
            <a:ext cx="513892" cy="513892"/>
          </a:xfrm>
          <a:prstGeom prst="roundRect">
            <a:avLst>
              <a:gd name="adj" fmla="val 50000"/>
            </a:avLst>
          </a:prstGeom>
          <a:solidFill>
            <a:srgbClr val="D6A43B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10-text-21"/>
          <p:cNvSpPr txBox="1"/>
          <p:nvPr/>
        </p:nvSpPr>
        <p:spPr>
          <a:xfrm>
            <a:off x="985723" y="4886553"/>
            <a:ext cx="4855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FFF"/>
                </a:solidFill>
                <a:latin typeface="Noto Sans Mono CJK SC"/>
              </a:rPr>
              <a:t>04</a:t>
            </a:r>
          </a:p>
        </p:txBody>
      </p:sp>
      <p:sp>
        <p:nvSpPr>
          <p:cNvPr id="23" name="h2p-10-text-22"/>
          <p:cNvSpPr txBox="1"/>
          <p:nvPr/>
        </p:nvSpPr>
        <p:spPr>
          <a:xfrm>
            <a:off x="1676095" y="4781397"/>
            <a:ext cx="854964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FFFFFF"/>
                </a:solidFill>
                <a:latin typeface="Noto Sans CJK SC"/>
              </a:rPr>
              <a:t>运行护栏</a:t>
            </a:r>
          </a:p>
        </p:txBody>
      </p:sp>
      <p:sp>
        <p:nvSpPr>
          <p:cNvPr id="24" name="h2p-10-text-23"/>
          <p:cNvSpPr txBox="1"/>
          <p:nvPr/>
        </p:nvSpPr>
        <p:spPr>
          <a:xfrm>
            <a:off x="2991002" y="4781397"/>
            <a:ext cx="460491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权限、审批、预算、异常、回滚与责任边界</a:t>
            </a:r>
          </a:p>
        </p:txBody>
      </p:sp>
      <p:sp>
        <p:nvSpPr>
          <p:cNvPr id="25" name="h2p-10-text-24"/>
          <p:cNvSpPr txBox="1"/>
          <p:nvPr/>
        </p:nvSpPr>
        <p:spPr>
          <a:xfrm>
            <a:off x="8096097" y="3562502"/>
            <a:ext cx="350215" cy="49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>
                <a:solidFill>
                  <a:srgbClr val="74D0C7"/>
                </a:solidFill>
                <a:latin typeface="Noto Sans CJK SC"/>
              </a:rPr>
              <a:t>→</a:t>
            </a:r>
          </a:p>
        </p:txBody>
      </p:sp>
      <p:sp>
        <p:nvSpPr>
          <p:cNvPr id="26" name="h2p-10-box-25"/>
          <p:cNvSpPr/>
          <p:nvPr/>
        </p:nvSpPr>
        <p:spPr>
          <a:xfrm>
            <a:off x="8648395" y="2190902"/>
            <a:ext cx="2857500" cy="3353104"/>
          </a:xfrm>
          <a:prstGeom prst="roundRect">
            <a:avLst>
              <a:gd name="adj" fmla="val 6000"/>
            </a:avLst>
          </a:prstGeom>
          <a:solidFill>
            <a:srgbClr val="132F47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2p-10-text-26"/>
          <p:cNvSpPr txBox="1"/>
          <p:nvPr/>
        </p:nvSpPr>
        <p:spPr>
          <a:xfrm>
            <a:off x="8915400" y="2438704"/>
            <a:ext cx="81655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合法交付结果</a:t>
            </a:r>
          </a:p>
        </p:txBody>
      </p:sp>
      <p:sp>
        <p:nvSpPr>
          <p:cNvPr id="28" name="h2p-10-text-27"/>
          <p:cNvSpPr txBox="1"/>
          <p:nvPr/>
        </p:nvSpPr>
        <p:spPr>
          <a:xfrm>
            <a:off x="8915400" y="2895904"/>
            <a:ext cx="2370124" cy="280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80">
                <a:solidFill>
                  <a:srgbClr val="FFFFFF"/>
                </a:solidFill>
                <a:latin typeface="Noto Sans CJK SC"/>
              </a:rPr>
              <a:t>全自动</a:t>
            </a:r>
          </a:p>
        </p:txBody>
      </p:sp>
      <p:sp>
        <p:nvSpPr>
          <p:cNvPr id="29" name="h2p-10-text-28"/>
          <p:cNvSpPr txBox="1"/>
          <p:nvPr/>
        </p:nvSpPr>
        <p:spPr>
          <a:xfrm>
            <a:off x="8915400" y="3314700"/>
            <a:ext cx="2370124" cy="280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80">
                <a:solidFill>
                  <a:srgbClr val="FFFFFF"/>
                </a:solidFill>
                <a:latin typeface="Noto Sans CJK SC"/>
              </a:rPr>
              <a:t>部分自动化</a:t>
            </a:r>
          </a:p>
        </p:txBody>
      </p:sp>
      <p:sp>
        <p:nvSpPr>
          <p:cNvPr id="30" name="h2p-10-text-29"/>
          <p:cNvSpPr txBox="1"/>
          <p:nvPr/>
        </p:nvSpPr>
        <p:spPr>
          <a:xfrm>
            <a:off x="8915400" y="3733495"/>
            <a:ext cx="2370124" cy="280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80">
                <a:solidFill>
                  <a:srgbClr val="FFFFFF"/>
                </a:solidFill>
                <a:latin typeface="Noto Sans CJK SC"/>
              </a:rPr>
              <a:t>降级运行</a:t>
            </a:r>
          </a:p>
        </p:txBody>
      </p:sp>
      <p:sp>
        <p:nvSpPr>
          <p:cNvPr id="31" name="h2p-10-text-30"/>
          <p:cNvSpPr txBox="1"/>
          <p:nvPr/>
        </p:nvSpPr>
        <p:spPr>
          <a:xfrm>
            <a:off x="8915400" y="4153204"/>
            <a:ext cx="2370124" cy="280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80">
                <a:solidFill>
                  <a:srgbClr val="D6A43B"/>
                </a:solidFill>
                <a:latin typeface="Noto Sans CJK SC"/>
              </a:rPr>
              <a:t>保留人工</a:t>
            </a:r>
          </a:p>
        </p:txBody>
      </p:sp>
      <p:sp>
        <p:nvSpPr>
          <p:cNvPr id="32" name="h2p-10-text-31"/>
          <p:cNvSpPr txBox="1"/>
          <p:nvPr/>
        </p:nvSpPr>
        <p:spPr>
          <a:xfrm>
            <a:off x="8915400" y="4572000"/>
            <a:ext cx="2370124" cy="280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80">
                <a:solidFill>
                  <a:srgbClr val="F6AA92"/>
                </a:solidFill>
                <a:latin typeface="Noto Sans CJK SC"/>
              </a:rPr>
              <a:t>拒绝自动化</a:t>
            </a:r>
          </a:p>
        </p:txBody>
      </p:sp>
      <p:sp>
        <p:nvSpPr>
          <p:cNvPr id="33" name="h2p-10-text-32"/>
          <p:cNvSpPr txBox="1"/>
          <p:nvPr/>
        </p:nvSpPr>
        <p:spPr>
          <a:xfrm>
            <a:off x="8915400" y="5048402"/>
            <a:ext cx="2370124" cy="357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6D3DD"/>
                </a:solidFill>
                <a:latin typeface="Noto Sans CJK SC"/>
              </a:rPr>
              <a:t>拒绝不是失败，而是有证据的方案决定。</a:t>
            </a:r>
          </a:p>
        </p:txBody>
      </p:sp>
      <p:sp>
        <p:nvSpPr>
          <p:cNvPr id="34" name="h2p-10-text-33"/>
          <p:cNvSpPr txBox="1"/>
          <p:nvPr/>
        </p:nvSpPr>
        <p:spPr>
          <a:xfrm>
            <a:off x="577900" y="5886907"/>
            <a:ext cx="11036808" cy="270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FFFFFF"/>
                </a:solidFill>
                <a:latin typeface="Noto Sans CJK SC"/>
              </a:rPr>
              <a:t>可部署、可复验、可审计、可回滚，或诚实地说“别自动化”。</a:t>
            </a:r>
          </a:p>
        </p:txBody>
      </p:sp>
      <p:sp>
        <p:nvSpPr>
          <p:cNvPr id="35" name="h2p-10-text-34"/>
          <p:cNvSpPr txBox="1"/>
          <p:nvPr/>
        </p:nvSpPr>
        <p:spPr>
          <a:xfrm>
            <a:off x="685800" y="6543446"/>
            <a:ext cx="96194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AGENTFIT · 方案包</a:t>
            </a:r>
          </a:p>
        </p:txBody>
      </p:sp>
      <p:sp>
        <p:nvSpPr>
          <p:cNvPr id="36" name="h2p-10-text-35"/>
          <p:cNvSpPr txBox="1"/>
          <p:nvPr/>
        </p:nvSpPr>
        <p:spPr>
          <a:xfrm>
            <a:off x="10708538" y="6543446"/>
            <a:ext cx="85496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可验收交付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1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1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11 / 12 · 当前进展</a:t>
            </a:r>
          </a:p>
        </p:txBody>
      </p:sp>
      <p:sp>
        <p:nvSpPr>
          <p:cNvPr id="4" name="h2p-11-text-3"/>
          <p:cNvSpPr txBox="1"/>
          <p:nvPr/>
        </p:nvSpPr>
        <p:spPr>
          <a:xfrm>
            <a:off x="685800" y="724204"/>
            <a:ext cx="11036808" cy="4526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300">
                <a:solidFill>
                  <a:srgbClr val="102A43"/>
                </a:solidFill>
                <a:latin typeface="Noto Sans CJK SC"/>
              </a:rPr>
              <a:t>方法已经收敛，真实运行证据仍待补</a:t>
            </a:r>
          </a:p>
        </p:txBody>
      </p:sp>
      <p:sp>
        <p:nvSpPr>
          <p:cNvPr id="5" name="h2p-11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严格区分：已完成的设计、设计模拟、未完成的运行。</a:t>
            </a:r>
          </a:p>
        </p:txBody>
      </p:sp>
      <p:sp>
        <p:nvSpPr>
          <p:cNvPr id="6" name="h2p-11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1-box-6"/>
          <p:cNvSpPr/>
          <p:nvPr/>
        </p:nvSpPr>
        <p:spPr>
          <a:xfrm>
            <a:off x="685800" y="2152497"/>
            <a:ext cx="3333902" cy="3028492"/>
          </a:xfrm>
          <a:prstGeom prst="roundRect">
            <a:avLst>
              <a:gd name="adj" fmla="val 56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1-text-7"/>
          <p:cNvSpPr txBox="1"/>
          <p:nvPr/>
        </p:nvSpPr>
        <p:spPr>
          <a:xfrm>
            <a:off x="952804" y="2400300"/>
            <a:ext cx="252557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READY · 已完成</a:t>
            </a:r>
          </a:p>
        </p:txBody>
      </p:sp>
      <p:sp>
        <p:nvSpPr>
          <p:cNvPr id="9" name="h2p-11-text-8"/>
          <p:cNvSpPr txBox="1"/>
          <p:nvPr/>
        </p:nvSpPr>
        <p:spPr>
          <a:xfrm>
            <a:off x="952804" y="2799892"/>
            <a:ext cx="2856585" cy="258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720">
                <a:solidFill>
                  <a:srgbClr val="102A43"/>
                </a:solidFill>
                <a:latin typeface="Noto Sans CJK SC"/>
              </a:rPr>
              <a:t>可核验设计资产</a:t>
            </a:r>
          </a:p>
        </p:txBody>
      </p:sp>
      <p:sp>
        <p:nvSpPr>
          <p:cNvPr id="10" name="h2p-11-text-9"/>
          <p:cNvSpPr txBox="1"/>
          <p:nvPr/>
        </p:nvSpPr>
        <p:spPr>
          <a:xfrm>
            <a:off x="952804" y="3276295"/>
            <a:ext cx="2856585" cy="12170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唯一产品定义与方法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12+5 页提交结构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五个 Identity 契约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七个 Skill 契约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Human 与风险清单</a:t>
            </a:r>
          </a:p>
        </p:txBody>
      </p:sp>
      <p:sp>
        <p:nvSpPr>
          <p:cNvPr id="11" name="h2p-11-text-10"/>
          <p:cNvSpPr txBox="1"/>
          <p:nvPr/>
        </p:nvSpPr>
        <p:spPr>
          <a:xfrm>
            <a:off x="952804" y="4705502"/>
            <a:ext cx="2856585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1A8D85"/>
                </a:solidFill>
                <a:latin typeface="Noto Sans CJK SC"/>
              </a:rPr>
              <a:t>证据：仓库文档与生成链</a:t>
            </a:r>
          </a:p>
        </p:txBody>
      </p:sp>
      <p:sp>
        <p:nvSpPr>
          <p:cNvPr id="12" name="h2p-11-box-11"/>
          <p:cNvSpPr/>
          <p:nvPr/>
        </p:nvSpPr>
        <p:spPr>
          <a:xfrm>
            <a:off x="4438497" y="2152497"/>
            <a:ext cx="3333902" cy="3028492"/>
          </a:xfrm>
          <a:prstGeom prst="roundRect">
            <a:avLst>
              <a:gd name="adj" fmla="val 566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11-text-12"/>
          <p:cNvSpPr txBox="1"/>
          <p:nvPr/>
        </p:nvSpPr>
        <p:spPr>
          <a:xfrm>
            <a:off x="4705502" y="2400300"/>
            <a:ext cx="272034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A5781C"/>
                </a:solidFill>
                <a:latin typeface="Noto Sans Mono CJK SC"/>
              </a:rPr>
              <a:t>SIMULATION · 设计模拟</a:t>
            </a:r>
          </a:p>
        </p:txBody>
      </p:sp>
      <p:sp>
        <p:nvSpPr>
          <p:cNvPr id="14" name="h2p-11-text-13"/>
          <p:cNvSpPr txBox="1"/>
          <p:nvPr/>
        </p:nvSpPr>
        <p:spPr>
          <a:xfrm>
            <a:off x="4705502" y="2799892"/>
            <a:ext cx="2856585" cy="258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720">
                <a:solidFill>
                  <a:srgbClr val="102A43"/>
                </a:solidFill>
                <a:latin typeface="Noto Sans CJK SC"/>
              </a:rPr>
              <a:t>软件研发场景</a:t>
            </a:r>
          </a:p>
        </p:txBody>
      </p:sp>
      <p:sp>
        <p:nvSpPr>
          <p:cNvPr id="15" name="h2p-11-text-14"/>
          <p:cNvSpPr txBox="1"/>
          <p:nvPr/>
        </p:nvSpPr>
        <p:spPr>
          <a:xfrm>
            <a:off x="4705502" y="3276295"/>
            <a:ext cx="2856585" cy="12170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任务语义摘要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能力盘点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Agentless / 单 / 多候选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纸面协作 Trace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requires_runtime_trial</a:t>
            </a:r>
          </a:p>
        </p:txBody>
      </p:sp>
      <p:sp>
        <p:nvSpPr>
          <p:cNvPr id="16" name="h2p-11-text-15"/>
          <p:cNvSpPr txBox="1"/>
          <p:nvPr/>
        </p:nvSpPr>
        <p:spPr>
          <a:xfrm>
            <a:off x="4705502" y="4705502"/>
            <a:ext cx="2856585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A5781C"/>
                </a:solidFill>
                <a:latin typeface="Noto Sans CJK SC"/>
              </a:rPr>
              <a:t>非 PoC · 非运行证据</a:t>
            </a:r>
          </a:p>
        </p:txBody>
      </p:sp>
      <p:sp>
        <p:nvSpPr>
          <p:cNvPr id="17" name="h2p-11-box-16"/>
          <p:cNvSpPr/>
          <p:nvPr/>
        </p:nvSpPr>
        <p:spPr>
          <a:xfrm>
            <a:off x="8191195" y="2152497"/>
            <a:ext cx="3314700" cy="3028492"/>
          </a:xfrm>
          <a:prstGeom prst="roundRect">
            <a:avLst>
              <a:gd name="adj" fmla="val 566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1-text-17"/>
          <p:cNvSpPr txBox="1"/>
          <p:nvPr/>
        </p:nvSpPr>
        <p:spPr>
          <a:xfrm>
            <a:off x="8458200" y="2400300"/>
            <a:ext cx="272034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4C32"/>
                </a:solidFill>
                <a:latin typeface="Noto Sans Mono CJK SC"/>
              </a:rPr>
              <a:t>NOT STARTED · 未完成</a:t>
            </a:r>
          </a:p>
        </p:txBody>
      </p:sp>
      <p:sp>
        <p:nvSpPr>
          <p:cNvPr id="19" name="h2p-11-text-18"/>
          <p:cNvSpPr txBox="1"/>
          <p:nvPr/>
        </p:nvSpPr>
        <p:spPr>
          <a:xfrm>
            <a:off x="8458200" y="2799892"/>
            <a:ext cx="2836468" cy="258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720">
                <a:solidFill>
                  <a:srgbClr val="102A43"/>
                </a:solidFill>
                <a:latin typeface="Noto Sans CJK SC"/>
              </a:rPr>
              <a:t>AgentFit 运行闭环</a:t>
            </a:r>
          </a:p>
        </p:txBody>
      </p:sp>
      <p:sp>
        <p:nvSpPr>
          <p:cNvPr id="20" name="h2p-11-text-19"/>
          <p:cNvSpPr txBox="1"/>
          <p:nvPr/>
        </p:nvSpPr>
        <p:spPr>
          <a:xfrm>
            <a:off x="8458200" y="3276295"/>
            <a:ext cx="2836468" cy="12170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冻结 ProjectCase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真实五元 Agent 团队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统一预算候选对照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失败 / 降级 Trace</a:t>
            </a:r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3697C"/>
                </a:solidFill>
                <a:latin typeface="Noto Sans CJK SC"/>
              </a:rPr>
              <a:t>跨项目 Meta-learning</a:t>
            </a:r>
          </a:p>
        </p:txBody>
      </p:sp>
      <p:sp>
        <p:nvSpPr>
          <p:cNvPr id="21" name="h2p-11-text-20"/>
          <p:cNvSpPr txBox="1"/>
          <p:nvPr/>
        </p:nvSpPr>
        <p:spPr>
          <a:xfrm>
            <a:off x="8458200" y="4705502"/>
            <a:ext cx="2836468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64C32"/>
                </a:solidFill>
                <a:latin typeface="Noto Sans CJK SC"/>
              </a:rPr>
              <a:t>证据待补 · 不伪装完成</a:t>
            </a:r>
          </a:p>
        </p:txBody>
      </p:sp>
      <p:sp>
        <p:nvSpPr>
          <p:cNvPr id="22" name="h2p-11-box-21"/>
          <p:cNvSpPr/>
          <p:nvPr/>
        </p:nvSpPr>
        <p:spPr>
          <a:xfrm>
            <a:off x="1600200" y="5505602"/>
            <a:ext cx="8991295" cy="590702"/>
          </a:xfrm>
          <a:prstGeom prst="roundRect">
            <a:avLst>
              <a:gd name="adj" fmla="val 29030"/>
            </a:avLst>
          </a:prstGeom>
          <a:solidFill>
            <a:srgbClr val="132F47"/>
          </a:solidFill>
          <a:ln w="19050">
            <a:solidFill>
              <a:srgbClr val="0B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11-text-22"/>
          <p:cNvSpPr txBox="1"/>
          <p:nvPr/>
        </p:nvSpPr>
        <p:spPr>
          <a:xfrm>
            <a:off x="1782165" y="5676595"/>
            <a:ext cx="8627364" cy="2569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FFFFFF"/>
                </a:solidFill>
                <a:latin typeface="Noto Sans CJK SC"/>
              </a:rPr>
              <a:t>下一门禁：冻结首个 ProjectCase → 在 AgentTeams 跑真实候选 → 审计并替换本页</a:t>
            </a:r>
          </a:p>
        </p:txBody>
      </p:sp>
      <p:sp>
        <p:nvSpPr>
          <p:cNvPr id="24" name="h2p-11-text-23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证据账本</a:t>
            </a:r>
          </a:p>
        </p:txBody>
      </p:sp>
      <p:sp>
        <p:nvSpPr>
          <p:cNvPr id="25" name="h2p-11-text-24"/>
          <p:cNvSpPr txBox="1"/>
          <p:nvPr/>
        </p:nvSpPr>
        <p:spPr>
          <a:xfrm>
            <a:off x="10280599" y="6543446"/>
            <a:ext cx="128198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真实运行证据仍待补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2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2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12 / 12 · 结论</a:t>
            </a:r>
          </a:p>
        </p:txBody>
      </p:sp>
      <p:sp>
        <p:nvSpPr>
          <p:cNvPr id="4" name="h2p-12-text-3"/>
          <p:cNvSpPr txBox="1"/>
          <p:nvPr/>
        </p:nvSpPr>
        <p:spPr>
          <a:xfrm>
            <a:off x="685800" y="780897"/>
            <a:ext cx="11036808" cy="555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3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FFF"/>
                </a:solidFill>
                <a:latin typeface="Noto Sans CJK SC"/>
              </a:rPr>
              <a:t>Fit：刚刚好，不多不少</a:t>
            </a:r>
          </a:p>
        </p:txBody>
      </p:sp>
      <p:sp>
        <p:nvSpPr>
          <p:cNvPr id="5" name="h2p-12-text-4"/>
          <p:cNvSpPr txBox="1"/>
          <p:nvPr/>
        </p:nvSpPr>
        <p:spPr>
          <a:xfrm>
            <a:off x="705002" y="1505102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6D3DD"/>
                </a:solidFill>
                <a:latin typeface="Noto Sans CJK SC"/>
              </a:rPr>
              <a:t>企业需要的不是更多 Agent，而是一个有证据的方案决定。</a:t>
            </a:r>
          </a:p>
        </p:txBody>
      </p:sp>
      <p:sp>
        <p:nvSpPr>
          <p:cNvPr id="6" name="h2p-12-box-5"/>
          <p:cNvSpPr/>
          <p:nvPr/>
        </p:nvSpPr>
        <p:spPr>
          <a:xfrm>
            <a:off x="685800" y="1962302"/>
            <a:ext cx="10820095" cy="19202"/>
          </a:xfrm>
          <a:prstGeom prst="rect">
            <a:avLst/>
          </a:prstGeom>
          <a:solidFill>
            <a:srgbClr val="285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2-box-6"/>
          <p:cNvSpPr/>
          <p:nvPr/>
        </p:nvSpPr>
        <p:spPr>
          <a:xfrm>
            <a:off x="685800" y="2381097"/>
            <a:ext cx="3105302" cy="2419502"/>
          </a:xfrm>
          <a:prstGeom prst="roundRect">
            <a:avLst>
              <a:gd name="adj" fmla="val 709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2-text-7"/>
          <p:cNvSpPr txBox="1"/>
          <p:nvPr/>
        </p:nvSpPr>
        <p:spPr>
          <a:xfrm>
            <a:off x="952804" y="2648102"/>
            <a:ext cx="884224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PRODUCT VALUE</a:t>
            </a:r>
          </a:p>
        </p:txBody>
      </p:sp>
      <p:sp>
        <p:nvSpPr>
          <p:cNvPr id="9" name="h2p-12-text-8"/>
          <p:cNvSpPr txBox="1"/>
          <p:nvPr/>
        </p:nvSpPr>
        <p:spPr>
          <a:xfrm>
            <a:off x="952804" y="3086100"/>
            <a:ext cx="2623413" cy="314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100">
                <a:solidFill>
                  <a:srgbClr val="FFFFFF"/>
                </a:solidFill>
                <a:latin typeface="Noto Sans CJK SC"/>
              </a:rPr>
              <a:t>Agent 建筑师</a:t>
            </a:r>
          </a:p>
        </p:txBody>
      </p:sp>
      <p:sp>
        <p:nvSpPr>
          <p:cNvPr id="10" name="h2p-12-text-9"/>
          <p:cNvSpPr txBox="1"/>
          <p:nvPr/>
        </p:nvSpPr>
        <p:spPr>
          <a:xfrm>
            <a:off x="952804" y="3619195"/>
            <a:ext cx="2623413" cy="486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把复杂需求变成最小充分、可验收的方案。</a:t>
            </a:r>
          </a:p>
        </p:txBody>
      </p:sp>
      <p:sp>
        <p:nvSpPr>
          <p:cNvPr id="11" name="h2p-12-text-10"/>
          <p:cNvSpPr txBox="1"/>
          <p:nvPr/>
        </p:nvSpPr>
        <p:spPr>
          <a:xfrm>
            <a:off x="3942892" y="3353104"/>
            <a:ext cx="330098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>
                <a:solidFill>
                  <a:srgbClr val="74D0C7"/>
                </a:solidFill>
                <a:latin typeface="Noto Sans CJK SC"/>
              </a:rPr>
              <a:t>→</a:t>
            </a:r>
          </a:p>
        </p:txBody>
      </p:sp>
      <p:sp>
        <p:nvSpPr>
          <p:cNvPr id="12" name="h2p-12-box-11"/>
          <p:cNvSpPr/>
          <p:nvPr/>
        </p:nvSpPr>
        <p:spPr>
          <a:xfrm>
            <a:off x="4438497" y="2381097"/>
            <a:ext cx="3314700" cy="2419502"/>
          </a:xfrm>
          <a:prstGeom prst="roundRect">
            <a:avLst>
              <a:gd name="adj" fmla="val 7090"/>
            </a:avLst>
          </a:prstGeom>
          <a:solidFill>
            <a:srgbClr val="132F47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12-text-12"/>
          <p:cNvSpPr txBox="1"/>
          <p:nvPr/>
        </p:nvSpPr>
        <p:spPr>
          <a:xfrm>
            <a:off x="4705502" y="2648102"/>
            <a:ext cx="74797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6AA92"/>
                </a:solidFill>
                <a:latin typeface="Noto Sans Mono CJK SC"/>
              </a:rPr>
              <a:t>CORE METHOD</a:t>
            </a:r>
          </a:p>
        </p:txBody>
      </p:sp>
      <p:sp>
        <p:nvSpPr>
          <p:cNvPr id="14" name="h2p-12-text-13"/>
          <p:cNvSpPr txBox="1"/>
          <p:nvPr/>
        </p:nvSpPr>
        <p:spPr>
          <a:xfrm>
            <a:off x="4705502" y="3086100"/>
            <a:ext cx="2836468" cy="6071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020">
                <a:solidFill>
                  <a:srgbClr val="FFFFFF"/>
                </a:solidFill>
                <a:latin typeface="Noto Sans CJK SC"/>
              </a:rPr>
              <a:t>Agent Architecture Search</a:t>
            </a:r>
          </a:p>
        </p:txBody>
      </p:sp>
      <p:sp>
        <p:nvSpPr>
          <p:cNvPr id="15" name="h2p-12-text-14"/>
          <p:cNvSpPr txBox="1"/>
          <p:nvPr/>
        </p:nvSpPr>
        <p:spPr>
          <a:xfrm>
            <a:off x="4705502" y="3714292"/>
            <a:ext cx="2836468" cy="486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任务语义 + 能力语义 + 候选比较 + 统一评测。</a:t>
            </a:r>
          </a:p>
        </p:txBody>
      </p:sp>
      <p:sp>
        <p:nvSpPr>
          <p:cNvPr id="16" name="h2p-12-text-15"/>
          <p:cNvSpPr txBox="1"/>
          <p:nvPr/>
        </p:nvSpPr>
        <p:spPr>
          <a:xfrm>
            <a:off x="7905902" y="3353104"/>
            <a:ext cx="330098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>
                <a:solidFill>
                  <a:srgbClr val="D6A43B"/>
                </a:solidFill>
                <a:latin typeface="Noto Sans CJK SC"/>
              </a:rPr>
              <a:t>→</a:t>
            </a:r>
          </a:p>
        </p:txBody>
      </p:sp>
      <p:sp>
        <p:nvSpPr>
          <p:cNvPr id="17" name="h2p-12-box-16"/>
          <p:cNvSpPr/>
          <p:nvPr/>
        </p:nvSpPr>
        <p:spPr>
          <a:xfrm>
            <a:off x="8401507" y="2381097"/>
            <a:ext cx="3105302" cy="2419502"/>
          </a:xfrm>
          <a:prstGeom prst="roundRect">
            <a:avLst>
              <a:gd name="adj" fmla="val 7090"/>
            </a:avLst>
          </a:prstGeom>
          <a:solidFill>
            <a:srgbClr val="132F47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2-text-17"/>
          <p:cNvSpPr txBox="1"/>
          <p:nvPr/>
        </p:nvSpPr>
        <p:spPr>
          <a:xfrm>
            <a:off x="8667597" y="2648102"/>
            <a:ext cx="108813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FUTURE DIRECTION</a:t>
            </a:r>
          </a:p>
        </p:txBody>
      </p:sp>
      <p:sp>
        <p:nvSpPr>
          <p:cNvPr id="19" name="h2p-12-text-18"/>
          <p:cNvSpPr txBox="1"/>
          <p:nvPr/>
        </p:nvSpPr>
        <p:spPr>
          <a:xfrm>
            <a:off x="8667597" y="3086100"/>
            <a:ext cx="2623413" cy="314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100">
                <a:solidFill>
                  <a:srgbClr val="FFFFFF"/>
                </a:solidFill>
                <a:latin typeface="Noto Sans CJK SC"/>
              </a:rPr>
              <a:t>Meta-learning</a:t>
            </a:r>
          </a:p>
        </p:txBody>
      </p:sp>
      <p:sp>
        <p:nvSpPr>
          <p:cNvPr id="20" name="h2p-12-text-19"/>
          <p:cNvSpPr txBox="1"/>
          <p:nvPr/>
        </p:nvSpPr>
        <p:spPr>
          <a:xfrm>
            <a:off x="8667597" y="3619195"/>
            <a:ext cx="2623413" cy="486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6D3DD"/>
                </a:solidFill>
                <a:latin typeface="Noto Sans CJK SC"/>
              </a:rPr>
              <a:t>跨项目复验后更新先验；不是当前已实现能力。</a:t>
            </a:r>
          </a:p>
        </p:txBody>
      </p:sp>
      <p:sp>
        <p:nvSpPr>
          <p:cNvPr id="21" name="h2p-12-box-20"/>
          <p:cNvSpPr/>
          <p:nvPr/>
        </p:nvSpPr>
        <p:spPr>
          <a:xfrm>
            <a:off x="3714292" y="5296204"/>
            <a:ext cx="4762195" cy="724204"/>
          </a:xfrm>
          <a:prstGeom prst="roundRect">
            <a:avLst>
              <a:gd name="adj" fmla="val 21050"/>
            </a:avLst>
          </a:prstGeom>
          <a:solidFill>
            <a:srgbClr val="132F47"/>
          </a:solidFill>
          <a:ln w="3810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12-text-21"/>
          <p:cNvSpPr txBox="1"/>
          <p:nvPr/>
        </p:nvSpPr>
        <p:spPr>
          <a:xfrm>
            <a:off x="3822191" y="5533948"/>
            <a:ext cx="4547311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950">
                <a:solidFill>
                  <a:srgbClr val="74D0C7"/>
                </a:solidFill>
                <a:latin typeface="Noto Sans Mono CJK SC"/>
              </a:rPr>
              <a:t>JUST ENOUGH · PROVEN</a:t>
            </a:r>
          </a:p>
        </p:txBody>
      </p:sp>
      <p:sp>
        <p:nvSpPr>
          <p:cNvPr id="23" name="h2p-12-text-22"/>
          <p:cNvSpPr txBox="1"/>
          <p:nvPr/>
        </p:nvSpPr>
        <p:spPr>
          <a:xfrm>
            <a:off x="685800" y="6543446"/>
            <a:ext cx="149595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AGENTFIT · GOAI AGENT INFRA</a:t>
            </a:r>
          </a:p>
        </p:txBody>
      </p:sp>
      <p:sp>
        <p:nvSpPr>
          <p:cNvPr id="24" name="h2p-12-text-23"/>
          <p:cNvSpPr txBox="1"/>
          <p:nvPr/>
        </p:nvSpPr>
        <p:spPr>
          <a:xfrm>
            <a:off x="11082528" y="6543446"/>
            <a:ext cx="48097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Fit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3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3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A1 / 05 · 技术映射</a:t>
            </a:r>
          </a:p>
        </p:txBody>
      </p:sp>
      <p:sp>
        <p:nvSpPr>
          <p:cNvPr id="4" name="h2p-13-text-3"/>
          <p:cNvSpPr txBox="1"/>
          <p:nvPr/>
        </p:nvSpPr>
        <p:spPr>
          <a:xfrm>
            <a:off x="685800" y="666597"/>
            <a:ext cx="11036808" cy="390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850">
                <a:solidFill>
                  <a:srgbClr val="102A43"/>
                </a:solidFill>
                <a:latin typeface="Noto Sans CJK SC"/>
              </a:rPr>
              <a:t>六层 ML 映射把“方案设计”变成可优化对象</a:t>
            </a:r>
          </a:p>
        </p:txBody>
      </p:sp>
      <p:sp>
        <p:nvSpPr>
          <p:cNvPr id="5" name="h2p-13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大模型是实现手段之一；编码、检索、分解、SVD 或规则都可以参与更新。</a:t>
            </a:r>
          </a:p>
        </p:txBody>
      </p:sp>
      <p:sp>
        <p:nvSpPr>
          <p:cNvPr id="6" name="h2p-13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3-box-6"/>
          <p:cNvSpPr/>
          <p:nvPr/>
        </p:nvSpPr>
        <p:spPr>
          <a:xfrm>
            <a:off x="685800" y="1943100"/>
            <a:ext cx="5333695" cy="3847795"/>
          </a:xfrm>
          <a:prstGeom prst="roundRect">
            <a:avLst>
              <a:gd name="adj" fmla="val 4460"/>
            </a:avLst>
          </a:prstGeom>
          <a:solidFill>
            <a:srgbClr val="132F47"/>
          </a:solidFill>
          <a:ln w="19050">
            <a:solidFill>
              <a:srgbClr val="0B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3-text-7"/>
          <p:cNvSpPr txBox="1"/>
          <p:nvPr/>
        </p:nvSpPr>
        <p:spPr>
          <a:xfrm>
            <a:off x="933602" y="2152497"/>
            <a:ext cx="1155801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SIX-LAYER MAPPING</a:t>
            </a:r>
          </a:p>
        </p:txBody>
      </p:sp>
      <p:sp>
        <p:nvSpPr>
          <p:cNvPr id="9" name="h2p-13-text-8"/>
          <p:cNvSpPr txBox="1"/>
          <p:nvPr/>
        </p:nvSpPr>
        <p:spPr>
          <a:xfrm>
            <a:off x="933602" y="2514600"/>
            <a:ext cx="4915814" cy="188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FFFFFF"/>
                </a:solidFill>
                <a:latin typeface="Noto Sans CJK SC"/>
              </a:rPr>
              <a:t>L1 任务语义</a:t>
            </a:r>
            <a:r>
              <a:rPr sz="1120">
                <a:solidFill>
                  <a:srgbClr val="FFFFFF"/>
                </a:solidFill>
                <a:latin typeface="Noto Sans CJK SC"/>
              </a:rPr>
              <a:t> → 学习问题、输入输出、指标与权衡</a:t>
            </a:r>
          </a:p>
        </p:txBody>
      </p:sp>
      <p:sp>
        <p:nvSpPr>
          <p:cNvPr id="10" name="h2p-13-text-9"/>
          <p:cNvSpPr txBox="1"/>
          <p:nvPr/>
        </p:nvSpPr>
        <p:spPr>
          <a:xfrm>
            <a:off x="933602" y="2991002"/>
            <a:ext cx="4915814" cy="188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FFFFFF"/>
                </a:solidFill>
                <a:latin typeface="Noto Sans CJK SC"/>
              </a:rPr>
              <a:t>L2 能力语义</a:t>
            </a:r>
            <a:r>
              <a:rPr sz="1120">
                <a:solidFill>
                  <a:srgbClr val="FFFFFF"/>
                </a:solidFill>
                <a:latin typeface="Noto Sans CJK SC"/>
              </a:rPr>
              <a:t> → 算子集、契约、权限与适用域</a:t>
            </a:r>
          </a:p>
        </p:txBody>
      </p:sp>
      <p:sp>
        <p:nvSpPr>
          <p:cNvPr id="11" name="h2p-13-text-10"/>
          <p:cNvSpPr txBox="1"/>
          <p:nvPr/>
        </p:nvSpPr>
        <p:spPr>
          <a:xfrm>
            <a:off x="933602" y="3467404"/>
            <a:ext cx="4915814" cy="188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FFFFFF"/>
                </a:solidFill>
                <a:latin typeface="Noto Sans CJK SC"/>
              </a:rPr>
              <a:t>L3 候选表示</a:t>
            </a:r>
            <a:r>
              <a:rPr sz="1120">
                <a:solidFill>
                  <a:srgbClr val="FFFFFF"/>
                </a:solidFill>
                <a:latin typeface="Noto Sans CJK SC"/>
              </a:rPr>
              <a:t> → 结构、分区、参数与共享范围</a:t>
            </a:r>
          </a:p>
        </p:txBody>
      </p:sp>
      <p:sp>
        <p:nvSpPr>
          <p:cNvPr id="12" name="h2p-13-text-11"/>
          <p:cNvSpPr txBox="1"/>
          <p:nvPr/>
        </p:nvSpPr>
        <p:spPr>
          <a:xfrm>
            <a:off x="933602" y="3942892"/>
            <a:ext cx="4915814" cy="188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FFFFFF"/>
                </a:solidFill>
                <a:latin typeface="Noto Sans CJK SC"/>
              </a:rPr>
              <a:t>L4 内循环</a:t>
            </a:r>
            <a:r>
              <a:rPr sz="1120">
                <a:solidFill>
                  <a:srgbClr val="FFFFFF"/>
                </a:solidFill>
                <a:latin typeface="Noto Sans CJK SC"/>
              </a:rPr>
              <a:t> → 固定结构内优化 Prompt / 阈值 / 配置</a:t>
            </a:r>
          </a:p>
        </p:txBody>
      </p:sp>
      <p:sp>
        <p:nvSpPr>
          <p:cNvPr id="13" name="h2p-13-text-12"/>
          <p:cNvSpPr txBox="1"/>
          <p:nvPr/>
        </p:nvSpPr>
        <p:spPr>
          <a:xfrm>
            <a:off x="933602" y="4419295"/>
            <a:ext cx="4915814" cy="188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FFFFFF"/>
                </a:solidFill>
                <a:latin typeface="Noto Sans CJK SC"/>
              </a:rPr>
              <a:t>L5 外循环</a:t>
            </a:r>
            <a:r>
              <a:rPr sz="1120">
                <a:solidFill>
                  <a:srgbClr val="FFFFFF"/>
                </a:solidFill>
                <a:latin typeface="Noto Sans CJK SC"/>
              </a:rPr>
              <a:t> → Agentize、拆分、合并与连边搜索</a:t>
            </a:r>
          </a:p>
        </p:txBody>
      </p:sp>
      <p:sp>
        <p:nvSpPr>
          <p:cNvPr id="14" name="h2p-13-text-13"/>
          <p:cNvSpPr txBox="1"/>
          <p:nvPr/>
        </p:nvSpPr>
        <p:spPr>
          <a:xfrm>
            <a:off x="933602" y="4895697"/>
            <a:ext cx="4915814" cy="188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FFFFFF"/>
                </a:solidFill>
                <a:latin typeface="Noto Sans CJK SC"/>
              </a:rPr>
              <a:t>L6 跨项目学习</a:t>
            </a:r>
            <a:r>
              <a:rPr sz="1120">
                <a:solidFill>
                  <a:srgbClr val="FFFFFF"/>
                </a:solidFill>
                <a:latin typeface="Noto Sans CJK SC"/>
              </a:rPr>
              <a:t> → 经未见项目验证后更新搜索先验</a:t>
            </a:r>
          </a:p>
        </p:txBody>
      </p:sp>
      <p:sp>
        <p:nvSpPr>
          <p:cNvPr id="15" name="h2p-13-text-14"/>
          <p:cNvSpPr txBox="1"/>
          <p:nvPr/>
        </p:nvSpPr>
        <p:spPr>
          <a:xfrm>
            <a:off x="933602" y="5391302"/>
            <a:ext cx="4915814" cy="1682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D6A43B"/>
                </a:solidFill>
                <a:latin typeface="Noto Sans CJK SC"/>
              </a:rPr>
              <a:t>L6 是未来方向：单项目沉淀不能证明跨项目学习。</a:t>
            </a:r>
          </a:p>
        </p:txBody>
      </p:sp>
      <p:sp>
        <p:nvSpPr>
          <p:cNvPr id="16" name="h2p-13-box-15"/>
          <p:cNvSpPr/>
          <p:nvPr/>
        </p:nvSpPr>
        <p:spPr>
          <a:xfrm>
            <a:off x="6400800" y="1943100"/>
            <a:ext cx="5105095" cy="1790395"/>
          </a:xfrm>
          <a:prstGeom prst="roundRect">
            <a:avLst>
              <a:gd name="adj" fmla="val 957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2p-13-text-16"/>
          <p:cNvSpPr txBox="1"/>
          <p:nvPr/>
        </p:nvSpPr>
        <p:spPr>
          <a:xfrm>
            <a:off x="6667804" y="2171700"/>
            <a:ext cx="68031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候选四元组</a:t>
            </a:r>
          </a:p>
        </p:txBody>
      </p:sp>
      <p:sp>
        <p:nvSpPr>
          <p:cNvPr id="18" name="h2p-13-text-17"/>
          <p:cNvSpPr txBox="1"/>
          <p:nvPr/>
        </p:nvSpPr>
        <p:spPr>
          <a:xfrm>
            <a:off x="6667804" y="2571292"/>
            <a:ext cx="4663440" cy="359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8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400">
                <a:solidFill>
                  <a:srgbClr val="102A43"/>
                </a:solidFill>
                <a:latin typeface="Noto Sans Mono CJK SC"/>
              </a:rPr>
              <a:t>C = (G, Π, θ, ρ)</a:t>
            </a:r>
          </a:p>
        </p:txBody>
      </p:sp>
      <p:sp>
        <p:nvSpPr>
          <p:cNvPr id="19" name="h2p-13-text-18"/>
          <p:cNvSpPr txBox="1"/>
          <p:nvPr/>
        </p:nvSpPr>
        <p:spPr>
          <a:xfrm>
            <a:off x="6667804" y="3105302"/>
            <a:ext cx="4663440" cy="376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G 能力图 · Π Agent 分区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θ 模型/Prompt/阈值 · ρ 状态与记忆共享范围</a:t>
            </a:r>
          </a:p>
        </p:txBody>
      </p:sp>
      <p:sp>
        <p:nvSpPr>
          <p:cNvPr id="20" name="h2p-13-box-19"/>
          <p:cNvSpPr/>
          <p:nvPr/>
        </p:nvSpPr>
        <p:spPr>
          <a:xfrm>
            <a:off x="6400800" y="4000500"/>
            <a:ext cx="2381097" cy="1790395"/>
          </a:xfrm>
          <a:prstGeom prst="roundRect">
            <a:avLst>
              <a:gd name="adj" fmla="val 957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13-text-20"/>
          <p:cNvSpPr txBox="1"/>
          <p:nvPr/>
        </p:nvSpPr>
        <p:spPr>
          <a:xfrm>
            <a:off x="6648602" y="4229100"/>
            <a:ext cx="21369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INNER LOOP · 一个 epoch 内</a:t>
            </a:r>
          </a:p>
        </p:txBody>
      </p:sp>
      <p:sp>
        <p:nvSpPr>
          <p:cNvPr id="22" name="h2p-13-text-21"/>
          <p:cNvSpPr txBox="1"/>
          <p:nvPr/>
        </p:nvSpPr>
        <p:spPr>
          <a:xfrm>
            <a:off x="6648602" y="4628692"/>
            <a:ext cx="1923897" cy="2249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02A43"/>
                </a:solidFill>
                <a:latin typeface="Noto Sans CJK SC"/>
              </a:rPr>
              <a:t>让局部 Agent 变好</a:t>
            </a:r>
          </a:p>
        </p:txBody>
      </p:sp>
      <p:sp>
        <p:nvSpPr>
          <p:cNvPr id="23" name="h2p-13-text-22"/>
          <p:cNvSpPr txBox="1"/>
          <p:nvPr/>
        </p:nvSpPr>
        <p:spPr>
          <a:xfrm>
            <a:off x="6648602" y="5048402"/>
            <a:ext cx="1923897" cy="5660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固定 G / Π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更新 θ / ρ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看验证集表现</a:t>
            </a:r>
          </a:p>
        </p:txBody>
      </p:sp>
      <p:sp>
        <p:nvSpPr>
          <p:cNvPr id="24" name="h2p-13-box-23"/>
          <p:cNvSpPr/>
          <p:nvPr/>
        </p:nvSpPr>
        <p:spPr>
          <a:xfrm>
            <a:off x="9048902" y="4000500"/>
            <a:ext cx="2457907" cy="1790395"/>
          </a:xfrm>
          <a:prstGeom prst="roundRect">
            <a:avLst>
              <a:gd name="adj" fmla="val 957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13-text-24"/>
          <p:cNvSpPr txBox="1"/>
          <p:nvPr/>
        </p:nvSpPr>
        <p:spPr>
          <a:xfrm>
            <a:off x="9296704" y="4229100"/>
            <a:ext cx="1632204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4C32"/>
                </a:solidFill>
                <a:latin typeface="Noto Sans Mono CJK SC"/>
              </a:rPr>
              <a:t>OUTER LOOP · 架构 epoch</a:t>
            </a:r>
          </a:p>
        </p:txBody>
      </p:sp>
      <p:sp>
        <p:nvSpPr>
          <p:cNvPr id="26" name="h2p-13-text-25"/>
          <p:cNvSpPr txBox="1"/>
          <p:nvPr/>
        </p:nvSpPr>
        <p:spPr>
          <a:xfrm>
            <a:off x="9296704" y="4628692"/>
            <a:ext cx="2001621" cy="2249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02A43"/>
                </a:solidFill>
                <a:latin typeface="Noto Sans CJK SC"/>
              </a:rPr>
              <a:t>让整体任务结果变好</a:t>
            </a:r>
          </a:p>
        </p:txBody>
      </p:sp>
      <p:sp>
        <p:nvSpPr>
          <p:cNvPr id="27" name="h2p-13-text-26"/>
          <p:cNvSpPr txBox="1"/>
          <p:nvPr/>
        </p:nvSpPr>
        <p:spPr>
          <a:xfrm>
            <a:off x="9296704" y="5048402"/>
            <a:ext cx="2001621" cy="5660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更新 G / Π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比较复杂度与收益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保留 Pareto 候选</a:t>
            </a:r>
          </a:p>
        </p:txBody>
      </p:sp>
      <p:sp>
        <p:nvSpPr>
          <p:cNvPr id="28" name="h2p-13-text-27"/>
          <p:cNvSpPr txBox="1"/>
          <p:nvPr/>
        </p:nvSpPr>
        <p:spPr>
          <a:xfrm>
            <a:off x="685800" y="6543446"/>
            <a:ext cx="2350922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任务语义 × 能力语义 × 架构搜索</a:t>
            </a:r>
          </a:p>
        </p:txBody>
      </p:sp>
      <p:sp>
        <p:nvSpPr>
          <p:cNvPr id="29" name="h2p-13-text-28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技术附录 · A1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4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4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A2 / 05 · AGENT IDENTITY</a:t>
            </a:r>
          </a:p>
        </p:txBody>
      </p:sp>
      <p:sp>
        <p:nvSpPr>
          <p:cNvPr id="4" name="h2p-14-text-3"/>
          <p:cNvSpPr txBox="1"/>
          <p:nvPr/>
        </p:nvSpPr>
        <p:spPr>
          <a:xfrm>
            <a:off x="685800" y="666597"/>
            <a:ext cx="11036808" cy="390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850">
                <a:solidFill>
                  <a:srgbClr val="FFFFFF"/>
                </a:solidFill>
                <a:latin typeface="Noto Sans CJK SC"/>
              </a:rPr>
              <a:t>五个 Agent 各自拥有判断权、状态边界与责任产物</a:t>
            </a:r>
          </a:p>
        </p:txBody>
      </p:sp>
      <p:sp>
        <p:nvSpPr>
          <p:cNvPr id="5" name="h2p-14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C6D3DD"/>
                </a:solidFill>
                <a:latin typeface="Noto Sans CJK SC"/>
              </a:rPr>
              <a:t>设计 Identity；真实 AgentTeams 实例化与端到端运行仍待完成。</a:t>
            </a:r>
          </a:p>
        </p:txBody>
      </p:sp>
      <p:sp>
        <p:nvSpPr>
          <p:cNvPr id="6" name="h2p-14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285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4-box-6"/>
          <p:cNvSpPr/>
          <p:nvPr/>
        </p:nvSpPr>
        <p:spPr>
          <a:xfrm>
            <a:off x="685800" y="1943100"/>
            <a:ext cx="1981504" cy="2819095"/>
          </a:xfrm>
          <a:prstGeom prst="roundRect">
            <a:avLst>
              <a:gd name="adj" fmla="val 8650"/>
            </a:avLst>
          </a:prstGeom>
          <a:solidFill>
            <a:srgbClr val="132F47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4-text-7"/>
          <p:cNvSpPr txBox="1"/>
          <p:nvPr/>
        </p:nvSpPr>
        <p:spPr>
          <a:xfrm>
            <a:off x="895197" y="2171700"/>
            <a:ext cx="95189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A9C3D5"/>
                </a:solidFill>
                <a:latin typeface="Noto Sans Mono CJK SC"/>
              </a:rPr>
              <a:t>EngagementLead</a:t>
            </a:r>
          </a:p>
        </p:txBody>
      </p:sp>
      <p:sp>
        <p:nvSpPr>
          <p:cNvPr id="9" name="h2p-14-text-8"/>
          <p:cNvSpPr txBox="1"/>
          <p:nvPr/>
        </p:nvSpPr>
        <p:spPr>
          <a:xfrm>
            <a:off x="895197" y="2533802"/>
            <a:ext cx="640994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FFFFFF"/>
                </a:solidFill>
                <a:latin typeface="Noto Sans CJK SC"/>
              </a:rPr>
              <a:t>交付官</a:t>
            </a:r>
          </a:p>
        </p:txBody>
      </p:sp>
      <p:sp>
        <p:nvSpPr>
          <p:cNvPr id="10" name="h2p-14-text-9"/>
          <p:cNvSpPr txBox="1"/>
          <p:nvPr/>
        </p:nvSpPr>
        <p:spPr>
          <a:xfrm>
            <a:off x="895197" y="2971800"/>
            <a:ext cx="1592884" cy="5660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6D3DD"/>
                </a:solidFill>
                <a:latin typeface="Noto Sans CJK SC"/>
              </a:rPr>
              <a:t>控制项目阶段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6D3DD"/>
                </a:solidFill>
                <a:latin typeface="Noto Sans CJK SC"/>
              </a:rPr>
              <a:t>路由 Human 审批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6D3DD"/>
                </a:solidFill>
                <a:latin typeface="Noto Sans CJK SC"/>
              </a:rPr>
              <a:t>作出交付决定</a:t>
            </a:r>
          </a:p>
        </p:txBody>
      </p:sp>
      <p:sp>
        <p:nvSpPr>
          <p:cNvPr id="11" name="h2p-14-text-10"/>
          <p:cNvSpPr txBox="1"/>
          <p:nvPr/>
        </p:nvSpPr>
        <p:spPr>
          <a:xfrm>
            <a:off x="895197" y="4171492"/>
            <a:ext cx="1592884" cy="335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A9C3D5"/>
                </a:solidFill>
                <a:latin typeface="Noto Sans CJK SC"/>
              </a:rPr>
              <a:t>责任产物</a:t>
            </a:r>
          </a:p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A9C3D5"/>
                </a:solidFill>
                <a:latin typeface="Noto Sans CJK SC"/>
              </a:rPr>
              <a:t>项目简报 / 决议</a:t>
            </a:r>
          </a:p>
        </p:txBody>
      </p:sp>
      <p:sp>
        <p:nvSpPr>
          <p:cNvPr id="12" name="h2p-14-box-11"/>
          <p:cNvSpPr/>
          <p:nvPr/>
        </p:nvSpPr>
        <p:spPr>
          <a:xfrm>
            <a:off x="2895904" y="1943100"/>
            <a:ext cx="1981504" cy="2819095"/>
          </a:xfrm>
          <a:prstGeom prst="roundRect">
            <a:avLst>
              <a:gd name="adj" fmla="val 8650"/>
            </a:avLst>
          </a:prstGeom>
          <a:solidFill>
            <a:srgbClr val="132F47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14-text-12"/>
          <p:cNvSpPr txBox="1"/>
          <p:nvPr/>
        </p:nvSpPr>
        <p:spPr>
          <a:xfrm>
            <a:off x="3105302" y="2171700"/>
            <a:ext cx="108813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A9C3D5"/>
                </a:solidFill>
                <a:latin typeface="Noto Sans Mono CJK SC"/>
              </a:rPr>
              <a:t>BusinessEngineer</a:t>
            </a:r>
          </a:p>
        </p:txBody>
      </p:sp>
      <p:sp>
        <p:nvSpPr>
          <p:cNvPr id="14" name="h2p-14-text-13"/>
          <p:cNvSpPr txBox="1"/>
          <p:nvPr/>
        </p:nvSpPr>
        <p:spPr>
          <a:xfrm>
            <a:off x="3105302" y="2533802"/>
            <a:ext cx="1068933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FFFFFF"/>
                </a:solidFill>
                <a:latin typeface="Noto Sans CJK SC"/>
              </a:rPr>
              <a:t>业务架构师</a:t>
            </a:r>
          </a:p>
        </p:txBody>
      </p:sp>
      <p:sp>
        <p:nvSpPr>
          <p:cNvPr id="15" name="h2p-14-text-14"/>
          <p:cNvSpPr txBox="1"/>
          <p:nvPr/>
        </p:nvSpPr>
        <p:spPr>
          <a:xfrm>
            <a:off x="3105302" y="2971800"/>
            <a:ext cx="1592884" cy="5660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6D3DD"/>
                </a:solidFill>
                <a:latin typeface="Noto Sans CJK SC"/>
              </a:rPr>
              <a:t>编译业务任务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6D3DD"/>
                </a:solidFill>
                <a:latin typeface="Noto Sans CJK SC"/>
              </a:rPr>
              <a:t>冻结指标预算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6D3DD"/>
                </a:solidFill>
                <a:latin typeface="Noto Sans CJK SC"/>
              </a:rPr>
              <a:t>标注 Human 边界</a:t>
            </a:r>
          </a:p>
        </p:txBody>
      </p:sp>
      <p:sp>
        <p:nvSpPr>
          <p:cNvPr id="16" name="h2p-14-text-15"/>
          <p:cNvSpPr txBox="1"/>
          <p:nvPr/>
        </p:nvSpPr>
        <p:spPr>
          <a:xfrm>
            <a:off x="3105302" y="4171492"/>
            <a:ext cx="1592884" cy="335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A9C3D5"/>
                </a:solidFill>
                <a:latin typeface="Noto Sans CJK SC"/>
              </a:rPr>
              <a:t>责任产物</a:t>
            </a:r>
          </a:p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A9C3D5"/>
                </a:solidFill>
                <a:latin typeface="Noto Sans CJK SC"/>
              </a:rPr>
              <a:t>任务说明书</a:t>
            </a:r>
          </a:p>
        </p:txBody>
      </p:sp>
      <p:sp>
        <p:nvSpPr>
          <p:cNvPr id="17" name="h2p-14-box-16"/>
          <p:cNvSpPr/>
          <p:nvPr/>
        </p:nvSpPr>
        <p:spPr>
          <a:xfrm>
            <a:off x="5105095" y="1943100"/>
            <a:ext cx="1981504" cy="2819095"/>
          </a:xfrm>
          <a:prstGeom prst="roundRect">
            <a:avLst>
              <a:gd name="adj" fmla="val 865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4-text-17"/>
          <p:cNvSpPr txBox="1"/>
          <p:nvPr/>
        </p:nvSpPr>
        <p:spPr>
          <a:xfrm>
            <a:off x="5314492" y="2171700"/>
            <a:ext cx="95189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AgentArchitect</a:t>
            </a:r>
          </a:p>
        </p:txBody>
      </p:sp>
      <p:sp>
        <p:nvSpPr>
          <p:cNvPr id="19" name="h2p-14-text-18"/>
          <p:cNvSpPr txBox="1"/>
          <p:nvPr/>
        </p:nvSpPr>
        <p:spPr>
          <a:xfrm>
            <a:off x="5314492" y="2533802"/>
            <a:ext cx="1068933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FFFFFF"/>
                </a:solidFill>
                <a:latin typeface="Noto Sans CJK SC"/>
              </a:rPr>
              <a:t>方案架构师</a:t>
            </a:r>
          </a:p>
        </p:txBody>
      </p:sp>
      <p:sp>
        <p:nvSpPr>
          <p:cNvPr id="20" name="h2p-14-text-19"/>
          <p:cNvSpPr txBox="1"/>
          <p:nvPr/>
        </p:nvSpPr>
        <p:spPr>
          <a:xfrm>
            <a:off x="5314492" y="2971800"/>
            <a:ext cx="1592884" cy="5660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6D3DD"/>
                </a:solidFill>
                <a:latin typeface="Noto Sans CJK SC"/>
              </a:rPr>
              <a:t>盘点能力缺口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6D3DD"/>
                </a:solidFill>
                <a:latin typeface="Noto Sans CJK SC"/>
              </a:rPr>
              <a:t>生成并列候选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6D3DD"/>
                </a:solidFill>
                <a:latin typeface="Noto Sans CJK SC"/>
              </a:rPr>
              <a:t>解释 Agentize</a:t>
            </a:r>
          </a:p>
        </p:txBody>
      </p:sp>
      <p:sp>
        <p:nvSpPr>
          <p:cNvPr id="21" name="h2p-14-text-20"/>
          <p:cNvSpPr txBox="1"/>
          <p:nvPr/>
        </p:nvSpPr>
        <p:spPr>
          <a:xfrm>
            <a:off x="5314492" y="4171492"/>
            <a:ext cx="1592884" cy="335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74D0C7"/>
                </a:solidFill>
                <a:latin typeface="Noto Sans CJK SC"/>
              </a:rPr>
              <a:t>责任产物</a:t>
            </a:r>
          </a:p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74D0C7"/>
                </a:solidFill>
                <a:latin typeface="Noto Sans CJK SC"/>
              </a:rPr>
              <a:t>候选方案集</a:t>
            </a:r>
          </a:p>
        </p:txBody>
      </p:sp>
      <p:sp>
        <p:nvSpPr>
          <p:cNvPr id="22" name="h2p-14-box-21"/>
          <p:cNvSpPr/>
          <p:nvPr/>
        </p:nvSpPr>
        <p:spPr>
          <a:xfrm>
            <a:off x="7315200" y="1943100"/>
            <a:ext cx="1981504" cy="2819095"/>
          </a:xfrm>
          <a:prstGeom prst="roundRect">
            <a:avLst>
              <a:gd name="adj" fmla="val 8650"/>
            </a:avLst>
          </a:prstGeom>
          <a:solidFill>
            <a:srgbClr val="132F47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14-text-22"/>
          <p:cNvSpPr txBox="1"/>
          <p:nvPr/>
        </p:nvSpPr>
        <p:spPr>
          <a:xfrm>
            <a:off x="7524597" y="2171700"/>
            <a:ext cx="1224381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6AA92"/>
                </a:solidFill>
                <a:latin typeface="Noto Sans Mono CJK SC"/>
              </a:rPr>
              <a:t>ValidationEngineer</a:t>
            </a:r>
          </a:p>
        </p:txBody>
      </p:sp>
      <p:sp>
        <p:nvSpPr>
          <p:cNvPr id="24" name="h2p-14-text-23"/>
          <p:cNvSpPr txBox="1"/>
          <p:nvPr/>
        </p:nvSpPr>
        <p:spPr>
          <a:xfrm>
            <a:off x="7524597" y="2533802"/>
            <a:ext cx="1068933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FFFFFF"/>
                </a:solidFill>
                <a:latin typeface="Noto Sans CJK SC"/>
              </a:rPr>
              <a:t>验证工程师</a:t>
            </a:r>
          </a:p>
        </p:txBody>
      </p:sp>
      <p:sp>
        <p:nvSpPr>
          <p:cNvPr id="25" name="h2p-14-text-24"/>
          <p:cNvSpPr txBox="1"/>
          <p:nvPr/>
        </p:nvSpPr>
        <p:spPr>
          <a:xfrm>
            <a:off x="7524597" y="2971800"/>
            <a:ext cx="1592884" cy="5660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6D3DD"/>
                </a:solidFill>
                <a:latin typeface="Noto Sans CJK SC"/>
              </a:rPr>
              <a:t>隔离运行候选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6D3DD"/>
                </a:solidFill>
                <a:latin typeface="Noto Sans CJK SC"/>
              </a:rPr>
              <a:t>执行统一预算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6D3DD"/>
                </a:solidFill>
                <a:latin typeface="Noto Sans CJK SC"/>
              </a:rPr>
              <a:t>收集失败证据</a:t>
            </a:r>
          </a:p>
        </p:txBody>
      </p:sp>
      <p:sp>
        <p:nvSpPr>
          <p:cNvPr id="26" name="h2p-14-text-25"/>
          <p:cNvSpPr txBox="1"/>
          <p:nvPr/>
        </p:nvSpPr>
        <p:spPr>
          <a:xfrm>
            <a:off x="7524597" y="4171492"/>
            <a:ext cx="1592884" cy="335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6AA92"/>
                </a:solidFill>
                <a:latin typeface="Noto Sans CJK SC"/>
              </a:rPr>
              <a:t>责任产物</a:t>
            </a:r>
          </a:p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6AA92"/>
                </a:solidFill>
                <a:latin typeface="Noto Sans CJK SC"/>
              </a:rPr>
              <a:t>Execution Trace</a:t>
            </a:r>
          </a:p>
        </p:txBody>
      </p:sp>
      <p:sp>
        <p:nvSpPr>
          <p:cNvPr id="27" name="h2p-14-box-26"/>
          <p:cNvSpPr/>
          <p:nvPr/>
        </p:nvSpPr>
        <p:spPr>
          <a:xfrm>
            <a:off x="9525304" y="1943100"/>
            <a:ext cx="1981504" cy="2819095"/>
          </a:xfrm>
          <a:prstGeom prst="roundRect">
            <a:avLst>
              <a:gd name="adj" fmla="val 8650"/>
            </a:avLst>
          </a:prstGeom>
          <a:solidFill>
            <a:srgbClr val="132F47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14-text-27"/>
          <p:cNvSpPr txBox="1"/>
          <p:nvPr/>
        </p:nvSpPr>
        <p:spPr>
          <a:xfrm>
            <a:off x="9734702" y="2171700"/>
            <a:ext cx="1155801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GovernanceAuditor</a:t>
            </a:r>
          </a:p>
        </p:txBody>
      </p:sp>
      <p:sp>
        <p:nvSpPr>
          <p:cNvPr id="29" name="h2p-14-text-28"/>
          <p:cNvSpPr txBox="1"/>
          <p:nvPr/>
        </p:nvSpPr>
        <p:spPr>
          <a:xfrm>
            <a:off x="9734702" y="2533802"/>
            <a:ext cx="640994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FFFFFF"/>
                </a:solidFill>
                <a:latin typeface="Noto Sans CJK SC"/>
              </a:rPr>
              <a:t>审计官</a:t>
            </a:r>
          </a:p>
        </p:txBody>
      </p:sp>
      <p:sp>
        <p:nvSpPr>
          <p:cNvPr id="30" name="h2p-14-text-29"/>
          <p:cNvSpPr txBox="1"/>
          <p:nvPr/>
        </p:nvSpPr>
        <p:spPr>
          <a:xfrm>
            <a:off x="9734702" y="2971800"/>
            <a:ext cx="1592884" cy="5660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6D3DD"/>
                </a:solidFill>
                <a:latin typeface="Noto Sans CJK SC"/>
              </a:rPr>
              <a:t>独立检查证据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6D3DD"/>
                </a:solidFill>
                <a:latin typeface="Noto Sans CJK SC"/>
              </a:rPr>
              <a:t>审计 holdout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6D3DD"/>
                </a:solidFill>
                <a:latin typeface="Noto Sans CJK SC"/>
              </a:rPr>
              <a:t>选择 / 否决 / 降级</a:t>
            </a:r>
          </a:p>
        </p:txBody>
      </p:sp>
      <p:sp>
        <p:nvSpPr>
          <p:cNvPr id="31" name="h2p-14-text-30"/>
          <p:cNvSpPr txBox="1"/>
          <p:nvPr/>
        </p:nvSpPr>
        <p:spPr>
          <a:xfrm>
            <a:off x="9734702" y="4171492"/>
            <a:ext cx="1592884" cy="335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D6A43B"/>
                </a:solidFill>
                <a:latin typeface="Noto Sans CJK SC"/>
              </a:rPr>
              <a:t>责任产物</a:t>
            </a:r>
          </a:p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D6A43B"/>
                </a:solidFill>
                <a:latin typeface="Noto Sans CJK SC"/>
              </a:rPr>
              <a:t>决策账本</a:t>
            </a:r>
          </a:p>
        </p:txBody>
      </p:sp>
      <p:sp>
        <p:nvSpPr>
          <p:cNvPr id="32" name="h2p-14-box-31"/>
          <p:cNvSpPr/>
          <p:nvPr/>
        </p:nvSpPr>
        <p:spPr>
          <a:xfrm>
            <a:off x="685800" y="5048402"/>
            <a:ext cx="10820095" cy="914400"/>
          </a:xfrm>
          <a:prstGeom prst="roundRect">
            <a:avLst>
              <a:gd name="adj" fmla="val 18750"/>
            </a:avLst>
          </a:prstGeom>
          <a:solidFill>
            <a:srgbClr val="132F47"/>
          </a:solidFill>
          <a:ln w="19050">
            <a:solidFill>
              <a:srgbClr val="2851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14-text-32"/>
          <p:cNvSpPr txBox="1"/>
          <p:nvPr/>
        </p:nvSpPr>
        <p:spPr>
          <a:xfrm>
            <a:off x="895197" y="5257800"/>
            <a:ext cx="233172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官方 8 字段契约</a:t>
            </a:r>
          </a:p>
        </p:txBody>
      </p:sp>
      <p:sp>
        <p:nvSpPr>
          <p:cNvPr id="34" name="h2p-14-text-33"/>
          <p:cNvSpPr txBox="1"/>
          <p:nvPr/>
        </p:nvSpPr>
        <p:spPr>
          <a:xfrm>
            <a:off x="895197" y="5562295"/>
            <a:ext cx="10570464" cy="188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Name · Role · Capabilities · Inputs · Outputs · Dependencies · Decision Boundary · Trace</a:t>
            </a:r>
          </a:p>
        </p:txBody>
      </p:sp>
      <p:sp>
        <p:nvSpPr>
          <p:cNvPr id="35" name="h2p-14-text-34"/>
          <p:cNvSpPr txBox="1"/>
          <p:nvPr/>
        </p:nvSpPr>
        <p:spPr>
          <a:xfrm>
            <a:off x="685800" y="6543446"/>
            <a:ext cx="2030882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完整字段：submission/agent-identity.md</a:t>
            </a:r>
          </a:p>
        </p:txBody>
      </p:sp>
      <p:sp>
        <p:nvSpPr>
          <p:cNvPr id="36" name="h2p-14-text-35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设计契约 · A2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5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5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A3 / 05 · SKILL / MCP / CONTEXT</a:t>
            </a:r>
          </a:p>
        </p:txBody>
      </p:sp>
      <p:sp>
        <p:nvSpPr>
          <p:cNvPr id="4" name="h2p-15-text-3"/>
          <p:cNvSpPr txBox="1"/>
          <p:nvPr/>
        </p:nvSpPr>
        <p:spPr>
          <a:xfrm>
            <a:off x="685800" y="666597"/>
            <a:ext cx="11036808" cy="390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850">
                <a:solidFill>
                  <a:srgbClr val="102A43"/>
                </a:solidFill>
                <a:latin typeface="Noto Sans CJK SC"/>
              </a:rPr>
              <a:t>七个 Skill 固化方案工程；MCP 只承接确定性接口</a:t>
            </a:r>
          </a:p>
        </p:txBody>
      </p:sp>
      <p:sp>
        <p:nvSpPr>
          <p:cNvPr id="5" name="h2p-15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按必要性复用官方能力，不按数量堆叠；以下均为设计契约。</a:t>
            </a:r>
          </a:p>
        </p:txBody>
      </p:sp>
      <p:sp>
        <p:nvSpPr>
          <p:cNvPr id="6" name="h2p-15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5-text-6"/>
          <p:cNvSpPr txBox="1"/>
          <p:nvPr/>
        </p:nvSpPr>
        <p:spPr>
          <a:xfrm>
            <a:off x="685800" y="1943100"/>
            <a:ext cx="81655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SEVEN SKILLS</a:t>
            </a:r>
          </a:p>
        </p:txBody>
      </p:sp>
      <p:sp>
        <p:nvSpPr>
          <p:cNvPr id="8" name="h2p-15-box-7"/>
          <p:cNvSpPr/>
          <p:nvPr/>
        </p:nvSpPr>
        <p:spPr>
          <a:xfrm>
            <a:off x="685800" y="2266797"/>
            <a:ext cx="2324404" cy="381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15-text-8"/>
          <p:cNvSpPr txBox="1"/>
          <p:nvPr/>
        </p:nvSpPr>
        <p:spPr>
          <a:xfrm>
            <a:off x="798271" y="2352751"/>
            <a:ext cx="209854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1 · 任务编译</a:t>
            </a:r>
          </a:p>
        </p:txBody>
      </p:sp>
      <p:sp>
        <p:nvSpPr>
          <p:cNvPr id="10" name="h2p-15-box-9"/>
          <p:cNvSpPr/>
          <p:nvPr/>
        </p:nvSpPr>
        <p:spPr>
          <a:xfrm>
            <a:off x="3161995" y="2266797"/>
            <a:ext cx="2324404" cy="381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15-text-10"/>
          <p:cNvSpPr txBox="1"/>
          <p:nvPr/>
        </p:nvSpPr>
        <p:spPr>
          <a:xfrm>
            <a:off x="3275380" y="2352751"/>
            <a:ext cx="209854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2 · 能力对齐</a:t>
            </a:r>
          </a:p>
        </p:txBody>
      </p:sp>
      <p:sp>
        <p:nvSpPr>
          <p:cNvPr id="12" name="h2p-15-box-11"/>
          <p:cNvSpPr/>
          <p:nvPr/>
        </p:nvSpPr>
        <p:spPr>
          <a:xfrm>
            <a:off x="5639104" y="2266797"/>
            <a:ext cx="2324404" cy="381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15-text-12"/>
          <p:cNvSpPr txBox="1"/>
          <p:nvPr/>
        </p:nvSpPr>
        <p:spPr>
          <a:xfrm>
            <a:off x="5751576" y="2352751"/>
            <a:ext cx="209854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3 · 候选建图</a:t>
            </a:r>
          </a:p>
        </p:txBody>
      </p:sp>
      <p:sp>
        <p:nvSpPr>
          <p:cNvPr id="14" name="h2p-15-box-13"/>
          <p:cNvSpPr/>
          <p:nvPr/>
        </p:nvSpPr>
        <p:spPr>
          <a:xfrm>
            <a:off x="8115300" y="2266797"/>
            <a:ext cx="2324404" cy="381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15-text-14"/>
          <p:cNvSpPr txBox="1"/>
          <p:nvPr/>
        </p:nvSpPr>
        <p:spPr>
          <a:xfrm>
            <a:off x="8227771" y="2352751"/>
            <a:ext cx="209854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4 · 统一试验</a:t>
            </a:r>
          </a:p>
        </p:txBody>
      </p:sp>
      <p:sp>
        <p:nvSpPr>
          <p:cNvPr id="16" name="h2p-15-box-15"/>
          <p:cNvSpPr/>
          <p:nvPr/>
        </p:nvSpPr>
        <p:spPr>
          <a:xfrm>
            <a:off x="1923897" y="2838297"/>
            <a:ext cx="2324404" cy="381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2p-15-text-16"/>
          <p:cNvSpPr txBox="1"/>
          <p:nvPr/>
        </p:nvSpPr>
        <p:spPr>
          <a:xfrm>
            <a:off x="2037283" y="2924251"/>
            <a:ext cx="209854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4C32"/>
                </a:solidFill>
                <a:latin typeface="Noto Sans Mono CJK SC"/>
              </a:rPr>
              <a:t>5 · 独立审计</a:t>
            </a:r>
          </a:p>
        </p:txBody>
      </p:sp>
      <p:sp>
        <p:nvSpPr>
          <p:cNvPr id="18" name="h2p-15-box-17"/>
          <p:cNvSpPr/>
          <p:nvPr/>
        </p:nvSpPr>
        <p:spPr>
          <a:xfrm>
            <a:off x="4400092" y="2838297"/>
            <a:ext cx="2324404" cy="381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15-text-18"/>
          <p:cNvSpPr txBox="1"/>
          <p:nvPr/>
        </p:nvSpPr>
        <p:spPr>
          <a:xfrm>
            <a:off x="4513478" y="2924251"/>
            <a:ext cx="209854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A5781C"/>
                </a:solidFill>
                <a:latin typeface="Noto Sans Mono CJK SC"/>
              </a:rPr>
              <a:t>6 · 人工门禁</a:t>
            </a:r>
          </a:p>
        </p:txBody>
      </p:sp>
      <p:sp>
        <p:nvSpPr>
          <p:cNvPr id="20" name="h2p-15-box-19"/>
          <p:cNvSpPr/>
          <p:nvPr/>
        </p:nvSpPr>
        <p:spPr>
          <a:xfrm>
            <a:off x="6877202" y="2838297"/>
            <a:ext cx="2324404" cy="381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15-text-20"/>
          <p:cNvSpPr txBox="1"/>
          <p:nvPr/>
        </p:nvSpPr>
        <p:spPr>
          <a:xfrm>
            <a:off x="6989673" y="2924251"/>
            <a:ext cx="209854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7 · 经验沉淀</a:t>
            </a:r>
          </a:p>
        </p:txBody>
      </p:sp>
      <p:sp>
        <p:nvSpPr>
          <p:cNvPr id="22" name="h2p-15-box-21"/>
          <p:cNvSpPr/>
          <p:nvPr/>
        </p:nvSpPr>
        <p:spPr>
          <a:xfrm>
            <a:off x="685800" y="3562502"/>
            <a:ext cx="3429000" cy="2114092"/>
          </a:xfrm>
          <a:prstGeom prst="roundRect">
            <a:avLst>
              <a:gd name="adj" fmla="val 811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15-text-22"/>
          <p:cNvSpPr txBox="1"/>
          <p:nvPr/>
        </p:nvSpPr>
        <p:spPr>
          <a:xfrm>
            <a:off x="933602" y="3791102"/>
            <a:ext cx="242864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SKILL · 可复用方法</a:t>
            </a:r>
          </a:p>
        </p:txBody>
      </p:sp>
      <p:sp>
        <p:nvSpPr>
          <p:cNvPr id="24" name="h2p-15-text-23"/>
          <p:cNvSpPr txBox="1"/>
          <p:nvPr/>
        </p:nvSpPr>
        <p:spPr>
          <a:xfrm>
            <a:off x="933602" y="4171492"/>
            <a:ext cx="2992831" cy="5660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承载任务编译、建图、评测、审计等“如何做”。每项具有输入、输出、触发、失败、安全和复用契约。</a:t>
            </a:r>
          </a:p>
        </p:txBody>
      </p:sp>
      <p:sp>
        <p:nvSpPr>
          <p:cNvPr id="25" name="h2p-15-text-24"/>
          <p:cNvSpPr txBox="1"/>
          <p:nvPr/>
        </p:nvSpPr>
        <p:spPr>
          <a:xfrm>
            <a:off x="933602" y="5219395"/>
            <a:ext cx="2992831" cy="1682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26B86"/>
                </a:solidFill>
                <a:latin typeface="Noto Sans CJK SC"/>
              </a:rPr>
              <a:t>完整 10 字段见 skill-catalog.md</a:t>
            </a:r>
          </a:p>
        </p:txBody>
      </p:sp>
      <p:sp>
        <p:nvSpPr>
          <p:cNvPr id="26" name="h2p-15-box-25"/>
          <p:cNvSpPr/>
          <p:nvPr/>
        </p:nvSpPr>
        <p:spPr>
          <a:xfrm>
            <a:off x="4381804" y="3562502"/>
            <a:ext cx="3429000" cy="2114092"/>
          </a:xfrm>
          <a:prstGeom prst="roundRect">
            <a:avLst>
              <a:gd name="adj" fmla="val 811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2p-15-text-26"/>
          <p:cNvSpPr txBox="1"/>
          <p:nvPr/>
        </p:nvSpPr>
        <p:spPr>
          <a:xfrm>
            <a:off x="4628692" y="3791102"/>
            <a:ext cx="142829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4C32"/>
                </a:solidFill>
                <a:latin typeface="Noto Sans Mono CJK SC"/>
              </a:rPr>
              <a:t>MCP · 确定性行动接口</a:t>
            </a:r>
          </a:p>
        </p:txBody>
      </p:sp>
      <p:sp>
        <p:nvSpPr>
          <p:cNvPr id="28" name="h2p-15-text-27"/>
          <p:cNvSpPr txBox="1"/>
          <p:nvPr/>
        </p:nvSpPr>
        <p:spPr>
          <a:xfrm>
            <a:off x="4628692" y="4171492"/>
            <a:ext cx="2992831" cy="5660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需要外部系统、明确 Schema、鉴权、幂等、错误码和审计时采用；纯推理与文档契约优先 Skill。</a:t>
            </a:r>
          </a:p>
        </p:txBody>
      </p:sp>
      <p:sp>
        <p:nvSpPr>
          <p:cNvPr id="29" name="h2p-15-text-28"/>
          <p:cNvSpPr txBox="1"/>
          <p:nvPr/>
        </p:nvSpPr>
        <p:spPr>
          <a:xfrm>
            <a:off x="4628692" y="5219395"/>
            <a:ext cx="2992831" cy="1682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64C32"/>
                </a:solidFill>
                <a:latin typeface="Noto Sans CJK SC"/>
              </a:rPr>
              <a:t>真实 MCP 绑定当前未实现</a:t>
            </a:r>
          </a:p>
        </p:txBody>
      </p:sp>
      <p:sp>
        <p:nvSpPr>
          <p:cNvPr id="30" name="h2p-15-box-29"/>
          <p:cNvSpPr/>
          <p:nvPr/>
        </p:nvSpPr>
        <p:spPr>
          <a:xfrm>
            <a:off x="8076895" y="3562502"/>
            <a:ext cx="3429000" cy="2114092"/>
          </a:xfrm>
          <a:prstGeom prst="roundRect">
            <a:avLst>
              <a:gd name="adj" fmla="val 8110"/>
            </a:avLst>
          </a:prstGeom>
          <a:solidFill>
            <a:srgbClr val="132F47"/>
          </a:solidFill>
          <a:ln w="19050">
            <a:solidFill>
              <a:srgbClr val="0B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2p-15-text-30"/>
          <p:cNvSpPr txBox="1"/>
          <p:nvPr/>
        </p:nvSpPr>
        <p:spPr>
          <a:xfrm>
            <a:off x="8324697" y="3791102"/>
            <a:ext cx="136062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上下文能力 · 4 选 2</a:t>
            </a:r>
          </a:p>
        </p:txBody>
      </p:sp>
      <p:sp>
        <p:nvSpPr>
          <p:cNvPr id="32" name="h2p-15-text-31"/>
          <p:cNvSpPr txBox="1"/>
          <p:nvPr/>
        </p:nvSpPr>
        <p:spPr>
          <a:xfrm>
            <a:off x="8324697" y="4171492"/>
            <a:ext cx="2992831" cy="754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FFFFFF"/>
                </a:solidFill>
                <a:latin typeface="Noto Sans CJK SC"/>
              </a:rPr>
              <a:t>选择 1：共享状态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Project Dossier 作为事实源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FFFFFF"/>
                </a:solidFill>
                <a:latin typeface="Noto Sans CJK SC"/>
              </a:rPr>
              <a:t>选择 2：轨迹可观测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Step / Episode 级 Trace</a:t>
            </a:r>
          </a:p>
        </p:txBody>
      </p:sp>
      <p:sp>
        <p:nvSpPr>
          <p:cNvPr id="33" name="h2p-15-text-32"/>
          <p:cNvSpPr txBox="1"/>
          <p:nvPr/>
        </p:nvSpPr>
        <p:spPr>
          <a:xfrm>
            <a:off x="8324697" y="5219395"/>
            <a:ext cx="2992831" cy="1682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D6A43B"/>
                </a:solidFill>
                <a:latin typeface="Noto Sans CJK SC"/>
              </a:rPr>
              <a:t>不以 RAG 作为主上下文机制</a:t>
            </a:r>
          </a:p>
        </p:txBody>
      </p:sp>
      <p:sp>
        <p:nvSpPr>
          <p:cNvPr id="34" name="h2p-15-text-33"/>
          <p:cNvSpPr txBox="1"/>
          <p:nvPr/>
        </p:nvSpPr>
        <p:spPr>
          <a:xfrm>
            <a:off x="685800" y="6543446"/>
            <a:ext cx="1816912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Skill 必选 · MCP 可选</a:t>
            </a:r>
          </a:p>
        </p:txBody>
      </p:sp>
      <p:sp>
        <p:nvSpPr>
          <p:cNvPr id="35" name="h2p-15-text-34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设计契约 · A3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6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6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A4 / 05 · HUMAN / RISK / ROLLBACK</a:t>
            </a:r>
          </a:p>
        </p:txBody>
      </p:sp>
      <p:sp>
        <p:nvSpPr>
          <p:cNvPr id="4" name="h2p-16-text-3"/>
          <p:cNvSpPr txBox="1"/>
          <p:nvPr/>
        </p:nvSpPr>
        <p:spPr>
          <a:xfrm>
            <a:off x="685800" y="666597"/>
            <a:ext cx="11036808" cy="390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850">
                <a:solidFill>
                  <a:srgbClr val="FFFFFF"/>
                </a:solidFill>
                <a:latin typeface="Noto Sans CJK SC"/>
              </a:rPr>
              <a:t>高风险动作先审批；异常必须能停止、降级和回滚</a:t>
            </a:r>
          </a:p>
        </p:txBody>
      </p:sp>
      <p:sp>
        <p:nvSpPr>
          <p:cNvPr id="5" name="h2p-16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C6D3DD"/>
                </a:solidFill>
                <a:latin typeface="Noto Sans CJK SC"/>
              </a:rPr>
              <a:t>Human 是候选图中的正式能力与责任边界，不是兜底文案。</a:t>
            </a:r>
          </a:p>
        </p:txBody>
      </p:sp>
      <p:sp>
        <p:nvSpPr>
          <p:cNvPr id="6" name="h2p-16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285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6-box-6"/>
          <p:cNvSpPr/>
          <p:nvPr/>
        </p:nvSpPr>
        <p:spPr>
          <a:xfrm>
            <a:off x="685800" y="1943100"/>
            <a:ext cx="10820095" cy="895197"/>
          </a:xfrm>
          <a:prstGeom prst="roundRect">
            <a:avLst>
              <a:gd name="adj" fmla="val 19150"/>
            </a:avLst>
          </a:prstGeom>
          <a:solidFill>
            <a:srgbClr val="132F47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6-text-7"/>
          <p:cNvSpPr txBox="1"/>
          <p:nvPr/>
        </p:nvSpPr>
        <p:spPr>
          <a:xfrm>
            <a:off x="933602" y="2152497"/>
            <a:ext cx="68031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HUMAN GATE</a:t>
            </a:r>
          </a:p>
        </p:txBody>
      </p:sp>
      <p:sp>
        <p:nvSpPr>
          <p:cNvPr id="9" name="h2p-16-text-8"/>
          <p:cNvSpPr txBox="1"/>
          <p:nvPr/>
        </p:nvSpPr>
        <p:spPr>
          <a:xfrm>
            <a:off x="933602" y="2457907"/>
            <a:ext cx="10532059" cy="188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动作请求 → 风险分类 → 审批：批准→执行｜拒绝/超时→拒绝执行或安全降级 → Trace 与回滚验证</a:t>
            </a:r>
          </a:p>
        </p:txBody>
      </p:sp>
      <p:sp>
        <p:nvSpPr>
          <p:cNvPr id="10" name="h2p-16-box-9"/>
          <p:cNvSpPr/>
          <p:nvPr/>
        </p:nvSpPr>
        <p:spPr>
          <a:xfrm>
            <a:off x="685800" y="3105302"/>
            <a:ext cx="5162702" cy="2704795"/>
          </a:xfrm>
          <a:prstGeom prst="roundRect">
            <a:avLst>
              <a:gd name="adj" fmla="val 6340"/>
            </a:avLst>
          </a:prstGeom>
          <a:solidFill>
            <a:srgbClr val="132F47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16-text-10"/>
          <p:cNvSpPr txBox="1"/>
          <p:nvPr/>
        </p:nvSpPr>
        <p:spPr>
          <a:xfrm>
            <a:off x="933602" y="3333902"/>
            <a:ext cx="81655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6AA92"/>
                </a:solidFill>
                <a:latin typeface="Noto Sans Mono CJK SC"/>
              </a:rPr>
              <a:t>必须人工批准</a:t>
            </a:r>
          </a:p>
        </p:txBody>
      </p:sp>
      <p:sp>
        <p:nvSpPr>
          <p:cNvPr id="12" name="h2p-16-text-11"/>
          <p:cNvSpPr txBox="1"/>
          <p:nvPr/>
        </p:nvSpPr>
        <p:spPr>
          <a:xfrm>
            <a:off x="933602" y="3733495"/>
            <a:ext cx="2136952" cy="754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外部系统写入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真实发布与部署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责任转移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预算提升</a:t>
            </a:r>
          </a:p>
        </p:txBody>
      </p:sp>
      <p:sp>
        <p:nvSpPr>
          <p:cNvPr id="13" name="h2p-16-text-12"/>
          <p:cNvSpPr txBox="1"/>
          <p:nvPr/>
        </p:nvSpPr>
        <p:spPr>
          <a:xfrm>
            <a:off x="3314700" y="3733495"/>
            <a:ext cx="2312517" cy="754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密钥与凭证调用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敏感数据访问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不可逆操作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交付决议</a:t>
            </a:r>
          </a:p>
        </p:txBody>
      </p:sp>
      <p:sp>
        <p:nvSpPr>
          <p:cNvPr id="14" name="h2p-16-box-13"/>
          <p:cNvSpPr/>
          <p:nvPr/>
        </p:nvSpPr>
        <p:spPr>
          <a:xfrm>
            <a:off x="933602" y="5105095"/>
            <a:ext cx="4647895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16-text-14"/>
          <p:cNvSpPr txBox="1"/>
          <p:nvPr/>
        </p:nvSpPr>
        <p:spPr>
          <a:xfrm>
            <a:off x="1023213" y="5191048"/>
            <a:ext cx="446958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6AA92"/>
                </a:solidFill>
                <a:latin typeface="Noto Sans Mono CJK SC"/>
              </a:rPr>
              <a:t>无批准 = 拒绝执行 + 保留证据</a:t>
            </a:r>
          </a:p>
        </p:txBody>
      </p:sp>
      <p:sp>
        <p:nvSpPr>
          <p:cNvPr id="16" name="h2p-16-box-15"/>
          <p:cNvSpPr/>
          <p:nvPr/>
        </p:nvSpPr>
        <p:spPr>
          <a:xfrm>
            <a:off x="6152997" y="3105302"/>
            <a:ext cx="5352897" cy="2704795"/>
          </a:xfrm>
          <a:prstGeom prst="roundRect">
            <a:avLst>
              <a:gd name="adj" fmla="val 634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2p-16-text-16"/>
          <p:cNvSpPr txBox="1"/>
          <p:nvPr/>
        </p:nvSpPr>
        <p:spPr>
          <a:xfrm>
            <a:off x="6400800" y="3333902"/>
            <a:ext cx="68031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异常与恢复</a:t>
            </a:r>
          </a:p>
        </p:txBody>
      </p:sp>
      <p:sp>
        <p:nvSpPr>
          <p:cNvPr id="18" name="h2p-16-text-17"/>
          <p:cNvSpPr txBox="1"/>
          <p:nvPr/>
        </p:nvSpPr>
        <p:spPr>
          <a:xfrm>
            <a:off x="6400800" y="3733495"/>
            <a:ext cx="2331720" cy="754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Agent 不可用 → 阶段暂停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Schema 非法 → 拒绝推进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预算耗尽 → 硬停止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通信异常 → 幂等重发</a:t>
            </a:r>
          </a:p>
        </p:txBody>
      </p:sp>
      <p:sp>
        <p:nvSpPr>
          <p:cNvPr id="19" name="h2p-16-text-18"/>
          <p:cNvSpPr txBox="1"/>
          <p:nvPr/>
        </p:nvSpPr>
        <p:spPr>
          <a:xfrm>
            <a:off x="8972092" y="3733495"/>
            <a:ext cx="2312517" cy="754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holdout 泄漏 → 本轮无效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循环失控 → 达上限停止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权限缺失 → 缩小范围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FFF"/>
                </a:solidFill>
                <a:latin typeface="Noto Sans CJK SC"/>
              </a:rPr>
              <a:t>不可回滚 → 默认拒绝</a:t>
            </a:r>
          </a:p>
        </p:txBody>
      </p:sp>
      <p:sp>
        <p:nvSpPr>
          <p:cNvPr id="20" name="h2p-16-box-19"/>
          <p:cNvSpPr/>
          <p:nvPr/>
        </p:nvSpPr>
        <p:spPr>
          <a:xfrm>
            <a:off x="6400800" y="5105095"/>
            <a:ext cx="4839004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16-text-20"/>
          <p:cNvSpPr txBox="1"/>
          <p:nvPr/>
        </p:nvSpPr>
        <p:spPr>
          <a:xfrm>
            <a:off x="6488582" y="5191048"/>
            <a:ext cx="466344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成功与失败使用同一 Trace 语义</a:t>
            </a:r>
          </a:p>
        </p:txBody>
      </p:sp>
      <p:sp>
        <p:nvSpPr>
          <p:cNvPr id="22" name="h2p-16-text-21"/>
          <p:cNvSpPr txBox="1"/>
          <p:nvPr/>
        </p:nvSpPr>
        <p:spPr>
          <a:xfrm>
            <a:off x="685800" y="6543446"/>
            <a:ext cx="2350922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完整清单：submission/risk-and-human-gates.md</a:t>
            </a:r>
          </a:p>
        </p:txBody>
      </p:sp>
      <p:sp>
        <p:nvSpPr>
          <p:cNvPr id="23" name="h2p-16-text-22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安全设计 · A4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7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7-text-2"/>
          <p:cNvSpPr txBox="1"/>
          <p:nvPr/>
        </p:nvSpPr>
        <p:spPr>
          <a:xfrm>
            <a:off x="685800" y="323697"/>
            <a:ext cx="349758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A5 / 05 · 开放 / 依赖 / 当前边界</a:t>
            </a:r>
          </a:p>
        </p:txBody>
      </p:sp>
      <p:sp>
        <p:nvSpPr>
          <p:cNvPr id="4" name="h2p-17-text-3"/>
          <p:cNvSpPr txBox="1"/>
          <p:nvPr/>
        </p:nvSpPr>
        <p:spPr>
          <a:xfrm>
            <a:off x="685800" y="666597"/>
            <a:ext cx="11036808" cy="390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850">
                <a:solidFill>
                  <a:srgbClr val="102A43"/>
                </a:solidFill>
                <a:latin typeface="Noto Sans CJK SC"/>
              </a:rPr>
              <a:t>开放计划与当前事实分开披露</a:t>
            </a:r>
          </a:p>
        </p:txBody>
      </p:sp>
      <p:sp>
        <p:nvSpPr>
          <p:cNvPr id="5" name="h2p-17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仓库当前为私有，项目许可证尚未选择；任何“已开源”声明都不成立。</a:t>
            </a:r>
          </a:p>
        </p:txBody>
      </p:sp>
      <p:sp>
        <p:nvSpPr>
          <p:cNvPr id="6" name="h2p-17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7-box-6"/>
          <p:cNvSpPr/>
          <p:nvPr/>
        </p:nvSpPr>
        <p:spPr>
          <a:xfrm>
            <a:off x="685800" y="1943100"/>
            <a:ext cx="3333902" cy="3752697"/>
          </a:xfrm>
          <a:prstGeom prst="roundRect">
            <a:avLst>
              <a:gd name="adj" fmla="val 514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7-text-7"/>
          <p:cNvSpPr txBox="1"/>
          <p:nvPr/>
        </p:nvSpPr>
        <p:spPr>
          <a:xfrm>
            <a:off x="933602" y="2171700"/>
            <a:ext cx="1224381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计划开放 · 未发布</a:t>
            </a:r>
          </a:p>
        </p:txBody>
      </p:sp>
      <p:sp>
        <p:nvSpPr>
          <p:cNvPr id="9" name="h2p-17-text-8"/>
          <p:cNvSpPr txBox="1"/>
          <p:nvPr/>
        </p:nvSpPr>
        <p:spPr>
          <a:xfrm>
            <a:off x="933602" y="2553004"/>
            <a:ext cx="28757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102A43"/>
                </a:solidFill>
                <a:latin typeface="Noto Sans CJK SC"/>
              </a:rPr>
              <a:t>可复用设计资产</a:t>
            </a:r>
          </a:p>
        </p:txBody>
      </p:sp>
      <p:sp>
        <p:nvSpPr>
          <p:cNvPr id="10" name="h2p-17-text-9"/>
          <p:cNvSpPr txBox="1"/>
          <p:nvPr/>
        </p:nvSpPr>
        <p:spPr>
          <a:xfrm>
            <a:off x="933602" y="3010204"/>
            <a:ext cx="2875788" cy="9427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任务 / 能力 / 候选 / Trace Schema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五个 Agent Identity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七个 Skill 契约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评测与 Human 门禁模板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脱敏样例与生成链</a:t>
            </a:r>
          </a:p>
        </p:txBody>
      </p:sp>
      <p:sp>
        <p:nvSpPr>
          <p:cNvPr id="11" name="h2p-17-box-10"/>
          <p:cNvSpPr/>
          <p:nvPr/>
        </p:nvSpPr>
        <p:spPr>
          <a:xfrm>
            <a:off x="933602" y="4552797"/>
            <a:ext cx="2819095" cy="19202"/>
          </a:xfrm>
          <a:prstGeom prst="rect">
            <a:avLst/>
          </a:prstGeom>
          <a:solidFill>
            <a:srgbClr val="98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17-text-11"/>
          <p:cNvSpPr txBox="1"/>
          <p:nvPr/>
        </p:nvSpPr>
        <p:spPr>
          <a:xfrm>
            <a:off x="933602" y="4743907"/>
            <a:ext cx="2875788" cy="335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1A8D85"/>
                </a:solidFill>
                <a:latin typeface="Noto Sans CJK SC"/>
              </a:rPr>
              <a:t>开放前门禁：选择 License、清点第三方许可、完成脱敏与干净环境复现。</a:t>
            </a:r>
          </a:p>
        </p:txBody>
      </p:sp>
      <p:sp>
        <p:nvSpPr>
          <p:cNvPr id="13" name="h2p-17-box-12"/>
          <p:cNvSpPr/>
          <p:nvPr/>
        </p:nvSpPr>
        <p:spPr>
          <a:xfrm>
            <a:off x="4438497" y="1943100"/>
            <a:ext cx="3333902" cy="3752697"/>
          </a:xfrm>
          <a:prstGeom prst="roundRect">
            <a:avLst>
              <a:gd name="adj" fmla="val 514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17-text-13"/>
          <p:cNvSpPr txBox="1"/>
          <p:nvPr/>
        </p:nvSpPr>
        <p:spPr>
          <a:xfrm>
            <a:off x="4686300" y="2171700"/>
            <a:ext cx="95189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依赖与既有基础</a:t>
            </a:r>
          </a:p>
        </p:txBody>
      </p:sp>
      <p:sp>
        <p:nvSpPr>
          <p:cNvPr id="15" name="h2p-17-text-14"/>
          <p:cNvSpPr txBox="1"/>
          <p:nvPr/>
        </p:nvSpPr>
        <p:spPr>
          <a:xfrm>
            <a:off x="4686300" y="2553004"/>
            <a:ext cx="289499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102A43"/>
                </a:solidFill>
                <a:latin typeface="Noto Sans CJK SC"/>
              </a:rPr>
              <a:t>必须明确披露</a:t>
            </a:r>
          </a:p>
        </p:txBody>
      </p:sp>
      <p:sp>
        <p:nvSpPr>
          <p:cNvPr id="16" name="h2p-17-text-15"/>
          <p:cNvSpPr txBox="1"/>
          <p:nvPr/>
        </p:nvSpPr>
        <p:spPr>
          <a:xfrm>
            <a:off x="4686300" y="3010204"/>
            <a:ext cx="2894990" cy="9427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AgentTeams：运行底座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商业 LLM API：闭源模型依赖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官方 Skills / MCP：按需复用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第三方库：固定版本与许可证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数据：来源、授权、脱敏边界</a:t>
            </a:r>
          </a:p>
        </p:txBody>
      </p:sp>
      <p:sp>
        <p:nvSpPr>
          <p:cNvPr id="17" name="h2p-17-box-16"/>
          <p:cNvSpPr/>
          <p:nvPr/>
        </p:nvSpPr>
        <p:spPr>
          <a:xfrm>
            <a:off x="4686300" y="4552797"/>
            <a:ext cx="2838297" cy="19202"/>
          </a:xfrm>
          <a:prstGeom prst="rect">
            <a:avLst/>
          </a:prstGeom>
          <a:solidFill>
            <a:srgbClr val="A9C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7-text-17"/>
          <p:cNvSpPr txBox="1"/>
          <p:nvPr/>
        </p:nvSpPr>
        <p:spPr>
          <a:xfrm>
            <a:off x="4686300" y="4743907"/>
            <a:ext cx="2894990" cy="335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26B86"/>
                </a:solidFill>
                <a:latin typeface="Noto Sans CJK SC"/>
              </a:rPr>
              <a:t>密钥由基础设施持有，不进入 Agent 上下文；不开放客户原始数据。</a:t>
            </a:r>
          </a:p>
        </p:txBody>
      </p:sp>
      <p:sp>
        <p:nvSpPr>
          <p:cNvPr id="19" name="h2p-17-box-18"/>
          <p:cNvSpPr/>
          <p:nvPr/>
        </p:nvSpPr>
        <p:spPr>
          <a:xfrm>
            <a:off x="8191195" y="1943100"/>
            <a:ext cx="3314700" cy="3752697"/>
          </a:xfrm>
          <a:prstGeom prst="roundRect">
            <a:avLst>
              <a:gd name="adj" fmla="val 517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17-text-19"/>
          <p:cNvSpPr txBox="1"/>
          <p:nvPr/>
        </p:nvSpPr>
        <p:spPr>
          <a:xfrm>
            <a:off x="8438997" y="2171700"/>
            <a:ext cx="68031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4C32"/>
                </a:solidFill>
                <a:latin typeface="Noto Sans Mono CJK SC"/>
              </a:rPr>
              <a:t>当前未实现</a:t>
            </a:r>
          </a:p>
        </p:txBody>
      </p:sp>
      <p:sp>
        <p:nvSpPr>
          <p:cNvPr id="21" name="h2p-17-text-20"/>
          <p:cNvSpPr txBox="1"/>
          <p:nvPr/>
        </p:nvSpPr>
        <p:spPr>
          <a:xfrm>
            <a:off x="8438997" y="2553004"/>
            <a:ext cx="28757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102A43"/>
                </a:solidFill>
                <a:latin typeface="Noto Sans CJK SC"/>
              </a:rPr>
              <a:t>不包装成完成态</a:t>
            </a:r>
          </a:p>
        </p:txBody>
      </p:sp>
      <p:sp>
        <p:nvSpPr>
          <p:cNvPr id="22" name="h2p-17-text-21"/>
          <p:cNvSpPr txBox="1"/>
          <p:nvPr/>
        </p:nvSpPr>
        <p:spPr>
          <a:xfrm>
            <a:off x="8438997" y="3010204"/>
            <a:ext cx="2875788" cy="1131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机器可执行 Schema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自动候选搜索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真实 ProjectCase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AgentFit × AgentTeams 闭环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统一预算对照</a:t>
            </a:r>
          </a:p>
          <a:p>
            <a:pPr marL="0" indent="0"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跨项目 Meta-learning</a:t>
            </a:r>
          </a:p>
        </p:txBody>
      </p:sp>
      <p:sp>
        <p:nvSpPr>
          <p:cNvPr id="23" name="h2p-17-box-22"/>
          <p:cNvSpPr/>
          <p:nvPr/>
        </p:nvSpPr>
        <p:spPr>
          <a:xfrm>
            <a:off x="8438997" y="4552797"/>
            <a:ext cx="2819095" cy="19202"/>
          </a:xfrm>
          <a:prstGeom prst="rect">
            <a:avLst/>
          </a:prstGeom>
          <a:solidFill>
            <a:srgbClr val="E8A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17-text-23"/>
          <p:cNvSpPr txBox="1"/>
          <p:nvPr/>
        </p:nvSpPr>
        <p:spPr>
          <a:xfrm>
            <a:off x="8438997" y="4743907"/>
            <a:ext cx="2875788" cy="335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64C32"/>
                </a:solidFill>
                <a:latin typeface="Noto Sans CJK SC"/>
              </a:rPr>
              <a:t>初赛可选代码包：未达到可复现门禁时不提交，只提交简介与 PPT/PDF。</a:t>
            </a:r>
          </a:p>
        </p:txBody>
      </p:sp>
      <p:sp>
        <p:nvSpPr>
          <p:cNvPr id="25" name="h2p-17-text-24"/>
          <p:cNvSpPr txBox="1"/>
          <p:nvPr/>
        </p:nvSpPr>
        <p:spPr>
          <a:xfrm>
            <a:off x="685800" y="6543446"/>
            <a:ext cx="2511856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完整披露：submission/openness-and-compliance.md</a:t>
            </a:r>
          </a:p>
        </p:txBody>
      </p:sp>
      <p:sp>
        <p:nvSpPr>
          <p:cNvPr id="26" name="h2p-17-text-25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当前事实 · A5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AgentFit GOAI Agent Infra 初赛路演方案</dc:title>
  <dc:subject>AgentTeams 上的 Agent 解决方案元团队</dc:subject>
  <dc:creator>AgentFit Team</dc:creator>
  <cp:keywords>AgentFit, AgentTeams, Agent Infra, HTML-first</cp:keywords>
  <dc:description>Preliminary submission candidate. Official cases and the software scenario are references or design simulations, not runtime evidence.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