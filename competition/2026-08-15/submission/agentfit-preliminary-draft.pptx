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995160" cy="1193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FFFFFF"/>
                </a:solidFill>
                <a:latin typeface="Noto Sans CJK SC"/>
              </a:rPr>
              <a:t>Agent 架构</a:t>
            </a:r>
          </a:p>
          <a:p>
            <a:pPr marL="0" indent="0"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FFFFFF"/>
                </a:solidFill>
                <a:latin typeface="Noto Sans CJK SC"/>
              </a:rPr>
              <a:t>不该靠猜。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190902"/>
            <a:ext cx="6703466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给业务任务量体裁衣，寻找“刚好够用”的 Agent 方案。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7334402" y="705002"/>
            <a:ext cx="4171492" cy="4438497"/>
          </a:xfrm>
          <a:prstGeom prst="roundRect">
            <a:avLst>
              <a:gd name="adj" fmla="val 594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7658100" y="990295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同一任务 · 四种候选</a:t>
            </a:r>
          </a:p>
        </p:txBody>
      </p:sp>
      <p:sp>
        <p:nvSpPr>
          <p:cNvPr id="8" name="h2p-1-box-7"/>
          <p:cNvSpPr/>
          <p:nvPr/>
        </p:nvSpPr>
        <p:spPr>
          <a:xfrm>
            <a:off x="7658100" y="1410004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-text-8"/>
          <p:cNvSpPr txBox="1"/>
          <p:nvPr/>
        </p:nvSpPr>
        <p:spPr>
          <a:xfrm>
            <a:off x="7779715" y="1495044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0 Agent</a:t>
            </a:r>
          </a:p>
        </p:txBody>
      </p:sp>
      <p:sp>
        <p:nvSpPr>
          <p:cNvPr id="10" name="h2p-1-box-9"/>
          <p:cNvSpPr/>
          <p:nvPr/>
        </p:nvSpPr>
        <p:spPr>
          <a:xfrm>
            <a:off x="9753904" y="1410004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9875520" y="1495044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1 Agent</a:t>
            </a:r>
          </a:p>
        </p:txBody>
      </p:sp>
      <p:sp>
        <p:nvSpPr>
          <p:cNvPr id="12" name="h2p-1-box-11"/>
          <p:cNvSpPr/>
          <p:nvPr/>
        </p:nvSpPr>
        <p:spPr>
          <a:xfrm>
            <a:off x="7658100" y="2133295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7779715" y="2219248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N Agents</a:t>
            </a:r>
          </a:p>
        </p:txBody>
      </p:sp>
      <p:sp>
        <p:nvSpPr>
          <p:cNvPr id="14" name="h2p-1-box-13"/>
          <p:cNvSpPr/>
          <p:nvPr/>
        </p:nvSpPr>
        <p:spPr>
          <a:xfrm>
            <a:off x="9753904" y="2133295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-text-14"/>
          <p:cNvSpPr txBox="1"/>
          <p:nvPr/>
        </p:nvSpPr>
        <p:spPr>
          <a:xfrm>
            <a:off x="9875520" y="2219248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混合</a:t>
            </a:r>
          </a:p>
        </p:txBody>
      </p:sp>
      <p:sp>
        <p:nvSpPr>
          <p:cNvPr id="16" name="h2p-1-box-15"/>
          <p:cNvSpPr/>
          <p:nvPr/>
        </p:nvSpPr>
        <p:spPr>
          <a:xfrm>
            <a:off x="8363102" y="1790395"/>
            <a:ext cx="19202" cy="165689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-box-16"/>
          <p:cNvSpPr/>
          <p:nvPr/>
        </p:nvSpPr>
        <p:spPr>
          <a:xfrm>
            <a:off x="10458907" y="1790395"/>
            <a:ext cx="19202" cy="165689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-box-17"/>
          <p:cNvSpPr/>
          <p:nvPr/>
        </p:nvSpPr>
        <p:spPr>
          <a:xfrm>
            <a:off x="8363102" y="3429000"/>
            <a:ext cx="2114092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-text-18"/>
          <p:cNvSpPr txBox="1"/>
          <p:nvPr/>
        </p:nvSpPr>
        <p:spPr>
          <a:xfrm>
            <a:off x="9315907" y="3276295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74D0C7"/>
                </a:solidFill>
                <a:latin typeface="Noto Sans CJK SC"/>
              </a:rPr>
              <a:t>↓</a:t>
            </a:r>
          </a:p>
        </p:txBody>
      </p:sp>
      <p:sp>
        <p:nvSpPr>
          <p:cNvPr id="20" name="h2p-1-box-19"/>
          <p:cNvSpPr/>
          <p:nvPr/>
        </p:nvSpPr>
        <p:spPr>
          <a:xfrm>
            <a:off x="8172907" y="3771900"/>
            <a:ext cx="2476195" cy="875995"/>
          </a:xfrm>
          <a:prstGeom prst="roundRect">
            <a:avLst>
              <a:gd name="adj" fmla="val 1739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-text-20"/>
          <p:cNvSpPr txBox="1"/>
          <p:nvPr/>
        </p:nvSpPr>
        <p:spPr>
          <a:xfrm>
            <a:off x="8302752" y="4048048"/>
            <a:ext cx="2214676" cy="2670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74D0C7"/>
                </a:solidFill>
                <a:latin typeface="Noto Sans Mono CJK SC"/>
              </a:rPr>
              <a:t>FIT</a:t>
            </a:r>
          </a:p>
        </p:txBody>
      </p:sp>
      <p:sp>
        <p:nvSpPr>
          <p:cNvPr id="22" name="h2p-1-text-21"/>
          <p:cNvSpPr txBox="1"/>
          <p:nvPr/>
        </p:nvSpPr>
        <p:spPr>
          <a:xfrm>
            <a:off x="7817205" y="4800600"/>
            <a:ext cx="320588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统一验收 · 最小复杂度 · 可审计</a:t>
            </a:r>
          </a:p>
        </p:txBody>
      </p:sp>
      <p:sp>
        <p:nvSpPr>
          <p:cNvPr id="23" name="h2p-1-box-22"/>
          <p:cNvSpPr/>
          <p:nvPr/>
        </p:nvSpPr>
        <p:spPr>
          <a:xfrm>
            <a:off x="685800" y="3448202"/>
            <a:ext cx="6096304" cy="1695297"/>
          </a:xfrm>
          <a:prstGeom prst="roundRect">
            <a:avLst>
              <a:gd name="adj" fmla="val 10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-text-23"/>
          <p:cNvSpPr txBox="1"/>
          <p:nvPr/>
        </p:nvSpPr>
        <p:spPr>
          <a:xfrm>
            <a:off x="952804" y="36960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 方案建筑师</a:t>
            </a:r>
          </a:p>
        </p:txBody>
      </p:sp>
      <p:sp>
        <p:nvSpPr>
          <p:cNvPr id="25" name="h2p-1-text-24"/>
          <p:cNvSpPr txBox="1"/>
          <p:nvPr/>
        </p:nvSpPr>
        <p:spPr>
          <a:xfrm>
            <a:off x="952804" y="4038904"/>
            <a:ext cx="5673852" cy="5522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Noto Sans CJK SC"/>
              </a:rPr>
              <a:t>把业务任务与可用能力编译成可搜索的架构空间，</a:t>
            </a:r>
          </a:p>
          <a:p>
            <a:pPr marL="0" indent="0"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Noto Sans CJK SC"/>
              </a:rPr>
              <a:t>通过统一评测选择最小充分方案。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952804" y="4762195"/>
            <a:ext cx="567385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合法答案也可以是：保留人工 / 拒绝自动化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685800" y="5581497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AgentFit 运行在 AgentTeams 上 · 方案选择，不重造运行底座</a:t>
            </a:r>
          </a:p>
        </p:txBody>
      </p:sp>
      <p:sp>
        <p:nvSpPr>
          <p:cNvPr id="28" name="h2p-1-text-27"/>
          <p:cNvSpPr txBox="1"/>
          <p:nvPr/>
        </p:nvSpPr>
        <p:spPr>
          <a:xfrm>
            <a:off x="685800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GOAI · AGENT INFRA</a:t>
            </a:r>
          </a:p>
        </p:txBody>
      </p:sp>
      <p:sp>
        <p:nvSpPr>
          <p:cNvPr id="29" name="h2p-1-text-28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问题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企业不知道的，不只是“用几个 Agent”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创建 Agent 之前，任务本身通常还没有被定义。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10104"/>
            <a:ext cx="3010204" cy="3353104"/>
          </a:xfrm>
          <a:prstGeom prst="roundRect">
            <a:avLst>
              <a:gd name="adj" fmla="val 57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71092" y="2457907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用户反馈定位 · 示意场景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71092" y="2895904"/>
            <a:ext cx="2487168" cy="10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FFFFFF"/>
                </a:solidFill>
                <a:latin typeface="Noto Sans CJK SC"/>
              </a:rPr>
              <a:t>“预测结果明显不对，今天比昨天差很多。”</a:t>
            </a:r>
          </a:p>
        </p:txBody>
      </p:sp>
      <p:sp>
        <p:nvSpPr>
          <p:cNvPr id="10" name="h2p-2-box-9"/>
          <p:cNvSpPr/>
          <p:nvPr/>
        </p:nvSpPr>
        <p:spPr>
          <a:xfrm>
            <a:off x="971092" y="4095597"/>
            <a:ext cx="2438704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2-text-10"/>
          <p:cNvSpPr txBox="1"/>
          <p:nvPr/>
        </p:nvSpPr>
        <p:spPr>
          <a:xfrm>
            <a:off x="971092" y="4324197"/>
            <a:ext cx="2487168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一句话不是任务契约。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它只说明：有人遇到了问题。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3905402" y="3562502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13" name="h2p-2-box-12"/>
          <p:cNvSpPr/>
          <p:nvPr/>
        </p:nvSpPr>
        <p:spPr>
          <a:xfrm>
            <a:off x="4515307" y="2210104"/>
            <a:ext cx="6991502" cy="3353104"/>
          </a:xfrm>
          <a:prstGeom prst="roundRect">
            <a:avLst>
              <a:gd name="adj" fmla="val 51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4800600" y="2457907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五个尚未回答的问题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4800600" y="287670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01</a:t>
            </a:r>
          </a:p>
        </p:txBody>
      </p:sp>
      <p:sp>
        <p:nvSpPr>
          <p:cNvPr id="16" name="h2p-2-text-15"/>
          <p:cNvSpPr txBox="1"/>
          <p:nvPr/>
        </p:nvSpPr>
        <p:spPr>
          <a:xfrm>
            <a:off x="5391302" y="2933395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17" name="h2p-2-text-16"/>
          <p:cNvSpPr txBox="1"/>
          <p:nvPr/>
        </p:nvSpPr>
        <p:spPr>
          <a:xfrm>
            <a:off x="6248095" y="2933395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哪些反馈、日志、版本与业务上下文可用？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4800600" y="3409797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9" name="h2p-2-text-18"/>
          <p:cNvSpPr txBox="1"/>
          <p:nvPr/>
        </p:nvSpPr>
        <p:spPr>
          <a:xfrm>
            <a:off x="5391302" y="3467404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20" name="h2p-2-text-19"/>
          <p:cNvSpPr txBox="1"/>
          <p:nvPr/>
        </p:nvSpPr>
        <p:spPr>
          <a:xfrm>
            <a:off x="6248095" y="3467404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要定位根因、给出结论，还是执行修复？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4800600" y="394289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03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5391302" y="4000500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248095" y="4000500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什么结果算正确，谁来确认，失败如何处理？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4800600" y="447690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5391302" y="4533595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责任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6248095" y="4533595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哪些动作可自动执行，哪些必须交给 Human？</a:t>
            </a:r>
          </a:p>
        </p:txBody>
      </p:sp>
      <p:sp>
        <p:nvSpPr>
          <p:cNvPr id="27" name="h2p-2-text-26"/>
          <p:cNvSpPr txBox="1"/>
          <p:nvPr/>
        </p:nvSpPr>
        <p:spPr>
          <a:xfrm>
            <a:off x="4800600" y="5009997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05</a:t>
            </a:r>
          </a:p>
        </p:txBody>
      </p:sp>
      <p:sp>
        <p:nvSpPr>
          <p:cNvPr id="28" name="h2p-2-text-27"/>
          <p:cNvSpPr txBox="1"/>
          <p:nvPr/>
        </p:nvSpPr>
        <p:spPr>
          <a:xfrm>
            <a:off x="5391302" y="5067604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代价</a:t>
            </a:r>
          </a:p>
        </p:txBody>
      </p:sp>
      <p:sp>
        <p:nvSpPr>
          <p:cNvPr id="29" name="h2p-2-text-28"/>
          <p:cNvSpPr txBox="1"/>
          <p:nvPr/>
        </p:nvSpPr>
        <p:spPr>
          <a:xfrm>
            <a:off x="6248095" y="5067604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允许多少成本、时延、重试与复杂度？</a:t>
            </a:r>
          </a:p>
        </p:txBody>
      </p:sp>
      <p:sp>
        <p:nvSpPr>
          <p:cNvPr id="30" name="h2p-2-text-29"/>
          <p:cNvSpPr txBox="1"/>
          <p:nvPr/>
        </p:nvSpPr>
        <p:spPr>
          <a:xfrm>
            <a:off x="577900" y="5848502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先定义任务，再讨论 Agent；否则只是把不确定性藏进 Prompt。</a:t>
            </a:r>
          </a:p>
        </p:txBody>
      </p:sp>
      <p:sp>
        <p:nvSpPr>
          <p:cNvPr id="31" name="h2p-2-text-30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任务语义</a:t>
            </a:r>
          </a:p>
        </p:txBody>
      </p:sp>
      <p:sp>
        <p:nvSpPr>
          <p:cNvPr id="32" name="h2p-2-text-31"/>
          <p:cNvSpPr txBox="1"/>
          <p:nvPr/>
        </p:nvSpPr>
        <p:spPr>
          <a:xfrm>
            <a:off x="10067544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示意场景 · 非运行证据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缺失层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平台提供砖块，但企业仍缺一位建筑师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“能运行 Agent”与“知道该运行什么方案”是两件事。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box-6"/>
          <p:cNvSpPr/>
          <p:nvPr/>
        </p:nvSpPr>
        <p:spPr>
          <a:xfrm>
            <a:off x="685800" y="2266797"/>
            <a:ext cx="2857500" cy="2915107"/>
          </a:xfrm>
          <a:prstGeom prst="roundRect">
            <a:avLst>
              <a:gd name="adj" fmla="val 6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3-text-7"/>
          <p:cNvSpPr txBox="1"/>
          <p:nvPr/>
        </p:nvSpPr>
        <p:spPr>
          <a:xfrm>
            <a:off x="952804" y="2533802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HEAVY · 全能平台</a:t>
            </a:r>
          </a:p>
        </p:txBody>
      </p:sp>
      <p:sp>
        <p:nvSpPr>
          <p:cNvPr id="9" name="h2p-3-text-8"/>
          <p:cNvSpPr txBox="1"/>
          <p:nvPr/>
        </p:nvSpPr>
        <p:spPr>
          <a:xfrm>
            <a:off x="952804" y="2915107"/>
            <a:ext cx="237012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102A43"/>
                </a:solidFill>
                <a:latin typeface="Noto Sans CJK SC"/>
              </a:rPr>
              <a:t>什么都有</a:t>
            </a:r>
          </a:p>
        </p:txBody>
      </p:sp>
      <p:sp>
        <p:nvSpPr>
          <p:cNvPr id="10" name="h2p-3-text-9"/>
          <p:cNvSpPr txBox="1"/>
          <p:nvPr/>
        </p:nvSpPr>
        <p:spPr>
          <a:xfrm>
            <a:off x="952804" y="3353104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身份、编排、知识库、工具、监控、界面……</a:t>
            </a:r>
          </a:p>
        </p:txBody>
      </p:sp>
      <p:sp>
        <p:nvSpPr>
          <p:cNvPr id="11" name="h2p-3-box-10"/>
          <p:cNvSpPr/>
          <p:nvPr/>
        </p:nvSpPr>
        <p:spPr>
          <a:xfrm>
            <a:off x="952804" y="4114800"/>
            <a:ext cx="2324404" cy="19202"/>
          </a:xfrm>
          <a:prstGeom prst="rect">
            <a:avLst/>
          </a:prstGeom>
          <a:solidFill>
            <a:srgbClr val="A9C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3-text-11"/>
          <p:cNvSpPr txBox="1"/>
          <p:nvPr/>
        </p:nvSpPr>
        <p:spPr>
          <a:xfrm>
            <a:off x="952804" y="4324197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426B86"/>
                </a:solidFill>
                <a:latin typeface="Noto Sans CJK SC"/>
              </a:rPr>
              <a:t>代价：先学会整个平台，才能开始定义自己的问题。</a:t>
            </a:r>
          </a:p>
        </p:txBody>
      </p:sp>
      <p:sp>
        <p:nvSpPr>
          <p:cNvPr id="13" name="h2p-3-box-12"/>
          <p:cNvSpPr/>
          <p:nvPr/>
        </p:nvSpPr>
        <p:spPr>
          <a:xfrm>
            <a:off x="4019702" y="2095804"/>
            <a:ext cx="4153204" cy="3257092"/>
          </a:xfrm>
          <a:prstGeom prst="roundRect">
            <a:avLst>
              <a:gd name="adj" fmla="val 702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3-text-13"/>
          <p:cNvSpPr txBox="1"/>
          <p:nvPr/>
        </p:nvSpPr>
        <p:spPr>
          <a:xfrm>
            <a:off x="4324197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MISSING LAYER</a:t>
            </a:r>
          </a:p>
        </p:txBody>
      </p:sp>
      <p:sp>
        <p:nvSpPr>
          <p:cNvPr id="15" name="h2p-3-text-14"/>
          <p:cNvSpPr txBox="1"/>
          <p:nvPr/>
        </p:nvSpPr>
        <p:spPr>
          <a:xfrm>
            <a:off x="4324197" y="2799892"/>
            <a:ext cx="3614623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Agent 方案建筑师</a:t>
            </a:r>
          </a:p>
        </p:txBody>
      </p:sp>
      <p:sp>
        <p:nvSpPr>
          <p:cNvPr id="16" name="h2p-3-text-15"/>
          <p:cNvSpPr txBox="1"/>
          <p:nvPr/>
        </p:nvSpPr>
        <p:spPr>
          <a:xfrm>
            <a:off x="4324197" y="3314700"/>
            <a:ext cx="3614623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量体：把需求编译成任务契约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画图：生成多种架构候选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验房：用同一标准比较证据</a:t>
            </a:r>
          </a:p>
        </p:txBody>
      </p:sp>
      <p:sp>
        <p:nvSpPr>
          <p:cNvPr id="17" name="h2p-3-box-16"/>
          <p:cNvSpPr/>
          <p:nvPr/>
        </p:nvSpPr>
        <p:spPr>
          <a:xfrm>
            <a:off x="4876495" y="4400092"/>
            <a:ext cx="2438704" cy="609904"/>
          </a:xfrm>
          <a:prstGeom prst="roundRect">
            <a:avLst>
              <a:gd name="adj" fmla="val 2500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3-text-17"/>
          <p:cNvSpPr txBox="1"/>
          <p:nvPr/>
        </p:nvSpPr>
        <p:spPr>
          <a:xfrm>
            <a:off x="5008168" y="4591202"/>
            <a:ext cx="21762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74D0C7"/>
                </a:solidFill>
                <a:latin typeface="Noto Sans Mono CJK SC"/>
              </a:rPr>
              <a:t>AGENTFIT</a:t>
            </a:r>
          </a:p>
        </p:txBody>
      </p:sp>
      <p:sp>
        <p:nvSpPr>
          <p:cNvPr id="19" name="h2p-3-box-18"/>
          <p:cNvSpPr/>
          <p:nvPr/>
        </p:nvSpPr>
        <p:spPr>
          <a:xfrm>
            <a:off x="8648395" y="2266797"/>
            <a:ext cx="2857500" cy="2915107"/>
          </a:xfrm>
          <a:prstGeom prst="roundRect">
            <a:avLst>
              <a:gd name="adj" fmla="val 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3-text-19"/>
          <p:cNvSpPr txBox="1"/>
          <p:nvPr/>
        </p:nvSpPr>
        <p:spPr>
          <a:xfrm>
            <a:off x="8915400" y="2533802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LIGHT · 灵活框架</a:t>
            </a:r>
          </a:p>
        </p:txBody>
      </p:sp>
      <p:sp>
        <p:nvSpPr>
          <p:cNvPr id="21" name="h2p-3-text-20"/>
          <p:cNvSpPr txBox="1"/>
          <p:nvPr/>
        </p:nvSpPr>
        <p:spPr>
          <a:xfrm>
            <a:off x="8915400" y="2915107"/>
            <a:ext cx="237012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102A43"/>
                </a:solidFill>
                <a:latin typeface="Noto Sans CJK SC"/>
              </a:rPr>
              <a:t>什么都能做</a:t>
            </a:r>
          </a:p>
        </p:txBody>
      </p:sp>
      <p:sp>
        <p:nvSpPr>
          <p:cNvPr id="22" name="h2p-3-text-21"/>
          <p:cNvSpPr txBox="1"/>
          <p:nvPr/>
        </p:nvSpPr>
        <p:spPr>
          <a:xfrm>
            <a:off x="8915400" y="3353104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模型、循环、工具接口足够自由，业务逻辑自行开发。</a:t>
            </a:r>
          </a:p>
        </p:txBody>
      </p:sp>
      <p:sp>
        <p:nvSpPr>
          <p:cNvPr id="23" name="h2p-3-box-22"/>
          <p:cNvSpPr/>
          <p:nvPr/>
        </p:nvSpPr>
        <p:spPr>
          <a:xfrm>
            <a:off x="8915400" y="4114800"/>
            <a:ext cx="2324404" cy="19202"/>
          </a:xfrm>
          <a:prstGeom prst="rect">
            <a:avLst/>
          </a:prstGeom>
          <a:solidFill>
            <a:srgbClr val="E8AD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3-text-23"/>
          <p:cNvSpPr txBox="1"/>
          <p:nvPr/>
        </p:nvSpPr>
        <p:spPr>
          <a:xfrm>
            <a:off x="8915400" y="4324197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C64C32"/>
                </a:solidFill>
                <a:latin typeface="Noto Sans CJK SC"/>
              </a:rPr>
              <a:t>代价：方案设计、评测和审计仍从零开始。</a:t>
            </a:r>
          </a:p>
        </p:txBody>
      </p:sp>
      <p:sp>
        <p:nvSpPr>
          <p:cNvPr id="25" name="h2p-3-text-24"/>
          <p:cNvSpPr txBox="1"/>
          <p:nvPr/>
        </p:nvSpPr>
        <p:spPr>
          <a:xfrm>
            <a:off x="1821484" y="5790895"/>
            <a:ext cx="8549640" cy="2843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AgentFit 是方案工程层，不是另一个 Agent 运行时。</a:t>
            </a:r>
          </a:p>
        </p:txBody>
      </p:sp>
      <p:sp>
        <p:nvSpPr>
          <p:cNvPr id="26" name="h2p-3-text-25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缺失层</a:t>
            </a:r>
          </a:p>
        </p:txBody>
      </p:sp>
      <p:sp>
        <p:nvSpPr>
          <p:cNvPr id="27" name="h2p-3-text-26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产品边界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04 / 12 · 方法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AgentFit 先量体，再裁衣，最后试穿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每一步都有可检查的输入、产物与停止条件。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52804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74A8C6"/>
                </a:solidFill>
                <a:latin typeface="Noto Sans Mono CJK SC"/>
              </a:rPr>
              <a:t>01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52804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量体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52804" y="3714292"/>
            <a:ext cx="2720340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先定义可重放样本，再编译任务语义：样本单位、输入、输出、指标与 Human 边界。</a:t>
            </a:r>
          </a:p>
        </p:txBody>
      </p:sp>
      <p:sp>
        <p:nvSpPr>
          <p:cNvPr id="11" name="h2p-4-box-10"/>
          <p:cNvSpPr/>
          <p:nvPr/>
        </p:nvSpPr>
        <p:spPr>
          <a:xfrm>
            <a:off x="952804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4-text-11"/>
          <p:cNvSpPr txBox="1"/>
          <p:nvPr/>
        </p:nvSpPr>
        <p:spPr>
          <a:xfrm>
            <a:off x="1061618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产物：样本契约 + 任务说明书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4000500" y="34674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4" name="h2p-4-box-13"/>
          <p:cNvSpPr/>
          <p:nvPr/>
        </p:nvSpPr>
        <p:spPr>
          <a:xfrm>
            <a:off x="4496104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4-text-14"/>
          <p:cNvSpPr txBox="1"/>
          <p:nvPr/>
        </p:nvSpPr>
        <p:spPr>
          <a:xfrm>
            <a:off x="4762195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4762195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裁衣</a:t>
            </a:r>
          </a:p>
        </p:txBody>
      </p:sp>
      <p:sp>
        <p:nvSpPr>
          <p:cNvPr id="17" name="h2p-4-text-16"/>
          <p:cNvSpPr txBox="1"/>
          <p:nvPr/>
        </p:nvSpPr>
        <p:spPr>
          <a:xfrm>
            <a:off x="4762195" y="3714292"/>
            <a:ext cx="2720340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把能力编译成可组合算子：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模型、规则、Skill、MCP、工具、记忆与 Human。</a:t>
            </a:r>
          </a:p>
        </p:txBody>
      </p:sp>
      <p:sp>
        <p:nvSpPr>
          <p:cNvPr id="18" name="h2p-4-box-17"/>
          <p:cNvSpPr/>
          <p:nvPr/>
        </p:nvSpPr>
        <p:spPr>
          <a:xfrm>
            <a:off x="4762195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4-text-18"/>
          <p:cNvSpPr txBox="1"/>
          <p:nvPr/>
        </p:nvSpPr>
        <p:spPr>
          <a:xfrm>
            <a:off x="4871923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产物：能力清单 + 缺口</a:t>
            </a:r>
          </a:p>
        </p:txBody>
      </p:sp>
      <p:sp>
        <p:nvSpPr>
          <p:cNvPr id="20" name="h2p-4-text-19"/>
          <p:cNvSpPr txBox="1"/>
          <p:nvPr/>
        </p:nvSpPr>
        <p:spPr>
          <a:xfrm>
            <a:off x="7810804" y="34674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1" name="h2p-4-box-20"/>
          <p:cNvSpPr/>
          <p:nvPr/>
        </p:nvSpPr>
        <p:spPr>
          <a:xfrm>
            <a:off x="8305495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4-text-21"/>
          <p:cNvSpPr txBox="1"/>
          <p:nvPr/>
        </p:nvSpPr>
        <p:spPr>
          <a:xfrm>
            <a:off x="8572500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8572500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试穿</a:t>
            </a:r>
          </a:p>
        </p:txBody>
      </p:sp>
      <p:sp>
        <p:nvSpPr>
          <p:cNvPr id="24" name="h2p-4-text-23"/>
          <p:cNvSpPr txBox="1"/>
          <p:nvPr/>
        </p:nvSpPr>
        <p:spPr>
          <a:xfrm>
            <a:off x="8572500" y="3714292"/>
            <a:ext cx="2720340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让不同候选在同一冻结样本集、预算、指标和安全线下公平赛跑。</a:t>
            </a:r>
          </a:p>
        </p:txBody>
      </p:sp>
      <p:sp>
        <p:nvSpPr>
          <p:cNvPr id="25" name="h2p-4-box-24"/>
          <p:cNvSpPr/>
          <p:nvPr/>
        </p:nvSpPr>
        <p:spPr>
          <a:xfrm>
            <a:off x="8572500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4-text-25"/>
          <p:cNvSpPr txBox="1"/>
          <p:nvPr/>
        </p:nvSpPr>
        <p:spPr>
          <a:xfrm>
            <a:off x="8682228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产物：选择 + 证据</a:t>
            </a:r>
          </a:p>
        </p:txBody>
      </p:sp>
      <p:sp>
        <p:nvSpPr>
          <p:cNvPr id="27" name="h2p-4-text-26"/>
          <p:cNvSpPr txBox="1"/>
          <p:nvPr/>
        </p:nvSpPr>
        <p:spPr>
          <a:xfrm>
            <a:off x="577900" y="5790895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缺口无法补齐，或所有候选不合格，就停止并给出拒绝决定。</a:t>
            </a:r>
          </a:p>
        </p:txBody>
      </p:sp>
      <p:sp>
        <p:nvSpPr>
          <p:cNvPr id="28" name="h2p-4-text-27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量体裁衣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单向责任链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搜索空间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无、单、多 Agent 是同一个搜索空间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先画能力图，再决定哪些局部值得拥有独立身份与责任。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914400" y="2438704"/>
            <a:ext cx="102047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9" name="h2p-5-text-8"/>
          <p:cNvSpPr txBox="1"/>
          <p:nvPr/>
        </p:nvSpPr>
        <p:spPr>
          <a:xfrm>
            <a:off x="914400" y="2781604"/>
            <a:ext cx="894283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固定流程</a:t>
            </a:r>
          </a:p>
        </p:txBody>
      </p:sp>
      <p:sp>
        <p:nvSpPr>
          <p:cNvPr id="10" name="h2p-5-box-9"/>
          <p:cNvSpPr/>
          <p:nvPr/>
        </p:nvSpPr>
        <p:spPr>
          <a:xfrm>
            <a:off x="914400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5-text-10"/>
          <p:cNvSpPr txBox="1"/>
          <p:nvPr/>
        </p:nvSpPr>
        <p:spPr>
          <a:xfrm>
            <a:off x="929030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规则</a:t>
            </a:r>
          </a:p>
        </p:txBody>
      </p:sp>
      <p:sp>
        <p:nvSpPr>
          <p:cNvPr id="12" name="h2p-5-box-11"/>
          <p:cNvSpPr/>
          <p:nvPr/>
        </p:nvSpPr>
        <p:spPr>
          <a:xfrm>
            <a:off x="1923897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5-text-12"/>
          <p:cNvSpPr txBox="1"/>
          <p:nvPr/>
        </p:nvSpPr>
        <p:spPr>
          <a:xfrm>
            <a:off x="1938528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工具</a:t>
            </a:r>
          </a:p>
        </p:txBody>
      </p:sp>
      <p:sp>
        <p:nvSpPr>
          <p:cNvPr id="14" name="h2p-5-box-13"/>
          <p:cNvSpPr/>
          <p:nvPr/>
        </p:nvSpPr>
        <p:spPr>
          <a:xfrm>
            <a:off x="1428292" y="3619195"/>
            <a:ext cx="495604" cy="19202"/>
          </a:xfrm>
          <a:prstGeom prst="rect">
            <a:avLst/>
          </a:prstGeom>
          <a:solidFill>
            <a:srgbClr val="42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5-text-14"/>
          <p:cNvSpPr txBox="1"/>
          <p:nvPr/>
        </p:nvSpPr>
        <p:spPr>
          <a:xfrm>
            <a:off x="914400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能力按预设顺序执行，没有独立决策主体。</a:t>
            </a:r>
          </a:p>
        </p:txBody>
      </p:sp>
      <p:sp>
        <p:nvSpPr>
          <p:cNvPr id="16" name="h2p-5-text-15"/>
          <p:cNvSpPr txBox="1"/>
          <p:nvPr/>
        </p:nvSpPr>
        <p:spPr>
          <a:xfrm>
            <a:off x="914400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强基线 · 低复杂度</a:t>
            </a:r>
          </a:p>
        </p:txBody>
      </p:sp>
      <p:sp>
        <p:nvSpPr>
          <p:cNvPr id="17" name="h2p-5-box-16"/>
          <p:cNvSpPr/>
          <p:nvPr/>
        </p:nvSpPr>
        <p:spPr>
          <a:xfrm>
            <a:off x="3390595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5-text-17"/>
          <p:cNvSpPr txBox="1"/>
          <p:nvPr/>
        </p:nvSpPr>
        <p:spPr>
          <a:xfrm>
            <a:off x="3619195" y="2438704"/>
            <a:ext cx="20208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C1 · LOCAL AGENTIZE</a:t>
            </a:r>
          </a:p>
        </p:txBody>
      </p:sp>
      <p:sp>
        <p:nvSpPr>
          <p:cNvPr id="19" name="h2p-5-text-18"/>
          <p:cNvSpPr txBox="1"/>
          <p:nvPr/>
        </p:nvSpPr>
        <p:spPr>
          <a:xfrm>
            <a:off x="3619195" y="2781604"/>
            <a:ext cx="134051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只让难点决策</a:t>
            </a:r>
          </a:p>
        </p:txBody>
      </p:sp>
      <p:sp>
        <p:nvSpPr>
          <p:cNvPr id="20" name="h2p-5-box-19"/>
          <p:cNvSpPr/>
          <p:nvPr/>
        </p:nvSpPr>
        <p:spPr>
          <a:xfrm>
            <a:off x="3619195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5-text-20"/>
          <p:cNvSpPr txBox="1"/>
          <p:nvPr/>
        </p:nvSpPr>
        <p:spPr>
          <a:xfrm>
            <a:off x="3633825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规则</a:t>
            </a:r>
          </a:p>
        </p:txBody>
      </p:sp>
      <p:sp>
        <p:nvSpPr>
          <p:cNvPr id="22" name="h2p-5-box-21"/>
          <p:cNvSpPr/>
          <p:nvPr/>
        </p:nvSpPr>
        <p:spPr>
          <a:xfrm>
            <a:off x="4628692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5-text-22"/>
          <p:cNvSpPr txBox="1"/>
          <p:nvPr/>
        </p:nvSpPr>
        <p:spPr>
          <a:xfrm>
            <a:off x="4643323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Agent</a:t>
            </a:r>
          </a:p>
        </p:txBody>
      </p:sp>
      <p:sp>
        <p:nvSpPr>
          <p:cNvPr id="24" name="h2p-5-box-23"/>
          <p:cNvSpPr/>
          <p:nvPr/>
        </p:nvSpPr>
        <p:spPr>
          <a:xfrm>
            <a:off x="4134002" y="3619195"/>
            <a:ext cx="4956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5-text-24"/>
          <p:cNvSpPr txBox="1"/>
          <p:nvPr/>
        </p:nvSpPr>
        <p:spPr>
          <a:xfrm>
            <a:off x="3619195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不确定子图拥有决策闭环，其余保持确定性。</a:t>
            </a:r>
          </a:p>
        </p:txBody>
      </p:sp>
      <p:sp>
        <p:nvSpPr>
          <p:cNvPr id="26" name="h2p-5-text-25"/>
          <p:cNvSpPr txBox="1"/>
          <p:nvPr/>
        </p:nvSpPr>
        <p:spPr>
          <a:xfrm>
            <a:off x="3619195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精准增加自主性</a:t>
            </a:r>
          </a:p>
        </p:txBody>
      </p:sp>
      <p:sp>
        <p:nvSpPr>
          <p:cNvPr id="27" name="h2p-5-box-26"/>
          <p:cNvSpPr/>
          <p:nvPr/>
        </p:nvSpPr>
        <p:spPr>
          <a:xfrm>
            <a:off x="6096304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5-text-27"/>
          <p:cNvSpPr txBox="1"/>
          <p:nvPr/>
        </p:nvSpPr>
        <p:spPr>
          <a:xfrm>
            <a:off x="6324904" y="2438704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C2 · SINGLE AGENT</a:t>
            </a:r>
          </a:p>
        </p:txBody>
      </p:sp>
      <p:sp>
        <p:nvSpPr>
          <p:cNvPr id="29" name="h2p-5-text-28"/>
          <p:cNvSpPr txBox="1"/>
          <p:nvPr/>
        </p:nvSpPr>
        <p:spPr>
          <a:xfrm>
            <a:off x="6324904" y="2781604"/>
            <a:ext cx="134051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一个责任主体</a:t>
            </a:r>
          </a:p>
        </p:txBody>
      </p:sp>
      <p:sp>
        <p:nvSpPr>
          <p:cNvPr id="30" name="h2p-5-box-29"/>
          <p:cNvSpPr/>
          <p:nvPr/>
        </p:nvSpPr>
        <p:spPr>
          <a:xfrm>
            <a:off x="7114946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5-text-30"/>
          <p:cNvSpPr txBox="1"/>
          <p:nvPr/>
        </p:nvSpPr>
        <p:spPr>
          <a:xfrm>
            <a:off x="7129576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Agent</a:t>
            </a:r>
          </a:p>
        </p:txBody>
      </p:sp>
      <p:sp>
        <p:nvSpPr>
          <p:cNvPr id="32" name="h2p-5-text-31"/>
          <p:cNvSpPr txBox="1"/>
          <p:nvPr/>
        </p:nvSpPr>
        <p:spPr>
          <a:xfrm>
            <a:off x="6324904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统一上下文和决策，但权限集中、自验偏差更高。</a:t>
            </a:r>
          </a:p>
        </p:txBody>
      </p:sp>
      <p:sp>
        <p:nvSpPr>
          <p:cNvPr id="33" name="h2p-5-text-32"/>
          <p:cNvSpPr txBox="1"/>
          <p:nvPr/>
        </p:nvSpPr>
        <p:spPr>
          <a:xfrm>
            <a:off x="6324904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5781C"/>
                </a:solidFill>
                <a:latin typeface="Noto Sans CJK SC"/>
              </a:rPr>
              <a:t>少通信 · 长上下文</a:t>
            </a:r>
          </a:p>
        </p:txBody>
      </p:sp>
      <p:sp>
        <p:nvSpPr>
          <p:cNvPr id="34" name="h2p-5-box-33"/>
          <p:cNvSpPr/>
          <p:nvPr/>
        </p:nvSpPr>
        <p:spPr>
          <a:xfrm>
            <a:off x="8801100" y="2210104"/>
            <a:ext cx="2704795" cy="3143707"/>
          </a:xfrm>
          <a:prstGeom prst="roundRect">
            <a:avLst>
              <a:gd name="adj" fmla="val 634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5-text-34"/>
          <p:cNvSpPr txBox="1"/>
          <p:nvPr/>
        </p:nvSpPr>
        <p:spPr>
          <a:xfrm>
            <a:off x="9029700" y="2438704"/>
            <a:ext cx="169986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C3 · MULTI AGENT + HUMAN</a:t>
            </a:r>
          </a:p>
        </p:txBody>
      </p:sp>
      <p:sp>
        <p:nvSpPr>
          <p:cNvPr id="36" name="h2p-5-text-35"/>
          <p:cNvSpPr txBox="1"/>
          <p:nvPr/>
        </p:nvSpPr>
        <p:spPr>
          <a:xfrm>
            <a:off x="9029700" y="2781604"/>
            <a:ext cx="1564538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分责并独立验证</a:t>
            </a:r>
          </a:p>
        </p:txBody>
      </p:sp>
      <p:sp>
        <p:nvSpPr>
          <p:cNvPr id="37" name="h2p-5-box-36"/>
          <p:cNvSpPr/>
          <p:nvPr/>
        </p:nvSpPr>
        <p:spPr>
          <a:xfrm>
            <a:off x="9029700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5-text-37"/>
          <p:cNvSpPr txBox="1"/>
          <p:nvPr/>
        </p:nvSpPr>
        <p:spPr>
          <a:xfrm>
            <a:off x="9044330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设计</a:t>
            </a:r>
          </a:p>
        </p:txBody>
      </p:sp>
      <p:sp>
        <p:nvSpPr>
          <p:cNvPr id="39" name="h2p-5-box-38"/>
          <p:cNvSpPr/>
          <p:nvPr/>
        </p:nvSpPr>
        <p:spPr>
          <a:xfrm>
            <a:off x="10001707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5-text-39"/>
          <p:cNvSpPr txBox="1"/>
          <p:nvPr/>
        </p:nvSpPr>
        <p:spPr>
          <a:xfrm>
            <a:off x="10015423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验证</a:t>
            </a:r>
          </a:p>
        </p:txBody>
      </p:sp>
      <p:sp>
        <p:nvSpPr>
          <p:cNvPr id="41" name="h2p-5-box-40"/>
          <p:cNvSpPr/>
          <p:nvPr/>
        </p:nvSpPr>
        <p:spPr>
          <a:xfrm>
            <a:off x="10934395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h2p-5-text-41"/>
          <p:cNvSpPr txBox="1"/>
          <p:nvPr/>
        </p:nvSpPr>
        <p:spPr>
          <a:xfrm>
            <a:off x="10949025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Human</a:t>
            </a:r>
          </a:p>
        </p:txBody>
      </p:sp>
      <p:sp>
        <p:nvSpPr>
          <p:cNvPr id="43" name="h2p-5-box-42"/>
          <p:cNvSpPr/>
          <p:nvPr/>
        </p:nvSpPr>
        <p:spPr>
          <a:xfrm>
            <a:off x="9544507" y="3619195"/>
            <a:ext cx="43799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5-box-43"/>
          <p:cNvSpPr/>
          <p:nvPr/>
        </p:nvSpPr>
        <p:spPr>
          <a:xfrm>
            <a:off x="10515600" y="3619195"/>
            <a:ext cx="400507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2p-5-text-44"/>
          <p:cNvSpPr txBox="1"/>
          <p:nvPr/>
        </p:nvSpPr>
        <p:spPr>
          <a:xfrm>
            <a:off x="9029700" y="4190695"/>
            <a:ext cx="2292400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责任与上下文隔离更强，也新增通信和审计成本。</a:t>
            </a:r>
          </a:p>
        </p:txBody>
      </p:sp>
      <p:sp>
        <p:nvSpPr>
          <p:cNvPr id="46" name="h2p-5-text-45"/>
          <p:cNvSpPr txBox="1"/>
          <p:nvPr/>
        </p:nvSpPr>
        <p:spPr>
          <a:xfrm>
            <a:off x="9029700" y="4914900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必须证明边际价值</a:t>
            </a:r>
          </a:p>
        </p:txBody>
      </p:sp>
      <p:sp>
        <p:nvSpPr>
          <p:cNvPr id="47" name="h2p-5-box-46"/>
          <p:cNvSpPr/>
          <p:nvPr/>
        </p:nvSpPr>
        <p:spPr>
          <a:xfrm>
            <a:off x="2667304" y="5715000"/>
            <a:ext cx="6858000" cy="381304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2p-5-text-47"/>
          <p:cNvSpPr txBox="1"/>
          <p:nvPr/>
        </p:nvSpPr>
        <p:spPr>
          <a:xfrm>
            <a:off x="2734056" y="5800953"/>
            <a:ext cx="6723583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FFFFFF"/>
                </a:solidFill>
                <a:latin typeface="Noto Sans Mono CJK SC"/>
              </a:rPr>
              <a:t>Agent 数量是搜索变量，不是项目目标</a:t>
            </a:r>
          </a:p>
        </p:txBody>
      </p:sp>
      <p:sp>
        <p:nvSpPr>
          <p:cNvPr id="49" name="h2p-5-text-48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能力图</a:t>
            </a:r>
          </a:p>
        </p:txBody>
      </p:sp>
      <p:sp>
        <p:nvSpPr>
          <p:cNvPr id="50" name="h2p-5-text-4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四类候选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06 / 12 · 选择规则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最简单的合格者获胜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候选共享同一冻结样本集；复杂度本身也是成本。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text-6"/>
          <p:cNvSpPr txBox="1"/>
          <p:nvPr/>
        </p:nvSpPr>
        <p:spPr>
          <a:xfrm>
            <a:off x="685800" y="2190902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8FA6B9"/>
                </a:solidFill>
                <a:latin typeface="Noto Sans Mono CJK SC"/>
              </a:rPr>
              <a:t>统一起点</a:t>
            </a:r>
          </a:p>
        </p:txBody>
      </p:sp>
      <p:sp>
        <p:nvSpPr>
          <p:cNvPr id="8" name="h2p-6-box-7"/>
          <p:cNvSpPr/>
          <p:nvPr/>
        </p:nvSpPr>
        <p:spPr>
          <a:xfrm>
            <a:off x="685800" y="2457907"/>
            <a:ext cx="2190902" cy="2342692"/>
          </a:xfrm>
          <a:prstGeom prst="roundRect">
            <a:avLst>
              <a:gd name="adj" fmla="val 782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6-text-8"/>
          <p:cNvSpPr txBox="1"/>
          <p:nvPr/>
        </p:nvSpPr>
        <p:spPr>
          <a:xfrm>
            <a:off x="933602" y="2723997"/>
            <a:ext cx="163220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同一冻结样本集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933602" y="3161995"/>
            <a:ext cx="1729130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 TaskSample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相同模型与工具边界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相同预算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相同安全门禁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3066897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3619195" y="2190902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候选赛道</a:t>
            </a:r>
          </a:p>
        </p:txBody>
      </p:sp>
      <p:sp>
        <p:nvSpPr>
          <p:cNvPr id="13" name="h2p-6-box-12"/>
          <p:cNvSpPr/>
          <p:nvPr/>
        </p:nvSpPr>
        <p:spPr>
          <a:xfrm>
            <a:off x="3619195" y="2457907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6-text-13"/>
          <p:cNvSpPr txBox="1"/>
          <p:nvPr/>
        </p:nvSpPr>
        <p:spPr>
          <a:xfrm>
            <a:off x="3724351" y="2542946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C0 · 无 Agent 基线</a:t>
            </a:r>
          </a:p>
        </p:txBody>
      </p:sp>
      <p:sp>
        <p:nvSpPr>
          <p:cNvPr id="15" name="h2p-6-box-14"/>
          <p:cNvSpPr/>
          <p:nvPr/>
        </p:nvSpPr>
        <p:spPr>
          <a:xfrm>
            <a:off x="3619195" y="2971800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6-text-15"/>
          <p:cNvSpPr txBox="1"/>
          <p:nvPr/>
        </p:nvSpPr>
        <p:spPr>
          <a:xfrm>
            <a:off x="3724351" y="3057753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C1 · 局部 Agentize</a:t>
            </a:r>
          </a:p>
        </p:txBody>
      </p:sp>
      <p:sp>
        <p:nvSpPr>
          <p:cNvPr id="17" name="h2p-6-box-16"/>
          <p:cNvSpPr/>
          <p:nvPr/>
        </p:nvSpPr>
        <p:spPr>
          <a:xfrm>
            <a:off x="3619195" y="3485692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6-text-17"/>
          <p:cNvSpPr txBox="1"/>
          <p:nvPr/>
        </p:nvSpPr>
        <p:spPr>
          <a:xfrm>
            <a:off x="3724351" y="3571646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C2 · 单 Agent</a:t>
            </a:r>
          </a:p>
        </p:txBody>
      </p:sp>
      <p:sp>
        <p:nvSpPr>
          <p:cNvPr id="19" name="h2p-6-box-18"/>
          <p:cNvSpPr/>
          <p:nvPr/>
        </p:nvSpPr>
        <p:spPr>
          <a:xfrm>
            <a:off x="3619195" y="4000500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6-text-19"/>
          <p:cNvSpPr txBox="1"/>
          <p:nvPr/>
        </p:nvSpPr>
        <p:spPr>
          <a:xfrm>
            <a:off x="3724351" y="4086453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C3 · 多 Agent + Human</a:t>
            </a:r>
          </a:p>
        </p:txBody>
      </p:sp>
      <p:sp>
        <p:nvSpPr>
          <p:cNvPr id="21" name="h2p-6-box-20"/>
          <p:cNvSpPr/>
          <p:nvPr/>
        </p:nvSpPr>
        <p:spPr>
          <a:xfrm>
            <a:off x="6762902" y="2648102"/>
            <a:ext cx="857707" cy="19202"/>
          </a:xfrm>
          <a:prstGeom prst="rect">
            <a:avLst/>
          </a:prstGeom>
          <a:solidFill>
            <a:srgbClr val="536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6-box-21"/>
          <p:cNvSpPr/>
          <p:nvPr/>
        </p:nvSpPr>
        <p:spPr>
          <a:xfrm>
            <a:off x="6762902" y="3161995"/>
            <a:ext cx="857707" cy="19202"/>
          </a:xfrm>
          <a:prstGeom prst="rect">
            <a:avLst/>
          </a:prstGeom>
          <a:solidFill>
            <a:srgbClr val="42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6-box-22"/>
          <p:cNvSpPr/>
          <p:nvPr/>
        </p:nvSpPr>
        <p:spPr>
          <a:xfrm>
            <a:off x="6762902" y="3676802"/>
            <a:ext cx="857707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6-box-23"/>
          <p:cNvSpPr/>
          <p:nvPr/>
        </p:nvSpPr>
        <p:spPr>
          <a:xfrm>
            <a:off x="6762902" y="4190695"/>
            <a:ext cx="85770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6-box-24"/>
          <p:cNvSpPr/>
          <p:nvPr/>
        </p:nvSpPr>
        <p:spPr>
          <a:xfrm>
            <a:off x="7619695" y="2648102"/>
            <a:ext cx="19202" cy="1561795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6-text-25"/>
          <p:cNvSpPr txBox="1"/>
          <p:nvPr/>
        </p:nvSpPr>
        <p:spPr>
          <a:xfrm>
            <a:off x="7733995" y="3219602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8268004" y="219090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共同验收线</a:t>
            </a:r>
          </a:p>
        </p:txBody>
      </p:sp>
      <p:sp>
        <p:nvSpPr>
          <p:cNvPr id="28" name="h2p-6-box-27"/>
          <p:cNvSpPr/>
          <p:nvPr/>
        </p:nvSpPr>
        <p:spPr>
          <a:xfrm>
            <a:off x="8268004" y="2457907"/>
            <a:ext cx="3238804" cy="2342692"/>
          </a:xfrm>
          <a:prstGeom prst="roundRect">
            <a:avLst>
              <a:gd name="adj" fmla="val 732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6-text-28"/>
          <p:cNvSpPr txBox="1"/>
          <p:nvPr/>
        </p:nvSpPr>
        <p:spPr>
          <a:xfrm>
            <a:off x="8534095" y="2723997"/>
            <a:ext cx="163220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先合格，再排序</a:t>
            </a:r>
          </a:p>
        </p:txBody>
      </p:sp>
      <p:sp>
        <p:nvSpPr>
          <p:cNvPr id="30" name="h2p-6-text-29"/>
          <p:cNvSpPr txBox="1"/>
          <p:nvPr/>
        </p:nvSpPr>
        <p:spPr>
          <a:xfrm>
            <a:off x="8534095" y="3161995"/>
            <a:ext cx="2759659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正确性 · 稳定性 · 成本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时延 · 权限 · 可回滚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Agent 边际价值</a:t>
            </a:r>
          </a:p>
        </p:txBody>
      </p:sp>
      <p:sp>
        <p:nvSpPr>
          <p:cNvPr id="31" name="h2p-6-box-30"/>
          <p:cNvSpPr/>
          <p:nvPr/>
        </p:nvSpPr>
        <p:spPr>
          <a:xfrm>
            <a:off x="8534095" y="4153204"/>
            <a:ext cx="2704795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6-text-31"/>
          <p:cNvSpPr txBox="1"/>
          <p:nvPr/>
        </p:nvSpPr>
        <p:spPr>
          <a:xfrm>
            <a:off x="8643823" y="4238244"/>
            <a:ext cx="24871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可否决</a:t>
            </a:r>
          </a:p>
        </p:txBody>
      </p:sp>
      <p:sp>
        <p:nvSpPr>
          <p:cNvPr id="33" name="h2p-6-text-32"/>
          <p:cNvSpPr txBox="1"/>
          <p:nvPr/>
        </p:nvSpPr>
        <p:spPr>
          <a:xfrm>
            <a:off x="9715500" y="48198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D6A43B"/>
                </a:solidFill>
                <a:latin typeface="Noto Sans CJK SC"/>
              </a:rPr>
              <a:t>↓</a:t>
            </a:r>
          </a:p>
        </p:txBody>
      </p:sp>
      <p:sp>
        <p:nvSpPr>
          <p:cNvPr id="34" name="h2p-6-box-33"/>
          <p:cNvSpPr/>
          <p:nvPr/>
        </p:nvSpPr>
        <p:spPr>
          <a:xfrm>
            <a:off x="8268004" y="5219395"/>
            <a:ext cx="3238804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6-text-34"/>
          <p:cNvSpPr txBox="1"/>
          <p:nvPr/>
        </p:nvSpPr>
        <p:spPr>
          <a:xfrm>
            <a:off x="8390534" y="5458053"/>
            <a:ext cx="2992831" cy="209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74D0C7"/>
                </a:solidFill>
                <a:latin typeface="Noto Sans Mono CJK SC"/>
              </a:rPr>
              <a:t>PASS + MIN COMPLEXITY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3579876" y="5447995"/>
            <a:ext cx="408005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全部不合格 → 拒绝自动化</a:t>
            </a:r>
          </a:p>
        </p:txBody>
      </p:sp>
      <p:sp>
        <p:nvSpPr>
          <p:cNvPr id="37" name="h2p-6-text-36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统一评测</a:t>
            </a:r>
          </a:p>
        </p:txBody>
      </p:sp>
      <p:sp>
        <p:nvSpPr>
          <p:cNvPr id="38" name="h2p-6-text-37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选择规则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五个元 Agent 把方案选择变成责任闭环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不是五张角色卡：每个 Agent 对一个独立判断与责任产物负责。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1199692" y="3161995"/>
            <a:ext cx="9791395" cy="38404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box-7"/>
          <p:cNvSpPr/>
          <p:nvPr/>
        </p:nvSpPr>
        <p:spPr>
          <a:xfrm>
            <a:off x="6858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7-text-8"/>
          <p:cNvSpPr txBox="1"/>
          <p:nvPr/>
        </p:nvSpPr>
        <p:spPr>
          <a:xfrm>
            <a:off x="7004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7-text-9"/>
          <p:cNvSpPr txBox="1"/>
          <p:nvPr/>
        </p:nvSpPr>
        <p:spPr>
          <a:xfrm>
            <a:off x="685800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交付官</a:t>
            </a:r>
          </a:p>
        </p:txBody>
      </p:sp>
      <p:sp>
        <p:nvSpPr>
          <p:cNvPr id="11" name="h2p-7-text-10"/>
          <p:cNvSpPr txBox="1"/>
          <p:nvPr/>
        </p:nvSpPr>
        <p:spPr>
          <a:xfrm>
            <a:off x="685800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冻结目标与阶段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产物：项目简报</a:t>
            </a:r>
          </a:p>
        </p:txBody>
      </p:sp>
      <p:sp>
        <p:nvSpPr>
          <p:cNvPr id="12" name="h2p-7-text-11"/>
          <p:cNvSpPr txBox="1"/>
          <p:nvPr/>
        </p:nvSpPr>
        <p:spPr>
          <a:xfrm>
            <a:off x="685800" y="451530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EngagementLead</a:t>
            </a:r>
          </a:p>
        </p:txBody>
      </p:sp>
      <p:sp>
        <p:nvSpPr>
          <p:cNvPr id="13" name="h2p-7-box-12"/>
          <p:cNvSpPr/>
          <p:nvPr/>
        </p:nvSpPr>
        <p:spPr>
          <a:xfrm>
            <a:off x="2915107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426B86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7-text-13"/>
          <p:cNvSpPr txBox="1"/>
          <p:nvPr/>
        </p:nvSpPr>
        <p:spPr>
          <a:xfrm>
            <a:off x="2928823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7-text-14"/>
          <p:cNvSpPr txBox="1"/>
          <p:nvPr/>
        </p:nvSpPr>
        <p:spPr>
          <a:xfrm>
            <a:off x="2915107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业务架构师</a:t>
            </a:r>
          </a:p>
        </p:txBody>
      </p:sp>
      <p:sp>
        <p:nvSpPr>
          <p:cNvPr id="16" name="h2p-7-text-15"/>
          <p:cNvSpPr txBox="1"/>
          <p:nvPr/>
        </p:nvSpPr>
        <p:spPr>
          <a:xfrm>
            <a:off x="2915107" y="3962095"/>
            <a:ext cx="2040026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定义样本与任务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产物：样本契约 + 任务说明书</a:t>
            </a:r>
          </a:p>
        </p:txBody>
      </p:sp>
      <p:sp>
        <p:nvSpPr>
          <p:cNvPr id="17" name="h2p-7-text-16"/>
          <p:cNvSpPr txBox="1"/>
          <p:nvPr/>
        </p:nvSpPr>
        <p:spPr>
          <a:xfrm>
            <a:off x="2915107" y="4515307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BusinessEngineer</a:t>
            </a:r>
          </a:p>
        </p:txBody>
      </p:sp>
      <p:sp>
        <p:nvSpPr>
          <p:cNvPr id="18" name="h2p-7-box-17"/>
          <p:cNvSpPr/>
          <p:nvPr/>
        </p:nvSpPr>
        <p:spPr>
          <a:xfrm>
            <a:off x="51435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7-text-18"/>
          <p:cNvSpPr txBox="1"/>
          <p:nvPr/>
        </p:nvSpPr>
        <p:spPr>
          <a:xfrm>
            <a:off x="51581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20" name="h2p-7-text-19"/>
          <p:cNvSpPr txBox="1"/>
          <p:nvPr/>
        </p:nvSpPr>
        <p:spPr>
          <a:xfrm>
            <a:off x="5143500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方案架构师</a:t>
            </a:r>
          </a:p>
        </p:txBody>
      </p:sp>
      <p:sp>
        <p:nvSpPr>
          <p:cNvPr id="21" name="h2p-7-text-20"/>
          <p:cNvSpPr txBox="1"/>
          <p:nvPr/>
        </p:nvSpPr>
        <p:spPr>
          <a:xfrm>
            <a:off x="5143500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生成并列候选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产物：候选方案集</a:t>
            </a:r>
          </a:p>
        </p:txBody>
      </p:sp>
      <p:sp>
        <p:nvSpPr>
          <p:cNvPr id="22" name="h2p-7-text-21"/>
          <p:cNvSpPr txBox="1"/>
          <p:nvPr/>
        </p:nvSpPr>
        <p:spPr>
          <a:xfrm>
            <a:off x="5143500" y="451530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AgentArchitect</a:t>
            </a:r>
          </a:p>
        </p:txBody>
      </p:sp>
      <p:sp>
        <p:nvSpPr>
          <p:cNvPr id="23" name="h2p-7-box-22"/>
          <p:cNvSpPr/>
          <p:nvPr/>
        </p:nvSpPr>
        <p:spPr>
          <a:xfrm>
            <a:off x="7371892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7-text-23"/>
          <p:cNvSpPr txBox="1"/>
          <p:nvPr/>
        </p:nvSpPr>
        <p:spPr>
          <a:xfrm>
            <a:off x="7386523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7-text-24"/>
          <p:cNvSpPr txBox="1"/>
          <p:nvPr/>
        </p:nvSpPr>
        <p:spPr>
          <a:xfrm>
            <a:off x="7371892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验证工程师</a:t>
            </a:r>
          </a:p>
        </p:txBody>
      </p:sp>
      <p:sp>
        <p:nvSpPr>
          <p:cNvPr id="26" name="h2p-7-text-25"/>
          <p:cNvSpPr txBox="1"/>
          <p:nvPr/>
        </p:nvSpPr>
        <p:spPr>
          <a:xfrm>
            <a:off x="7371892" y="3962095"/>
            <a:ext cx="2040026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按 TaskSample 执行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产物：Episode + Trace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371892" y="4515307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ValidationEngineer</a:t>
            </a:r>
          </a:p>
        </p:txBody>
      </p:sp>
      <p:sp>
        <p:nvSpPr>
          <p:cNvPr id="28" name="h2p-7-box-27"/>
          <p:cNvSpPr/>
          <p:nvPr/>
        </p:nvSpPr>
        <p:spPr>
          <a:xfrm>
            <a:off x="96012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7-text-28"/>
          <p:cNvSpPr txBox="1"/>
          <p:nvPr/>
        </p:nvSpPr>
        <p:spPr>
          <a:xfrm>
            <a:off x="96158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05</a:t>
            </a:r>
          </a:p>
        </p:txBody>
      </p:sp>
      <p:sp>
        <p:nvSpPr>
          <p:cNvPr id="30" name="h2p-7-text-29"/>
          <p:cNvSpPr txBox="1"/>
          <p:nvPr/>
        </p:nvSpPr>
        <p:spPr>
          <a:xfrm>
            <a:off x="9601200" y="3638397"/>
            <a:ext cx="1943100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审计官</a:t>
            </a:r>
          </a:p>
        </p:txBody>
      </p:sp>
      <p:sp>
        <p:nvSpPr>
          <p:cNvPr id="31" name="h2p-7-text-30"/>
          <p:cNvSpPr txBox="1"/>
          <p:nvPr/>
        </p:nvSpPr>
        <p:spPr>
          <a:xfrm>
            <a:off x="9601200" y="3962095"/>
            <a:ext cx="1943100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独立审计证据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产物：决策账本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601200" y="4515307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GovernanceAuditor</a:t>
            </a:r>
          </a:p>
        </p:txBody>
      </p:sp>
      <p:sp>
        <p:nvSpPr>
          <p:cNvPr id="33" name="h2p-7-box-32"/>
          <p:cNvSpPr/>
          <p:nvPr/>
        </p:nvSpPr>
        <p:spPr>
          <a:xfrm>
            <a:off x="4038904" y="2190902"/>
            <a:ext cx="4114800" cy="513892"/>
          </a:xfrm>
          <a:prstGeom prst="roundRect">
            <a:avLst>
              <a:gd name="adj" fmla="val 5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7-text-33"/>
          <p:cNvSpPr txBox="1"/>
          <p:nvPr/>
        </p:nvSpPr>
        <p:spPr>
          <a:xfrm>
            <a:off x="4230928" y="2324404"/>
            <a:ext cx="373075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A5781C"/>
                </a:solidFill>
                <a:latin typeface="Noto Sans CJK SC"/>
              </a:rPr>
              <a:t>HUMAN GATE · 批准任务、预算与高风险动作</a:t>
            </a:r>
          </a:p>
        </p:txBody>
      </p:sp>
      <p:sp>
        <p:nvSpPr>
          <p:cNvPr id="35" name="h2p-7-box-34"/>
          <p:cNvSpPr/>
          <p:nvPr/>
        </p:nvSpPr>
        <p:spPr>
          <a:xfrm>
            <a:off x="1790395" y="5219395"/>
            <a:ext cx="8610904" cy="761695"/>
          </a:xfrm>
          <a:prstGeom prst="roundRect">
            <a:avLst>
              <a:gd name="adj" fmla="val 225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7-text-35"/>
          <p:cNvSpPr txBox="1"/>
          <p:nvPr/>
        </p:nvSpPr>
        <p:spPr>
          <a:xfrm>
            <a:off x="1976932" y="5410504"/>
            <a:ext cx="8238744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同一项目档案 · 每个样本可重放 · 每次执行有 Episode · 每次决策有 Trace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08 / 12 · 系统边界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AgentTeams 让团队运行，AgentFit 负责选对方案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复用平台原生能力；AgentFit 只补方案工程层。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210104"/>
            <a:ext cx="10820095" cy="1352397"/>
          </a:xfrm>
          <a:prstGeom prst="roundRect">
            <a:avLst>
              <a:gd name="adj" fmla="val 1268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52804" y="2438704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方案决策层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952804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任务说明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3429000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候选搜索</a:t>
            </a:r>
          </a:p>
        </p:txBody>
      </p:sp>
      <p:sp>
        <p:nvSpPr>
          <p:cNvPr id="11" name="h2p-8-text-10"/>
          <p:cNvSpPr txBox="1"/>
          <p:nvPr/>
        </p:nvSpPr>
        <p:spPr>
          <a:xfrm>
            <a:off x="5905195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统一评测</a:t>
            </a:r>
          </a:p>
        </p:txBody>
      </p:sp>
      <p:sp>
        <p:nvSpPr>
          <p:cNvPr id="12" name="h2p-8-text-11"/>
          <p:cNvSpPr txBox="1"/>
          <p:nvPr/>
        </p:nvSpPr>
        <p:spPr>
          <a:xfrm>
            <a:off x="8382304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审计交付</a:t>
            </a:r>
          </a:p>
        </p:txBody>
      </p:sp>
      <p:sp>
        <p:nvSpPr>
          <p:cNvPr id="13" name="h2p-8-box-12"/>
          <p:cNvSpPr/>
          <p:nvPr/>
        </p:nvSpPr>
        <p:spPr>
          <a:xfrm>
            <a:off x="2571292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8-box-13"/>
          <p:cNvSpPr/>
          <p:nvPr/>
        </p:nvSpPr>
        <p:spPr>
          <a:xfrm>
            <a:off x="5048402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8-box-14"/>
          <p:cNvSpPr/>
          <p:nvPr/>
        </p:nvSpPr>
        <p:spPr>
          <a:xfrm>
            <a:off x="7524597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5943600" y="3600907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D6A43B"/>
                </a:solidFill>
                <a:latin typeface="Noto Sans CJK SC"/>
              </a:rPr>
              <a:t>↓</a:t>
            </a:r>
          </a:p>
        </p:txBody>
      </p:sp>
      <p:sp>
        <p:nvSpPr>
          <p:cNvPr id="17" name="h2p-8-box-16"/>
          <p:cNvSpPr/>
          <p:nvPr/>
        </p:nvSpPr>
        <p:spPr>
          <a:xfrm>
            <a:off x="2018995" y="3942892"/>
            <a:ext cx="8153704" cy="875995"/>
          </a:xfrm>
          <a:prstGeom prst="roundRect">
            <a:avLst>
              <a:gd name="adj" fmla="val 195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8-text-17"/>
          <p:cNvSpPr txBox="1"/>
          <p:nvPr/>
        </p:nvSpPr>
        <p:spPr>
          <a:xfrm>
            <a:off x="2286000" y="4153204"/>
            <a:ext cx="183611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PROJECT DOSSIER · 项目档案</a:t>
            </a:r>
          </a:p>
        </p:txBody>
      </p:sp>
      <p:sp>
        <p:nvSpPr>
          <p:cNvPr id="19" name="h2p-8-text-18"/>
          <p:cNvSpPr txBox="1"/>
          <p:nvPr/>
        </p:nvSpPr>
        <p:spPr>
          <a:xfrm>
            <a:off x="2286000" y="4438497"/>
            <a:ext cx="7772400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02A43"/>
                </a:solidFill>
                <a:latin typeface="Noto Sans CJK SC"/>
              </a:rPr>
              <a:t>版本化状态 · 结构化产物 · Execution Trace · 决策账本 · 审批记录</a:t>
            </a:r>
          </a:p>
        </p:txBody>
      </p:sp>
      <p:sp>
        <p:nvSpPr>
          <p:cNvPr id="20" name="h2p-8-text-19"/>
          <p:cNvSpPr txBox="1"/>
          <p:nvPr/>
        </p:nvSpPr>
        <p:spPr>
          <a:xfrm>
            <a:off x="5943600" y="485729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74D0C7"/>
                </a:solidFill>
                <a:latin typeface="Noto Sans CJK SC"/>
              </a:rPr>
              <a:t>↓</a:t>
            </a:r>
          </a:p>
        </p:txBody>
      </p:sp>
      <p:sp>
        <p:nvSpPr>
          <p:cNvPr id="21" name="h2p-8-box-20"/>
          <p:cNvSpPr/>
          <p:nvPr/>
        </p:nvSpPr>
        <p:spPr>
          <a:xfrm>
            <a:off x="685800" y="5219395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8-text-21"/>
          <p:cNvSpPr txBox="1"/>
          <p:nvPr/>
        </p:nvSpPr>
        <p:spPr>
          <a:xfrm>
            <a:off x="952804" y="5429707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AGENTTEAMS · 运行底座</a:t>
            </a:r>
          </a:p>
        </p:txBody>
      </p:sp>
      <p:sp>
        <p:nvSpPr>
          <p:cNvPr id="23" name="h2p-8-text-22"/>
          <p:cNvSpPr txBox="1"/>
          <p:nvPr/>
        </p:nvSpPr>
        <p:spPr>
          <a:xfrm>
            <a:off x="952804" y="5734202"/>
            <a:ext cx="10492740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FFFFFF"/>
                </a:solidFill>
                <a:latin typeface="Noto Sans CJK SC"/>
              </a:rPr>
              <a:t>身份与通信 · Worker / Team / Human · 容器与权限 · Skill / MCP · 共享存储 · 生命周期</a:t>
            </a:r>
          </a:p>
        </p:txBody>
      </p:sp>
      <p:sp>
        <p:nvSpPr>
          <p:cNvPr id="24" name="h2p-8-text-23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10067544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不改核心 · 不建新前端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场景广度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不同行业，共用一种方案决策方法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官网参考案例只证明场景广度；它们不是 AgentFit 运行证据。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914400" y="2381097"/>
            <a:ext cx="7479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01 · AIOPS</a:t>
            </a:r>
          </a:p>
        </p:txBody>
      </p:sp>
      <p:sp>
        <p:nvSpPr>
          <p:cNvPr id="9" name="h2p-9-text-8"/>
          <p:cNvSpPr txBox="1"/>
          <p:nvPr/>
        </p:nvSpPr>
        <p:spPr>
          <a:xfrm>
            <a:off x="914400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零人工运维</a:t>
            </a:r>
          </a:p>
        </p:txBody>
      </p:sp>
      <p:sp>
        <p:nvSpPr>
          <p:cNvPr id="10" name="h2p-9-text-9"/>
          <p:cNvSpPr txBox="1"/>
          <p:nvPr/>
        </p:nvSpPr>
        <p:spPr>
          <a:xfrm>
            <a:off x="914400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告警聚合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根因定位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修复与恢复验证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事故复盘</a:t>
            </a:r>
          </a:p>
        </p:txBody>
      </p:sp>
      <p:sp>
        <p:nvSpPr>
          <p:cNvPr id="11" name="h2p-9-box-10"/>
          <p:cNvSpPr/>
          <p:nvPr/>
        </p:nvSpPr>
        <p:spPr>
          <a:xfrm>
            <a:off x="3390595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9-text-11"/>
          <p:cNvSpPr txBox="1"/>
          <p:nvPr/>
        </p:nvSpPr>
        <p:spPr>
          <a:xfrm>
            <a:off x="3619195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· SERVICE</a:t>
            </a:r>
          </a:p>
        </p:txBody>
      </p:sp>
      <p:sp>
        <p:nvSpPr>
          <p:cNvPr id="13" name="h2p-9-text-12"/>
          <p:cNvSpPr txBox="1"/>
          <p:nvPr/>
        </p:nvSpPr>
        <p:spPr>
          <a:xfrm>
            <a:off x="3619195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智能客服自主闭环</a:t>
            </a:r>
          </a:p>
        </p:txBody>
      </p:sp>
      <p:sp>
        <p:nvSpPr>
          <p:cNvPr id="14" name="h2p-9-text-13"/>
          <p:cNvSpPr txBox="1"/>
          <p:nvPr/>
        </p:nvSpPr>
        <p:spPr>
          <a:xfrm>
            <a:off x="3619195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会话聚合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意图与分级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方案执行与确认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案例复盘</a:t>
            </a:r>
          </a:p>
        </p:txBody>
      </p:sp>
      <p:sp>
        <p:nvSpPr>
          <p:cNvPr id="15" name="h2p-9-box-14"/>
          <p:cNvSpPr/>
          <p:nvPr/>
        </p:nvSpPr>
        <p:spPr>
          <a:xfrm>
            <a:off x="6096304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9-text-15"/>
          <p:cNvSpPr txBox="1"/>
          <p:nvPr/>
        </p:nvSpPr>
        <p:spPr>
          <a:xfrm>
            <a:off x="6324904" y="238109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03 · SOFTWARE</a:t>
            </a:r>
          </a:p>
        </p:txBody>
      </p:sp>
      <p:sp>
        <p:nvSpPr>
          <p:cNvPr id="17" name="h2p-9-text-16"/>
          <p:cNvSpPr txBox="1"/>
          <p:nvPr/>
        </p:nvSpPr>
        <p:spPr>
          <a:xfrm>
            <a:off x="6324904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软件研发全流程协同</a:t>
            </a:r>
          </a:p>
        </p:txBody>
      </p:sp>
      <p:sp>
        <p:nvSpPr>
          <p:cNvPr id="18" name="h2p-9-text-17"/>
          <p:cNvSpPr txBox="1"/>
          <p:nvPr/>
        </p:nvSpPr>
        <p:spPr>
          <a:xfrm>
            <a:off x="6324904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缺陷聚合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代码定位与修复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测试发布确认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上线复盘</a:t>
            </a:r>
          </a:p>
        </p:txBody>
      </p:sp>
      <p:sp>
        <p:nvSpPr>
          <p:cNvPr id="19" name="h2p-9-box-18"/>
          <p:cNvSpPr/>
          <p:nvPr/>
        </p:nvSpPr>
        <p:spPr>
          <a:xfrm>
            <a:off x="8801100" y="2152497"/>
            <a:ext cx="2704795" cy="2857500"/>
          </a:xfrm>
          <a:prstGeom prst="roundRect">
            <a:avLst>
              <a:gd name="adj" fmla="val 63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9-text-19"/>
          <p:cNvSpPr txBox="1"/>
          <p:nvPr/>
        </p:nvSpPr>
        <p:spPr>
          <a:xfrm>
            <a:off x="9029700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04 · FINANCE</a:t>
            </a:r>
          </a:p>
        </p:txBody>
      </p:sp>
      <p:sp>
        <p:nvSpPr>
          <p:cNvPr id="21" name="h2p-9-text-20"/>
          <p:cNvSpPr txBox="1"/>
          <p:nvPr/>
        </p:nvSpPr>
        <p:spPr>
          <a:xfrm>
            <a:off x="9029700" y="2743200"/>
            <a:ext cx="229240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金融风控与理赔自动化</a:t>
            </a:r>
          </a:p>
        </p:txBody>
      </p:sp>
      <p:sp>
        <p:nvSpPr>
          <p:cNvPr id="22" name="h2p-9-text-21"/>
          <p:cNvSpPr txBox="1"/>
          <p:nvPr/>
        </p:nvSpPr>
        <p:spPr>
          <a:xfrm>
            <a:off x="9029700" y="3219602"/>
            <a:ext cx="2292400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风险信号聚合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风险定位与处置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合规审计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事件复盘</a:t>
            </a:r>
          </a:p>
        </p:txBody>
      </p:sp>
      <p:sp>
        <p:nvSpPr>
          <p:cNvPr id="23" name="h2p-9-box-22"/>
          <p:cNvSpPr/>
          <p:nvPr/>
        </p:nvSpPr>
        <p:spPr>
          <a:xfrm>
            <a:off x="685800" y="5257800"/>
            <a:ext cx="10820095" cy="685800"/>
          </a:xfrm>
          <a:prstGeom prst="roundRect">
            <a:avLst>
              <a:gd name="adj" fmla="val 250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9-text-23"/>
          <p:cNvSpPr txBox="1"/>
          <p:nvPr/>
        </p:nvSpPr>
        <p:spPr>
          <a:xfrm>
            <a:off x="868680" y="5467197"/>
            <a:ext cx="10453420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共同骨架：输入 → 判断 → 执行 → 验证 → 沉淀 ｜ Agent 数量由任务与风险决定</a:t>
            </a:r>
          </a:p>
        </p:txBody>
      </p:sp>
      <p:sp>
        <p:nvSpPr>
          <p:cNvPr id="25" name="h2p-9-text-24"/>
          <p:cNvSpPr txBox="1"/>
          <p:nvPr/>
        </p:nvSpPr>
        <p:spPr>
          <a:xfrm>
            <a:off x="685800" y="6543446"/>
            <a:ext cx="3312871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来源：https://goaihz.com/tracks?track=infra · 核验 2026-08-10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9853574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官网参考案例 · 非运行证据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最终交付的不是 Prompt，而是可验收方案包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方案、理由、证据与安全边界一起交付。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90902"/>
            <a:ext cx="7239304" cy="3353104"/>
          </a:xfrm>
          <a:prstGeom prst="roundRect">
            <a:avLst>
              <a:gd name="adj" fmla="val 5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71092" y="24387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box-8"/>
          <p:cNvSpPr/>
          <p:nvPr/>
        </p:nvSpPr>
        <p:spPr>
          <a:xfrm>
            <a:off x="971092" y="295259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0-text-9"/>
          <p:cNvSpPr txBox="1"/>
          <p:nvPr/>
        </p:nvSpPr>
        <p:spPr>
          <a:xfrm>
            <a:off x="985723" y="311444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1676095" y="3010204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架构图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2991002" y="3010204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能力、Agent、通信、共享范围与 Human 门禁</a:t>
            </a:r>
          </a:p>
        </p:txBody>
      </p:sp>
      <p:sp>
        <p:nvSpPr>
          <p:cNvPr id="13" name="h2p-10-box-12"/>
          <p:cNvSpPr/>
          <p:nvPr/>
        </p:nvSpPr>
        <p:spPr>
          <a:xfrm>
            <a:off x="971092" y="3543300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426B86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0-text-13"/>
          <p:cNvSpPr txBox="1"/>
          <p:nvPr/>
        </p:nvSpPr>
        <p:spPr>
          <a:xfrm>
            <a:off x="985723" y="3705148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1676095" y="3600907"/>
            <a:ext cx="85496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决策说明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2991002" y="3600907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为什么这样拆，为什么不用更复杂方案</a:t>
            </a:r>
          </a:p>
        </p:txBody>
      </p:sp>
      <p:sp>
        <p:nvSpPr>
          <p:cNvPr id="17" name="h2p-10-box-16"/>
          <p:cNvSpPr/>
          <p:nvPr/>
        </p:nvSpPr>
        <p:spPr>
          <a:xfrm>
            <a:off x="971092" y="4134002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0-text-17"/>
          <p:cNvSpPr txBox="1"/>
          <p:nvPr/>
        </p:nvSpPr>
        <p:spPr>
          <a:xfrm>
            <a:off x="985723" y="4295851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1676095" y="4190695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证据包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2991002" y="4190695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统一试验、Execution Trace、失败与成本记录</a:t>
            </a:r>
          </a:p>
        </p:txBody>
      </p:sp>
      <p:sp>
        <p:nvSpPr>
          <p:cNvPr id="21" name="h2p-10-box-20"/>
          <p:cNvSpPr/>
          <p:nvPr/>
        </p:nvSpPr>
        <p:spPr>
          <a:xfrm>
            <a:off x="971092" y="4724704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0-text-21"/>
          <p:cNvSpPr txBox="1"/>
          <p:nvPr/>
        </p:nvSpPr>
        <p:spPr>
          <a:xfrm>
            <a:off x="985723" y="4886553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04</a:t>
            </a:r>
          </a:p>
        </p:txBody>
      </p:sp>
      <p:sp>
        <p:nvSpPr>
          <p:cNvPr id="23" name="h2p-10-text-22"/>
          <p:cNvSpPr txBox="1"/>
          <p:nvPr/>
        </p:nvSpPr>
        <p:spPr>
          <a:xfrm>
            <a:off x="1676095" y="4781397"/>
            <a:ext cx="85496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运行护栏</a:t>
            </a:r>
          </a:p>
        </p:txBody>
      </p:sp>
      <p:sp>
        <p:nvSpPr>
          <p:cNvPr id="24" name="h2p-10-text-23"/>
          <p:cNvSpPr txBox="1"/>
          <p:nvPr/>
        </p:nvSpPr>
        <p:spPr>
          <a:xfrm>
            <a:off x="2991002" y="4781397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权限、审批、预算、异常、回滚与责任边界</a:t>
            </a:r>
          </a:p>
        </p:txBody>
      </p:sp>
      <p:sp>
        <p:nvSpPr>
          <p:cNvPr id="25" name="h2p-10-text-24"/>
          <p:cNvSpPr txBox="1"/>
          <p:nvPr/>
        </p:nvSpPr>
        <p:spPr>
          <a:xfrm>
            <a:off x="8096097" y="3562502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26" name="h2p-10-box-25"/>
          <p:cNvSpPr/>
          <p:nvPr/>
        </p:nvSpPr>
        <p:spPr>
          <a:xfrm>
            <a:off x="8648395" y="2190902"/>
            <a:ext cx="2857500" cy="3353104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0-text-26"/>
          <p:cNvSpPr txBox="1"/>
          <p:nvPr/>
        </p:nvSpPr>
        <p:spPr>
          <a:xfrm>
            <a:off x="8915400" y="2438704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合法交付结果</a:t>
            </a:r>
          </a:p>
        </p:txBody>
      </p:sp>
      <p:sp>
        <p:nvSpPr>
          <p:cNvPr id="28" name="h2p-10-text-27"/>
          <p:cNvSpPr txBox="1"/>
          <p:nvPr/>
        </p:nvSpPr>
        <p:spPr>
          <a:xfrm>
            <a:off x="8915400" y="2895904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全自动</a:t>
            </a:r>
          </a:p>
        </p:txBody>
      </p:sp>
      <p:sp>
        <p:nvSpPr>
          <p:cNvPr id="29" name="h2p-10-text-28"/>
          <p:cNvSpPr txBox="1"/>
          <p:nvPr/>
        </p:nvSpPr>
        <p:spPr>
          <a:xfrm>
            <a:off x="8915400" y="3314700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部分自动化</a:t>
            </a:r>
          </a:p>
        </p:txBody>
      </p:sp>
      <p:sp>
        <p:nvSpPr>
          <p:cNvPr id="30" name="h2p-10-text-29"/>
          <p:cNvSpPr txBox="1"/>
          <p:nvPr/>
        </p:nvSpPr>
        <p:spPr>
          <a:xfrm>
            <a:off x="8915400" y="3733495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降级运行</a:t>
            </a:r>
          </a:p>
        </p:txBody>
      </p:sp>
      <p:sp>
        <p:nvSpPr>
          <p:cNvPr id="31" name="h2p-10-text-30"/>
          <p:cNvSpPr txBox="1"/>
          <p:nvPr/>
        </p:nvSpPr>
        <p:spPr>
          <a:xfrm>
            <a:off x="8915400" y="4153204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D6A43B"/>
                </a:solidFill>
                <a:latin typeface="Noto Sans CJK SC"/>
              </a:rPr>
              <a:t>保留人工</a:t>
            </a:r>
          </a:p>
        </p:txBody>
      </p:sp>
      <p:sp>
        <p:nvSpPr>
          <p:cNvPr id="32" name="h2p-10-text-31"/>
          <p:cNvSpPr txBox="1"/>
          <p:nvPr/>
        </p:nvSpPr>
        <p:spPr>
          <a:xfrm>
            <a:off x="8915400" y="4572000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6AA92"/>
                </a:solidFill>
                <a:latin typeface="Noto Sans CJK SC"/>
              </a:rPr>
              <a:t>拒绝自动化</a:t>
            </a:r>
          </a:p>
        </p:txBody>
      </p:sp>
      <p:sp>
        <p:nvSpPr>
          <p:cNvPr id="33" name="h2p-10-text-32"/>
          <p:cNvSpPr txBox="1"/>
          <p:nvPr/>
        </p:nvSpPr>
        <p:spPr>
          <a:xfrm>
            <a:off x="8915400" y="5048402"/>
            <a:ext cx="237012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拒绝不是失败，而是有证据的方案决定。</a:t>
            </a:r>
          </a:p>
        </p:txBody>
      </p:sp>
      <p:sp>
        <p:nvSpPr>
          <p:cNvPr id="34" name="h2p-10-text-33"/>
          <p:cNvSpPr txBox="1"/>
          <p:nvPr/>
        </p:nvSpPr>
        <p:spPr>
          <a:xfrm>
            <a:off x="577900" y="5886907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可部署、可复验、可审计、可回滚，或诚实地说“别自动化”。</a:t>
            </a:r>
          </a:p>
        </p:txBody>
      </p:sp>
      <p:sp>
        <p:nvSpPr>
          <p:cNvPr id="35" name="h2p-10-text-34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方法已经收敛，真实运行证据仍待补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严格区分：已完成的设计、设计模拟、未完成的运行。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333902" cy="3028492"/>
          </a:xfrm>
          <a:prstGeom prst="roundRect">
            <a:avLst>
              <a:gd name="adj" fmla="val 56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52804" y="2400300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READY · 已完成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52804" y="2799892"/>
            <a:ext cx="2856585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可核验设计资产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52804" y="3276295"/>
            <a:ext cx="2856585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唯一产品定义与方法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12+5 页提交结构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五个 Identity 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七个 Skill 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Human 与风险清单</a:t>
            </a:r>
          </a:p>
        </p:txBody>
      </p:sp>
      <p:sp>
        <p:nvSpPr>
          <p:cNvPr id="11" name="h2p-11-text-10"/>
          <p:cNvSpPr txBox="1"/>
          <p:nvPr/>
        </p:nvSpPr>
        <p:spPr>
          <a:xfrm>
            <a:off x="952804" y="4705502"/>
            <a:ext cx="2856585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证据：仓库文档与生成链</a:t>
            </a:r>
          </a:p>
        </p:txBody>
      </p:sp>
      <p:sp>
        <p:nvSpPr>
          <p:cNvPr id="12" name="h2p-11-box-11"/>
          <p:cNvSpPr/>
          <p:nvPr/>
        </p:nvSpPr>
        <p:spPr>
          <a:xfrm>
            <a:off x="4438497" y="2152497"/>
            <a:ext cx="3333902" cy="3028492"/>
          </a:xfrm>
          <a:prstGeom prst="roundRect">
            <a:avLst>
              <a:gd name="adj" fmla="val 56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1-text-12"/>
          <p:cNvSpPr txBox="1"/>
          <p:nvPr/>
        </p:nvSpPr>
        <p:spPr>
          <a:xfrm>
            <a:off x="4705502" y="2400300"/>
            <a:ext cx="27203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SIMULATION · 设计模拟</a:t>
            </a:r>
          </a:p>
        </p:txBody>
      </p:sp>
      <p:sp>
        <p:nvSpPr>
          <p:cNvPr id="14" name="h2p-11-text-13"/>
          <p:cNvSpPr txBox="1"/>
          <p:nvPr/>
        </p:nvSpPr>
        <p:spPr>
          <a:xfrm>
            <a:off x="4705502" y="2799892"/>
            <a:ext cx="2856585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软件研发场景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705502" y="3276295"/>
            <a:ext cx="2856585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任务语义摘要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能力盘点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Agentless / 单 / 多候选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纸面协作 Trace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requires_runtime_trial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705502" y="4705502"/>
            <a:ext cx="2856585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5781C"/>
                </a:solidFill>
                <a:latin typeface="Noto Sans CJK SC"/>
              </a:rPr>
              <a:t>非 PoC · 非运行证据</a:t>
            </a:r>
          </a:p>
        </p:txBody>
      </p:sp>
      <p:sp>
        <p:nvSpPr>
          <p:cNvPr id="17" name="h2p-11-box-16"/>
          <p:cNvSpPr/>
          <p:nvPr/>
        </p:nvSpPr>
        <p:spPr>
          <a:xfrm>
            <a:off x="8191195" y="2152497"/>
            <a:ext cx="3314700" cy="3028492"/>
          </a:xfrm>
          <a:prstGeom prst="roundRect">
            <a:avLst>
              <a:gd name="adj" fmla="val 566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1-text-17"/>
          <p:cNvSpPr txBox="1"/>
          <p:nvPr/>
        </p:nvSpPr>
        <p:spPr>
          <a:xfrm>
            <a:off x="8458200" y="2400300"/>
            <a:ext cx="27203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NOT STARTED · 未完成</a:t>
            </a:r>
          </a:p>
        </p:txBody>
      </p:sp>
      <p:sp>
        <p:nvSpPr>
          <p:cNvPr id="19" name="h2p-11-text-18"/>
          <p:cNvSpPr txBox="1"/>
          <p:nvPr/>
        </p:nvSpPr>
        <p:spPr>
          <a:xfrm>
            <a:off x="8458200" y="2799892"/>
            <a:ext cx="2836468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AgentFit 运行闭环</a:t>
            </a:r>
          </a:p>
        </p:txBody>
      </p:sp>
      <p:sp>
        <p:nvSpPr>
          <p:cNvPr id="20" name="h2p-11-text-19"/>
          <p:cNvSpPr txBox="1"/>
          <p:nvPr/>
        </p:nvSpPr>
        <p:spPr>
          <a:xfrm>
            <a:off x="8458200" y="3276295"/>
            <a:ext cx="2836468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冻结 ProjectCase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真实五元 Agent 团队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统一预算候选对照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失败 / 降级 Trace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458200" y="4705502"/>
            <a:ext cx="283646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证据待补 · 不伪装完成</a:t>
            </a:r>
          </a:p>
        </p:txBody>
      </p:sp>
      <p:sp>
        <p:nvSpPr>
          <p:cNvPr id="22" name="h2p-11-box-21"/>
          <p:cNvSpPr/>
          <p:nvPr/>
        </p:nvSpPr>
        <p:spPr>
          <a:xfrm>
            <a:off x="1600200" y="5505602"/>
            <a:ext cx="8991295" cy="590702"/>
          </a:xfrm>
          <a:prstGeom prst="roundRect">
            <a:avLst>
              <a:gd name="adj" fmla="val 2903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1-text-22"/>
          <p:cNvSpPr txBox="1"/>
          <p:nvPr/>
        </p:nvSpPr>
        <p:spPr>
          <a:xfrm>
            <a:off x="1782165" y="5676595"/>
            <a:ext cx="8627364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下一门禁：冻结首个 ProjectCase → 在 AgentTeams 跑真实候选 → 审计并替换本页</a:t>
            </a:r>
          </a:p>
        </p:txBody>
      </p:sp>
      <p:sp>
        <p:nvSpPr>
          <p:cNvPr id="24" name="h2p-11-text-23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10280599" y="6543446"/>
            <a:ext cx="128198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真实运行证据仍待补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结论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80897"/>
            <a:ext cx="11036808" cy="555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Fit：刚刚好，不多不少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企业需要的不是更多 Agent，而是一个有证据的方案决定。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685800" y="2381097"/>
            <a:ext cx="3105302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text-7"/>
          <p:cNvSpPr txBox="1"/>
          <p:nvPr/>
        </p:nvSpPr>
        <p:spPr>
          <a:xfrm>
            <a:off x="952804" y="2648102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PRODUCT VALUE</a:t>
            </a:r>
          </a:p>
        </p:txBody>
      </p:sp>
      <p:sp>
        <p:nvSpPr>
          <p:cNvPr id="9" name="h2p-12-text-8"/>
          <p:cNvSpPr txBox="1"/>
          <p:nvPr/>
        </p:nvSpPr>
        <p:spPr>
          <a:xfrm>
            <a:off x="952804" y="3086100"/>
            <a:ext cx="2623413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FFFFFF"/>
                </a:solidFill>
                <a:latin typeface="Noto Sans CJK SC"/>
              </a:rPr>
              <a:t>Agent 建筑师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52804" y="3619195"/>
            <a:ext cx="2623413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把复杂需求变成最小充分、可验收的方案。</a:t>
            </a:r>
          </a:p>
        </p:txBody>
      </p:sp>
      <p:sp>
        <p:nvSpPr>
          <p:cNvPr id="11" name="h2p-12-text-10"/>
          <p:cNvSpPr txBox="1"/>
          <p:nvPr/>
        </p:nvSpPr>
        <p:spPr>
          <a:xfrm>
            <a:off x="3942892" y="33531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2" name="h2p-12-box-11"/>
          <p:cNvSpPr/>
          <p:nvPr/>
        </p:nvSpPr>
        <p:spPr>
          <a:xfrm>
            <a:off x="4438497" y="2381097"/>
            <a:ext cx="3314700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2-text-12"/>
          <p:cNvSpPr txBox="1"/>
          <p:nvPr/>
        </p:nvSpPr>
        <p:spPr>
          <a:xfrm>
            <a:off x="4705502" y="2648102"/>
            <a:ext cx="7479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CORE METHOD</a:t>
            </a:r>
          </a:p>
        </p:txBody>
      </p:sp>
      <p:sp>
        <p:nvSpPr>
          <p:cNvPr id="14" name="h2p-12-text-13"/>
          <p:cNvSpPr txBox="1"/>
          <p:nvPr/>
        </p:nvSpPr>
        <p:spPr>
          <a:xfrm>
            <a:off x="4705502" y="3086100"/>
            <a:ext cx="2836468" cy="6071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020">
                <a:solidFill>
                  <a:srgbClr val="FFFFFF"/>
                </a:solidFill>
                <a:latin typeface="Noto Sans CJK SC"/>
              </a:rPr>
              <a:t>Agent Architecture Search</a:t>
            </a:r>
          </a:p>
        </p:txBody>
      </p:sp>
      <p:sp>
        <p:nvSpPr>
          <p:cNvPr id="15" name="h2p-12-text-14"/>
          <p:cNvSpPr txBox="1"/>
          <p:nvPr/>
        </p:nvSpPr>
        <p:spPr>
          <a:xfrm>
            <a:off x="4705502" y="3714292"/>
            <a:ext cx="2836468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任务语义 + 能力语义 + 候选比较 + 统一评测。</a:t>
            </a:r>
          </a:p>
        </p:txBody>
      </p:sp>
      <p:sp>
        <p:nvSpPr>
          <p:cNvPr id="16" name="h2p-12-text-15"/>
          <p:cNvSpPr txBox="1"/>
          <p:nvPr/>
        </p:nvSpPr>
        <p:spPr>
          <a:xfrm>
            <a:off x="7905902" y="33531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17" name="h2p-12-box-16"/>
          <p:cNvSpPr/>
          <p:nvPr/>
        </p:nvSpPr>
        <p:spPr>
          <a:xfrm>
            <a:off x="8401507" y="2381097"/>
            <a:ext cx="3105302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2-text-17"/>
          <p:cNvSpPr txBox="1"/>
          <p:nvPr/>
        </p:nvSpPr>
        <p:spPr>
          <a:xfrm>
            <a:off x="8667597" y="2648102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FUTURE DIRECTION</a:t>
            </a:r>
          </a:p>
        </p:txBody>
      </p:sp>
      <p:sp>
        <p:nvSpPr>
          <p:cNvPr id="19" name="h2p-12-text-18"/>
          <p:cNvSpPr txBox="1"/>
          <p:nvPr/>
        </p:nvSpPr>
        <p:spPr>
          <a:xfrm>
            <a:off x="8667597" y="3086100"/>
            <a:ext cx="2623413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FFFFFF"/>
                </a:solidFill>
                <a:latin typeface="Noto Sans CJK SC"/>
              </a:rPr>
              <a:t>Meta-learning</a:t>
            </a:r>
          </a:p>
        </p:txBody>
      </p:sp>
      <p:sp>
        <p:nvSpPr>
          <p:cNvPr id="20" name="h2p-12-text-19"/>
          <p:cNvSpPr txBox="1"/>
          <p:nvPr/>
        </p:nvSpPr>
        <p:spPr>
          <a:xfrm>
            <a:off x="8667597" y="3619195"/>
            <a:ext cx="2623413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跨项目复验后更新先验；不是当前已实现能力。</a:t>
            </a:r>
          </a:p>
        </p:txBody>
      </p:sp>
      <p:sp>
        <p:nvSpPr>
          <p:cNvPr id="21" name="h2p-12-box-20"/>
          <p:cNvSpPr/>
          <p:nvPr/>
        </p:nvSpPr>
        <p:spPr>
          <a:xfrm>
            <a:off x="3714292" y="5296204"/>
            <a:ext cx="4762195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2-text-21"/>
          <p:cNvSpPr txBox="1"/>
          <p:nvPr/>
        </p:nvSpPr>
        <p:spPr>
          <a:xfrm>
            <a:off x="3822191" y="5533948"/>
            <a:ext cx="4547311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74D0C7"/>
                </a:solidFill>
                <a:latin typeface="Noto Sans Mono CJK SC"/>
              </a:rPr>
              <a:t>JUST ENOUGH · PROVEN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4" name="h2p-12-text-23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七层 ML 映射把“方案设计”变成可优化对象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大模型是实现手段之一；编码、检索、分解、SVD 或规则都可以参与更新。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43100"/>
            <a:ext cx="5333695" cy="3847795"/>
          </a:xfrm>
          <a:prstGeom prst="roundRect">
            <a:avLst>
              <a:gd name="adj" fmla="val 446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33602" y="2152497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SEVEN-LAYER MAPPING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33602" y="24195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33602" y="2819095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33602" y="32196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33602" y="3619195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33602" y="40197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L5 内循环 → adaptation samples 上优化局部参数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33602" y="4419295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L6 外循环 → validation samples 上比较候选架构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33602" y="4819802"/>
            <a:ext cx="4915814" cy="213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CJK SC"/>
              </a:rPr>
              <a:t>L7 跨项目学习 → 未见项目验证后更新搜索先验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33602" y="5296204"/>
            <a:ext cx="4915814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L7 是未来方向：单项目样本优化不能证明跨项目学习。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400800" y="1943100"/>
            <a:ext cx="5105095" cy="1790395"/>
          </a:xfrm>
          <a:prstGeom prst="roundRect">
            <a:avLst>
              <a:gd name="adj" fmla="val 957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667804" y="2171700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667804" y="2571292"/>
            <a:ext cx="4663440" cy="359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Mono CJK SC"/>
              </a:rPr>
              <a:t>C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667804" y="3105302"/>
            <a:ext cx="4663440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G 能力图 · Π Agent 分区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θ 模型/Prompt/阈值 · ρ 状态与记忆共享范围</a:t>
            </a:r>
          </a:p>
        </p:txBody>
      </p:sp>
      <p:sp>
        <p:nvSpPr>
          <p:cNvPr id="21" name="h2p-13-box-20"/>
          <p:cNvSpPr/>
          <p:nvPr/>
        </p:nvSpPr>
        <p:spPr>
          <a:xfrm>
            <a:off x="6400800" y="4000500"/>
            <a:ext cx="2381097" cy="1790395"/>
          </a:xfrm>
          <a:prstGeom prst="roundRect">
            <a:avLst>
              <a:gd name="adj" fmla="val 95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3-text-21"/>
          <p:cNvSpPr txBox="1"/>
          <p:nvPr/>
        </p:nvSpPr>
        <p:spPr>
          <a:xfrm>
            <a:off x="6648602" y="4229100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INNER LOOP · 一个 epoch 内</a:t>
            </a:r>
          </a:p>
        </p:txBody>
      </p:sp>
      <p:sp>
        <p:nvSpPr>
          <p:cNvPr id="23" name="h2p-13-text-22"/>
          <p:cNvSpPr txBox="1"/>
          <p:nvPr/>
        </p:nvSpPr>
        <p:spPr>
          <a:xfrm>
            <a:off x="6648602" y="4628692"/>
            <a:ext cx="1923897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让局部 Agent 变好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6648602" y="5048402"/>
            <a:ext cx="1923897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固定 G / Π；更新 θ / ρ；遍历 adaptation samples</a:t>
            </a:r>
          </a:p>
        </p:txBody>
      </p:sp>
      <p:sp>
        <p:nvSpPr>
          <p:cNvPr id="25" name="h2p-13-box-24"/>
          <p:cNvSpPr/>
          <p:nvPr/>
        </p:nvSpPr>
        <p:spPr>
          <a:xfrm>
            <a:off x="9048902" y="4000500"/>
            <a:ext cx="2457907" cy="1790395"/>
          </a:xfrm>
          <a:prstGeom prst="roundRect">
            <a:avLst>
              <a:gd name="adj" fmla="val 95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3-text-25"/>
          <p:cNvSpPr txBox="1"/>
          <p:nvPr/>
        </p:nvSpPr>
        <p:spPr>
          <a:xfrm>
            <a:off x="9296704" y="4229100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OUTER LOOP · 架构 epoch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9296704" y="4628692"/>
            <a:ext cx="2001621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让整体任务结果变好</a:t>
            </a:r>
          </a:p>
        </p:txBody>
      </p:sp>
      <p:sp>
        <p:nvSpPr>
          <p:cNvPr id="28" name="h2p-13-text-27"/>
          <p:cNvSpPr txBox="1"/>
          <p:nvPr/>
        </p:nvSpPr>
        <p:spPr>
          <a:xfrm>
            <a:off x="9296704" y="5048402"/>
            <a:ext cx="2001621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更新 G / Π；比较 validation samples；保留 Pareto 候选</a:t>
            </a:r>
          </a:p>
        </p:txBody>
      </p:sp>
      <p:sp>
        <p:nvSpPr>
          <p:cNvPr id="29" name="h2p-13-text-28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30" name="h2p-13-text-2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FFFFFF"/>
                </a:solidFill>
                <a:latin typeface="Noto Sans CJK SC"/>
              </a:rPr>
              <a:t>五个 Agent 各自拥有判断权、状态边界与责任产物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设计 Identity；真实 AgentTeams 实例化与端到端运行仍待完成。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95197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EngagementLead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95197" y="2533802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交付官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95197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控制项目阶段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路由 Human 审批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作出交付决定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95197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95904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105302" y="2171700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BusinessEngineer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105302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业务架构师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10530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编译业务任务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冻结指标预算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标注 Human 边界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10530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105095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314492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AgentArchitect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314492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方案架构师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31449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盘点能力缺口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生成并列候选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解释 Agentize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31449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74D0C7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74D0C7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315200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524597" y="2171700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ValidationEngineer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524597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验证工程师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524597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隔离运行候选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执行统一预算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收集失败证据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524597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525304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734702" y="2171700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GovernanceAuditor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734702" y="2533802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审计官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73470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独立检查证据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审计 holdout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选择 / 否决 / 降级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73470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50484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895197" y="5257800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官方 8 字段契约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895197" y="5562295"/>
            <a:ext cx="1057046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685800" y="6543446"/>
            <a:ext cx="203088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完整字段：submission/agent-identity.md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设计契约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七个 Skill 固化方案工程；MCP 只承接确定性接口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按必要性复用官方能力，不按数量堆叠；以下均为设计契约。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text-6"/>
          <p:cNvSpPr txBox="1"/>
          <p:nvPr/>
        </p:nvSpPr>
        <p:spPr>
          <a:xfrm>
            <a:off x="685800" y="1943100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8" name="h2p-15-box-7"/>
          <p:cNvSpPr/>
          <p:nvPr/>
        </p:nvSpPr>
        <p:spPr>
          <a:xfrm>
            <a:off x="685800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5-text-8"/>
          <p:cNvSpPr txBox="1"/>
          <p:nvPr/>
        </p:nvSpPr>
        <p:spPr>
          <a:xfrm>
            <a:off x="798271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 · 任务编译</a:t>
            </a:r>
          </a:p>
        </p:txBody>
      </p:sp>
      <p:sp>
        <p:nvSpPr>
          <p:cNvPr id="10" name="h2p-15-box-9"/>
          <p:cNvSpPr/>
          <p:nvPr/>
        </p:nvSpPr>
        <p:spPr>
          <a:xfrm>
            <a:off x="3161995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5-text-10"/>
          <p:cNvSpPr txBox="1"/>
          <p:nvPr/>
        </p:nvSpPr>
        <p:spPr>
          <a:xfrm>
            <a:off x="3275380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2 · 能力对齐</a:t>
            </a:r>
          </a:p>
        </p:txBody>
      </p:sp>
      <p:sp>
        <p:nvSpPr>
          <p:cNvPr id="12" name="h2p-15-box-11"/>
          <p:cNvSpPr/>
          <p:nvPr/>
        </p:nvSpPr>
        <p:spPr>
          <a:xfrm>
            <a:off x="5639104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5-text-12"/>
          <p:cNvSpPr txBox="1"/>
          <p:nvPr/>
        </p:nvSpPr>
        <p:spPr>
          <a:xfrm>
            <a:off x="5751576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3 · 候选建图</a:t>
            </a:r>
          </a:p>
        </p:txBody>
      </p:sp>
      <p:sp>
        <p:nvSpPr>
          <p:cNvPr id="14" name="h2p-15-box-13"/>
          <p:cNvSpPr/>
          <p:nvPr/>
        </p:nvSpPr>
        <p:spPr>
          <a:xfrm>
            <a:off x="8115300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5-text-14"/>
          <p:cNvSpPr txBox="1"/>
          <p:nvPr/>
        </p:nvSpPr>
        <p:spPr>
          <a:xfrm>
            <a:off x="8227771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4 · 统一试验</a:t>
            </a:r>
          </a:p>
        </p:txBody>
      </p:sp>
      <p:sp>
        <p:nvSpPr>
          <p:cNvPr id="16" name="h2p-15-box-15"/>
          <p:cNvSpPr/>
          <p:nvPr/>
        </p:nvSpPr>
        <p:spPr>
          <a:xfrm>
            <a:off x="1923897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5-text-16"/>
          <p:cNvSpPr txBox="1"/>
          <p:nvPr/>
        </p:nvSpPr>
        <p:spPr>
          <a:xfrm>
            <a:off x="2037283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5 · 独立审计</a:t>
            </a:r>
          </a:p>
        </p:txBody>
      </p:sp>
      <p:sp>
        <p:nvSpPr>
          <p:cNvPr id="18" name="h2p-15-box-17"/>
          <p:cNvSpPr/>
          <p:nvPr/>
        </p:nvSpPr>
        <p:spPr>
          <a:xfrm>
            <a:off x="4400092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5-text-18"/>
          <p:cNvSpPr txBox="1"/>
          <p:nvPr/>
        </p:nvSpPr>
        <p:spPr>
          <a:xfrm>
            <a:off x="4513478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6 · 人工门禁</a:t>
            </a:r>
          </a:p>
        </p:txBody>
      </p:sp>
      <p:sp>
        <p:nvSpPr>
          <p:cNvPr id="20" name="h2p-15-box-19"/>
          <p:cNvSpPr/>
          <p:nvPr/>
        </p:nvSpPr>
        <p:spPr>
          <a:xfrm>
            <a:off x="6877202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5-text-20"/>
          <p:cNvSpPr txBox="1"/>
          <p:nvPr/>
        </p:nvSpPr>
        <p:spPr>
          <a:xfrm>
            <a:off x="6989673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7 · 经验沉淀</a:t>
            </a:r>
          </a:p>
        </p:txBody>
      </p:sp>
      <p:sp>
        <p:nvSpPr>
          <p:cNvPr id="22" name="h2p-15-box-21"/>
          <p:cNvSpPr/>
          <p:nvPr/>
        </p:nvSpPr>
        <p:spPr>
          <a:xfrm>
            <a:off x="685800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5-text-22"/>
          <p:cNvSpPr txBox="1"/>
          <p:nvPr/>
        </p:nvSpPr>
        <p:spPr>
          <a:xfrm>
            <a:off x="933602" y="3791102"/>
            <a:ext cx="242864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SKILL · 可复用方法</a:t>
            </a:r>
          </a:p>
        </p:txBody>
      </p:sp>
      <p:sp>
        <p:nvSpPr>
          <p:cNvPr id="24" name="h2p-15-text-23"/>
          <p:cNvSpPr txBox="1"/>
          <p:nvPr/>
        </p:nvSpPr>
        <p:spPr>
          <a:xfrm>
            <a:off x="933602" y="4171492"/>
            <a:ext cx="2992831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承载任务编译、建图、评测、审计等“如何做”。每项具有输入、输出、触发、失败、安全和复用契约。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933602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完整 10 字段见 skill-catalog.md</a:t>
            </a:r>
          </a:p>
        </p:txBody>
      </p:sp>
      <p:sp>
        <p:nvSpPr>
          <p:cNvPr id="26" name="h2p-15-box-25"/>
          <p:cNvSpPr/>
          <p:nvPr/>
        </p:nvSpPr>
        <p:spPr>
          <a:xfrm>
            <a:off x="4381804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5-text-26"/>
          <p:cNvSpPr txBox="1"/>
          <p:nvPr/>
        </p:nvSpPr>
        <p:spPr>
          <a:xfrm>
            <a:off x="4628692" y="3791102"/>
            <a:ext cx="142829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MCP · 确定性行动接口</a:t>
            </a:r>
          </a:p>
        </p:txBody>
      </p:sp>
      <p:sp>
        <p:nvSpPr>
          <p:cNvPr id="28" name="h2p-15-text-27"/>
          <p:cNvSpPr txBox="1"/>
          <p:nvPr/>
        </p:nvSpPr>
        <p:spPr>
          <a:xfrm>
            <a:off x="4628692" y="4171492"/>
            <a:ext cx="2992831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需要外部系统、明确 Schema、鉴权、幂等、错误码和审计时采用；纯推理与文档契约优先 Skill。</a:t>
            </a:r>
          </a:p>
        </p:txBody>
      </p:sp>
      <p:sp>
        <p:nvSpPr>
          <p:cNvPr id="29" name="h2p-15-text-28"/>
          <p:cNvSpPr txBox="1"/>
          <p:nvPr/>
        </p:nvSpPr>
        <p:spPr>
          <a:xfrm>
            <a:off x="4628692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真实 MCP 绑定当前未实现</a:t>
            </a:r>
          </a:p>
        </p:txBody>
      </p:sp>
      <p:sp>
        <p:nvSpPr>
          <p:cNvPr id="30" name="h2p-15-box-29"/>
          <p:cNvSpPr/>
          <p:nvPr/>
        </p:nvSpPr>
        <p:spPr>
          <a:xfrm>
            <a:off x="8076895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5-text-30"/>
          <p:cNvSpPr txBox="1"/>
          <p:nvPr/>
        </p:nvSpPr>
        <p:spPr>
          <a:xfrm>
            <a:off x="8324697" y="3791102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上下文能力 · 4 选 2</a:t>
            </a:r>
          </a:p>
        </p:txBody>
      </p:sp>
      <p:sp>
        <p:nvSpPr>
          <p:cNvPr id="32" name="h2p-15-text-31"/>
          <p:cNvSpPr txBox="1"/>
          <p:nvPr/>
        </p:nvSpPr>
        <p:spPr>
          <a:xfrm>
            <a:off x="8324697" y="4171492"/>
            <a:ext cx="2992831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选择 1：共享状态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Project Dossier 作为事实源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选择 2：轨迹可观测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3" name="h2p-15-text-32"/>
          <p:cNvSpPr txBox="1"/>
          <p:nvPr/>
        </p:nvSpPr>
        <p:spPr>
          <a:xfrm>
            <a:off x="8324697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不以 RAG 作为主上下文机制</a:t>
            </a:r>
          </a:p>
        </p:txBody>
      </p:sp>
      <p:sp>
        <p:nvSpPr>
          <p:cNvPr id="34" name="h2p-15-text-33"/>
          <p:cNvSpPr txBox="1"/>
          <p:nvPr/>
        </p:nvSpPr>
        <p:spPr>
          <a:xfrm>
            <a:off x="685800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必选 · MCP 可选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FFFFFF"/>
                </a:solidFill>
                <a:latin typeface="Noto Sans CJK SC"/>
              </a:rPr>
              <a:t>高风险动作先审批；异常必须能停止、降级和回滚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Human 是候选图中的正式能力与责任边界，不是兜底文案。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box-6"/>
          <p:cNvSpPr/>
          <p:nvPr/>
        </p:nvSpPr>
        <p:spPr>
          <a:xfrm>
            <a:off x="685800" y="1943100"/>
            <a:ext cx="10820095" cy="895197"/>
          </a:xfrm>
          <a:prstGeom prst="roundRect">
            <a:avLst>
              <a:gd name="adj" fmla="val 1915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6-text-7"/>
          <p:cNvSpPr txBox="1"/>
          <p:nvPr/>
        </p:nvSpPr>
        <p:spPr>
          <a:xfrm>
            <a:off x="933602" y="2152497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GATE</a:t>
            </a:r>
          </a:p>
        </p:txBody>
      </p:sp>
      <p:sp>
        <p:nvSpPr>
          <p:cNvPr id="9" name="h2p-16-text-8"/>
          <p:cNvSpPr txBox="1"/>
          <p:nvPr/>
        </p:nvSpPr>
        <p:spPr>
          <a:xfrm>
            <a:off x="933602" y="2457907"/>
            <a:ext cx="10532059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动作请求 → 风险分类 → 审批：批准→执行｜拒绝/超时→拒绝执行或安全降级 → Trace 与回滚验证</a:t>
            </a:r>
          </a:p>
        </p:txBody>
      </p:sp>
      <p:sp>
        <p:nvSpPr>
          <p:cNvPr id="10" name="h2p-16-box-9"/>
          <p:cNvSpPr/>
          <p:nvPr/>
        </p:nvSpPr>
        <p:spPr>
          <a:xfrm>
            <a:off x="685800" y="3105302"/>
            <a:ext cx="5162702" cy="2704795"/>
          </a:xfrm>
          <a:prstGeom prst="roundRect">
            <a:avLst>
              <a:gd name="adj" fmla="val 634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6-text-10"/>
          <p:cNvSpPr txBox="1"/>
          <p:nvPr/>
        </p:nvSpPr>
        <p:spPr>
          <a:xfrm>
            <a:off x="933602" y="333390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必须人工批准</a:t>
            </a:r>
          </a:p>
        </p:txBody>
      </p:sp>
      <p:sp>
        <p:nvSpPr>
          <p:cNvPr id="12" name="h2p-16-text-11"/>
          <p:cNvSpPr txBox="1"/>
          <p:nvPr/>
        </p:nvSpPr>
        <p:spPr>
          <a:xfrm>
            <a:off x="933602" y="3733495"/>
            <a:ext cx="2136952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外部系统写入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真实发布与部署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责任转移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预算提升</a:t>
            </a:r>
          </a:p>
        </p:txBody>
      </p:sp>
      <p:sp>
        <p:nvSpPr>
          <p:cNvPr id="13" name="h2p-16-text-12"/>
          <p:cNvSpPr txBox="1"/>
          <p:nvPr/>
        </p:nvSpPr>
        <p:spPr>
          <a:xfrm>
            <a:off x="3314700" y="3733495"/>
            <a:ext cx="2312517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密钥与凭证调用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敏感数据访问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不可逆操作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交付决议</a:t>
            </a:r>
          </a:p>
        </p:txBody>
      </p:sp>
      <p:sp>
        <p:nvSpPr>
          <p:cNvPr id="14" name="h2p-16-box-13"/>
          <p:cNvSpPr/>
          <p:nvPr/>
        </p:nvSpPr>
        <p:spPr>
          <a:xfrm>
            <a:off x="933602" y="5105095"/>
            <a:ext cx="4647895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6-text-14"/>
          <p:cNvSpPr txBox="1"/>
          <p:nvPr/>
        </p:nvSpPr>
        <p:spPr>
          <a:xfrm>
            <a:off x="1023213" y="5191048"/>
            <a:ext cx="446958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无批准 = 拒绝执行 + 保留证据</a:t>
            </a:r>
          </a:p>
        </p:txBody>
      </p:sp>
      <p:sp>
        <p:nvSpPr>
          <p:cNvPr id="16" name="h2p-16-box-15"/>
          <p:cNvSpPr/>
          <p:nvPr/>
        </p:nvSpPr>
        <p:spPr>
          <a:xfrm>
            <a:off x="6152997" y="3105302"/>
            <a:ext cx="5352897" cy="2704795"/>
          </a:xfrm>
          <a:prstGeom prst="roundRect">
            <a:avLst>
              <a:gd name="adj" fmla="val 634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6-text-16"/>
          <p:cNvSpPr txBox="1"/>
          <p:nvPr/>
        </p:nvSpPr>
        <p:spPr>
          <a:xfrm>
            <a:off x="6400800" y="333390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异常与恢复</a:t>
            </a:r>
          </a:p>
        </p:txBody>
      </p:sp>
      <p:sp>
        <p:nvSpPr>
          <p:cNvPr id="18" name="h2p-16-text-17"/>
          <p:cNvSpPr txBox="1"/>
          <p:nvPr/>
        </p:nvSpPr>
        <p:spPr>
          <a:xfrm>
            <a:off x="6400800" y="3733495"/>
            <a:ext cx="2331720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Agent 不可用 → 阶段暂停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Schema 非法 → 拒绝推进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预算耗尽 → 硬停止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通信异常 → 幂等重发</a:t>
            </a:r>
          </a:p>
        </p:txBody>
      </p:sp>
      <p:sp>
        <p:nvSpPr>
          <p:cNvPr id="19" name="h2p-16-text-18"/>
          <p:cNvSpPr txBox="1"/>
          <p:nvPr/>
        </p:nvSpPr>
        <p:spPr>
          <a:xfrm>
            <a:off x="8972092" y="3733495"/>
            <a:ext cx="2312517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holdout 泄漏 → 本轮无效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循环失控 → 达上限停止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权限缺失 → 缩小范围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不可回滚 → 默认拒绝</a:t>
            </a:r>
          </a:p>
        </p:txBody>
      </p:sp>
      <p:sp>
        <p:nvSpPr>
          <p:cNvPr id="20" name="h2p-16-box-19"/>
          <p:cNvSpPr/>
          <p:nvPr/>
        </p:nvSpPr>
        <p:spPr>
          <a:xfrm>
            <a:off x="6400800" y="5105095"/>
            <a:ext cx="48390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6-text-20"/>
          <p:cNvSpPr txBox="1"/>
          <p:nvPr/>
        </p:nvSpPr>
        <p:spPr>
          <a:xfrm>
            <a:off x="6488582" y="5191048"/>
            <a:ext cx="46634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成功与失败使用同一 Trace 语义</a:t>
            </a:r>
          </a:p>
        </p:txBody>
      </p:sp>
      <p:sp>
        <p:nvSpPr>
          <p:cNvPr id="22" name="h2p-16-text-21"/>
          <p:cNvSpPr txBox="1"/>
          <p:nvPr/>
        </p:nvSpPr>
        <p:spPr>
          <a:xfrm>
            <a:off x="685800" y="6543446"/>
            <a:ext cx="235092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完整清单：submission/risk-and-human-gates.md</a:t>
            </a:r>
          </a:p>
        </p:txBody>
      </p:sp>
      <p:sp>
        <p:nvSpPr>
          <p:cNvPr id="23" name="h2p-16-text-22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安全设计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开放计划与当前事实分开披露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43100"/>
            <a:ext cx="3333902" cy="3752697"/>
          </a:xfrm>
          <a:prstGeom prst="roundRect">
            <a:avLst>
              <a:gd name="adj" fmla="val 514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33602" y="2171700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33602" y="2553004"/>
            <a:ext cx="28757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可复用设计资产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33602" y="3010204"/>
            <a:ext cx="2875788" cy="942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五个 Agent Identity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七个 Skill 契约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1" name="h2p-17-box-10"/>
          <p:cNvSpPr/>
          <p:nvPr/>
        </p:nvSpPr>
        <p:spPr>
          <a:xfrm>
            <a:off x="933602" y="4552797"/>
            <a:ext cx="2819095" cy="19202"/>
          </a:xfrm>
          <a:prstGeom prst="rect">
            <a:avLst/>
          </a:prstGeom>
          <a:solidFill>
            <a:srgbClr val="98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7-text-11"/>
          <p:cNvSpPr txBox="1"/>
          <p:nvPr/>
        </p:nvSpPr>
        <p:spPr>
          <a:xfrm>
            <a:off x="933602" y="4743907"/>
            <a:ext cx="287578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开放前门禁：选择 License、清点第三方许可、完成脱敏与干净环境复现。</a:t>
            </a:r>
          </a:p>
        </p:txBody>
      </p:sp>
      <p:sp>
        <p:nvSpPr>
          <p:cNvPr id="13" name="h2p-17-box-12"/>
          <p:cNvSpPr/>
          <p:nvPr/>
        </p:nvSpPr>
        <p:spPr>
          <a:xfrm>
            <a:off x="4438497" y="1943100"/>
            <a:ext cx="3333902" cy="3752697"/>
          </a:xfrm>
          <a:prstGeom prst="roundRect">
            <a:avLst>
              <a:gd name="adj" fmla="val 514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7-text-13"/>
          <p:cNvSpPr txBox="1"/>
          <p:nvPr/>
        </p:nvSpPr>
        <p:spPr>
          <a:xfrm>
            <a:off x="4686300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依赖与既有基础</a:t>
            </a:r>
          </a:p>
        </p:txBody>
      </p:sp>
      <p:sp>
        <p:nvSpPr>
          <p:cNvPr id="15" name="h2p-17-text-14"/>
          <p:cNvSpPr txBox="1"/>
          <p:nvPr/>
        </p:nvSpPr>
        <p:spPr>
          <a:xfrm>
            <a:off x="4686300" y="2553004"/>
            <a:ext cx="289499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必须明确披露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686300" y="3010204"/>
            <a:ext cx="2894990" cy="942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AgentTeams：运行底座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数据：来源、授权、脱敏边界</a:t>
            </a:r>
          </a:p>
        </p:txBody>
      </p:sp>
      <p:sp>
        <p:nvSpPr>
          <p:cNvPr id="17" name="h2p-17-box-16"/>
          <p:cNvSpPr/>
          <p:nvPr/>
        </p:nvSpPr>
        <p:spPr>
          <a:xfrm>
            <a:off x="4686300" y="4552797"/>
            <a:ext cx="2838297" cy="19202"/>
          </a:xfrm>
          <a:prstGeom prst="rect">
            <a:avLst/>
          </a:prstGeom>
          <a:solidFill>
            <a:srgbClr val="A9C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7-text-17"/>
          <p:cNvSpPr txBox="1"/>
          <p:nvPr/>
        </p:nvSpPr>
        <p:spPr>
          <a:xfrm>
            <a:off x="4686300" y="4743907"/>
            <a:ext cx="2894990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密钥由基础设施持有，不进入 Agent 上下文；不开放客户原始数据。</a:t>
            </a:r>
          </a:p>
        </p:txBody>
      </p:sp>
      <p:sp>
        <p:nvSpPr>
          <p:cNvPr id="19" name="h2p-17-box-18"/>
          <p:cNvSpPr/>
          <p:nvPr/>
        </p:nvSpPr>
        <p:spPr>
          <a:xfrm>
            <a:off x="8191195" y="1943100"/>
            <a:ext cx="3314700" cy="3752697"/>
          </a:xfrm>
          <a:prstGeom prst="roundRect">
            <a:avLst>
              <a:gd name="adj" fmla="val 51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7-text-19"/>
          <p:cNvSpPr txBox="1"/>
          <p:nvPr/>
        </p:nvSpPr>
        <p:spPr>
          <a:xfrm>
            <a:off x="8438997" y="2171700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当前未实现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8438997" y="2553004"/>
            <a:ext cx="28757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不包装成完成态</a:t>
            </a:r>
          </a:p>
        </p:txBody>
      </p:sp>
      <p:sp>
        <p:nvSpPr>
          <p:cNvPr id="22" name="h2p-17-text-21"/>
          <p:cNvSpPr txBox="1"/>
          <p:nvPr/>
        </p:nvSpPr>
        <p:spPr>
          <a:xfrm>
            <a:off x="8438997" y="3010204"/>
            <a:ext cx="2875788" cy="1131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机器可执行 Schema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自动候选搜索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真实 ProjectCase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AgentFit × AgentTeams 闭环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统一预算对照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23" name="h2p-17-box-22"/>
          <p:cNvSpPr/>
          <p:nvPr/>
        </p:nvSpPr>
        <p:spPr>
          <a:xfrm>
            <a:off x="8438997" y="4552797"/>
            <a:ext cx="2819095" cy="19202"/>
          </a:xfrm>
          <a:prstGeom prst="rect">
            <a:avLst/>
          </a:prstGeom>
          <a:solidFill>
            <a:srgbClr val="E8AD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7-text-23"/>
          <p:cNvSpPr txBox="1"/>
          <p:nvPr/>
        </p:nvSpPr>
        <p:spPr>
          <a:xfrm>
            <a:off x="8438997" y="4743907"/>
            <a:ext cx="287578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初赛可选代码包：未达到可复现门禁时不提交，只提交简介与 PPT/PDF。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685800" y="6543446"/>
            <a:ext cx="251185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完整披露：submission/openness-and-compliance.md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当前事实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GOAI Agent Infra 初赛路演方案</dc:title>
  <dc:subject>AgentTeams 上的 Agent 方案建筑师</dc:subject>
  <dc:creator>AgentFit Team</dc:creator>
  <cp:keywords>AgentFit, AgentTeams, Agent Infra, HTML-first</cp:keywords>
  <dc:description>Preliminary submission candidate. Official cases and the software scenario are references or design simulations, not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