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1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1-text-2"/>
          <p:cNvSpPr txBox="1"/>
          <p:nvPr/>
        </p:nvSpPr>
        <p:spPr>
          <a:xfrm>
            <a:off x="685800" y="362102"/>
            <a:ext cx="1495958" cy="1901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01 / 12 · AGENT INFRA</a:t>
            </a:r>
          </a:p>
        </p:txBody>
      </p:sp>
      <p:sp>
        <p:nvSpPr>
          <p:cNvPr id="4" name="h2p-1-text-3"/>
          <p:cNvSpPr txBox="1"/>
          <p:nvPr/>
        </p:nvSpPr>
        <p:spPr>
          <a:xfrm>
            <a:off x="685800" y="875995"/>
            <a:ext cx="6412687" cy="14282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8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3600">
                <a:solidFill>
                  <a:srgbClr val="FFFFFF"/>
                </a:solidFill>
                <a:latin typeface="Noto Sans CJK SC"/>
              </a:rPr>
              <a:t>企业缺的不是更多 Agent，</a:t>
            </a:r>
          </a:p>
          <a:p>
            <a:pPr marL="0" indent="0" algn="l">
              <a:lnSpc>
                <a:spcPts val="38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3600">
                <a:solidFill>
                  <a:srgbClr val="FFFFFF"/>
                </a:solidFill>
                <a:latin typeface="Noto Sans CJK SC"/>
              </a:rPr>
              <a:t>而是可验证的架构选择。</a:t>
            </a:r>
          </a:p>
        </p:txBody>
      </p:sp>
      <p:sp>
        <p:nvSpPr>
          <p:cNvPr id="5" name="h2p-1-text-4"/>
          <p:cNvSpPr txBox="1"/>
          <p:nvPr/>
        </p:nvSpPr>
        <p:spPr>
          <a:xfrm>
            <a:off x="705002" y="2590495"/>
            <a:ext cx="5926226" cy="55229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C6D3DD"/>
                </a:solidFill>
                <a:latin typeface="Noto Sans CJK SC"/>
              </a:rPr>
              <a:t>AgentFit 把业务材料编译成任务契约，让 Agentless、单 Agent、多 Agent 与 Human 混合在统一预算下竞争。</a:t>
            </a:r>
          </a:p>
        </p:txBody>
      </p:sp>
      <p:sp>
        <p:nvSpPr>
          <p:cNvPr id="6" name="h2p-1-box-5"/>
          <p:cNvSpPr/>
          <p:nvPr/>
        </p:nvSpPr>
        <p:spPr>
          <a:xfrm>
            <a:off x="7067397" y="875995"/>
            <a:ext cx="4438497" cy="3791102"/>
          </a:xfrm>
          <a:prstGeom prst="roundRect">
            <a:avLst>
              <a:gd name="adj" fmla="val 7040"/>
            </a:avLst>
          </a:prstGeom>
          <a:solidFill>
            <a:srgbClr val="132F47"/>
          </a:solidFill>
          <a:ln w="19050">
            <a:solidFill>
              <a:srgbClr val="2851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1-text-6"/>
          <p:cNvSpPr txBox="1"/>
          <p:nvPr/>
        </p:nvSpPr>
        <p:spPr>
          <a:xfrm>
            <a:off x="7410297" y="1162202"/>
            <a:ext cx="1199692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74D0C7"/>
                </a:solidFill>
                <a:latin typeface="Noto Sans Mono CJK SC"/>
              </a:rPr>
              <a:t>ARCHITECTURE SEARCH</a:t>
            </a:r>
          </a:p>
        </p:txBody>
      </p:sp>
      <p:sp>
        <p:nvSpPr>
          <p:cNvPr id="8" name="h2p-1-box-7"/>
          <p:cNvSpPr/>
          <p:nvPr/>
        </p:nvSpPr>
        <p:spPr>
          <a:xfrm>
            <a:off x="8858707" y="1772107"/>
            <a:ext cx="819302" cy="819302"/>
          </a:xfrm>
          <a:prstGeom prst="roundRect">
            <a:avLst>
              <a:gd name="adj" fmla="val 50000"/>
            </a:avLst>
          </a:prstGeom>
          <a:solidFill>
            <a:srgbClr val="0B2236"/>
          </a:solidFill>
          <a:ln w="19050">
            <a:solidFill>
              <a:srgbClr val="74D0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h2p-1-text-8"/>
          <p:cNvSpPr txBox="1"/>
          <p:nvPr/>
        </p:nvSpPr>
        <p:spPr>
          <a:xfrm>
            <a:off x="8869680" y="2038197"/>
            <a:ext cx="796442" cy="1719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FFFFFF"/>
                </a:solidFill>
                <a:latin typeface="Noto Sans Mono CJK SC"/>
              </a:rPr>
              <a:t>TASK</a:t>
            </a:r>
          </a:p>
        </p:txBody>
      </p:sp>
      <p:sp>
        <p:nvSpPr>
          <p:cNvPr id="10" name="h2p-1-box-9"/>
          <p:cNvSpPr/>
          <p:nvPr/>
        </p:nvSpPr>
        <p:spPr>
          <a:xfrm>
            <a:off x="7524597" y="3161995"/>
            <a:ext cx="552297" cy="552297"/>
          </a:xfrm>
          <a:prstGeom prst="roundRect">
            <a:avLst>
              <a:gd name="adj" fmla="val 50000"/>
            </a:avLst>
          </a:prstGeom>
          <a:solidFill>
            <a:srgbClr val="132F47"/>
          </a:solidFill>
          <a:ln w="19050">
            <a:solidFill>
              <a:srgbClr val="74D0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2p-1-text-10"/>
          <p:cNvSpPr txBox="1"/>
          <p:nvPr/>
        </p:nvSpPr>
        <p:spPr>
          <a:xfrm>
            <a:off x="7538313" y="3343046"/>
            <a:ext cx="524865" cy="1426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1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FFFFFF"/>
                </a:solidFill>
                <a:latin typeface="Noto Sans Mono CJK SC"/>
              </a:rPr>
              <a:t>C0</a:t>
            </a:r>
          </a:p>
        </p:txBody>
      </p:sp>
      <p:sp>
        <p:nvSpPr>
          <p:cNvPr id="12" name="h2p-1-box-11"/>
          <p:cNvSpPr/>
          <p:nvPr/>
        </p:nvSpPr>
        <p:spPr>
          <a:xfrm>
            <a:off x="8572500" y="3429000"/>
            <a:ext cx="552297" cy="552297"/>
          </a:xfrm>
          <a:prstGeom prst="roundRect">
            <a:avLst>
              <a:gd name="adj" fmla="val 50000"/>
            </a:avLst>
          </a:prstGeom>
          <a:solidFill>
            <a:srgbClr val="132F47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2p-1-text-12"/>
          <p:cNvSpPr txBox="1"/>
          <p:nvPr/>
        </p:nvSpPr>
        <p:spPr>
          <a:xfrm>
            <a:off x="8586216" y="3610051"/>
            <a:ext cx="524865" cy="1426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1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FFFFFF"/>
                </a:solidFill>
                <a:latin typeface="Noto Sans Mono CJK SC"/>
              </a:rPr>
              <a:t>C1</a:t>
            </a:r>
          </a:p>
        </p:txBody>
      </p:sp>
      <p:sp>
        <p:nvSpPr>
          <p:cNvPr id="14" name="h2p-1-box-13"/>
          <p:cNvSpPr/>
          <p:nvPr/>
        </p:nvSpPr>
        <p:spPr>
          <a:xfrm>
            <a:off x="9620402" y="3161995"/>
            <a:ext cx="552297" cy="552297"/>
          </a:xfrm>
          <a:prstGeom prst="roundRect">
            <a:avLst>
              <a:gd name="adj" fmla="val 50000"/>
            </a:avLst>
          </a:prstGeom>
          <a:solidFill>
            <a:srgbClr val="132F47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h2p-1-text-14"/>
          <p:cNvSpPr txBox="1"/>
          <p:nvPr/>
        </p:nvSpPr>
        <p:spPr>
          <a:xfrm>
            <a:off x="9634118" y="3343046"/>
            <a:ext cx="524865" cy="1426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1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FFFFFF"/>
                </a:solidFill>
                <a:latin typeface="Noto Sans Mono CJK SC"/>
              </a:rPr>
              <a:t>C2</a:t>
            </a:r>
          </a:p>
        </p:txBody>
      </p:sp>
      <p:sp>
        <p:nvSpPr>
          <p:cNvPr id="16" name="h2p-1-box-15"/>
          <p:cNvSpPr/>
          <p:nvPr/>
        </p:nvSpPr>
        <p:spPr>
          <a:xfrm>
            <a:off x="10668304" y="3429000"/>
            <a:ext cx="552297" cy="552297"/>
          </a:xfrm>
          <a:prstGeom prst="roundRect">
            <a:avLst>
              <a:gd name="adj" fmla="val 50000"/>
            </a:avLst>
          </a:prstGeom>
          <a:solidFill>
            <a:srgbClr val="132F47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h2p-1-text-16"/>
          <p:cNvSpPr txBox="1"/>
          <p:nvPr/>
        </p:nvSpPr>
        <p:spPr>
          <a:xfrm>
            <a:off x="10682020" y="3610051"/>
            <a:ext cx="524865" cy="1143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FFFFFF"/>
                </a:solidFill>
                <a:latin typeface="Noto Sans Mono CJK SC"/>
              </a:rPr>
              <a:t>H</a:t>
            </a:r>
          </a:p>
        </p:txBody>
      </p:sp>
      <p:sp>
        <p:nvSpPr>
          <p:cNvPr id="18" name="h2p-1-box-17"/>
          <p:cNvSpPr/>
          <p:nvPr/>
        </p:nvSpPr>
        <p:spPr>
          <a:xfrm rot="19560000">
            <a:off x="7925104" y="3010204"/>
            <a:ext cx="1162202" cy="19202"/>
          </a:xfrm>
          <a:prstGeom prst="rect">
            <a:avLst/>
          </a:prstGeom>
          <a:solidFill>
            <a:srgbClr val="74D0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2p-1-box-18"/>
          <p:cNvSpPr/>
          <p:nvPr/>
        </p:nvSpPr>
        <p:spPr>
          <a:xfrm rot="18120000">
            <a:off x="8829446" y="3010204"/>
            <a:ext cx="742492" cy="19202"/>
          </a:xfrm>
          <a:prstGeom prst="rect">
            <a:avLst/>
          </a:prstGeom>
          <a:solidFill>
            <a:srgbClr val="F26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2p-1-box-19"/>
          <p:cNvSpPr/>
          <p:nvPr/>
        </p:nvSpPr>
        <p:spPr>
          <a:xfrm rot="2880000">
            <a:off x="9315907" y="3010204"/>
            <a:ext cx="857707" cy="19202"/>
          </a:xfrm>
          <a:prstGeom prst="rect">
            <a:avLst/>
          </a:prstGeom>
          <a:solidFill>
            <a:srgbClr val="F26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2p-1-box-20"/>
          <p:cNvSpPr/>
          <p:nvPr/>
        </p:nvSpPr>
        <p:spPr>
          <a:xfrm rot="2160000">
            <a:off x="9677095" y="3010204"/>
            <a:ext cx="1276502" cy="19202"/>
          </a:xfrm>
          <a:prstGeom prst="rect">
            <a:avLst/>
          </a:prstGeom>
          <a:solidFill>
            <a:srgbClr val="D6A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2p-1-text-21"/>
          <p:cNvSpPr txBox="1"/>
          <p:nvPr/>
        </p:nvSpPr>
        <p:spPr>
          <a:xfrm>
            <a:off x="7333488" y="4095597"/>
            <a:ext cx="3924604" cy="33467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C6D3DD"/>
                </a:solidFill>
                <a:latin typeface="Noto Sans Mono CJK SC"/>
              </a:rPr>
              <a:t>C0 Agentless · C1 单 Agent · C2 多 Agent · H Human</a:t>
            </a:r>
          </a:p>
          <a:p>
            <a:pPr marL="0" indent="0"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C6D3DD"/>
                </a:solidFill>
                <a:latin typeface="Noto Sans Mono CJK SC"/>
              </a:rPr>
              <a:t>它们是并列候选，不是一条执行链。</a:t>
            </a:r>
          </a:p>
        </p:txBody>
      </p:sp>
      <p:sp>
        <p:nvSpPr>
          <p:cNvPr id="23" name="h2p-1-box-22"/>
          <p:cNvSpPr/>
          <p:nvPr/>
        </p:nvSpPr>
        <p:spPr>
          <a:xfrm>
            <a:off x="685800" y="5219395"/>
            <a:ext cx="10820095" cy="895197"/>
          </a:xfrm>
          <a:prstGeom prst="roundRect">
            <a:avLst>
              <a:gd name="adj" fmla="val 17020"/>
            </a:avLst>
          </a:prstGeom>
          <a:solidFill>
            <a:srgbClr val="132F47"/>
          </a:solidFill>
          <a:ln w="19050">
            <a:solidFill>
              <a:srgbClr val="2851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h2p-1-text-23"/>
          <p:cNvSpPr txBox="1"/>
          <p:nvPr/>
        </p:nvSpPr>
        <p:spPr>
          <a:xfrm>
            <a:off x="914400" y="5429707"/>
            <a:ext cx="758037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8FA6B9"/>
                </a:solidFill>
                <a:latin typeface="Noto Sans Mono CJK SC"/>
              </a:rPr>
              <a:t>SEARCH TRACE</a:t>
            </a:r>
          </a:p>
        </p:txBody>
      </p:sp>
      <p:sp>
        <p:nvSpPr>
          <p:cNvPr id="25" name="h2p-1-text-24"/>
          <p:cNvSpPr txBox="1"/>
          <p:nvPr/>
        </p:nvSpPr>
        <p:spPr>
          <a:xfrm>
            <a:off x="2190902" y="5391302"/>
            <a:ext cx="8743492" cy="2487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FFFFFF"/>
                </a:solidFill>
                <a:latin typeface="Noto Sans CJK SC"/>
              </a:rPr>
              <a:t>材料 </a:t>
            </a:r>
            <a:r>
              <a:rPr sz="1350">
                <a:solidFill>
                  <a:srgbClr val="74D0C7"/>
                </a:solidFill>
                <a:latin typeface="Noto Sans CJK SC"/>
              </a:rPr>
              <a:t>→</a:t>
            </a:r>
            <a:r>
              <a:rPr sz="1350">
                <a:solidFill>
                  <a:srgbClr val="FFFFFF"/>
                </a:solidFill>
                <a:latin typeface="Noto Sans CJK SC"/>
              </a:rPr>
              <a:t> 任务语义 </a:t>
            </a:r>
            <a:r>
              <a:rPr sz="1350">
                <a:solidFill>
                  <a:srgbClr val="74D0C7"/>
                </a:solidFill>
                <a:latin typeface="Noto Sans CJK SC"/>
              </a:rPr>
              <a:t>→</a:t>
            </a:r>
            <a:r>
              <a:rPr sz="1350">
                <a:solidFill>
                  <a:srgbClr val="FFFFFF"/>
                </a:solidFill>
                <a:latin typeface="Noto Sans CJK SC"/>
              </a:rPr>
              <a:t> 能力图 </a:t>
            </a:r>
            <a:r>
              <a:rPr sz="1350">
                <a:solidFill>
                  <a:srgbClr val="F26B4B"/>
                </a:solidFill>
                <a:latin typeface="Noto Sans CJK SC"/>
              </a:rPr>
              <a:t>→</a:t>
            </a:r>
            <a:r>
              <a:rPr sz="1350">
                <a:solidFill>
                  <a:srgbClr val="FFFFFF"/>
                </a:solidFill>
                <a:latin typeface="Noto Sans CJK SC"/>
              </a:rPr>
              <a:t> 候选试验 </a:t>
            </a:r>
            <a:r>
              <a:rPr sz="1350">
                <a:solidFill>
                  <a:srgbClr val="D6A43B"/>
                </a:solidFill>
                <a:latin typeface="Noto Sans CJK SC"/>
              </a:rPr>
              <a:t>→</a:t>
            </a:r>
            <a:r>
              <a:rPr sz="1350">
                <a:solidFill>
                  <a:srgbClr val="FFFFFF"/>
                </a:solidFill>
                <a:latin typeface="Noto Sans CJK SC"/>
              </a:rPr>
              <a:t> Human 门禁 </a:t>
            </a:r>
            <a:r>
              <a:rPr sz="1350">
                <a:solidFill>
                  <a:srgbClr val="74D0C7"/>
                </a:solidFill>
                <a:latin typeface="Noto Sans CJK SC"/>
              </a:rPr>
              <a:t>→</a:t>
            </a:r>
            <a:r>
              <a:rPr sz="1350">
                <a:solidFill>
                  <a:srgbClr val="FFFFFF"/>
                </a:solidFill>
                <a:latin typeface="Noto Sans CJK SC"/>
              </a:rPr>
              <a:t> 最小充分方案</a:t>
            </a:r>
          </a:p>
        </p:txBody>
      </p:sp>
      <p:sp>
        <p:nvSpPr>
          <p:cNvPr id="26" name="h2p-1-text-25"/>
          <p:cNvSpPr txBox="1"/>
          <p:nvPr/>
        </p:nvSpPr>
        <p:spPr>
          <a:xfrm>
            <a:off x="685800" y="6524244"/>
            <a:ext cx="149595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8FA6B9"/>
                </a:solidFill>
                <a:latin typeface="Noto Sans Mono CJK SC"/>
              </a:rPr>
              <a:t>AGENTFIT · GOAI AGENT INFRA</a:t>
            </a:r>
          </a:p>
        </p:txBody>
      </p:sp>
      <p:sp>
        <p:nvSpPr>
          <p:cNvPr id="27" name="h2p-1-text-26"/>
          <p:cNvSpPr txBox="1"/>
          <p:nvPr/>
        </p:nvSpPr>
        <p:spPr>
          <a:xfrm>
            <a:off x="10494568" y="6524244"/>
            <a:ext cx="1068933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8FA6B9"/>
                </a:solidFill>
                <a:latin typeface="Noto Sans Mono CJK SC"/>
              </a:rPr>
              <a:t>INTERNAL DRAFT ·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2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2-text-2"/>
          <p:cNvSpPr txBox="1"/>
          <p:nvPr/>
        </p:nvSpPr>
        <p:spPr>
          <a:xfrm>
            <a:off x="685800" y="362102"/>
            <a:ext cx="2108606" cy="1901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02 / 12 · ILLUSTRATIVE JOURNEY</a:t>
            </a:r>
          </a:p>
        </p:txBody>
      </p:sp>
      <p:sp>
        <p:nvSpPr>
          <p:cNvPr id="4" name="h2p-2-text-3"/>
          <p:cNvSpPr txBox="1"/>
          <p:nvPr/>
        </p:nvSpPr>
        <p:spPr>
          <a:xfrm>
            <a:off x="685800" y="780897"/>
            <a:ext cx="11036808" cy="66659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3150">
                <a:solidFill>
                  <a:srgbClr val="102A43"/>
                </a:solidFill>
                <a:latin typeface="Noto Sans CJK SC"/>
              </a:rPr>
              <a:t>一条用户反馈，背后是四次不同决策。</a:t>
            </a:r>
          </a:p>
        </p:txBody>
      </p:sp>
      <p:sp>
        <p:nvSpPr>
          <p:cNvPr id="5" name="h2p-2-text-4"/>
          <p:cNvSpPr txBox="1"/>
          <p:nvPr/>
        </p:nvSpPr>
        <p:spPr>
          <a:xfrm>
            <a:off x="705002" y="1466697"/>
            <a:ext cx="10492740" cy="32369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53697C"/>
                </a:solidFill>
                <a:latin typeface="Noto Sans CJK SC"/>
              </a:rPr>
              <a:t>用户反馈定位 · 示意场景，不是运行证据</a:t>
            </a:r>
          </a:p>
        </p:txBody>
      </p:sp>
      <p:sp>
        <p:nvSpPr>
          <p:cNvPr id="6" name="h2p-2-box-5"/>
          <p:cNvSpPr/>
          <p:nvPr/>
        </p:nvSpPr>
        <p:spPr>
          <a:xfrm>
            <a:off x="685800" y="1848002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2-box-6"/>
          <p:cNvSpPr/>
          <p:nvPr/>
        </p:nvSpPr>
        <p:spPr>
          <a:xfrm>
            <a:off x="685800" y="2247595"/>
            <a:ext cx="2895904" cy="2590495"/>
          </a:xfrm>
          <a:prstGeom prst="roundRect">
            <a:avLst>
              <a:gd name="adj" fmla="val 10290"/>
            </a:avLst>
          </a:prstGeom>
          <a:solidFill>
            <a:srgbClr val="132F47"/>
          </a:solidFill>
          <a:ln w="19050">
            <a:solidFill>
              <a:srgbClr val="0B2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2-text-7"/>
          <p:cNvSpPr txBox="1"/>
          <p:nvPr/>
        </p:nvSpPr>
        <p:spPr>
          <a:xfrm>
            <a:off x="971092" y="2457907"/>
            <a:ext cx="2370124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4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800">
                <a:solidFill>
                  <a:srgbClr val="FFFFFF"/>
                </a:solidFill>
                <a:latin typeface="Noto Sans CJK SC"/>
              </a:rPr>
              <a:t>“预测结果</a:t>
            </a:r>
          </a:p>
          <a:p>
            <a:pPr marL="0" indent="0" algn="l">
              <a:lnSpc>
                <a:spcPts val="24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800">
                <a:solidFill>
                  <a:srgbClr val="FFFFFF"/>
                </a:solidFill>
                <a:latin typeface="Noto Sans CJK SC"/>
              </a:rPr>
              <a:t>明显不对，</a:t>
            </a:r>
          </a:p>
          <a:p>
            <a:pPr marL="0" indent="0" algn="l">
              <a:lnSpc>
                <a:spcPts val="24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800">
                <a:solidFill>
                  <a:srgbClr val="FFFFFF"/>
                </a:solidFill>
                <a:latin typeface="Noto Sans CJK SC"/>
              </a:rPr>
              <a:t>今天比昨天差很多。”</a:t>
            </a:r>
          </a:p>
        </p:txBody>
      </p:sp>
      <p:sp>
        <p:nvSpPr>
          <p:cNvPr id="9" name="h2p-2-text-8"/>
          <p:cNvSpPr txBox="1"/>
          <p:nvPr/>
        </p:nvSpPr>
        <p:spPr>
          <a:xfrm>
            <a:off x="971092" y="3829507"/>
            <a:ext cx="2370124" cy="5788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C6D3DD"/>
                </a:solidFill>
                <a:latin typeface="Noto Sans CJK SC"/>
              </a:rPr>
              <a:t>自然语言只描述了感受，</a:t>
            </a:r>
          </a:p>
          <a:p>
            <a:pPr marL="0" indent="0" algn="l">
              <a:lnSpc>
                <a:spcPts val="15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C6D3DD"/>
                </a:solidFill>
                <a:latin typeface="Noto Sans CJK SC"/>
              </a:rPr>
              <a:t>没有告诉系统查什么、</a:t>
            </a:r>
          </a:p>
          <a:p>
            <a:pPr marL="0" indent="0" algn="l">
              <a:lnSpc>
                <a:spcPts val="15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C6D3DD"/>
                </a:solidFill>
                <a:latin typeface="Noto Sans CJK SC"/>
              </a:rPr>
              <a:t>怎样证明、谁来负责。</a:t>
            </a:r>
          </a:p>
        </p:txBody>
      </p:sp>
      <p:sp>
        <p:nvSpPr>
          <p:cNvPr id="10" name="h2p-2-box-9"/>
          <p:cNvSpPr/>
          <p:nvPr/>
        </p:nvSpPr>
        <p:spPr>
          <a:xfrm>
            <a:off x="4238244" y="3010204"/>
            <a:ext cx="6667804" cy="19202"/>
          </a:xfrm>
          <a:prstGeom prst="rect">
            <a:avLst/>
          </a:prstGeom>
          <a:solidFill>
            <a:srgbClr val="1A8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2p-2-box-10"/>
          <p:cNvSpPr/>
          <p:nvPr/>
        </p:nvSpPr>
        <p:spPr>
          <a:xfrm>
            <a:off x="4095597" y="2723997"/>
            <a:ext cx="552297" cy="55229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h2p-2-text-11"/>
          <p:cNvSpPr txBox="1"/>
          <p:nvPr/>
        </p:nvSpPr>
        <p:spPr>
          <a:xfrm>
            <a:off x="4109313" y="2905048"/>
            <a:ext cx="524865" cy="1426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1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A8D85"/>
                </a:solidFill>
                <a:latin typeface="Noto Sans Mono CJK SC"/>
              </a:rPr>
              <a:t>01</a:t>
            </a:r>
          </a:p>
        </p:txBody>
      </p:sp>
      <p:sp>
        <p:nvSpPr>
          <p:cNvPr id="13" name="h2p-2-box-12"/>
          <p:cNvSpPr/>
          <p:nvPr/>
        </p:nvSpPr>
        <p:spPr>
          <a:xfrm>
            <a:off x="6286500" y="2723997"/>
            <a:ext cx="552297" cy="55229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2p-2-text-13"/>
          <p:cNvSpPr txBox="1"/>
          <p:nvPr/>
        </p:nvSpPr>
        <p:spPr>
          <a:xfrm>
            <a:off x="6300216" y="2905048"/>
            <a:ext cx="524865" cy="1426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1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A8D85"/>
                </a:solidFill>
                <a:latin typeface="Noto Sans Mono CJK SC"/>
              </a:rPr>
              <a:t>02</a:t>
            </a:r>
          </a:p>
        </p:txBody>
      </p:sp>
      <p:sp>
        <p:nvSpPr>
          <p:cNvPr id="15" name="h2p-2-box-14"/>
          <p:cNvSpPr/>
          <p:nvPr/>
        </p:nvSpPr>
        <p:spPr>
          <a:xfrm>
            <a:off x="8477402" y="2723997"/>
            <a:ext cx="552297" cy="55229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h2p-2-text-15"/>
          <p:cNvSpPr txBox="1"/>
          <p:nvPr/>
        </p:nvSpPr>
        <p:spPr>
          <a:xfrm>
            <a:off x="8491118" y="2905048"/>
            <a:ext cx="524865" cy="1426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1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A8D85"/>
                </a:solidFill>
                <a:latin typeface="Noto Sans Mono CJK SC"/>
              </a:rPr>
              <a:t>03</a:t>
            </a:r>
          </a:p>
        </p:txBody>
      </p:sp>
      <p:sp>
        <p:nvSpPr>
          <p:cNvPr id="17" name="h2p-2-box-16"/>
          <p:cNvSpPr/>
          <p:nvPr/>
        </p:nvSpPr>
        <p:spPr>
          <a:xfrm>
            <a:off x="10668304" y="2723997"/>
            <a:ext cx="552297" cy="55229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2p-2-text-17"/>
          <p:cNvSpPr txBox="1"/>
          <p:nvPr/>
        </p:nvSpPr>
        <p:spPr>
          <a:xfrm>
            <a:off x="10682020" y="2905048"/>
            <a:ext cx="524865" cy="1426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1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A8D85"/>
                </a:solidFill>
                <a:latin typeface="Noto Sans Mono CJK SC"/>
              </a:rPr>
              <a:t>04</a:t>
            </a:r>
          </a:p>
        </p:txBody>
      </p:sp>
      <p:sp>
        <p:nvSpPr>
          <p:cNvPr id="19" name="h2p-2-text-18"/>
          <p:cNvSpPr txBox="1"/>
          <p:nvPr/>
        </p:nvSpPr>
        <p:spPr>
          <a:xfrm>
            <a:off x="3953865" y="3562502"/>
            <a:ext cx="874166" cy="2514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650">
                <a:solidFill>
                  <a:srgbClr val="102A43"/>
                </a:solidFill>
                <a:latin typeface="Noto Sans CJK SC"/>
              </a:rPr>
              <a:t>聚合</a:t>
            </a:r>
          </a:p>
        </p:txBody>
      </p:sp>
      <p:sp>
        <p:nvSpPr>
          <p:cNvPr id="20" name="h2p-2-text-19"/>
          <p:cNvSpPr txBox="1"/>
          <p:nvPr/>
        </p:nvSpPr>
        <p:spPr>
          <a:xfrm>
            <a:off x="6144768" y="3562502"/>
            <a:ext cx="874166" cy="2514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650">
                <a:solidFill>
                  <a:srgbClr val="102A43"/>
                </a:solidFill>
                <a:latin typeface="Noto Sans CJK SC"/>
              </a:rPr>
              <a:t>定位</a:t>
            </a:r>
          </a:p>
        </p:txBody>
      </p:sp>
      <p:sp>
        <p:nvSpPr>
          <p:cNvPr id="21" name="h2p-2-text-20"/>
          <p:cNvSpPr txBox="1"/>
          <p:nvPr/>
        </p:nvSpPr>
        <p:spPr>
          <a:xfrm>
            <a:off x="8335670" y="3562502"/>
            <a:ext cx="874166" cy="2514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650">
                <a:solidFill>
                  <a:srgbClr val="102A43"/>
                </a:solidFill>
                <a:latin typeface="Noto Sans CJK SC"/>
              </a:rPr>
              <a:t>核验</a:t>
            </a:r>
          </a:p>
        </p:txBody>
      </p:sp>
      <p:sp>
        <p:nvSpPr>
          <p:cNvPr id="22" name="h2p-2-text-21"/>
          <p:cNvSpPr txBox="1"/>
          <p:nvPr/>
        </p:nvSpPr>
        <p:spPr>
          <a:xfrm>
            <a:off x="10525658" y="3562502"/>
            <a:ext cx="874166" cy="2514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650">
                <a:solidFill>
                  <a:srgbClr val="102A43"/>
                </a:solidFill>
                <a:latin typeface="Noto Sans CJK SC"/>
              </a:rPr>
              <a:t>交付</a:t>
            </a:r>
          </a:p>
        </p:txBody>
      </p:sp>
      <p:sp>
        <p:nvSpPr>
          <p:cNvPr id="23" name="h2p-2-text-22"/>
          <p:cNvSpPr txBox="1"/>
          <p:nvPr/>
        </p:nvSpPr>
        <p:spPr>
          <a:xfrm>
            <a:off x="3749954" y="4000500"/>
            <a:ext cx="1262786" cy="36027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哪些反馈属于</a:t>
            </a:r>
          </a:p>
          <a:p>
            <a:pPr marL="0" indent="0"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同一问题？</a:t>
            </a:r>
          </a:p>
        </p:txBody>
      </p:sp>
      <p:sp>
        <p:nvSpPr>
          <p:cNvPr id="24" name="h2p-2-text-23"/>
          <p:cNvSpPr txBox="1"/>
          <p:nvPr/>
        </p:nvSpPr>
        <p:spPr>
          <a:xfrm>
            <a:off x="5940856" y="4000500"/>
            <a:ext cx="1262786" cy="36027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数据、模型还是</a:t>
            </a:r>
          </a:p>
          <a:p>
            <a:pPr marL="0" indent="0"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查询链路？</a:t>
            </a:r>
          </a:p>
        </p:txBody>
      </p:sp>
      <p:sp>
        <p:nvSpPr>
          <p:cNvPr id="25" name="h2p-2-text-24"/>
          <p:cNvSpPr txBox="1"/>
          <p:nvPr/>
        </p:nvSpPr>
        <p:spPr>
          <a:xfrm>
            <a:off x="8131759" y="4000500"/>
            <a:ext cx="1262786" cy="36027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什么证据足以</a:t>
            </a:r>
          </a:p>
          <a:p>
            <a:pPr marL="0" indent="0"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排除其他原因？</a:t>
            </a:r>
          </a:p>
        </p:txBody>
      </p:sp>
      <p:sp>
        <p:nvSpPr>
          <p:cNvPr id="26" name="h2p-2-text-25"/>
          <p:cNvSpPr txBox="1"/>
          <p:nvPr/>
        </p:nvSpPr>
        <p:spPr>
          <a:xfrm>
            <a:off x="10322661" y="4000500"/>
            <a:ext cx="1262786" cy="36027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结论、风险和</a:t>
            </a:r>
          </a:p>
          <a:p>
            <a:pPr marL="0" indent="0"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下一步是什么？</a:t>
            </a:r>
          </a:p>
        </p:txBody>
      </p:sp>
      <p:sp>
        <p:nvSpPr>
          <p:cNvPr id="27" name="h2p-2-box-26"/>
          <p:cNvSpPr/>
          <p:nvPr/>
        </p:nvSpPr>
        <p:spPr>
          <a:xfrm>
            <a:off x="4095597" y="5143500"/>
            <a:ext cx="7543800" cy="819302"/>
          </a:xfrm>
          <a:prstGeom prst="roundRect">
            <a:avLst>
              <a:gd name="adj" fmla="val 16280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h2p-2-text-27"/>
          <p:cNvSpPr txBox="1"/>
          <p:nvPr/>
        </p:nvSpPr>
        <p:spPr>
          <a:xfrm>
            <a:off x="4331512" y="5314492"/>
            <a:ext cx="7072884" cy="4956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C64C32"/>
                </a:solidFill>
                <a:latin typeface="Noto Sans CJK SC"/>
              </a:rPr>
              <a:t>如果输入、验收和责任边界没有定义，</a:t>
            </a:r>
          </a:p>
          <a:p>
            <a:pPr marL="0" indent="0"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C64C32"/>
                </a:solidFill>
                <a:latin typeface="Noto Sans CJK SC"/>
              </a:rPr>
              <a:t>创建 Agent 只会把不确定性藏进 Prompt。</a:t>
            </a:r>
          </a:p>
        </p:txBody>
      </p:sp>
      <p:sp>
        <p:nvSpPr>
          <p:cNvPr id="29" name="h2p-2-text-28"/>
          <p:cNvSpPr txBox="1"/>
          <p:nvPr/>
        </p:nvSpPr>
        <p:spPr>
          <a:xfrm>
            <a:off x="685800" y="6524244"/>
            <a:ext cx="1816912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USER FEEDBACK LOCATING</a:t>
            </a:r>
          </a:p>
        </p:txBody>
      </p:sp>
      <p:sp>
        <p:nvSpPr>
          <p:cNvPr id="30" name="h2p-2-text-29"/>
          <p:cNvSpPr txBox="1"/>
          <p:nvPr/>
        </p:nvSpPr>
        <p:spPr>
          <a:xfrm>
            <a:off x="10067544" y="6524244"/>
            <a:ext cx="149595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示意场景 · 非运行证据 ·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3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3-text-2"/>
          <p:cNvSpPr txBox="1"/>
          <p:nvPr/>
        </p:nvSpPr>
        <p:spPr>
          <a:xfrm>
            <a:off x="685800" y="362102"/>
            <a:ext cx="1632204" cy="1901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03 / 12 · MISSING LAYER</a:t>
            </a:r>
          </a:p>
        </p:txBody>
      </p:sp>
      <p:sp>
        <p:nvSpPr>
          <p:cNvPr id="4" name="h2p-3-text-3"/>
          <p:cNvSpPr txBox="1"/>
          <p:nvPr/>
        </p:nvSpPr>
        <p:spPr>
          <a:xfrm>
            <a:off x="685800" y="780897"/>
            <a:ext cx="11036808" cy="66659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3150">
                <a:solidFill>
                  <a:srgbClr val="102A43"/>
                </a:solidFill>
                <a:latin typeface="Noto Sans CJK SC"/>
              </a:rPr>
              <a:t>平台给了能力，方案决策仍然留给企业。</a:t>
            </a:r>
          </a:p>
        </p:txBody>
      </p:sp>
      <p:sp>
        <p:nvSpPr>
          <p:cNvPr id="5" name="h2p-3-text-4"/>
          <p:cNvSpPr txBox="1"/>
          <p:nvPr/>
        </p:nvSpPr>
        <p:spPr>
          <a:xfrm>
            <a:off x="705002" y="1466697"/>
            <a:ext cx="10492740" cy="32369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53697C"/>
                </a:solidFill>
                <a:latin typeface="Noto Sans CJK SC"/>
              </a:rPr>
              <a:t>重平台要求先理解全部组件；轻框架要求从零理解业务。缺失的是把任务变成架构决策的中间层。</a:t>
            </a:r>
          </a:p>
        </p:txBody>
      </p:sp>
      <p:sp>
        <p:nvSpPr>
          <p:cNvPr id="6" name="h2p-3-box-5"/>
          <p:cNvSpPr/>
          <p:nvPr/>
        </p:nvSpPr>
        <p:spPr>
          <a:xfrm>
            <a:off x="685800" y="1848002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3-box-6"/>
          <p:cNvSpPr/>
          <p:nvPr/>
        </p:nvSpPr>
        <p:spPr>
          <a:xfrm>
            <a:off x="685800" y="2286000"/>
            <a:ext cx="3238804" cy="3010204"/>
          </a:xfrm>
          <a:prstGeom prst="roundRect">
            <a:avLst>
              <a:gd name="adj" fmla="val 7589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3-text-7"/>
          <p:cNvSpPr txBox="1"/>
          <p:nvPr/>
        </p:nvSpPr>
        <p:spPr>
          <a:xfrm>
            <a:off x="933602" y="2514600"/>
            <a:ext cx="1409090" cy="55229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4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4350">
                <a:solidFill>
                  <a:srgbClr val="426B86"/>
                </a:solidFill>
                <a:latin typeface="Noto Sans Mono CJK SC"/>
              </a:rPr>
              <a:t>HEAVY</a:t>
            </a:r>
          </a:p>
        </p:txBody>
      </p:sp>
      <p:sp>
        <p:nvSpPr>
          <p:cNvPr id="9" name="h2p-3-text-8"/>
          <p:cNvSpPr txBox="1"/>
          <p:nvPr/>
        </p:nvSpPr>
        <p:spPr>
          <a:xfrm>
            <a:off x="952804" y="3200400"/>
            <a:ext cx="854964" cy="2514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650">
                <a:solidFill>
                  <a:srgbClr val="102A43"/>
                </a:solidFill>
                <a:latin typeface="Noto Sans CJK SC"/>
              </a:rPr>
              <a:t>什么都有</a:t>
            </a:r>
          </a:p>
        </p:txBody>
      </p:sp>
      <p:sp>
        <p:nvSpPr>
          <p:cNvPr id="10" name="h2p-3-text-9"/>
          <p:cNvSpPr txBox="1"/>
          <p:nvPr/>
        </p:nvSpPr>
        <p:spPr>
          <a:xfrm>
            <a:off x="952804" y="3638397"/>
            <a:ext cx="2720340" cy="4690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8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53697C"/>
                </a:solidFill>
                <a:latin typeface="Noto Sans CJK SC"/>
              </a:rPr>
              <a:t>身份 · 编排 · RAG · Memory</a:t>
            </a:r>
          </a:p>
          <a:p>
            <a:pPr marL="0" indent="0" algn="l">
              <a:lnSpc>
                <a:spcPts val="18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53697C"/>
                </a:solidFill>
                <a:latin typeface="Noto Sans CJK SC"/>
              </a:rPr>
              <a:t>MCP · 权限 · 观测 · 部署</a:t>
            </a:r>
          </a:p>
        </p:txBody>
      </p:sp>
      <p:sp>
        <p:nvSpPr>
          <p:cNvPr id="11" name="h2p-3-text-10"/>
          <p:cNvSpPr txBox="1"/>
          <p:nvPr/>
        </p:nvSpPr>
        <p:spPr>
          <a:xfrm>
            <a:off x="952804" y="4572000"/>
            <a:ext cx="2623413" cy="180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426B86"/>
                </a:solidFill>
                <a:latin typeface="Noto Sans CJK SC"/>
              </a:rPr>
              <a:t>问题：哪些能力真的必要？</a:t>
            </a:r>
          </a:p>
        </p:txBody>
      </p:sp>
      <p:sp>
        <p:nvSpPr>
          <p:cNvPr id="12" name="h2p-3-box-11"/>
          <p:cNvSpPr/>
          <p:nvPr/>
        </p:nvSpPr>
        <p:spPr>
          <a:xfrm>
            <a:off x="8268004" y="2286000"/>
            <a:ext cx="3238804" cy="3010204"/>
          </a:xfrm>
          <a:prstGeom prst="roundRect">
            <a:avLst>
              <a:gd name="adj" fmla="val 7589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2p-3-text-12"/>
          <p:cNvSpPr txBox="1"/>
          <p:nvPr/>
        </p:nvSpPr>
        <p:spPr>
          <a:xfrm>
            <a:off x="8514892" y="2514600"/>
            <a:ext cx="1409090" cy="55229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4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4350">
                <a:solidFill>
                  <a:srgbClr val="F26B4B"/>
                </a:solidFill>
                <a:latin typeface="Noto Sans Mono CJK SC"/>
              </a:rPr>
              <a:t>LIGHT</a:t>
            </a:r>
          </a:p>
        </p:txBody>
      </p:sp>
      <p:sp>
        <p:nvSpPr>
          <p:cNvPr id="14" name="h2p-3-text-13"/>
          <p:cNvSpPr txBox="1"/>
          <p:nvPr/>
        </p:nvSpPr>
        <p:spPr>
          <a:xfrm>
            <a:off x="8534095" y="3200400"/>
            <a:ext cx="854964" cy="2514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650">
                <a:solidFill>
                  <a:srgbClr val="102A43"/>
                </a:solidFill>
                <a:latin typeface="Noto Sans CJK SC"/>
              </a:rPr>
              <a:t>只有框架</a:t>
            </a:r>
          </a:p>
        </p:txBody>
      </p:sp>
      <p:sp>
        <p:nvSpPr>
          <p:cNvPr id="15" name="h2p-3-text-14"/>
          <p:cNvSpPr txBox="1"/>
          <p:nvPr/>
        </p:nvSpPr>
        <p:spPr>
          <a:xfrm>
            <a:off x="8534095" y="3638397"/>
            <a:ext cx="2720340" cy="4690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8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53697C"/>
                </a:solidFill>
                <a:latin typeface="Noto Sans CJK SC"/>
              </a:rPr>
              <a:t>Prompt · Tool · Loop</a:t>
            </a:r>
          </a:p>
          <a:p>
            <a:pPr marL="0" indent="0" algn="l">
              <a:lnSpc>
                <a:spcPts val="18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53697C"/>
                </a:solidFill>
                <a:latin typeface="Noto Sans CJK SC"/>
              </a:rPr>
              <a:t>其余全部交给开发者</a:t>
            </a:r>
          </a:p>
        </p:txBody>
      </p:sp>
      <p:sp>
        <p:nvSpPr>
          <p:cNvPr id="16" name="h2p-3-text-15"/>
          <p:cNvSpPr txBox="1"/>
          <p:nvPr/>
        </p:nvSpPr>
        <p:spPr>
          <a:xfrm>
            <a:off x="8534095" y="4572000"/>
            <a:ext cx="2623413" cy="180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C64C32"/>
                </a:solidFill>
                <a:latin typeface="Noto Sans CJK SC"/>
              </a:rPr>
              <a:t>问题：先拆什么、怎样验证？</a:t>
            </a:r>
          </a:p>
        </p:txBody>
      </p:sp>
      <p:sp>
        <p:nvSpPr>
          <p:cNvPr id="17" name="h2p-3-text-16"/>
          <p:cNvSpPr txBox="1"/>
          <p:nvPr/>
        </p:nvSpPr>
        <p:spPr>
          <a:xfrm>
            <a:off x="4171492" y="2895904"/>
            <a:ext cx="466344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77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150">
                <a:solidFill>
                  <a:srgbClr val="1A8D85"/>
                </a:solidFill>
                <a:latin typeface="Noto Sans CJK SC"/>
              </a:rPr>
              <a:t>→</a:t>
            </a:r>
          </a:p>
        </p:txBody>
      </p:sp>
      <p:sp>
        <p:nvSpPr>
          <p:cNvPr id="18" name="h2p-3-text-17"/>
          <p:cNvSpPr txBox="1"/>
          <p:nvPr/>
        </p:nvSpPr>
        <p:spPr>
          <a:xfrm>
            <a:off x="7563002" y="2895904"/>
            <a:ext cx="466344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77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150">
                <a:solidFill>
                  <a:srgbClr val="F26B4B"/>
                </a:solidFill>
                <a:latin typeface="Noto Sans CJK SC"/>
              </a:rPr>
              <a:t>←</a:t>
            </a:r>
          </a:p>
        </p:txBody>
      </p:sp>
      <p:sp>
        <p:nvSpPr>
          <p:cNvPr id="19" name="h2p-3-box-18"/>
          <p:cNvSpPr/>
          <p:nvPr/>
        </p:nvSpPr>
        <p:spPr>
          <a:xfrm>
            <a:off x="4628692" y="2590495"/>
            <a:ext cx="2933395" cy="2190902"/>
          </a:xfrm>
          <a:prstGeom prst="roundRect">
            <a:avLst>
              <a:gd name="adj" fmla="val 50000"/>
            </a:avLst>
          </a:prstGeom>
          <a:solidFill>
            <a:srgbClr val="132F47"/>
          </a:solidFill>
          <a:ln w="19050">
            <a:solidFill>
              <a:srgbClr val="0B2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2p-3-text-19"/>
          <p:cNvSpPr txBox="1"/>
          <p:nvPr/>
        </p:nvSpPr>
        <p:spPr>
          <a:xfrm>
            <a:off x="5391302" y="3010204"/>
            <a:ext cx="1073505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74D0C7"/>
                </a:solidFill>
                <a:latin typeface="Noto Sans Mono CJK SC"/>
              </a:rPr>
              <a:t>THE MISSING LAYER</a:t>
            </a:r>
          </a:p>
        </p:txBody>
      </p:sp>
      <p:sp>
        <p:nvSpPr>
          <p:cNvPr id="21" name="h2p-3-text-20"/>
          <p:cNvSpPr txBox="1"/>
          <p:nvPr/>
        </p:nvSpPr>
        <p:spPr>
          <a:xfrm>
            <a:off x="5008168" y="3390595"/>
            <a:ext cx="2176272" cy="5907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23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020">
                <a:solidFill>
                  <a:srgbClr val="FFFFFF"/>
                </a:solidFill>
                <a:latin typeface="Noto Sans CJK SC"/>
              </a:rPr>
              <a:t>方案工程</a:t>
            </a:r>
          </a:p>
          <a:p>
            <a:pPr marL="0" indent="0" algn="ctr">
              <a:lnSpc>
                <a:spcPts val="23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020">
                <a:solidFill>
                  <a:srgbClr val="FFFFFF"/>
                </a:solidFill>
                <a:latin typeface="Noto Sans CJK SC"/>
              </a:rPr>
              <a:t>与证据闭环</a:t>
            </a:r>
          </a:p>
        </p:txBody>
      </p:sp>
      <p:sp>
        <p:nvSpPr>
          <p:cNvPr id="22" name="h2p-3-text-21"/>
          <p:cNvSpPr txBox="1"/>
          <p:nvPr/>
        </p:nvSpPr>
        <p:spPr>
          <a:xfrm>
            <a:off x="4988052" y="4171492"/>
            <a:ext cx="2214676" cy="36027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C6D3DD"/>
                </a:solidFill>
                <a:latin typeface="Noto Sans CJK SC"/>
              </a:rPr>
              <a:t>回答“该不该造、怎样造、</a:t>
            </a:r>
          </a:p>
          <a:p>
            <a:pPr marL="0" indent="0"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C6D3DD"/>
                </a:solidFill>
                <a:latin typeface="Noto Sans CJK SC"/>
              </a:rPr>
              <a:t>凭什么交付”。</a:t>
            </a:r>
          </a:p>
        </p:txBody>
      </p:sp>
      <p:sp>
        <p:nvSpPr>
          <p:cNvPr id="23" name="h2p-3-box-22"/>
          <p:cNvSpPr/>
          <p:nvPr/>
        </p:nvSpPr>
        <p:spPr>
          <a:xfrm>
            <a:off x="3409797" y="5600700"/>
            <a:ext cx="5372100" cy="323697"/>
          </a:xfrm>
          <a:prstGeom prst="roundRect">
            <a:avLst>
              <a:gd name="adj" fmla="val 5000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h2p-3-text-23"/>
          <p:cNvSpPr txBox="1"/>
          <p:nvPr/>
        </p:nvSpPr>
        <p:spPr>
          <a:xfrm>
            <a:off x="3492093" y="5667451"/>
            <a:ext cx="5207508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A8D85"/>
                </a:solidFill>
                <a:latin typeface="Noto Sans Mono CJK SC"/>
              </a:rPr>
              <a:t>AgentFit 补的是决策层，不是另一个运行时</a:t>
            </a:r>
          </a:p>
        </p:txBody>
      </p:sp>
      <p:sp>
        <p:nvSpPr>
          <p:cNvPr id="25" name="h2p-3-text-24"/>
          <p:cNvSpPr txBox="1"/>
          <p:nvPr/>
        </p:nvSpPr>
        <p:spPr>
          <a:xfrm>
            <a:off x="685800" y="6524244"/>
            <a:ext cx="1442923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PROBLEM FRAMING</a:t>
            </a:r>
          </a:p>
        </p:txBody>
      </p:sp>
      <p:sp>
        <p:nvSpPr>
          <p:cNvPr id="26" name="h2p-3-text-25"/>
          <p:cNvSpPr txBox="1"/>
          <p:nvPr/>
        </p:nvSpPr>
        <p:spPr>
          <a:xfrm>
            <a:off x="9960559" y="6524244"/>
            <a:ext cx="1602943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方案假设 · 真实证据待补 ·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4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4-text-2"/>
          <p:cNvSpPr txBox="1"/>
          <p:nvPr/>
        </p:nvSpPr>
        <p:spPr>
          <a:xfrm>
            <a:off x="685800" y="362102"/>
            <a:ext cx="1155801" cy="1901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04 / 12 · METHOD</a:t>
            </a:r>
          </a:p>
        </p:txBody>
      </p:sp>
      <p:sp>
        <p:nvSpPr>
          <p:cNvPr id="4" name="h2p-4-text-3"/>
          <p:cNvSpPr txBox="1"/>
          <p:nvPr/>
        </p:nvSpPr>
        <p:spPr>
          <a:xfrm>
            <a:off x="685800" y="780897"/>
            <a:ext cx="11036808" cy="66659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3150">
                <a:solidFill>
                  <a:srgbClr val="102A43"/>
                </a:solidFill>
                <a:latin typeface="Noto Sans CJK SC"/>
              </a:rPr>
              <a:t>AgentFit 把“我要自动化”变成一场可验证搜索。</a:t>
            </a:r>
          </a:p>
        </p:txBody>
      </p:sp>
      <p:sp>
        <p:nvSpPr>
          <p:cNvPr id="5" name="h2p-4-text-4"/>
          <p:cNvSpPr txBox="1"/>
          <p:nvPr/>
        </p:nvSpPr>
        <p:spPr>
          <a:xfrm>
            <a:off x="705002" y="1466697"/>
            <a:ext cx="10492740" cy="32369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53697C"/>
                </a:solidFill>
                <a:latin typeface="Noto Sans CJK SC"/>
              </a:rPr>
              <a:t>用户反馈定位示意：先编译任务，再对齐能力，最后让候选架构在统一门槛下竞争。</a:t>
            </a:r>
          </a:p>
        </p:txBody>
      </p:sp>
      <p:sp>
        <p:nvSpPr>
          <p:cNvPr id="6" name="h2p-4-box-5"/>
          <p:cNvSpPr/>
          <p:nvPr/>
        </p:nvSpPr>
        <p:spPr>
          <a:xfrm>
            <a:off x="685800" y="1848002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4-box-6"/>
          <p:cNvSpPr/>
          <p:nvPr/>
        </p:nvSpPr>
        <p:spPr>
          <a:xfrm>
            <a:off x="685800" y="2266797"/>
            <a:ext cx="2723997" cy="3066897"/>
          </a:xfrm>
          <a:prstGeom prst="roundRect">
            <a:avLst>
              <a:gd name="adj" fmla="val 839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4-text-7"/>
          <p:cNvSpPr txBox="1"/>
          <p:nvPr/>
        </p:nvSpPr>
        <p:spPr>
          <a:xfrm>
            <a:off x="933602" y="2514600"/>
            <a:ext cx="1136599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A8D85"/>
                </a:solidFill>
                <a:latin typeface="Noto Sans Mono CJK SC"/>
              </a:rPr>
              <a:t>01 · COMPILE TASK</a:t>
            </a:r>
          </a:p>
        </p:txBody>
      </p:sp>
      <p:sp>
        <p:nvSpPr>
          <p:cNvPr id="9" name="h2p-4-text-8"/>
          <p:cNvSpPr txBox="1"/>
          <p:nvPr/>
        </p:nvSpPr>
        <p:spPr>
          <a:xfrm>
            <a:off x="933602" y="2952597"/>
            <a:ext cx="2234793" cy="2514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650">
                <a:solidFill>
                  <a:srgbClr val="102A43"/>
                </a:solidFill>
                <a:latin typeface="Noto Sans CJK SC"/>
              </a:rPr>
              <a:t>任务语义</a:t>
            </a:r>
          </a:p>
        </p:txBody>
      </p:sp>
      <p:sp>
        <p:nvSpPr>
          <p:cNvPr id="10" name="h2p-4-text-9"/>
          <p:cNvSpPr txBox="1"/>
          <p:nvPr/>
        </p:nvSpPr>
        <p:spPr>
          <a:xfrm>
            <a:off x="933602" y="3372307"/>
            <a:ext cx="2253996" cy="9390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8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53697C"/>
                </a:solidFill>
                <a:latin typeface="Noto Sans CJK SC"/>
              </a:rPr>
              <a:t>输入：反馈与上下文</a:t>
            </a:r>
          </a:p>
          <a:p>
            <a:pPr marL="0" indent="0" algn="l">
              <a:lnSpc>
                <a:spcPts val="18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53697C"/>
                </a:solidFill>
                <a:latin typeface="Noto Sans CJK SC"/>
              </a:rPr>
              <a:t>输出：可验收结论</a:t>
            </a:r>
          </a:p>
          <a:p>
            <a:pPr marL="0" indent="0" algn="l">
              <a:lnSpc>
                <a:spcPts val="18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53697C"/>
                </a:solidFill>
                <a:latin typeface="Noto Sans CJK SC"/>
              </a:rPr>
              <a:t>指标：正确 / 成本 / 时延</a:t>
            </a:r>
          </a:p>
          <a:p>
            <a:pPr marL="0" indent="0" algn="l">
              <a:lnSpc>
                <a:spcPts val="18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53697C"/>
                </a:solidFill>
                <a:latin typeface="Noto Sans CJK SC"/>
              </a:rPr>
              <a:t>红线：只读、可拒绝</a:t>
            </a:r>
          </a:p>
        </p:txBody>
      </p:sp>
      <p:sp>
        <p:nvSpPr>
          <p:cNvPr id="11" name="h2p-4-box-10"/>
          <p:cNvSpPr/>
          <p:nvPr/>
        </p:nvSpPr>
        <p:spPr>
          <a:xfrm>
            <a:off x="933602" y="4762195"/>
            <a:ext cx="2038197" cy="285292"/>
          </a:xfrm>
          <a:prstGeom prst="roundRect">
            <a:avLst>
              <a:gd name="adj" fmla="val 40000"/>
            </a:avLst>
          </a:prstGeom>
          <a:solidFill>
            <a:srgbClr val="1A8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h2p-4-text-11"/>
          <p:cNvSpPr txBox="1"/>
          <p:nvPr/>
        </p:nvSpPr>
        <p:spPr>
          <a:xfrm>
            <a:off x="1019556" y="4819802"/>
            <a:ext cx="1865376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FFFFFF"/>
                </a:solidFill>
                <a:latin typeface="Noto Sans Mono CJK SC"/>
              </a:rPr>
              <a:t>TaskSemanticSpec</a:t>
            </a:r>
          </a:p>
        </p:txBody>
      </p:sp>
      <p:sp>
        <p:nvSpPr>
          <p:cNvPr id="13" name="h2p-4-text-12"/>
          <p:cNvSpPr txBox="1"/>
          <p:nvPr/>
        </p:nvSpPr>
        <p:spPr>
          <a:xfrm>
            <a:off x="3562502" y="3276295"/>
            <a:ext cx="388620" cy="381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2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700">
                <a:solidFill>
                  <a:srgbClr val="1A8D85"/>
                </a:solidFill>
                <a:latin typeface="Noto Sans CJK SC"/>
              </a:rPr>
              <a:t>→</a:t>
            </a:r>
          </a:p>
        </p:txBody>
      </p:sp>
      <p:sp>
        <p:nvSpPr>
          <p:cNvPr id="14" name="h2p-4-box-13"/>
          <p:cNvSpPr/>
          <p:nvPr/>
        </p:nvSpPr>
        <p:spPr>
          <a:xfrm>
            <a:off x="3942892" y="2266797"/>
            <a:ext cx="3696004" cy="3066897"/>
          </a:xfrm>
          <a:prstGeom prst="roundRect">
            <a:avLst>
              <a:gd name="adj" fmla="val 7450"/>
            </a:avLst>
          </a:prstGeom>
          <a:solidFill>
            <a:srgbClr val="FFFFFF"/>
          </a:solidFill>
          <a:ln w="19050">
            <a:solidFill>
              <a:srgbClr val="5369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h2p-4-text-14"/>
          <p:cNvSpPr txBox="1"/>
          <p:nvPr/>
        </p:nvSpPr>
        <p:spPr>
          <a:xfrm>
            <a:off x="4209897" y="2514600"/>
            <a:ext cx="1516075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53697C"/>
                </a:solidFill>
                <a:latin typeface="Noto Sans Mono CJK SC"/>
              </a:rPr>
              <a:t>02 · ALIGN CAPABILITIES</a:t>
            </a:r>
          </a:p>
        </p:txBody>
      </p:sp>
      <p:sp>
        <p:nvSpPr>
          <p:cNvPr id="16" name="h2p-4-text-15"/>
          <p:cNvSpPr txBox="1"/>
          <p:nvPr/>
        </p:nvSpPr>
        <p:spPr>
          <a:xfrm>
            <a:off x="4209897" y="2952597"/>
            <a:ext cx="1068933" cy="2514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650">
                <a:solidFill>
                  <a:srgbClr val="102A43"/>
                </a:solidFill>
                <a:latin typeface="Noto Sans CJK SC"/>
              </a:rPr>
              <a:t>能力语义图</a:t>
            </a:r>
          </a:p>
        </p:txBody>
      </p:sp>
      <p:sp>
        <p:nvSpPr>
          <p:cNvPr id="17" name="h2p-4-box-16"/>
          <p:cNvSpPr/>
          <p:nvPr/>
        </p:nvSpPr>
        <p:spPr>
          <a:xfrm>
            <a:off x="4229100" y="3467404"/>
            <a:ext cx="875995" cy="32369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2p-4-text-17"/>
          <p:cNvSpPr txBox="1"/>
          <p:nvPr/>
        </p:nvSpPr>
        <p:spPr>
          <a:xfrm>
            <a:off x="4356201" y="3534156"/>
            <a:ext cx="621792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A8D85"/>
                </a:solidFill>
                <a:latin typeface="Noto Sans Mono CJK SC"/>
              </a:rPr>
              <a:t>Skill</a:t>
            </a:r>
          </a:p>
        </p:txBody>
      </p:sp>
      <p:sp>
        <p:nvSpPr>
          <p:cNvPr id="19" name="h2p-4-box-18"/>
          <p:cNvSpPr/>
          <p:nvPr/>
        </p:nvSpPr>
        <p:spPr>
          <a:xfrm>
            <a:off x="5257800" y="3467404"/>
            <a:ext cx="875995" cy="32369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2p-4-text-19"/>
          <p:cNvSpPr txBox="1"/>
          <p:nvPr/>
        </p:nvSpPr>
        <p:spPr>
          <a:xfrm>
            <a:off x="5384901" y="3534156"/>
            <a:ext cx="621792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426B86"/>
                </a:solidFill>
                <a:latin typeface="Noto Sans Mono CJK SC"/>
              </a:rPr>
              <a:t>MCP</a:t>
            </a:r>
          </a:p>
        </p:txBody>
      </p:sp>
      <p:sp>
        <p:nvSpPr>
          <p:cNvPr id="21" name="h2p-4-box-20"/>
          <p:cNvSpPr/>
          <p:nvPr/>
        </p:nvSpPr>
        <p:spPr>
          <a:xfrm>
            <a:off x="6286500" y="3467404"/>
            <a:ext cx="1067104" cy="32369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2p-4-text-21"/>
          <p:cNvSpPr txBox="1"/>
          <p:nvPr/>
        </p:nvSpPr>
        <p:spPr>
          <a:xfrm>
            <a:off x="6411772" y="3534156"/>
            <a:ext cx="816559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F26B4B"/>
                </a:solidFill>
                <a:latin typeface="Noto Sans Mono CJK SC"/>
              </a:rPr>
              <a:t>Memory</a:t>
            </a:r>
          </a:p>
        </p:txBody>
      </p:sp>
      <p:sp>
        <p:nvSpPr>
          <p:cNvPr id="23" name="h2p-4-box-22"/>
          <p:cNvSpPr/>
          <p:nvPr/>
        </p:nvSpPr>
        <p:spPr>
          <a:xfrm>
            <a:off x="4515307" y="4095597"/>
            <a:ext cx="1162202" cy="32369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h2p-4-text-23"/>
          <p:cNvSpPr txBox="1"/>
          <p:nvPr/>
        </p:nvSpPr>
        <p:spPr>
          <a:xfrm>
            <a:off x="4639665" y="4162348"/>
            <a:ext cx="913485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A5781C"/>
                </a:solidFill>
                <a:latin typeface="Noto Sans Mono CJK SC"/>
              </a:rPr>
              <a:t>Human</a:t>
            </a:r>
          </a:p>
        </p:txBody>
      </p:sp>
      <p:sp>
        <p:nvSpPr>
          <p:cNvPr id="25" name="h2p-4-box-24"/>
          <p:cNvSpPr/>
          <p:nvPr/>
        </p:nvSpPr>
        <p:spPr>
          <a:xfrm>
            <a:off x="5867704" y="4095597"/>
            <a:ext cx="1199692" cy="32369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0B2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h2p-4-text-25"/>
          <p:cNvSpPr txBox="1"/>
          <p:nvPr/>
        </p:nvSpPr>
        <p:spPr>
          <a:xfrm>
            <a:off x="5991148" y="4162348"/>
            <a:ext cx="951890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0B2236"/>
                </a:solidFill>
                <a:latin typeface="Noto Sans Mono CJK SC"/>
              </a:rPr>
              <a:t>Agent</a:t>
            </a:r>
          </a:p>
        </p:txBody>
      </p:sp>
      <p:sp>
        <p:nvSpPr>
          <p:cNvPr id="27" name="h2p-4-box-26"/>
          <p:cNvSpPr/>
          <p:nvPr/>
        </p:nvSpPr>
        <p:spPr>
          <a:xfrm>
            <a:off x="5048402" y="3942892"/>
            <a:ext cx="1600200" cy="19202"/>
          </a:xfrm>
          <a:prstGeom prst="rect">
            <a:avLst/>
          </a:prstGeom>
          <a:solidFill>
            <a:srgbClr val="9AAB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h2p-4-box-27"/>
          <p:cNvSpPr/>
          <p:nvPr/>
        </p:nvSpPr>
        <p:spPr>
          <a:xfrm>
            <a:off x="5781751" y="3791102"/>
            <a:ext cx="19202" cy="800100"/>
          </a:xfrm>
          <a:prstGeom prst="rect">
            <a:avLst/>
          </a:prstGeom>
          <a:solidFill>
            <a:srgbClr val="9AAB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h2p-4-text-28"/>
          <p:cNvSpPr txBox="1"/>
          <p:nvPr/>
        </p:nvSpPr>
        <p:spPr>
          <a:xfrm>
            <a:off x="4315053" y="4743907"/>
            <a:ext cx="2915107" cy="36027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能力可共享或私有；Agent 是带身份、状态、策略与责任边界的执行体。</a:t>
            </a:r>
          </a:p>
        </p:txBody>
      </p:sp>
      <p:sp>
        <p:nvSpPr>
          <p:cNvPr id="30" name="h2p-4-text-29"/>
          <p:cNvSpPr txBox="1"/>
          <p:nvPr/>
        </p:nvSpPr>
        <p:spPr>
          <a:xfrm>
            <a:off x="7791602" y="3276295"/>
            <a:ext cx="388620" cy="381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2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700">
                <a:solidFill>
                  <a:srgbClr val="F26B4B"/>
                </a:solidFill>
                <a:latin typeface="Noto Sans CJK SC"/>
              </a:rPr>
              <a:t>→</a:t>
            </a:r>
          </a:p>
        </p:txBody>
      </p:sp>
      <p:sp>
        <p:nvSpPr>
          <p:cNvPr id="31" name="h2p-4-box-30"/>
          <p:cNvSpPr/>
          <p:nvPr/>
        </p:nvSpPr>
        <p:spPr>
          <a:xfrm>
            <a:off x="8172907" y="2266797"/>
            <a:ext cx="3333902" cy="3066897"/>
          </a:xfrm>
          <a:prstGeom prst="roundRect">
            <a:avLst>
              <a:gd name="adj" fmla="val 7450"/>
            </a:avLst>
          </a:prstGeom>
          <a:solidFill>
            <a:srgbClr val="132F47"/>
          </a:solidFill>
          <a:ln w="19050">
            <a:solidFill>
              <a:srgbClr val="0B2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h2p-4-text-31"/>
          <p:cNvSpPr txBox="1"/>
          <p:nvPr/>
        </p:nvSpPr>
        <p:spPr>
          <a:xfrm>
            <a:off x="8438997" y="2514600"/>
            <a:ext cx="1325880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F6AA92"/>
                </a:solidFill>
                <a:latin typeface="Noto Sans Mono CJK SC"/>
              </a:rPr>
              <a:t>03 · SEARCH TOPOLOGY</a:t>
            </a:r>
          </a:p>
        </p:txBody>
      </p:sp>
      <p:sp>
        <p:nvSpPr>
          <p:cNvPr id="33" name="h2p-4-text-32"/>
          <p:cNvSpPr txBox="1"/>
          <p:nvPr/>
        </p:nvSpPr>
        <p:spPr>
          <a:xfrm>
            <a:off x="8438997" y="2952597"/>
            <a:ext cx="854964" cy="2514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650">
                <a:solidFill>
                  <a:srgbClr val="FFFFFF"/>
                </a:solidFill>
                <a:latin typeface="Noto Sans CJK SC"/>
              </a:rPr>
              <a:t>候选架构</a:t>
            </a:r>
          </a:p>
        </p:txBody>
      </p:sp>
      <p:sp>
        <p:nvSpPr>
          <p:cNvPr id="34" name="h2p-4-text-33"/>
          <p:cNvSpPr txBox="1"/>
          <p:nvPr/>
        </p:nvSpPr>
        <p:spPr>
          <a:xfrm>
            <a:off x="8438997" y="3524097"/>
            <a:ext cx="1068933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74D0C7"/>
                </a:solidFill>
                <a:latin typeface="Noto Sans Mono CJK SC"/>
              </a:rPr>
              <a:t>C0 · Agentless</a:t>
            </a:r>
          </a:p>
        </p:txBody>
      </p:sp>
      <p:sp>
        <p:nvSpPr>
          <p:cNvPr id="35" name="h2p-4-box-34"/>
          <p:cNvSpPr/>
          <p:nvPr/>
        </p:nvSpPr>
        <p:spPr>
          <a:xfrm>
            <a:off x="9620402" y="3467404"/>
            <a:ext cx="1524304" cy="323697"/>
          </a:xfrm>
          <a:prstGeom prst="roundRect">
            <a:avLst>
              <a:gd name="adj" fmla="val 50000"/>
            </a:avLst>
          </a:prstGeom>
          <a:solidFill>
            <a:srgbClr val="132F47"/>
          </a:solidFill>
          <a:ln w="19050">
            <a:solidFill>
              <a:srgbClr val="74D0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h2p-4-text-35"/>
          <p:cNvSpPr txBox="1"/>
          <p:nvPr/>
        </p:nvSpPr>
        <p:spPr>
          <a:xfrm>
            <a:off x="9741103" y="3534156"/>
            <a:ext cx="1281988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FFFFFF"/>
                </a:solidFill>
                <a:latin typeface="Noto Sans Mono CJK SC"/>
              </a:rPr>
              <a:t>Rule → Tool</a:t>
            </a:r>
          </a:p>
        </p:txBody>
      </p:sp>
      <p:sp>
        <p:nvSpPr>
          <p:cNvPr id="37" name="h2p-4-text-36"/>
          <p:cNvSpPr txBox="1"/>
          <p:nvPr/>
        </p:nvSpPr>
        <p:spPr>
          <a:xfrm>
            <a:off x="8438997" y="4038904"/>
            <a:ext cx="1068933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F6AA92"/>
                </a:solidFill>
                <a:latin typeface="Noto Sans Mono CJK SC"/>
              </a:rPr>
              <a:t>C1 · 单 Agent</a:t>
            </a:r>
          </a:p>
        </p:txBody>
      </p:sp>
      <p:sp>
        <p:nvSpPr>
          <p:cNvPr id="38" name="h2p-4-box-37"/>
          <p:cNvSpPr/>
          <p:nvPr/>
        </p:nvSpPr>
        <p:spPr>
          <a:xfrm>
            <a:off x="10096804" y="3829507"/>
            <a:ext cx="437997" cy="437997"/>
          </a:xfrm>
          <a:prstGeom prst="roundRect">
            <a:avLst>
              <a:gd name="adj" fmla="val 50000"/>
            </a:avLst>
          </a:prstGeom>
          <a:solidFill>
            <a:srgbClr val="132F47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h2p-4-text-38"/>
          <p:cNvSpPr txBox="1"/>
          <p:nvPr/>
        </p:nvSpPr>
        <p:spPr>
          <a:xfrm>
            <a:off x="10111435" y="3972153"/>
            <a:ext cx="407822" cy="1426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1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FFFFFF"/>
                </a:solidFill>
                <a:latin typeface="Noto Sans Mono CJK SC"/>
              </a:rPr>
              <a:t>A</a:t>
            </a:r>
          </a:p>
        </p:txBody>
      </p:sp>
      <p:sp>
        <p:nvSpPr>
          <p:cNvPr id="40" name="h2p-4-text-39"/>
          <p:cNvSpPr txBox="1"/>
          <p:nvPr/>
        </p:nvSpPr>
        <p:spPr>
          <a:xfrm>
            <a:off x="8438997" y="4572000"/>
            <a:ext cx="1262786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F6AA92"/>
                </a:solidFill>
                <a:latin typeface="Noto Sans Mono CJK SC"/>
              </a:rPr>
              <a:t>C2 · 多 Agent</a:t>
            </a:r>
          </a:p>
        </p:txBody>
      </p:sp>
      <p:sp>
        <p:nvSpPr>
          <p:cNvPr id="41" name="h2p-4-box-40"/>
          <p:cNvSpPr/>
          <p:nvPr/>
        </p:nvSpPr>
        <p:spPr>
          <a:xfrm>
            <a:off x="9753904" y="4400092"/>
            <a:ext cx="400507" cy="400507"/>
          </a:xfrm>
          <a:prstGeom prst="roundRect">
            <a:avLst>
              <a:gd name="adj" fmla="val 50000"/>
            </a:avLst>
          </a:prstGeom>
          <a:solidFill>
            <a:srgbClr val="132F47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h2p-4-text-41"/>
          <p:cNvSpPr txBox="1"/>
          <p:nvPr/>
        </p:nvSpPr>
        <p:spPr>
          <a:xfrm>
            <a:off x="9769449" y="4533595"/>
            <a:ext cx="369417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819">
                <a:solidFill>
                  <a:srgbClr val="FFFFFF"/>
                </a:solidFill>
                <a:latin typeface="Noto Sans Mono CJK SC"/>
              </a:rPr>
              <a:t>A1</a:t>
            </a:r>
          </a:p>
        </p:txBody>
      </p:sp>
      <p:sp>
        <p:nvSpPr>
          <p:cNvPr id="43" name="h2p-4-box-42"/>
          <p:cNvSpPr/>
          <p:nvPr/>
        </p:nvSpPr>
        <p:spPr>
          <a:xfrm>
            <a:off x="10153497" y="4591202"/>
            <a:ext cx="323697" cy="19202"/>
          </a:xfrm>
          <a:prstGeom prst="rect">
            <a:avLst/>
          </a:prstGeom>
          <a:solidFill>
            <a:srgbClr val="F26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h2p-4-box-43"/>
          <p:cNvSpPr/>
          <p:nvPr/>
        </p:nvSpPr>
        <p:spPr>
          <a:xfrm>
            <a:off x="10477195" y="4400092"/>
            <a:ext cx="400507" cy="400507"/>
          </a:xfrm>
          <a:prstGeom prst="roundRect">
            <a:avLst>
              <a:gd name="adj" fmla="val 50000"/>
            </a:avLst>
          </a:prstGeom>
          <a:solidFill>
            <a:srgbClr val="132F47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h2p-4-text-44"/>
          <p:cNvSpPr txBox="1"/>
          <p:nvPr/>
        </p:nvSpPr>
        <p:spPr>
          <a:xfrm>
            <a:off x="10492740" y="4533595"/>
            <a:ext cx="369417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819">
                <a:solidFill>
                  <a:srgbClr val="FFFFFF"/>
                </a:solidFill>
                <a:latin typeface="Noto Sans Mono CJK SC"/>
              </a:rPr>
              <a:t>A2</a:t>
            </a:r>
          </a:p>
        </p:txBody>
      </p:sp>
      <p:sp>
        <p:nvSpPr>
          <p:cNvPr id="46" name="h2p-4-box-45"/>
          <p:cNvSpPr/>
          <p:nvPr/>
        </p:nvSpPr>
        <p:spPr>
          <a:xfrm>
            <a:off x="10877702" y="4591202"/>
            <a:ext cx="190195" cy="19202"/>
          </a:xfrm>
          <a:prstGeom prst="rect">
            <a:avLst/>
          </a:prstGeom>
          <a:solidFill>
            <a:srgbClr val="D6A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h2p-4-box-46"/>
          <p:cNvSpPr/>
          <p:nvPr/>
        </p:nvSpPr>
        <p:spPr>
          <a:xfrm>
            <a:off x="11067897" y="4438497"/>
            <a:ext cx="323697" cy="323697"/>
          </a:xfrm>
          <a:prstGeom prst="roundRect">
            <a:avLst>
              <a:gd name="adj" fmla="val 50000"/>
            </a:avLst>
          </a:prstGeom>
          <a:solidFill>
            <a:srgbClr val="132F47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h2p-4-text-47"/>
          <p:cNvSpPr txBox="1"/>
          <p:nvPr/>
        </p:nvSpPr>
        <p:spPr>
          <a:xfrm>
            <a:off x="11084356" y="4543653"/>
            <a:ext cx="291693" cy="9509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7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750">
                <a:solidFill>
                  <a:srgbClr val="FFFFFF"/>
                </a:solidFill>
                <a:latin typeface="Noto Sans Mono CJK SC"/>
              </a:rPr>
              <a:t>H</a:t>
            </a:r>
          </a:p>
        </p:txBody>
      </p:sp>
      <p:sp>
        <p:nvSpPr>
          <p:cNvPr id="49" name="h2p-4-text-48"/>
          <p:cNvSpPr txBox="1"/>
          <p:nvPr/>
        </p:nvSpPr>
        <p:spPr>
          <a:xfrm>
            <a:off x="8430768" y="4934102"/>
            <a:ext cx="2836468" cy="33467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C6D3DD"/>
                </a:solidFill>
                <a:latin typeface="Noto Sans CJK SC"/>
              </a:rPr>
              <a:t>并列拓扑进入同一 Trial；</a:t>
            </a:r>
          </a:p>
          <a:p>
            <a:pPr marL="0" indent="0"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C6D3DD"/>
                </a:solidFill>
                <a:latin typeface="Noto Sans CJK SC"/>
              </a:rPr>
              <a:t>内循环调局部，外循环改结构。</a:t>
            </a:r>
          </a:p>
        </p:txBody>
      </p:sp>
      <p:sp>
        <p:nvSpPr>
          <p:cNvPr id="50" name="h2p-4-box-49"/>
          <p:cNvSpPr/>
          <p:nvPr/>
        </p:nvSpPr>
        <p:spPr>
          <a:xfrm>
            <a:off x="3429000" y="5695797"/>
            <a:ext cx="5333695" cy="323697"/>
          </a:xfrm>
          <a:prstGeom prst="roundRect">
            <a:avLst>
              <a:gd name="adj" fmla="val 50000"/>
            </a:avLst>
          </a:prstGeom>
          <a:solidFill>
            <a:srgbClr val="0B2236"/>
          </a:solidFill>
          <a:ln w="19050">
            <a:solidFill>
              <a:srgbClr val="0B2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h2p-4-text-50"/>
          <p:cNvSpPr txBox="1"/>
          <p:nvPr/>
        </p:nvSpPr>
        <p:spPr>
          <a:xfrm>
            <a:off x="3511296" y="5762548"/>
            <a:ext cx="5168188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FFFFFF"/>
                </a:solidFill>
                <a:latin typeface="Noto Sans Mono CJK SC"/>
              </a:rPr>
              <a:t>输出：最简单合格候选 + Trace，或有证据地拒绝自动化</a:t>
            </a:r>
          </a:p>
        </p:txBody>
      </p:sp>
      <p:sp>
        <p:nvSpPr>
          <p:cNvPr id="52" name="h2p-4-text-51"/>
          <p:cNvSpPr txBox="1"/>
          <p:nvPr/>
        </p:nvSpPr>
        <p:spPr>
          <a:xfrm>
            <a:off x="685800" y="6524244"/>
            <a:ext cx="1442923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SEMANTIC SEARCH</a:t>
            </a:r>
          </a:p>
        </p:txBody>
      </p:sp>
      <p:sp>
        <p:nvSpPr>
          <p:cNvPr id="53" name="h2p-4-text-52"/>
          <p:cNvSpPr txBox="1"/>
          <p:nvPr/>
        </p:nvSpPr>
        <p:spPr>
          <a:xfrm>
            <a:off x="10387584" y="6524244"/>
            <a:ext cx="117591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方法论 · 已收敛 ·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5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5-text-2"/>
          <p:cNvSpPr txBox="1"/>
          <p:nvPr/>
        </p:nvSpPr>
        <p:spPr>
          <a:xfrm>
            <a:off x="685800" y="362102"/>
            <a:ext cx="2380183" cy="1901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05 / 12 · OFFICIAL REFERENCE CASES</a:t>
            </a:r>
          </a:p>
        </p:txBody>
      </p:sp>
      <p:sp>
        <p:nvSpPr>
          <p:cNvPr id="4" name="h2p-5-text-3"/>
          <p:cNvSpPr txBox="1"/>
          <p:nvPr/>
        </p:nvSpPr>
        <p:spPr>
          <a:xfrm>
            <a:off x="685800" y="780897"/>
            <a:ext cx="11036808" cy="66659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3150">
                <a:solidFill>
                  <a:srgbClr val="102A43"/>
                </a:solidFill>
                <a:latin typeface="Noto Sans CJK SC"/>
              </a:rPr>
              <a:t>官网四类案例换了业务外壳，没有换闭环骨架。</a:t>
            </a:r>
          </a:p>
        </p:txBody>
      </p:sp>
      <p:sp>
        <p:nvSpPr>
          <p:cNvPr id="5" name="h2p-5-text-4"/>
          <p:cNvSpPr txBox="1"/>
          <p:nvPr/>
        </p:nvSpPr>
        <p:spPr>
          <a:xfrm>
            <a:off x="705002" y="1466697"/>
            <a:ext cx="10492740" cy="32369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53697C"/>
                </a:solidFill>
                <a:latin typeface="Noto Sans CJK SC"/>
              </a:rPr>
              <a:t>官网参考案例用于场景启发；AgentFit 先识别共同任务结构，再决定是否需要 Agent。</a:t>
            </a:r>
          </a:p>
        </p:txBody>
      </p:sp>
      <p:sp>
        <p:nvSpPr>
          <p:cNvPr id="6" name="h2p-5-box-5"/>
          <p:cNvSpPr/>
          <p:nvPr/>
        </p:nvSpPr>
        <p:spPr>
          <a:xfrm>
            <a:off x="685800" y="1848002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5-text-6"/>
          <p:cNvSpPr txBox="1"/>
          <p:nvPr/>
        </p:nvSpPr>
        <p:spPr>
          <a:xfrm>
            <a:off x="3226003" y="2076602"/>
            <a:ext cx="1262786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53697C"/>
                </a:solidFill>
                <a:latin typeface="Noto Sans Mono CJK SC"/>
              </a:rPr>
              <a:t>聚合输入</a:t>
            </a:r>
          </a:p>
        </p:txBody>
      </p:sp>
      <p:sp>
        <p:nvSpPr>
          <p:cNvPr id="8" name="h2p-5-text-7"/>
          <p:cNvSpPr txBox="1"/>
          <p:nvPr/>
        </p:nvSpPr>
        <p:spPr>
          <a:xfrm>
            <a:off x="4940503" y="2076602"/>
            <a:ext cx="1262786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53697C"/>
                </a:solidFill>
                <a:latin typeface="Noto Sans Mono CJK SC"/>
              </a:rPr>
              <a:t>定位判断</a:t>
            </a:r>
          </a:p>
        </p:txBody>
      </p:sp>
      <p:sp>
        <p:nvSpPr>
          <p:cNvPr id="9" name="h2p-5-text-8"/>
          <p:cNvSpPr txBox="1"/>
          <p:nvPr/>
        </p:nvSpPr>
        <p:spPr>
          <a:xfrm>
            <a:off x="6655003" y="2076602"/>
            <a:ext cx="1262786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53697C"/>
                </a:solidFill>
                <a:latin typeface="Noto Sans Mono CJK SC"/>
              </a:rPr>
              <a:t>生成处置</a:t>
            </a:r>
          </a:p>
        </p:txBody>
      </p:sp>
      <p:sp>
        <p:nvSpPr>
          <p:cNvPr id="10" name="h2p-5-text-9"/>
          <p:cNvSpPr txBox="1"/>
          <p:nvPr/>
        </p:nvSpPr>
        <p:spPr>
          <a:xfrm>
            <a:off x="8369503" y="2076602"/>
            <a:ext cx="1262786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53697C"/>
                </a:solidFill>
                <a:latin typeface="Noto Sans Mono CJK SC"/>
              </a:rPr>
              <a:t>验证确认</a:t>
            </a:r>
          </a:p>
        </p:txBody>
      </p:sp>
      <p:sp>
        <p:nvSpPr>
          <p:cNvPr id="11" name="h2p-5-text-10"/>
          <p:cNvSpPr txBox="1"/>
          <p:nvPr/>
        </p:nvSpPr>
        <p:spPr>
          <a:xfrm>
            <a:off x="10084003" y="2076602"/>
            <a:ext cx="1262786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53697C"/>
                </a:solidFill>
                <a:latin typeface="Noto Sans Mono CJK SC"/>
              </a:rPr>
              <a:t>经验沉淀</a:t>
            </a:r>
          </a:p>
        </p:txBody>
      </p:sp>
      <p:sp>
        <p:nvSpPr>
          <p:cNvPr id="12" name="h2p-5-box-11"/>
          <p:cNvSpPr/>
          <p:nvPr/>
        </p:nvSpPr>
        <p:spPr>
          <a:xfrm>
            <a:off x="685800" y="2419502"/>
            <a:ext cx="10820095" cy="666597"/>
          </a:xfrm>
          <a:prstGeom prst="roundRect">
            <a:avLst>
              <a:gd name="adj" fmla="val 20000"/>
            </a:avLst>
          </a:prstGeom>
          <a:solidFill>
            <a:srgbClr val="DCE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2p-5-text-12"/>
          <p:cNvSpPr txBox="1"/>
          <p:nvPr/>
        </p:nvSpPr>
        <p:spPr>
          <a:xfrm>
            <a:off x="895197" y="2619756"/>
            <a:ext cx="2136952" cy="2057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1A8D85"/>
                </a:solidFill>
                <a:latin typeface="Noto Sans CJK SC"/>
              </a:rPr>
              <a:t>零人工运维</a:t>
            </a:r>
          </a:p>
        </p:txBody>
      </p:sp>
      <p:sp>
        <p:nvSpPr>
          <p:cNvPr id="14" name="h2p-5-box-13"/>
          <p:cNvSpPr/>
          <p:nvPr/>
        </p:nvSpPr>
        <p:spPr>
          <a:xfrm>
            <a:off x="3257092" y="2590495"/>
            <a:ext cx="1162202" cy="32369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h2p-5-text-14"/>
          <p:cNvSpPr txBox="1"/>
          <p:nvPr/>
        </p:nvSpPr>
        <p:spPr>
          <a:xfrm>
            <a:off x="3382365" y="2657246"/>
            <a:ext cx="913485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A8D85"/>
                </a:solidFill>
                <a:latin typeface="Noto Sans Mono CJK SC"/>
              </a:rPr>
              <a:t>告警</a:t>
            </a:r>
          </a:p>
        </p:txBody>
      </p:sp>
      <p:sp>
        <p:nvSpPr>
          <p:cNvPr id="16" name="h2p-5-text-15"/>
          <p:cNvSpPr txBox="1"/>
          <p:nvPr/>
        </p:nvSpPr>
        <p:spPr>
          <a:xfrm>
            <a:off x="4533595" y="2542946"/>
            <a:ext cx="252374" cy="3520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50">
                <a:solidFill>
                  <a:srgbClr val="1A8D85"/>
                </a:solidFill>
                <a:latin typeface="Noto Sans CJK SC"/>
              </a:rPr>
              <a:t>→</a:t>
            </a:r>
          </a:p>
        </p:txBody>
      </p:sp>
      <p:sp>
        <p:nvSpPr>
          <p:cNvPr id="17" name="h2p-5-box-16"/>
          <p:cNvSpPr/>
          <p:nvPr/>
        </p:nvSpPr>
        <p:spPr>
          <a:xfrm>
            <a:off x="4972507" y="2590495"/>
            <a:ext cx="1162202" cy="32369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2p-5-text-17"/>
          <p:cNvSpPr txBox="1"/>
          <p:nvPr/>
        </p:nvSpPr>
        <p:spPr>
          <a:xfrm>
            <a:off x="5096865" y="2657246"/>
            <a:ext cx="913485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A8D85"/>
                </a:solidFill>
                <a:latin typeface="Noto Sans Mono CJK SC"/>
              </a:rPr>
              <a:t>根因</a:t>
            </a:r>
          </a:p>
        </p:txBody>
      </p:sp>
      <p:sp>
        <p:nvSpPr>
          <p:cNvPr id="19" name="h2p-5-text-18"/>
          <p:cNvSpPr txBox="1"/>
          <p:nvPr/>
        </p:nvSpPr>
        <p:spPr>
          <a:xfrm>
            <a:off x="6248095" y="2542946"/>
            <a:ext cx="252374" cy="3520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50">
                <a:solidFill>
                  <a:srgbClr val="1A8D85"/>
                </a:solidFill>
                <a:latin typeface="Noto Sans CJK SC"/>
              </a:rPr>
              <a:t>→</a:t>
            </a:r>
          </a:p>
        </p:txBody>
      </p:sp>
      <p:sp>
        <p:nvSpPr>
          <p:cNvPr id="20" name="h2p-5-box-19"/>
          <p:cNvSpPr/>
          <p:nvPr/>
        </p:nvSpPr>
        <p:spPr>
          <a:xfrm>
            <a:off x="6686092" y="2590495"/>
            <a:ext cx="1162202" cy="32369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2p-5-text-20"/>
          <p:cNvSpPr txBox="1"/>
          <p:nvPr/>
        </p:nvSpPr>
        <p:spPr>
          <a:xfrm>
            <a:off x="6811365" y="2657246"/>
            <a:ext cx="913485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A8D85"/>
                </a:solidFill>
                <a:latin typeface="Noto Sans Mono CJK SC"/>
              </a:rPr>
              <a:t>修复</a:t>
            </a:r>
          </a:p>
        </p:txBody>
      </p:sp>
      <p:sp>
        <p:nvSpPr>
          <p:cNvPr id="22" name="h2p-5-text-21"/>
          <p:cNvSpPr txBox="1"/>
          <p:nvPr/>
        </p:nvSpPr>
        <p:spPr>
          <a:xfrm>
            <a:off x="7962595" y="2542946"/>
            <a:ext cx="252374" cy="3520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50">
                <a:solidFill>
                  <a:srgbClr val="1A8D85"/>
                </a:solidFill>
                <a:latin typeface="Noto Sans CJK SC"/>
              </a:rPr>
              <a:t>→</a:t>
            </a:r>
          </a:p>
        </p:txBody>
      </p:sp>
      <p:sp>
        <p:nvSpPr>
          <p:cNvPr id="23" name="h2p-5-box-22"/>
          <p:cNvSpPr/>
          <p:nvPr/>
        </p:nvSpPr>
        <p:spPr>
          <a:xfrm>
            <a:off x="8401507" y="2590495"/>
            <a:ext cx="1162202" cy="32369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h2p-5-text-23"/>
          <p:cNvSpPr txBox="1"/>
          <p:nvPr/>
        </p:nvSpPr>
        <p:spPr>
          <a:xfrm>
            <a:off x="8525865" y="2657246"/>
            <a:ext cx="913485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A8D85"/>
                </a:solidFill>
                <a:latin typeface="Noto Sans Mono CJK SC"/>
              </a:rPr>
              <a:t>恢复</a:t>
            </a:r>
          </a:p>
        </p:txBody>
      </p:sp>
      <p:sp>
        <p:nvSpPr>
          <p:cNvPr id="25" name="h2p-5-text-24"/>
          <p:cNvSpPr txBox="1"/>
          <p:nvPr/>
        </p:nvSpPr>
        <p:spPr>
          <a:xfrm>
            <a:off x="9677095" y="2542946"/>
            <a:ext cx="252374" cy="3520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50">
                <a:solidFill>
                  <a:srgbClr val="1A8D85"/>
                </a:solidFill>
                <a:latin typeface="Noto Sans CJK SC"/>
              </a:rPr>
              <a:t>→</a:t>
            </a:r>
          </a:p>
        </p:txBody>
      </p:sp>
      <p:sp>
        <p:nvSpPr>
          <p:cNvPr id="26" name="h2p-5-box-25"/>
          <p:cNvSpPr/>
          <p:nvPr/>
        </p:nvSpPr>
        <p:spPr>
          <a:xfrm>
            <a:off x="10115092" y="2590495"/>
            <a:ext cx="1162202" cy="32369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h2p-5-text-26"/>
          <p:cNvSpPr txBox="1"/>
          <p:nvPr/>
        </p:nvSpPr>
        <p:spPr>
          <a:xfrm>
            <a:off x="10240365" y="2657246"/>
            <a:ext cx="913485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A8D85"/>
                </a:solidFill>
                <a:latin typeface="Noto Sans Mono CJK SC"/>
              </a:rPr>
              <a:t>复盘</a:t>
            </a:r>
          </a:p>
        </p:txBody>
      </p:sp>
      <p:sp>
        <p:nvSpPr>
          <p:cNvPr id="28" name="h2p-5-box-27"/>
          <p:cNvSpPr/>
          <p:nvPr/>
        </p:nvSpPr>
        <p:spPr>
          <a:xfrm>
            <a:off x="685800" y="3219602"/>
            <a:ext cx="10820095" cy="666597"/>
          </a:xfrm>
          <a:prstGeom prst="roundRect">
            <a:avLst>
              <a:gd name="adj" fmla="val 20000"/>
            </a:avLst>
          </a:prstGeom>
          <a:solidFill>
            <a:srgbClr val="F8D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h2p-5-text-28"/>
          <p:cNvSpPr txBox="1"/>
          <p:nvPr/>
        </p:nvSpPr>
        <p:spPr>
          <a:xfrm>
            <a:off x="895197" y="3419856"/>
            <a:ext cx="2136952" cy="2057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C64C32"/>
                </a:solidFill>
                <a:latin typeface="Noto Sans CJK SC"/>
              </a:rPr>
              <a:t>智能客服自主闭环</a:t>
            </a:r>
          </a:p>
        </p:txBody>
      </p:sp>
      <p:sp>
        <p:nvSpPr>
          <p:cNvPr id="30" name="h2p-5-box-29"/>
          <p:cNvSpPr/>
          <p:nvPr/>
        </p:nvSpPr>
        <p:spPr>
          <a:xfrm>
            <a:off x="3257092" y="3390595"/>
            <a:ext cx="1162202" cy="32369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h2p-5-text-30"/>
          <p:cNvSpPr txBox="1"/>
          <p:nvPr/>
        </p:nvSpPr>
        <p:spPr>
          <a:xfrm>
            <a:off x="3382365" y="3457346"/>
            <a:ext cx="913485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C64C32"/>
                </a:solidFill>
                <a:latin typeface="Noto Sans Mono CJK SC"/>
              </a:rPr>
              <a:t>会话</a:t>
            </a:r>
          </a:p>
        </p:txBody>
      </p:sp>
      <p:sp>
        <p:nvSpPr>
          <p:cNvPr id="32" name="h2p-5-text-31"/>
          <p:cNvSpPr txBox="1"/>
          <p:nvPr/>
        </p:nvSpPr>
        <p:spPr>
          <a:xfrm>
            <a:off x="4533595" y="3343046"/>
            <a:ext cx="252374" cy="3520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50">
                <a:solidFill>
                  <a:srgbClr val="F26B4B"/>
                </a:solidFill>
                <a:latin typeface="Noto Sans CJK SC"/>
              </a:rPr>
              <a:t>→</a:t>
            </a:r>
          </a:p>
        </p:txBody>
      </p:sp>
      <p:sp>
        <p:nvSpPr>
          <p:cNvPr id="33" name="h2p-5-box-32"/>
          <p:cNvSpPr/>
          <p:nvPr/>
        </p:nvSpPr>
        <p:spPr>
          <a:xfrm>
            <a:off x="4972507" y="3390595"/>
            <a:ext cx="1162202" cy="32369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h2p-5-text-33"/>
          <p:cNvSpPr txBox="1"/>
          <p:nvPr/>
        </p:nvSpPr>
        <p:spPr>
          <a:xfrm>
            <a:off x="5096865" y="3457346"/>
            <a:ext cx="913485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C64C32"/>
                </a:solidFill>
                <a:latin typeface="Noto Sans Mono CJK SC"/>
              </a:rPr>
              <a:t>意图</a:t>
            </a:r>
          </a:p>
        </p:txBody>
      </p:sp>
      <p:sp>
        <p:nvSpPr>
          <p:cNvPr id="35" name="h2p-5-text-34"/>
          <p:cNvSpPr txBox="1"/>
          <p:nvPr/>
        </p:nvSpPr>
        <p:spPr>
          <a:xfrm>
            <a:off x="6248095" y="3343046"/>
            <a:ext cx="252374" cy="3520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50">
                <a:solidFill>
                  <a:srgbClr val="F26B4B"/>
                </a:solidFill>
                <a:latin typeface="Noto Sans CJK SC"/>
              </a:rPr>
              <a:t>→</a:t>
            </a:r>
          </a:p>
        </p:txBody>
      </p:sp>
      <p:sp>
        <p:nvSpPr>
          <p:cNvPr id="36" name="h2p-5-box-35"/>
          <p:cNvSpPr/>
          <p:nvPr/>
        </p:nvSpPr>
        <p:spPr>
          <a:xfrm>
            <a:off x="6686092" y="3390595"/>
            <a:ext cx="1162202" cy="32369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h2p-5-text-36"/>
          <p:cNvSpPr txBox="1"/>
          <p:nvPr/>
        </p:nvSpPr>
        <p:spPr>
          <a:xfrm>
            <a:off x="6811365" y="3457346"/>
            <a:ext cx="913485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C64C32"/>
                </a:solidFill>
                <a:latin typeface="Noto Sans Mono CJK SC"/>
              </a:rPr>
              <a:t>方案</a:t>
            </a:r>
          </a:p>
        </p:txBody>
      </p:sp>
      <p:sp>
        <p:nvSpPr>
          <p:cNvPr id="38" name="h2p-5-text-37"/>
          <p:cNvSpPr txBox="1"/>
          <p:nvPr/>
        </p:nvSpPr>
        <p:spPr>
          <a:xfrm>
            <a:off x="7962595" y="3343046"/>
            <a:ext cx="252374" cy="3520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50">
                <a:solidFill>
                  <a:srgbClr val="F26B4B"/>
                </a:solidFill>
                <a:latin typeface="Noto Sans CJK SC"/>
              </a:rPr>
              <a:t>→</a:t>
            </a:r>
          </a:p>
        </p:txBody>
      </p:sp>
      <p:sp>
        <p:nvSpPr>
          <p:cNvPr id="39" name="h2p-5-box-38"/>
          <p:cNvSpPr/>
          <p:nvPr/>
        </p:nvSpPr>
        <p:spPr>
          <a:xfrm>
            <a:off x="8401507" y="3390595"/>
            <a:ext cx="1162202" cy="32369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h2p-5-text-39"/>
          <p:cNvSpPr txBox="1"/>
          <p:nvPr/>
        </p:nvSpPr>
        <p:spPr>
          <a:xfrm>
            <a:off x="8525865" y="3457346"/>
            <a:ext cx="913485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C64C32"/>
                </a:solidFill>
                <a:latin typeface="Noto Sans Mono CJK SC"/>
              </a:rPr>
              <a:t>客户确认</a:t>
            </a:r>
          </a:p>
        </p:txBody>
      </p:sp>
      <p:sp>
        <p:nvSpPr>
          <p:cNvPr id="41" name="h2p-5-text-40"/>
          <p:cNvSpPr txBox="1"/>
          <p:nvPr/>
        </p:nvSpPr>
        <p:spPr>
          <a:xfrm>
            <a:off x="9677095" y="3343046"/>
            <a:ext cx="252374" cy="3520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50">
                <a:solidFill>
                  <a:srgbClr val="F26B4B"/>
                </a:solidFill>
                <a:latin typeface="Noto Sans CJK SC"/>
              </a:rPr>
              <a:t>→</a:t>
            </a:r>
          </a:p>
        </p:txBody>
      </p:sp>
      <p:sp>
        <p:nvSpPr>
          <p:cNvPr id="42" name="h2p-5-box-41"/>
          <p:cNvSpPr/>
          <p:nvPr/>
        </p:nvSpPr>
        <p:spPr>
          <a:xfrm>
            <a:off x="10115092" y="3390595"/>
            <a:ext cx="1162202" cy="32369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h2p-5-text-42"/>
          <p:cNvSpPr txBox="1"/>
          <p:nvPr/>
        </p:nvSpPr>
        <p:spPr>
          <a:xfrm>
            <a:off x="10240365" y="3457346"/>
            <a:ext cx="913485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C64C32"/>
                </a:solidFill>
                <a:latin typeface="Noto Sans Mono CJK SC"/>
              </a:rPr>
              <a:t>知识</a:t>
            </a:r>
          </a:p>
        </p:txBody>
      </p:sp>
      <p:sp>
        <p:nvSpPr>
          <p:cNvPr id="44" name="h2p-5-box-43"/>
          <p:cNvSpPr/>
          <p:nvPr/>
        </p:nvSpPr>
        <p:spPr>
          <a:xfrm>
            <a:off x="685800" y="4019702"/>
            <a:ext cx="10820095" cy="666597"/>
          </a:xfrm>
          <a:prstGeom prst="roundRect">
            <a:avLst>
              <a:gd name="adj" fmla="val 20000"/>
            </a:avLst>
          </a:prstGeom>
          <a:solidFill>
            <a:srgbClr val="DF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h2p-5-text-44"/>
          <p:cNvSpPr txBox="1"/>
          <p:nvPr/>
        </p:nvSpPr>
        <p:spPr>
          <a:xfrm>
            <a:off x="895197" y="4219956"/>
            <a:ext cx="2136952" cy="2057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102A43"/>
                </a:solidFill>
                <a:latin typeface="Noto Sans CJK SC"/>
              </a:rPr>
              <a:t>软件研发全流程协同</a:t>
            </a:r>
          </a:p>
        </p:txBody>
      </p:sp>
      <p:sp>
        <p:nvSpPr>
          <p:cNvPr id="46" name="h2p-5-box-45"/>
          <p:cNvSpPr/>
          <p:nvPr/>
        </p:nvSpPr>
        <p:spPr>
          <a:xfrm>
            <a:off x="3257092" y="4190695"/>
            <a:ext cx="1162202" cy="32369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h2p-5-text-46"/>
          <p:cNvSpPr txBox="1"/>
          <p:nvPr/>
        </p:nvSpPr>
        <p:spPr>
          <a:xfrm>
            <a:off x="3382365" y="4257446"/>
            <a:ext cx="913485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426B86"/>
                </a:solidFill>
                <a:latin typeface="Noto Sans Mono CJK SC"/>
              </a:rPr>
              <a:t>缺陷</a:t>
            </a:r>
          </a:p>
        </p:txBody>
      </p:sp>
      <p:sp>
        <p:nvSpPr>
          <p:cNvPr id="48" name="h2p-5-text-47"/>
          <p:cNvSpPr txBox="1"/>
          <p:nvPr/>
        </p:nvSpPr>
        <p:spPr>
          <a:xfrm>
            <a:off x="4533595" y="4143146"/>
            <a:ext cx="252374" cy="3520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50">
                <a:solidFill>
                  <a:srgbClr val="426B86"/>
                </a:solidFill>
                <a:latin typeface="Noto Sans CJK SC"/>
              </a:rPr>
              <a:t>→</a:t>
            </a:r>
          </a:p>
        </p:txBody>
      </p:sp>
      <p:sp>
        <p:nvSpPr>
          <p:cNvPr id="49" name="h2p-5-box-48"/>
          <p:cNvSpPr/>
          <p:nvPr/>
        </p:nvSpPr>
        <p:spPr>
          <a:xfrm>
            <a:off x="4972507" y="4190695"/>
            <a:ext cx="1162202" cy="32369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h2p-5-text-49"/>
          <p:cNvSpPr txBox="1"/>
          <p:nvPr/>
        </p:nvSpPr>
        <p:spPr>
          <a:xfrm>
            <a:off x="5096865" y="4257446"/>
            <a:ext cx="913485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426B86"/>
                </a:solidFill>
                <a:latin typeface="Noto Sans Mono CJK SC"/>
              </a:rPr>
              <a:t>代码</a:t>
            </a:r>
          </a:p>
        </p:txBody>
      </p:sp>
      <p:sp>
        <p:nvSpPr>
          <p:cNvPr id="51" name="h2p-5-text-50"/>
          <p:cNvSpPr txBox="1"/>
          <p:nvPr/>
        </p:nvSpPr>
        <p:spPr>
          <a:xfrm>
            <a:off x="6248095" y="4143146"/>
            <a:ext cx="252374" cy="3520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50">
                <a:solidFill>
                  <a:srgbClr val="426B86"/>
                </a:solidFill>
                <a:latin typeface="Noto Sans CJK SC"/>
              </a:rPr>
              <a:t>→</a:t>
            </a:r>
          </a:p>
        </p:txBody>
      </p:sp>
      <p:sp>
        <p:nvSpPr>
          <p:cNvPr id="52" name="h2p-5-box-51"/>
          <p:cNvSpPr/>
          <p:nvPr/>
        </p:nvSpPr>
        <p:spPr>
          <a:xfrm>
            <a:off x="6686092" y="4190695"/>
            <a:ext cx="1162202" cy="32369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h2p-5-text-52"/>
          <p:cNvSpPr txBox="1"/>
          <p:nvPr/>
        </p:nvSpPr>
        <p:spPr>
          <a:xfrm>
            <a:off x="6811365" y="4257446"/>
            <a:ext cx="913485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426B86"/>
                </a:solidFill>
                <a:latin typeface="Noto Sans Mono CJK SC"/>
              </a:rPr>
              <a:t>补丁</a:t>
            </a:r>
          </a:p>
        </p:txBody>
      </p:sp>
      <p:sp>
        <p:nvSpPr>
          <p:cNvPr id="54" name="h2p-5-text-53"/>
          <p:cNvSpPr txBox="1"/>
          <p:nvPr/>
        </p:nvSpPr>
        <p:spPr>
          <a:xfrm>
            <a:off x="7962595" y="4143146"/>
            <a:ext cx="252374" cy="3520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50">
                <a:solidFill>
                  <a:srgbClr val="426B86"/>
                </a:solidFill>
                <a:latin typeface="Noto Sans CJK SC"/>
              </a:rPr>
              <a:t>→</a:t>
            </a:r>
          </a:p>
        </p:txBody>
      </p:sp>
      <p:sp>
        <p:nvSpPr>
          <p:cNvPr id="55" name="h2p-5-box-54"/>
          <p:cNvSpPr/>
          <p:nvPr/>
        </p:nvSpPr>
        <p:spPr>
          <a:xfrm>
            <a:off x="8401507" y="4190695"/>
            <a:ext cx="1162202" cy="32369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h2p-5-text-55"/>
          <p:cNvSpPr txBox="1"/>
          <p:nvPr/>
        </p:nvSpPr>
        <p:spPr>
          <a:xfrm>
            <a:off x="8525865" y="4257446"/>
            <a:ext cx="913485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426B86"/>
                </a:solidFill>
                <a:latin typeface="Noto Sans Mono CJK SC"/>
              </a:rPr>
              <a:t>测试发布</a:t>
            </a:r>
          </a:p>
        </p:txBody>
      </p:sp>
      <p:sp>
        <p:nvSpPr>
          <p:cNvPr id="57" name="h2p-5-text-56"/>
          <p:cNvSpPr txBox="1"/>
          <p:nvPr/>
        </p:nvSpPr>
        <p:spPr>
          <a:xfrm>
            <a:off x="9677095" y="4143146"/>
            <a:ext cx="252374" cy="3520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50">
                <a:solidFill>
                  <a:srgbClr val="426B86"/>
                </a:solidFill>
                <a:latin typeface="Noto Sans CJK SC"/>
              </a:rPr>
              <a:t>→</a:t>
            </a:r>
          </a:p>
        </p:txBody>
      </p:sp>
      <p:sp>
        <p:nvSpPr>
          <p:cNvPr id="58" name="h2p-5-box-57"/>
          <p:cNvSpPr/>
          <p:nvPr/>
        </p:nvSpPr>
        <p:spPr>
          <a:xfrm>
            <a:off x="10115092" y="4190695"/>
            <a:ext cx="1162202" cy="32369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h2p-5-text-58"/>
          <p:cNvSpPr txBox="1"/>
          <p:nvPr/>
        </p:nvSpPr>
        <p:spPr>
          <a:xfrm>
            <a:off x="10240365" y="4257446"/>
            <a:ext cx="913485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426B86"/>
                </a:solidFill>
                <a:latin typeface="Noto Sans Mono CJK SC"/>
              </a:rPr>
              <a:t>研发资产</a:t>
            </a:r>
          </a:p>
        </p:txBody>
      </p:sp>
      <p:sp>
        <p:nvSpPr>
          <p:cNvPr id="60" name="h2p-5-box-59"/>
          <p:cNvSpPr/>
          <p:nvPr/>
        </p:nvSpPr>
        <p:spPr>
          <a:xfrm>
            <a:off x="685800" y="4819802"/>
            <a:ext cx="10820095" cy="666597"/>
          </a:xfrm>
          <a:prstGeom prst="roundRect">
            <a:avLst>
              <a:gd name="adj" fmla="val 20000"/>
            </a:avLst>
          </a:prstGeom>
          <a:solidFill>
            <a:srgbClr val="F3E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h2p-5-text-60"/>
          <p:cNvSpPr txBox="1"/>
          <p:nvPr/>
        </p:nvSpPr>
        <p:spPr>
          <a:xfrm>
            <a:off x="895197" y="5020056"/>
            <a:ext cx="2136952" cy="2057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A5781C"/>
                </a:solidFill>
                <a:latin typeface="Noto Sans CJK SC"/>
              </a:rPr>
              <a:t>金融风控与理赔自动化</a:t>
            </a:r>
          </a:p>
        </p:txBody>
      </p:sp>
      <p:sp>
        <p:nvSpPr>
          <p:cNvPr id="62" name="h2p-5-box-61"/>
          <p:cNvSpPr/>
          <p:nvPr/>
        </p:nvSpPr>
        <p:spPr>
          <a:xfrm>
            <a:off x="3257092" y="4990795"/>
            <a:ext cx="1162202" cy="32369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h2p-5-text-62"/>
          <p:cNvSpPr txBox="1"/>
          <p:nvPr/>
        </p:nvSpPr>
        <p:spPr>
          <a:xfrm>
            <a:off x="3382365" y="5057546"/>
            <a:ext cx="913485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A5781C"/>
                </a:solidFill>
                <a:latin typeface="Noto Sans Mono CJK SC"/>
              </a:rPr>
              <a:t>风险</a:t>
            </a:r>
          </a:p>
        </p:txBody>
      </p:sp>
      <p:sp>
        <p:nvSpPr>
          <p:cNvPr id="64" name="h2p-5-text-63"/>
          <p:cNvSpPr txBox="1"/>
          <p:nvPr/>
        </p:nvSpPr>
        <p:spPr>
          <a:xfrm>
            <a:off x="4533595" y="4943246"/>
            <a:ext cx="252374" cy="3520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50">
                <a:solidFill>
                  <a:srgbClr val="D6A43B"/>
                </a:solidFill>
                <a:latin typeface="Noto Sans CJK SC"/>
              </a:rPr>
              <a:t>→</a:t>
            </a:r>
          </a:p>
        </p:txBody>
      </p:sp>
      <p:sp>
        <p:nvSpPr>
          <p:cNvPr id="65" name="h2p-5-box-64"/>
          <p:cNvSpPr/>
          <p:nvPr/>
        </p:nvSpPr>
        <p:spPr>
          <a:xfrm>
            <a:off x="4972507" y="4990795"/>
            <a:ext cx="1162202" cy="32369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h2p-5-text-65"/>
          <p:cNvSpPr txBox="1"/>
          <p:nvPr/>
        </p:nvSpPr>
        <p:spPr>
          <a:xfrm>
            <a:off x="5096865" y="5057546"/>
            <a:ext cx="913485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A5781C"/>
                </a:solidFill>
                <a:latin typeface="Noto Sans Mono CJK SC"/>
              </a:rPr>
              <a:t>影响</a:t>
            </a:r>
          </a:p>
        </p:txBody>
      </p:sp>
      <p:sp>
        <p:nvSpPr>
          <p:cNvPr id="67" name="h2p-5-text-66"/>
          <p:cNvSpPr txBox="1"/>
          <p:nvPr/>
        </p:nvSpPr>
        <p:spPr>
          <a:xfrm>
            <a:off x="6248095" y="4943246"/>
            <a:ext cx="252374" cy="3520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50">
                <a:solidFill>
                  <a:srgbClr val="D6A43B"/>
                </a:solidFill>
                <a:latin typeface="Noto Sans CJK SC"/>
              </a:rPr>
              <a:t>→</a:t>
            </a:r>
          </a:p>
        </p:txBody>
      </p:sp>
      <p:sp>
        <p:nvSpPr>
          <p:cNvPr id="68" name="h2p-5-box-67"/>
          <p:cNvSpPr/>
          <p:nvPr/>
        </p:nvSpPr>
        <p:spPr>
          <a:xfrm>
            <a:off x="6686092" y="4990795"/>
            <a:ext cx="1162202" cy="32369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h2p-5-text-68"/>
          <p:cNvSpPr txBox="1"/>
          <p:nvPr/>
        </p:nvSpPr>
        <p:spPr>
          <a:xfrm>
            <a:off x="6811365" y="5057546"/>
            <a:ext cx="913485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A5781C"/>
                </a:solidFill>
                <a:latin typeface="Noto Sans Mono CJK SC"/>
              </a:rPr>
              <a:t>处置</a:t>
            </a:r>
          </a:p>
        </p:txBody>
      </p:sp>
      <p:sp>
        <p:nvSpPr>
          <p:cNvPr id="70" name="h2p-5-text-69"/>
          <p:cNvSpPr txBox="1"/>
          <p:nvPr/>
        </p:nvSpPr>
        <p:spPr>
          <a:xfrm>
            <a:off x="7962595" y="4943246"/>
            <a:ext cx="252374" cy="3520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50">
                <a:solidFill>
                  <a:srgbClr val="D6A43B"/>
                </a:solidFill>
                <a:latin typeface="Noto Sans CJK SC"/>
              </a:rPr>
              <a:t>→</a:t>
            </a:r>
          </a:p>
        </p:txBody>
      </p:sp>
      <p:sp>
        <p:nvSpPr>
          <p:cNvPr id="71" name="h2p-5-box-70"/>
          <p:cNvSpPr/>
          <p:nvPr/>
        </p:nvSpPr>
        <p:spPr>
          <a:xfrm>
            <a:off x="8401507" y="4990795"/>
            <a:ext cx="1162202" cy="32369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h2p-5-text-71"/>
          <p:cNvSpPr txBox="1"/>
          <p:nvPr/>
        </p:nvSpPr>
        <p:spPr>
          <a:xfrm>
            <a:off x="8525865" y="5057546"/>
            <a:ext cx="913485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A5781C"/>
                </a:solidFill>
                <a:latin typeface="Noto Sans Mono CJK SC"/>
              </a:rPr>
              <a:t>合规审计</a:t>
            </a:r>
          </a:p>
        </p:txBody>
      </p:sp>
      <p:sp>
        <p:nvSpPr>
          <p:cNvPr id="73" name="h2p-5-text-72"/>
          <p:cNvSpPr txBox="1"/>
          <p:nvPr/>
        </p:nvSpPr>
        <p:spPr>
          <a:xfrm>
            <a:off x="9677095" y="4943246"/>
            <a:ext cx="252374" cy="3520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50">
                <a:solidFill>
                  <a:srgbClr val="D6A43B"/>
                </a:solidFill>
                <a:latin typeface="Noto Sans CJK SC"/>
              </a:rPr>
              <a:t>→</a:t>
            </a:r>
          </a:p>
        </p:txBody>
      </p:sp>
      <p:sp>
        <p:nvSpPr>
          <p:cNvPr id="74" name="h2p-5-box-73"/>
          <p:cNvSpPr/>
          <p:nvPr/>
        </p:nvSpPr>
        <p:spPr>
          <a:xfrm>
            <a:off x="10115092" y="4990795"/>
            <a:ext cx="1162202" cy="32369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h2p-5-text-74"/>
          <p:cNvSpPr txBox="1"/>
          <p:nvPr/>
        </p:nvSpPr>
        <p:spPr>
          <a:xfrm>
            <a:off x="10240365" y="5057546"/>
            <a:ext cx="913485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A5781C"/>
                </a:solidFill>
                <a:latin typeface="Noto Sans Mono CJK SC"/>
              </a:rPr>
              <a:t>风控资产</a:t>
            </a:r>
          </a:p>
        </p:txBody>
      </p:sp>
      <p:sp>
        <p:nvSpPr>
          <p:cNvPr id="76" name="h2p-5-text-75"/>
          <p:cNvSpPr txBox="1"/>
          <p:nvPr/>
        </p:nvSpPr>
        <p:spPr>
          <a:xfrm>
            <a:off x="1082649" y="5810097"/>
            <a:ext cx="10026396" cy="15453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2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rgbClr val="53697C"/>
                </a:solidFill>
                <a:latin typeface="Noto Sans Mono CJK SC"/>
              </a:rPr>
              <a:t>来源：GOAI Agent Infra 官网 · 核验日期 2026-08-10 · https://goaihz.com/tracks?track=infra</a:t>
            </a:r>
          </a:p>
        </p:txBody>
      </p:sp>
      <p:sp>
        <p:nvSpPr>
          <p:cNvPr id="77" name="h2p-5-text-76"/>
          <p:cNvSpPr txBox="1"/>
          <p:nvPr/>
        </p:nvSpPr>
        <p:spPr>
          <a:xfrm>
            <a:off x="685800" y="6524244"/>
            <a:ext cx="1762963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OFFICIAL CASE MAPPING</a:t>
            </a:r>
          </a:p>
        </p:txBody>
      </p:sp>
      <p:sp>
        <p:nvSpPr>
          <p:cNvPr id="78" name="h2p-5-text-77"/>
          <p:cNvSpPr txBox="1"/>
          <p:nvPr/>
        </p:nvSpPr>
        <p:spPr>
          <a:xfrm>
            <a:off x="10009936" y="6524244"/>
            <a:ext cx="149595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官网参考 · 非运行证据 ·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6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6-text-2"/>
          <p:cNvSpPr txBox="1"/>
          <p:nvPr/>
        </p:nvSpPr>
        <p:spPr>
          <a:xfrm>
            <a:off x="685800" y="362102"/>
            <a:ext cx="2312517" cy="1901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06 / 12 · OFFICIAL CASE DEEP DIVE</a:t>
            </a:r>
          </a:p>
        </p:txBody>
      </p:sp>
      <p:sp>
        <p:nvSpPr>
          <p:cNvPr id="4" name="h2p-6-text-3"/>
          <p:cNvSpPr txBox="1"/>
          <p:nvPr/>
        </p:nvSpPr>
        <p:spPr>
          <a:xfrm>
            <a:off x="685800" y="780897"/>
            <a:ext cx="11036808" cy="66659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3150">
                <a:solidFill>
                  <a:srgbClr val="102A43"/>
                </a:solidFill>
                <a:latin typeface="Noto Sans CJK SC"/>
              </a:rPr>
              <a:t>软件研发案例先拆任务，不先拆 Agent。</a:t>
            </a:r>
          </a:p>
        </p:txBody>
      </p:sp>
      <p:sp>
        <p:nvSpPr>
          <p:cNvPr id="5" name="h2p-6-text-4"/>
          <p:cNvSpPr txBox="1"/>
          <p:nvPr/>
        </p:nvSpPr>
        <p:spPr>
          <a:xfrm>
            <a:off x="705002" y="1466697"/>
            <a:ext cx="10492740" cy="32369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53697C"/>
                </a:solidFill>
                <a:latin typeface="Noto Sans CJK SC"/>
              </a:rPr>
              <a:t>设计模拟，非运行证据：沿用官网五段流程，再补齐可验收输出与责任边界。</a:t>
            </a:r>
          </a:p>
        </p:txBody>
      </p:sp>
      <p:sp>
        <p:nvSpPr>
          <p:cNvPr id="6" name="h2p-6-box-5"/>
          <p:cNvSpPr/>
          <p:nvPr/>
        </p:nvSpPr>
        <p:spPr>
          <a:xfrm>
            <a:off x="685800" y="1848002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6-box-6"/>
          <p:cNvSpPr/>
          <p:nvPr/>
        </p:nvSpPr>
        <p:spPr>
          <a:xfrm>
            <a:off x="1123797" y="3047695"/>
            <a:ext cx="9886492" cy="3840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6-box-7"/>
          <p:cNvSpPr/>
          <p:nvPr/>
        </p:nvSpPr>
        <p:spPr>
          <a:xfrm>
            <a:off x="875995" y="2781604"/>
            <a:ext cx="552297" cy="55229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h2p-6-text-8"/>
          <p:cNvSpPr txBox="1"/>
          <p:nvPr/>
        </p:nvSpPr>
        <p:spPr>
          <a:xfrm>
            <a:off x="890625" y="2962656"/>
            <a:ext cx="524865" cy="1426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1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426B86"/>
                </a:solidFill>
                <a:latin typeface="Noto Sans Mono CJK SC"/>
              </a:rPr>
              <a:t>01</a:t>
            </a:r>
          </a:p>
        </p:txBody>
      </p:sp>
      <p:sp>
        <p:nvSpPr>
          <p:cNvPr id="10" name="h2p-6-box-9"/>
          <p:cNvSpPr/>
          <p:nvPr/>
        </p:nvSpPr>
        <p:spPr>
          <a:xfrm>
            <a:off x="3066897" y="2781604"/>
            <a:ext cx="552297" cy="55229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2p-6-text-10"/>
          <p:cNvSpPr txBox="1"/>
          <p:nvPr/>
        </p:nvSpPr>
        <p:spPr>
          <a:xfrm>
            <a:off x="3080613" y="2962656"/>
            <a:ext cx="524865" cy="1426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1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426B86"/>
                </a:solidFill>
                <a:latin typeface="Noto Sans Mono CJK SC"/>
              </a:rPr>
              <a:t>02</a:t>
            </a:r>
          </a:p>
        </p:txBody>
      </p:sp>
      <p:sp>
        <p:nvSpPr>
          <p:cNvPr id="12" name="h2p-6-box-11"/>
          <p:cNvSpPr/>
          <p:nvPr/>
        </p:nvSpPr>
        <p:spPr>
          <a:xfrm>
            <a:off x="5257800" y="2781604"/>
            <a:ext cx="552297" cy="55229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2p-6-text-12"/>
          <p:cNvSpPr txBox="1"/>
          <p:nvPr/>
        </p:nvSpPr>
        <p:spPr>
          <a:xfrm>
            <a:off x="5271516" y="2962656"/>
            <a:ext cx="524865" cy="1426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1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F26B4B"/>
                </a:solidFill>
                <a:latin typeface="Noto Sans Mono CJK SC"/>
              </a:rPr>
              <a:t>03</a:t>
            </a:r>
          </a:p>
        </p:txBody>
      </p:sp>
      <p:sp>
        <p:nvSpPr>
          <p:cNvPr id="14" name="h2p-6-box-13"/>
          <p:cNvSpPr/>
          <p:nvPr/>
        </p:nvSpPr>
        <p:spPr>
          <a:xfrm>
            <a:off x="7448702" y="2781604"/>
            <a:ext cx="552297" cy="55229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h2p-6-text-14"/>
          <p:cNvSpPr txBox="1"/>
          <p:nvPr/>
        </p:nvSpPr>
        <p:spPr>
          <a:xfrm>
            <a:off x="7462418" y="2962656"/>
            <a:ext cx="524865" cy="1426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1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A5781C"/>
                </a:solidFill>
                <a:latin typeface="Noto Sans Mono CJK SC"/>
              </a:rPr>
              <a:t>04</a:t>
            </a:r>
          </a:p>
        </p:txBody>
      </p:sp>
      <p:sp>
        <p:nvSpPr>
          <p:cNvPr id="16" name="h2p-6-box-15"/>
          <p:cNvSpPr/>
          <p:nvPr/>
        </p:nvSpPr>
        <p:spPr>
          <a:xfrm>
            <a:off x="9639604" y="2781604"/>
            <a:ext cx="552297" cy="55229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h2p-6-text-16"/>
          <p:cNvSpPr txBox="1"/>
          <p:nvPr/>
        </p:nvSpPr>
        <p:spPr>
          <a:xfrm>
            <a:off x="9653320" y="2962656"/>
            <a:ext cx="524865" cy="1426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1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A8D85"/>
                </a:solidFill>
                <a:latin typeface="Noto Sans Mono CJK SC"/>
              </a:rPr>
              <a:t>05</a:t>
            </a:r>
          </a:p>
        </p:txBody>
      </p:sp>
      <p:sp>
        <p:nvSpPr>
          <p:cNvPr id="18" name="h2p-6-text-17"/>
          <p:cNvSpPr txBox="1"/>
          <p:nvPr/>
        </p:nvSpPr>
        <p:spPr>
          <a:xfrm>
            <a:off x="728776" y="3562502"/>
            <a:ext cx="1457553" cy="2057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102A43"/>
                </a:solidFill>
                <a:latin typeface="Noto Sans CJK SC"/>
              </a:rPr>
              <a:t>多源聚合</a:t>
            </a:r>
          </a:p>
        </p:txBody>
      </p:sp>
      <p:sp>
        <p:nvSpPr>
          <p:cNvPr id="19" name="h2p-6-text-18"/>
          <p:cNvSpPr txBox="1"/>
          <p:nvPr/>
        </p:nvSpPr>
        <p:spPr>
          <a:xfrm>
            <a:off x="2919679" y="3562502"/>
            <a:ext cx="1457553" cy="2057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102A43"/>
                </a:solidFill>
                <a:latin typeface="Noto Sans CJK SC"/>
              </a:rPr>
              <a:t>代码定位</a:t>
            </a:r>
          </a:p>
        </p:txBody>
      </p:sp>
      <p:sp>
        <p:nvSpPr>
          <p:cNvPr id="20" name="h2p-6-text-19"/>
          <p:cNvSpPr txBox="1"/>
          <p:nvPr/>
        </p:nvSpPr>
        <p:spPr>
          <a:xfrm>
            <a:off x="5110581" y="3562502"/>
            <a:ext cx="1457553" cy="2057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102A43"/>
                </a:solidFill>
                <a:latin typeface="Noto Sans CJK SC"/>
              </a:rPr>
              <a:t>修复生成</a:t>
            </a:r>
          </a:p>
        </p:txBody>
      </p:sp>
      <p:sp>
        <p:nvSpPr>
          <p:cNvPr id="21" name="h2p-6-text-20"/>
          <p:cNvSpPr txBox="1"/>
          <p:nvPr/>
        </p:nvSpPr>
        <p:spPr>
          <a:xfrm>
            <a:off x="7300569" y="3562502"/>
            <a:ext cx="1457553" cy="2057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102A43"/>
                </a:solidFill>
                <a:latin typeface="Noto Sans CJK SC"/>
              </a:rPr>
              <a:t>验证发布</a:t>
            </a:r>
          </a:p>
        </p:txBody>
      </p:sp>
      <p:sp>
        <p:nvSpPr>
          <p:cNvPr id="22" name="h2p-6-text-21"/>
          <p:cNvSpPr txBox="1"/>
          <p:nvPr/>
        </p:nvSpPr>
        <p:spPr>
          <a:xfrm>
            <a:off x="9491472" y="3562502"/>
            <a:ext cx="1457553" cy="2057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102A43"/>
                </a:solidFill>
                <a:latin typeface="Noto Sans CJK SC"/>
              </a:rPr>
              <a:t>经验沉淀</a:t>
            </a:r>
          </a:p>
        </p:txBody>
      </p:sp>
      <p:sp>
        <p:nvSpPr>
          <p:cNvPr id="23" name="h2p-6-text-22"/>
          <p:cNvSpPr txBox="1"/>
          <p:nvPr/>
        </p:nvSpPr>
        <p:spPr>
          <a:xfrm>
            <a:off x="709574" y="3962095"/>
            <a:ext cx="1495958" cy="36027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Issue / 日志 / 反馈</a:t>
            </a:r>
          </a:p>
          <a:p>
            <a:pPr marL="0" indent="0"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去重问题单</a:t>
            </a:r>
          </a:p>
        </p:txBody>
      </p:sp>
      <p:sp>
        <p:nvSpPr>
          <p:cNvPr id="24" name="h2p-6-text-23"/>
          <p:cNvSpPr txBox="1"/>
          <p:nvPr/>
        </p:nvSpPr>
        <p:spPr>
          <a:xfrm>
            <a:off x="2899562" y="3962095"/>
            <a:ext cx="1495958" cy="36027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候选文件</a:t>
            </a:r>
          </a:p>
          <a:p>
            <a:pPr marL="0" indent="0"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影响面报告</a:t>
            </a:r>
          </a:p>
        </p:txBody>
      </p:sp>
      <p:sp>
        <p:nvSpPr>
          <p:cNvPr id="25" name="h2p-6-text-24"/>
          <p:cNvSpPr txBox="1"/>
          <p:nvPr/>
        </p:nvSpPr>
        <p:spPr>
          <a:xfrm>
            <a:off x="5090464" y="3962095"/>
            <a:ext cx="1495958" cy="36027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补丁候选</a:t>
            </a:r>
          </a:p>
          <a:p>
            <a:pPr marL="0" indent="0"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变更解释</a:t>
            </a:r>
          </a:p>
        </p:txBody>
      </p:sp>
      <p:sp>
        <p:nvSpPr>
          <p:cNvPr id="26" name="h2p-6-text-25"/>
          <p:cNvSpPr txBox="1"/>
          <p:nvPr/>
        </p:nvSpPr>
        <p:spPr>
          <a:xfrm>
            <a:off x="7281367" y="3962095"/>
            <a:ext cx="1495958" cy="36027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冻结测试</a:t>
            </a:r>
          </a:p>
          <a:p>
            <a:pPr marL="0" indent="0"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审批与发布</a:t>
            </a:r>
          </a:p>
        </p:txBody>
      </p:sp>
      <p:sp>
        <p:nvSpPr>
          <p:cNvPr id="27" name="h2p-6-text-26"/>
          <p:cNvSpPr txBox="1"/>
          <p:nvPr/>
        </p:nvSpPr>
        <p:spPr>
          <a:xfrm>
            <a:off x="9472269" y="3962095"/>
            <a:ext cx="1495958" cy="36027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复盘条目</a:t>
            </a:r>
          </a:p>
          <a:p>
            <a:pPr marL="0" indent="0"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研发资产</a:t>
            </a:r>
          </a:p>
        </p:txBody>
      </p:sp>
      <p:sp>
        <p:nvSpPr>
          <p:cNvPr id="28" name="h2p-6-box-27"/>
          <p:cNvSpPr/>
          <p:nvPr/>
        </p:nvSpPr>
        <p:spPr>
          <a:xfrm>
            <a:off x="685800" y="4895697"/>
            <a:ext cx="5085892" cy="1028700"/>
          </a:xfrm>
          <a:prstGeom prst="roundRect">
            <a:avLst>
              <a:gd name="adj" fmla="val 1481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h2p-6-text-28"/>
          <p:cNvSpPr txBox="1"/>
          <p:nvPr/>
        </p:nvSpPr>
        <p:spPr>
          <a:xfrm>
            <a:off x="933602" y="5085892"/>
            <a:ext cx="758037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A8D85"/>
                </a:solidFill>
                <a:latin typeface="Noto Sans Mono CJK SC"/>
              </a:rPr>
              <a:t>MUST DELIVER</a:t>
            </a:r>
          </a:p>
        </p:txBody>
      </p:sp>
      <p:sp>
        <p:nvSpPr>
          <p:cNvPr id="30" name="h2p-6-text-29"/>
          <p:cNvSpPr txBox="1"/>
          <p:nvPr/>
        </p:nvSpPr>
        <p:spPr>
          <a:xfrm>
            <a:off x="933602" y="5352897"/>
            <a:ext cx="4566513" cy="207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定位 / 影响报告 · 补丁候选 · 测试证据 · 审批记录 · 可追溯复盘</a:t>
            </a:r>
          </a:p>
        </p:txBody>
      </p:sp>
      <p:sp>
        <p:nvSpPr>
          <p:cNvPr id="31" name="h2p-6-box-30"/>
          <p:cNvSpPr/>
          <p:nvPr/>
        </p:nvSpPr>
        <p:spPr>
          <a:xfrm>
            <a:off x="5962802" y="4895697"/>
            <a:ext cx="5543092" cy="1028700"/>
          </a:xfrm>
          <a:prstGeom prst="roundRect">
            <a:avLst>
              <a:gd name="adj" fmla="val 14810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h2p-6-text-31"/>
          <p:cNvSpPr txBox="1"/>
          <p:nvPr/>
        </p:nvSpPr>
        <p:spPr>
          <a:xfrm>
            <a:off x="6210604" y="5085892"/>
            <a:ext cx="947318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C64C32"/>
                </a:solidFill>
                <a:latin typeface="Noto Sans Mono CJK SC"/>
              </a:rPr>
              <a:t>MUST NOT ASSUME</a:t>
            </a:r>
          </a:p>
        </p:txBody>
      </p:sp>
      <p:sp>
        <p:nvSpPr>
          <p:cNvPr id="33" name="h2p-6-text-32"/>
          <p:cNvSpPr txBox="1"/>
          <p:nvPr/>
        </p:nvSpPr>
        <p:spPr>
          <a:xfrm>
            <a:off x="6210604" y="5352897"/>
            <a:ext cx="5052060" cy="207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53697C"/>
                </a:solidFill>
                <a:latin typeface="Noto Sans CJK SC"/>
              </a:rPr>
              <a:t>不预设多 Agent 更强 · 不允许无测试发布 · 不把纸面设计当运行证据</a:t>
            </a:r>
          </a:p>
        </p:txBody>
      </p:sp>
      <p:sp>
        <p:nvSpPr>
          <p:cNvPr id="34" name="h2p-6-box-33"/>
          <p:cNvSpPr/>
          <p:nvPr/>
        </p:nvSpPr>
        <p:spPr>
          <a:xfrm>
            <a:off x="4610404" y="6057900"/>
            <a:ext cx="2971800" cy="267004"/>
          </a:xfrm>
          <a:prstGeom prst="roundRect">
            <a:avLst>
              <a:gd name="adj" fmla="val 42860"/>
            </a:avLst>
          </a:prstGeom>
          <a:solidFill>
            <a:srgbClr val="0B2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h2p-6-text-34"/>
          <p:cNvSpPr txBox="1"/>
          <p:nvPr/>
        </p:nvSpPr>
        <p:spPr>
          <a:xfrm>
            <a:off x="4687214" y="6115507"/>
            <a:ext cx="2817266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FFFFFF"/>
                </a:solidFill>
                <a:latin typeface="Noto Sans Mono CJK SC"/>
              </a:rPr>
              <a:t>TaskSemanticSpec · versioned</a:t>
            </a:r>
          </a:p>
        </p:txBody>
      </p:sp>
      <p:sp>
        <p:nvSpPr>
          <p:cNvPr id="36" name="h2p-6-text-35"/>
          <p:cNvSpPr txBox="1"/>
          <p:nvPr/>
        </p:nvSpPr>
        <p:spPr>
          <a:xfrm>
            <a:off x="685800" y="6524244"/>
            <a:ext cx="117591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TASK FIRST</a:t>
            </a:r>
          </a:p>
        </p:txBody>
      </p:sp>
      <p:sp>
        <p:nvSpPr>
          <p:cNvPr id="37" name="h2p-6-text-36"/>
          <p:cNvSpPr txBox="1"/>
          <p:nvPr/>
        </p:nvSpPr>
        <p:spPr>
          <a:xfrm>
            <a:off x="10067544" y="6524244"/>
            <a:ext cx="149595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设计模拟 · 非运行证据 ·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7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EB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7-text-2"/>
          <p:cNvSpPr txBox="1"/>
          <p:nvPr/>
        </p:nvSpPr>
        <p:spPr>
          <a:xfrm>
            <a:off x="685800" y="362102"/>
            <a:ext cx="2040026" cy="1901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07 / 12 · CANDIDATE SELECTION</a:t>
            </a:r>
          </a:p>
        </p:txBody>
      </p:sp>
      <p:sp>
        <p:nvSpPr>
          <p:cNvPr id="4" name="h2p-7-text-3"/>
          <p:cNvSpPr txBox="1"/>
          <p:nvPr/>
        </p:nvSpPr>
        <p:spPr>
          <a:xfrm>
            <a:off x="685800" y="780897"/>
            <a:ext cx="11036808" cy="66659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3150">
                <a:solidFill>
                  <a:srgbClr val="102A43"/>
                </a:solidFill>
                <a:latin typeface="Noto Sans CJK SC"/>
              </a:rPr>
              <a:t>设计模拟的正确结果是一张 TrialSpec，不是宣布赢家。</a:t>
            </a:r>
          </a:p>
        </p:txBody>
      </p:sp>
      <p:sp>
        <p:nvSpPr>
          <p:cNvPr id="5" name="h2p-7-text-4"/>
          <p:cNvSpPr txBox="1"/>
          <p:nvPr/>
        </p:nvSpPr>
        <p:spPr>
          <a:xfrm>
            <a:off x="705002" y="1466697"/>
            <a:ext cx="10492740" cy="32369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53697C"/>
                </a:solidFill>
                <a:latin typeface="Noto Sans CJK SC"/>
              </a:rPr>
              <a:t>三条候选赛道共享输入、模型、工具、预算和安全红线；真实运行前只允许进入受控试验。</a:t>
            </a:r>
          </a:p>
        </p:txBody>
      </p:sp>
      <p:sp>
        <p:nvSpPr>
          <p:cNvPr id="6" name="h2p-7-box-5"/>
          <p:cNvSpPr/>
          <p:nvPr/>
        </p:nvSpPr>
        <p:spPr>
          <a:xfrm>
            <a:off x="685800" y="1848002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7-box-6"/>
          <p:cNvSpPr/>
          <p:nvPr/>
        </p:nvSpPr>
        <p:spPr>
          <a:xfrm>
            <a:off x="685800" y="2286000"/>
            <a:ext cx="9163202" cy="895197"/>
          </a:xfrm>
          <a:prstGeom prst="roundRect">
            <a:avLst>
              <a:gd name="adj" fmla="val 19150"/>
            </a:avLst>
          </a:prstGeom>
          <a:solidFill>
            <a:srgbClr val="DCE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7-text-7"/>
          <p:cNvSpPr txBox="1"/>
          <p:nvPr/>
        </p:nvSpPr>
        <p:spPr>
          <a:xfrm>
            <a:off x="933602" y="2476195"/>
            <a:ext cx="947318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A8D85"/>
                </a:solidFill>
                <a:latin typeface="Noto Sans Mono CJK SC"/>
              </a:rPr>
              <a:t>C0 · AGENTLESS</a:t>
            </a:r>
          </a:p>
        </p:txBody>
      </p:sp>
      <p:sp>
        <p:nvSpPr>
          <p:cNvPr id="9" name="h2p-7-text-8"/>
          <p:cNvSpPr txBox="1"/>
          <p:nvPr/>
        </p:nvSpPr>
        <p:spPr>
          <a:xfrm>
            <a:off x="933602" y="2762402"/>
            <a:ext cx="2463393" cy="1938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80">
                <a:solidFill>
                  <a:srgbClr val="102A43"/>
                </a:solidFill>
                <a:latin typeface="Noto Sans CJK SC"/>
              </a:rPr>
              <a:t>规则去重 → 仓库检索 → 冻结测试</a:t>
            </a:r>
          </a:p>
        </p:txBody>
      </p:sp>
      <p:sp>
        <p:nvSpPr>
          <p:cNvPr id="10" name="h2p-7-text-9"/>
          <p:cNvSpPr txBox="1"/>
          <p:nvPr/>
        </p:nvSpPr>
        <p:spPr>
          <a:xfrm>
            <a:off x="6221577" y="2590495"/>
            <a:ext cx="3303727" cy="180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强基线 · 低自由度 · 易复现</a:t>
            </a:r>
          </a:p>
        </p:txBody>
      </p:sp>
      <p:sp>
        <p:nvSpPr>
          <p:cNvPr id="11" name="h2p-7-box-10"/>
          <p:cNvSpPr/>
          <p:nvPr/>
        </p:nvSpPr>
        <p:spPr>
          <a:xfrm>
            <a:off x="685800" y="3372307"/>
            <a:ext cx="9163202" cy="895197"/>
          </a:xfrm>
          <a:prstGeom prst="roundRect">
            <a:avLst>
              <a:gd name="adj" fmla="val 19150"/>
            </a:avLst>
          </a:prstGeom>
          <a:solidFill>
            <a:srgbClr val="F8D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h2p-7-text-11"/>
          <p:cNvSpPr txBox="1"/>
          <p:nvPr/>
        </p:nvSpPr>
        <p:spPr>
          <a:xfrm>
            <a:off x="933602" y="3562502"/>
            <a:ext cx="1136599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C64C32"/>
                </a:solidFill>
                <a:latin typeface="Noto Sans Mono CJK SC"/>
              </a:rPr>
              <a:t>C1 · SINGLE AGENT</a:t>
            </a:r>
          </a:p>
        </p:txBody>
      </p:sp>
      <p:sp>
        <p:nvSpPr>
          <p:cNvPr id="13" name="h2p-7-text-12"/>
          <p:cNvSpPr txBox="1"/>
          <p:nvPr/>
        </p:nvSpPr>
        <p:spPr>
          <a:xfrm>
            <a:off x="933602" y="3847795"/>
            <a:ext cx="5148986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00">
                <a:solidFill>
                  <a:srgbClr val="102A43"/>
                </a:solidFill>
                <a:latin typeface="Noto Sans CJK SC"/>
              </a:rPr>
              <a:t>定位 + 修复 + 测试，由一个执行体完成</a:t>
            </a:r>
          </a:p>
        </p:txBody>
      </p:sp>
      <p:sp>
        <p:nvSpPr>
          <p:cNvPr id="14" name="h2p-7-text-13"/>
          <p:cNvSpPr txBox="1"/>
          <p:nvPr/>
        </p:nvSpPr>
        <p:spPr>
          <a:xfrm>
            <a:off x="6221577" y="3676802"/>
            <a:ext cx="3303727" cy="180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上下文连续 · 责任集中 · 串行风险</a:t>
            </a:r>
          </a:p>
        </p:txBody>
      </p:sp>
      <p:sp>
        <p:nvSpPr>
          <p:cNvPr id="15" name="h2p-7-box-14"/>
          <p:cNvSpPr/>
          <p:nvPr/>
        </p:nvSpPr>
        <p:spPr>
          <a:xfrm>
            <a:off x="685800" y="4457700"/>
            <a:ext cx="9163202" cy="895197"/>
          </a:xfrm>
          <a:prstGeom prst="roundRect">
            <a:avLst>
              <a:gd name="adj" fmla="val 19150"/>
            </a:avLst>
          </a:prstGeom>
          <a:solidFill>
            <a:srgbClr val="DF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h2p-7-text-15"/>
          <p:cNvSpPr txBox="1"/>
          <p:nvPr/>
        </p:nvSpPr>
        <p:spPr>
          <a:xfrm>
            <a:off x="933602" y="4647895"/>
            <a:ext cx="1073505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426B86"/>
                </a:solidFill>
                <a:latin typeface="Noto Sans Mono CJK SC"/>
              </a:rPr>
              <a:t>C2 · MULTI AGENT</a:t>
            </a:r>
          </a:p>
        </p:txBody>
      </p:sp>
      <p:sp>
        <p:nvSpPr>
          <p:cNvPr id="17" name="h2p-7-text-16"/>
          <p:cNvSpPr txBox="1"/>
          <p:nvPr/>
        </p:nvSpPr>
        <p:spPr>
          <a:xfrm>
            <a:off x="933602" y="4934102"/>
            <a:ext cx="5148986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00">
                <a:solidFill>
                  <a:srgbClr val="102A43"/>
                </a:solidFill>
                <a:latin typeface="Noto Sans CJK SC"/>
              </a:rPr>
              <a:t>定位 Agent → 修复 Agent → 验证 Agent</a:t>
            </a:r>
          </a:p>
        </p:txBody>
      </p:sp>
      <p:sp>
        <p:nvSpPr>
          <p:cNvPr id="18" name="h2p-7-text-17"/>
          <p:cNvSpPr txBox="1"/>
          <p:nvPr/>
        </p:nvSpPr>
        <p:spPr>
          <a:xfrm>
            <a:off x="6221577" y="4762195"/>
            <a:ext cx="3303727" cy="180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并行与复核 · 协调成本 · 责任切分</a:t>
            </a:r>
          </a:p>
        </p:txBody>
      </p:sp>
      <p:sp>
        <p:nvSpPr>
          <p:cNvPr id="19" name="h2p-7-box-18"/>
          <p:cNvSpPr/>
          <p:nvPr/>
        </p:nvSpPr>
        <p:spPr>
          <a:xfrm>
            <a:off x="10115092" y="2286000"/>
            <a:ext cx="1390802" cy="3066897"/>
          </a:xfrm>
          <a:prstGeom prst="roundRect">
            <a:avLst>
              <a:gd name="adj" fmla="val 1507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2p-7-text-19"/>
          <p:cNvSpPr txBox="1"/>
          <p:nvPr/>
        </p:nvSpPr>
        <p:spPr>
          <a:xfrm>
            <a:off x="10315346" y="2571292"/>
            <a:ext cx="991209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A5781C"/>
                </a:solidFill>
                <a:latin typeface="Noto Sans Mono CJK SC"/>
              </a:rPr>
              <a:t>HUMAN GATE</a:t>
            </a:r>
          </a:p>
        </p:txBody>
      </p:sp>
      <p:sp>
        <p:nvSpPr>
          <p:cNvPr id="21" name="h2p-7-text-20"/>
          <p:cNvSpPr txBox="1"/>
          <p:nvPr/>
        </p:nvSpPr>
        <p:spPr>
          <a:xfrm>
            <a:off x="9791395" y="2553004"/>
            <a:ext cx="233172" cy="3337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>
                <a:solidFill>
                  <a:srgbClr val="D6A43B"/>
                </a:solidFill>
                <a:latin typeface="Noto Sans CJK SC"/>
              </a:rPr>
              <a:t>→</a:t>
            </a:r>
          </a:p>
        </p:txBody>
      </p:sp>
      <p:sp>
        <p:nvSpPr>
          <p:cNvPr id="22" name="h2p-7-text-21"/>
          <p:cNvSpPr txBox="1"/>
          <p:nvPr/>
        </p:nvSpPr>
        <p:spPr>
          <a:xfrm>
            <a:off x="9791395" y="3638397"/>
            <a:ext cx="233172" cy="3337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>
                <a:solidFill>
                  <a:srgbClr val="D6A43B"/>
                </a:solidFill>
                <a:latin typeface="Noto Sans CJK SC"/>
              </a:rPr>
              <a:t>→</a:t>
            </a:r>
          </a:p>
        </p:txBody>
      </p:sp>
      <p:sp>
        <p:nvSpPr>
          <p:cNvPr id="23" name="h2p-7-text-22"/>
          <p:cNvSpPr txBox="1"/>
          <p:nvPr/>
        </p:nvSpPr>
        <p:spPr>
          <a:xfrm>
            <a:off x="9791395" y="4724704"/>
            <a:ext cx="233172" cy="3337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>
                <a:solidFill>
                  <a:srgbClr val="D6A43B"/>
                </a:solidFill>
                <a:latin typeface="Noto Sans CJK SC"/>
              </a:rPr>
              <a:t>→</a:t>
            </a:r>
          </a:p>
        </p:txBody>
      </p:sp>
      <p:sp>
        <p:nvSpPr>
          <p:cNvPr id="24" name="h2p-7-box-23"/>
          <p:cNvSpPr/>
          <p:nvPr/>
        </p:nvSpPr>
        <p:spPr>
          <a:xfrm>
            <a:off x="10534802" y="2952597"/>
            <a:ext cx="552297" cy="55229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h2p-7-text-24"/>
          <p:cNvSpPr txBox="1"/>
          <p:nvPr/>
        </p:nvSpPr>
        <p:spPr>
          <a:xfrm>
            <a:off x="10548518" y="3133648"/>
            <a:ext cx="524865" cy="1426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1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A5781C"/>
                </a:solidFill>
                <a:latin typeface="Noto Sans Mono CJK SC"/>
              </a:rPr>
              <a:t>01</a:t>
            </a:r>
          </a:p>
        </p:txBody>
      </p:sp>
      <p:sp>
        <p:nvSpPr>
          <p:cNvPr id="26" name="h2p-7-text-25"/>
          <p:cNvSpPr txBox="1"/>
          <p:nvPr/>
        </p:nvSpPr>
        <p:spPr>
          <a:xfrm>
            <a:off x="10276941" y="3581704"/>
            <a:ext cx="1068933" cy="36027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806015"/>
                </a:solidFill>
                <a:latin typeface="Noto Sans CJK SC"/>
              </a:rPr>
              <a:t>冻结预算</a:t>
            </a:r>
          </a:p>
          <a:p>
            <a:pPr marL="0" indent="0"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806015"/>
                </a:solidFill>
                <a:latin typeface="Noto Sans CJK SC"/>
              </a:rPr>
              <a:t>与权限</a:t>
            </a:r>
          </a:p>
        </p:txBody>
      </p:sp>
      <p:sp>
        <p:nvSpPr>
          <p:cNvPr id="27" name="h2p-7-box-26"/>
          <p:cNvSpPr/>
          <p:nvPr/>
        </p:nvSpPr>
        <p:spPr>
          <a:xfrm>
            <a:off x="10534802" y="4095597"/>
            <a:ext cx="552297" cy="55229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h2p-7-text-27"/>
          <p:cNvSpPr txBox="1"/>
          <p:nvPr/>
        </p:nvSpPr>
        <p:spPr>
          <a:xfrm>
            <a:off x="10548518" y="4276648"/>
            <a:ext cx="524865" cy="1426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1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A5781C"/>
                </a:solidFill>
                <a:latin typeface="Noto Sans Mono CJK SC"/>
              </a:rPr>
              <a:t>02</a:t>
            </a:r>
          </a:p>
        </p:txBody>
      </p:sp>
      <p:sp>
        <p:nvSpPr>
          <p:cNvPr id="29" name="h2p-7-text-28"/>
          <p:cNvSpPr txBox="1"/>
          <p:nvPr/>
        </p:nvSpPr>
        <p:spPr>
          <a:xfrm>
            <a:off x="10276941" y="4724704"/>
            <a:ext cx="1068933" cy="36027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806015"/>
                </a:solidFill>
                <a:latin typeface="Noto Sans CJK SC"/>
              </a:rPr>
              <a:t>批准发布</a:t>
            </a:r>
          </a:p>
          <a:p>
            <a:pPr marL="0" indent="0"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806015"/>
                </a:solidFill>
                <a:latin typeface="Noto Sans CJK SC"/>
              </a:rPr>
              <a:t>或拒绝</a:t>
            </a:r>
          </a:p>
        </p:txBody>
      </p:sp>
      <p:sp>
        <p:nvSpPr>
          <p:cNvPr id="30" name="h2p-7-box-29"/>
          <p:cNvSpPr/>
          <p:nvPr/>
        </p:nvSpPr>
        <p:spPr>
          <a:xfrm>
            <a:off x="685800" y="5581497"/>
            <a:ext cx="10820095" cy="666597"/>
          </a:xfrm>
          <a:prstGeom prst="roundRect">
            <a:avLst>
              <a:gd name="adj" fmla="val 20000"/>
            </a:avLst>
          </a:prstGeom>
          <a:solidFill>
            <a:srgbClr val="132F47"/>
          </a:solidFill>
          <a:ln w="19050">
            <a:solidFill>
              <a:srgbClr val="0B2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h2p-7-text-30"/>
          <p:cNvSpPr txBox="1"/>
          <p:nvPr/>
        </p:nvSpPr>
        <p:spPr>
          <a:xfrm>
            <a:off x="868680" y="5790895"/>
            <a:ext cx="10492740" cy="19293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5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FFFFFF"/>
                </a:solidFill>
                <a:latin typeface="Noto Sans Mono CJK SC"/>
              </a:rPr>
              <a:t>selected_candidate = null · decision = requires_runtime_trial · 设计模拟，非运行证据</a:t>
            </a:r>
          </a:p>
        </p:txBody>
      </p:sp>
      <p:sp>
        <p:nvSpPr>
          <p:cNvPr id="32" name="h2p-7-text-31"/>
          <p:cNvSpPr txBox="1"/>
          <p:nvPr/>
        </p:nvSpPr>
        <p:spPr>
          <a:xfrm>
            <a:off x="685800" y="6524244"/>
            <a:ext cx="117591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FAIR TRIAL</a:t>
            </a:r>
          </a:p>
        </p:txBody>
      </p:sp>
      <p:sp>
        <p:nvSpPr>
          <p:cNvPr id="33" name="h2p-7-text-32"/>
          <p:cNvSpPr txBox="1"/>
          <p:nvPr/>
        </p:nvSpPr>
        <p:spPr>
          <a:xfrm>
            <a:off x="10067544" y="6524244"/>
            <a:ext cx="149595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统一预算 · Human 门禁 ·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8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8-text-2"/>
          <p:cNvSpPr txBox="1"/>
          <p:nvPr/>
        </p:nvSpPr>
        <p:spPr>
          <a:xfrm>
            <a:off x="685800" y="362102"/>
            <a:ext cx="1360627" cy="1901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08 / 12 · META TEAM</a:t>
            </a:r>
          </a:p>
        </p:txBody>
      </p:sp>
      <p:sp>
        <p:nvSpPr>
          <p:cNvPr id="4" name="h2p-8-text-3"/>
          <p:cNvSpPr txBox="1"/>
          <p:nvPr/>
        </p:nvSpPr>
        <p:spPr>
          <a:xfrm>
            <a:off x="685800" y="780897"/>
            <a:ext cx="11036808" cy="66659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3150">
                <a:solidFill>
                  <a:srgbClr val="102A43"/>
                </a:solidFill>
                <a:latin typeface="Noto Sans CJK SC"/>
              </a:rPr>
              <a:t>五个元 Agent 不是角色卡，而是一条责任链。</a:t>
            </a:r>
          </a:p>
        </p:txBody>
      </p:sp>
      <p:sp>
        <p:nvSpPr>
          <p:cNvPr id="5" name="h2p-8-text-4"/>
          <p:cNvSpPr txBox="1"/>
          <p:nvPr/>
        </p:nvSpPr>
        <p:spPr>
          <a:xfrm>
            <a:off x="705002" y="1466697"/>
            <a:ext cx="10492740" cy="32369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53697C"/>
                </a:solidFill>
                <a:latin typeface="Noto Sans CJK SC"/>
              </a:rPr>
              <a:t>每个 Agent 对一个不可替代的判断负责，并把结构化产物交给下一节点；Human 保留批准与拒绝权。</a:t>
            </a:r>
          </a:p>
        </p:txBody>
      </p:sp>
      <p:sp>
        <p:nvSpPr>
          <p:cNvPr id="6" name="h2p-8-box-5"/>
          <p:cNvSpPr/>
          <p:nvPr/>
        </p:nvSpPr>
        <p:spPr>
          <a:xfrm>
            <a:off x="685800" y="1848002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8-box-6"/>
          <p:cNvSpPr/>
          <p:nvPr/>
        </p:nvSpPr>
        <p:spPr>
          <a:xfrm>
            <a:off x="1295704" y="3390595"/>
            <a:ext cx="9601200" cy="38404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8-box-7"/>
          <p:cNvSpPr/>
          <p:nvPr/>
        </p:nvSpPr>
        <p:spPr>
          <a:xfrm>
            <a:off x="1028700" y="3124504"/>
            <a:ext cx="609904" cy="609904"/>
          </a:xfrm>
          <a:prstGeom prst="roundRect">
            <a:avLst>
              <a:gd name="adj" fmla="val 50000"/>
            </a:avLst>
          </a:prstGeom>
          <a:solidFill>
            <a:srgbClr val="0B2236"/>
          </a:solidFill>
          <a:ln w="19050">
            <a:solidFill>
              <a:srgbClr val="0B2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h2p-8-text-8"/>
          <p:cNvSpPr txBox="1"/>
          <p:nvPr/>
        </p:nvSpPr>
        <p:spPr>
          <a:xfrm>
            <a:off x="1042415" y="3323844"/>
            <a:ext cx="583387" cy="1426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1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FFFFFF"/>
                </a:solidFill>
                <a:latin typeface="Noto Sans Mono CJK SC"/>
              </a:rPr>
              <a:t>01</a:t>
            </a:r>
          </a:p>
        </p:txBody>
      </p:sp>
      <p:sp>
        <p:nvSpPr>
          <p:cNvPr id="10" name="h2p-8-box-9"/>
          <p:cNvSpPr/>
          <p:nvPr/>
        </p:nvSpPr>
        <p:spPr>
          <a:xfrm>
            <a:off x="3314700" y="3124504"/>
            <a:ext cx="609904" cy="6099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2p-8-text-10"/>
          <p:cNvSpPr txBox="1"/>
          <p:nvPr/>
        </p:nvSpPr>
        <p:spPr>
          <a:xfrm>
            <a:off x="3328416" y="3323844"/>
            <a:ext cx="583387" cy="1426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1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A8D85"/>
                </a:solidFill>
                <a:latin typeface="Noto Sans Mono CJK SC"/>
              </a:rPr>
              <a:t>02</a:t>
            </a:r>
          </a:p>
        </p:txBody>
      </p:sp>
      <p:sp>
        <p:nvSpPr>
          <p:cNvPr id="12" name="h2p-8-box-11"/>
          <p:cNvSpPr/>
          <p:nvPr/>
        </p:nvSpPr>
        <p:spPr>
          <a:xfrm>
            <a:off x="5600700" y="3124504"/>
            <a:ext cx="609904" cy="609904"/>
          </a:xfrm>
          <a:prstGeom prst="roundRect">
            <a:avLst>
              <a:gd name="adj" fmla="val 50000"/>
            </a:avLst>
          </a:prstGeom>
          <a:solidFill>
            <a:srgbClr val="0B2236"/>
          </a:solidFill>
          <a:ln w="19050">
            <a:solidFill>
              <a:srgbClr val="0B2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2p-8-text-12"/>
          <p:cNvSpPr txBox="1"/>
          <p:nvPr/>
        </p:nvSpPr>
        <p:spPr>
          <a:xfrm>
            <a:off x="5614416" y="3323844"/>
            <a:ext cx="583387" cy="1426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1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FFFFFF"/>
                </a:solidFill>
                <a:latin typeface="Noto Sans Mono CJK SC"/>
              </a:rPr>
              <a:t>03</a:t>
            </a:r>
          </a:p>
        </p:txBody>
      </p:sp>
      <p:sp>
        <p:nvSpPr>
          <p:cNvPr id="14" name="h2p-8-box-13"/>
          <p:cNvSpPr/>
          <p:nvPr/>
        </p:nvSpPr>
        <p:spPr>
          <a:xfrm>
            <a:off x="7886700" y="3124504"/>
            <a:ext cx="609904" cy="6099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h2p-8-text-14"/>
          <p:cNvSpPr txBox="1"/>
          <p:nvPr/>
        </p:nvSpPr>
        <p:spPr>
          <a:xfrm>
            <a:off x="7900416" y="3323844"/>
            <a:ext cx="583387" cy="1426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1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A8D85"/>
                </a:solidFill>
                <a:latin typeface="Noto Sans Mono CJK SC"/>
              </a:rPr>
              <a:t>04</a:t>
            </a:r>
          </a:p>
        </p:txBody>
      </p:sp>
      <p:sp>
        <p:nvSpPr>
          <p:cNvPr id="16" name="h2p-8-box-15"/>
          <p:cNvSpPr/>
          <p:nvPr/>
        </p:nvSpPr>
        <p:spPr>
          <a:xfrm>
            <a:off x="10172700" y="3124504"/>
            <a:ext cx="609904" cy="6099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h2p-8-text-16"/>
          <p:cNvSpPr txBox="1"/>
          <p:nvPr/>
        </p:nvSpPr>
        <p:spPr>
          <a:xfrm>
            <a:off x="10186416" y="3323844"/>
            <a:ext cx="583387" cy="1426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1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A5781C"/>
                </a:solidFill>
                <a:latin typeface="Noto Sans Mono CJK SC"/>
              </a:rPr>
              <a:t>05</a:t>
            </a:r>
          </a:p>
        </p:txBody>
      </p:sp>
      <p:sp>
        <p:nvSpPr>
          <p:cNvPr id="18" name="h2p-8-text-17"/>
          <p:cNvSpPr txBox="1"/>
          <p:nvPr/>
        </p:nvSpPr>
        <p:spPr>
          <a:xfrm>
            <a:off x="672998" y="2247595"/>
            <a:ext cx="1321308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02A43"/>
                </a:solidFill>
                <a:latin typeface="Noto Sans Mono CJK SC"/>
              </a:rPr>
              <a:t>EngagementLead</a:t>
            </a:r>
          </a:p>
        </p:txBody>
      </p:sp>
      <p:sp>
        <p:nvSpPr>
          <p:cNvPr id="19" name="h2p-8-text-18"/>
          <p:cNvSpPr txBox="1"/>
          <p:nvPr/>
        </p:nvSpPr>
        <p:spPr>
          <a:xfrm>
            <a:off x="672998" y="2514600"/>
            <a:ext cx="1321308" cy="36027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冻结目标</a:t>
            </a:r>
          </a:p>
          <a:p>
            <a:pPr marL="0" indent="0"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1A8D85"/>
                </a:solidFill>
                <a:latin typeface="Noto Sans CJK SC"/>
              </a:rPr>
              <a:t>EngagementBrief</a:t>
            </a:r>
          </a:p>
        </p:txBody>
      </p:sp>
      <p:sp>
        <p:nvSpPr>
          <p:cNvPr id="20" name="h2p-8-text-19"/>
          <p:cNvSpPr txBox="1"/>
          <p:nvPr/>
        </p:nvSpPr>
        <p:spPr>
          <a:xfrm>
            <a:off x="2958998" y="3905402"/>
            <a:ext cx="1321308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02A43"/>
                </a:solidFill>
                <a:latin typeface="Noto Sans Mono CJK SC"/>
              </a:rPr>
              <a:t>BusinessEngineer</a:t>
            </a:r>
          </a:p>
        </p:txBody>
      </p:sp>
      <p:sp>
        <p:nvSpPr>
          <p:cNvPr id="21" name="h2p-8-text-20"/>
          <p:cNvSpPr txBox="1"/>
          <p:nvPr/>
        </p:nvSpPr>
        <p:spPr>
          <a:xfrm>
            <a:off x="2958998" y="4171492"/>
            <a:ext cx="1321308" cy="36027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编译任务</a:t>
            </a:r>
          </a:p>
          <a:p>
            <a:pPr marL="0" indent="0"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1A8D85"/>
                </a:solidFill>
                <a:latin typeface="Noto Sans CJK SC"/>
              </a:rPr>
              <a:t>TaskSemanticSpec</a:t>
            </a:r>
          </a:p>
        </p:txBody>
      </p:sp>
      <p:sp>
        <p:nvSpPr>
          <p:cNvPr id="22" name="h2p-8-text-21"/>
          <p:cNvSpPr txBox="1"/>
          <p:nvPr/>
        </p:nvSpPr>
        <p:spPr>
          <a:xfrm>
            <a:off x="5244998" y="2247595"/>
            <a:ext cx="1321308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02A43"/>
                </a:solidFill>
                <a:latin typeface="Noto Sans Mono CJK SC"/>
              </a:rPr>
              <a:t>AgentArchitect</a:t>
            </a:r>
          </a:p>
        </p:txBody>
      </p:sp>
      <p:sp>
        <p:nvSpPr>
          <p:cNvPr id="23" name="h2p-8-text-22"/>
          <p:cNvSpPr txBox="1"/>
          <p:nvPr/>
        </p:nvSpPr>
        <p:spPr>
          <a:xfrm>
            <a:off x="5244998" y="2514600"/>
            <a:ext cx="1321308" cy="36027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生成候选</a:t>
            </a:r>
          </a:p>
          <a:p>
            <a:pPr marL="0" indent="0"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F26B4B"/>
                </a:solidFill>
                <a:latin typeface="Noto Sans CJK SC"/>
              </a:rPr>
              <a:t>CandidateSet</a:t>
            </a:r>
          </a:p>
        </p:txBody>
      </p:sp>
      <p:sp>
        <p:nvSpPr>
          <p:cNvPr id="24" name="h2p-8-text-23"/>
          <p:cNvSpPr txBox="1"/>
          <p:nvPr/>
        </p:nvSpPr>
        <p:spPr>
          <a:xfrm>
            <a:off x="7530998" y="3905402"/>
            <a:ext cx="1321308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02A43"/>
                </a:solidFill>
                <a:latin typeface="Noto Sans Mono CJK SC"/>
              </a:rPr>
              <a:t>ValidationEngineer</a:t>
            </a:r>
          </a:p>
        </p:txBody>
      </p:sp>
      <p:sp>
        <p:nvSpPr>
          <p:cNvPr id="25" name="h2p-8-text-24"/>
          <p:cNvSpPr txBox="1"/>
          <p:nvPr/>
        </p:nvSpPr>
        <p:spPr>
          <a:xfrm>
            <a:off x="7530998" y="4171492"/>
            <a:ext cx="1321308" cy="36027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公平评测</a:t>
            </a:r>
          </a:p>
          <a:p>
            <a:pPr marL="0" indent="0"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1A8D85"/>
                </a:solidFill>
                <a:latin typeface="Noto Sans CJK SC"/>
              </a:rPr>
              <a:t>ExecutionTrace</a:t>
            </a:r>
          </a:p>
        </p:txBody>
      </p:sp>
      <p:sp>
        <p:nvSpPr>
          <p:cNvPr id="26" name="h2p-8-text-25"/>
          <p:cNvSpPr txBox="1"/>
          <p:nvPr/>
        </p:nvSpPr>
        <p:spPr>
          <a:xfrm>
            <a:off x="9816998" y="2247595"/>
            <a:ext cx="1321308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02A43"/>
                </a:solidFill>
                <a:latin typeface="Noto Sans Mono CJK SC"/>
              </a:rPr>
              <a:t>GovernanceAuditor</a:t>
            </a:r>
          </a:p>
        </p:txBody>
      </p:sp>
      <p:sp>
        <p:nvSpPr>
          <p:cNvPr id="27" name="h2p-8-text-26"/>
          <p:cNvSpPr txBox="1"/>
          <p:nvPr/>
        </p:nvSpPr>
        <p:spPr>
          <a:xfrm>
            <a:off x="9816998" y="2514600"/>
            <a:ext cx="1321308" cy="36027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独立门禁</a:t>
            </a:r>
          </a:p>
          <a:p>
            <a:pPr marL="0" indent="0"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A5781C"/>
                </a:solidFill>
                <a:latin typeface="Noto Sans CJK SC"/>
              </a:rPr>
              <a:t>DecisionLedger</a:t>
            </a:r>
          </a:p>
        </p:txBody>
      </p:sp>
      <p:sp>
        <p:nvSpPr>
          <p:cNvPr id="28" name="h2p-8-box-27"/>
          <p:cNvSpPr/>
          <p:nvPr/>
        </p:nvSpPr>
        <p:spPr>
          <a:xfrm>
            <a:off x="2247595" y="5143500"/>
            <a:ext cx="7696504" cy="875995"/>
          </a:xfrm>
          <a:prstGeom prst="roundRect">
            <a:avLst>
              <a:gd name="adj" fmla="val 17390"/>
            </a:avLst>
          </a:prstGeom>
          <a:solidFill>
            <a:srgbClr val="132F47"/>
          </a:solidFill>
          <a:ln w="19050">
            <a:solidFill>
              <a:srgbClr val="0B2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h2p-8-text-28"/>
          <p:cNvSpPr txBox="1"/>
          <p:nvPr/>
        </p:nvSpPr>
        <p:spPr>
          <a:xfrm>
            <a:off x="2553004" y="5333695"/>
            <a:ext cx="1452067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74D0C7"/>
                </a:solidFill>
                <a:latin typeface="Noto Sans Mono CJK SC"/>
              </a:rPr>
              <a:t>RESPONSIBILITY CONTRACT</a:t>
            </a:r>
          </a:p>
        </p:txBody>
      </p:sp>
      <p:sp>
        <p:nvSpPr>
          <p:cNvPr id="30" name="h2p-8-text-29"/>
          <p:cNvSpPr txBox="1"/>
          <p:nvPr/>
        </p:nvSpPr>
        <p:spPr>
          <a:xfrm>
            <a:off x="2481681" y="5600700"/>
            <a:ext cx="7228332" cy="207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6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0">
                <a:solidFill>
                  <a:srgbClr val="FFFFFF"/>
                </a:solidFill>
                <a:latin typeface="Noto Sans CJK SC"/>
              </a:rPr>
              <a:t>同一项目事实源 · 每次交接有 Artifact · 每次决策有 Trace · 每次高风险动作有 Human</a:t>
            </a:r>
          </a:p>
        </p:txBody>
      </p:sp>
      <p:sp>
        <p:nvSpPr>
          <p:cNvPr id="31" name="h2p-8-text-30"/>
          <p:cNvSpPr txBox="1"/>
          <p:nvPr/>
        </p:nvSpPr>
        <p:spPr>
          <a:xfrm>
            <a:off x="685800" y="6524244"/>
            <a:ext cx="170992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RESPONSIBILITY CHAIN</a:t>
            </a:r>
          </a:p>
        </p:txBody>
      </p:sp>
      <p:sp>
        <p:nvSpPr>
          <p:cNvPr id="32" name="h2p-8-text-31"/>
          <p:cNvSpPr txBox="1"/>
          <p:nvPr/>
        </p:nvSpPr>
        <p:spPr>
          <a:xfrm>
            <a:off x="9639604" y="6524244"/>
            <a:ext cx="1923897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元团队设计 · 真实运行证据待补 ·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9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9-text-2"/>
          <p:cNvSpPr txBox="1"/>
          <p:nvPr/>
        </p:nvSpPr>
        <p:spPr>
          <a:xfrm>
            <a:off x="685800" y="362102"/>
            <a:ext cx="1768449" cy="1901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09 / 12 · ADOPTION LAYERS</a:t>
            </a:r>
          </a:p>
        </p:txBody>
      </p:sp>
      <p:sp>
        <p:nvSpPr>
          <p:cNvPr id="4" name="h2p-9-text-3"/>
          <p:cNvSpPr txBox="1"/>
          <p:nvPr/>
        </p:nvSpPr>
        <p:spPr>
          <a:xfrm>
            <a:off x="685800" y="780897"/>
            <a:ext cx="11036808" cy="66659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3150">
                <a:solidFill>
                  <a:srgbClr val="102A43"/>
                </a:solidFill>
                <a:latin typeface="Noto Sans CJK SC"/>
              </a:rPr>
              <a:t>AgentTeams 让团队运行，AgentFit 让方案可选择。</a:t>
            </a:r>
          </a:p>
        </p:txBody>
      </p:sp>
      <p:sp>
        <p:nvSpPr>
          <p:cNvPr id="5" name="h2p-9-text-4"/>
          <p:cNvSpPr txBox="1"/>
          <p:nvPr/>
        </p:nvSpPr>
        <p:spPr>
          <a:xfrm>
            <a:off x="705002" y="1466697"/>
            <a:ext cx="10492740" cy="32369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53697C"/>
                </a:solidFill>
                <a:latin typeface="Noto Sans CJK SC"/>
              </a:rPr>
              <a:t>不重造身份、通信和容器；只增加任务语义、候选试验、证据账本与可部署方案包。</a:t>
            </a:r>
          </a:p>
        </p:txBody>
      </p:sp>
      <p:sp>
        <p:nvSpPr>
          <p:cNvPr id="6" name="h2p-9-box-5"/>
          <p:cNvSpPr/>
          <p:nvPr/>
        </p:nvSpPr>
        <p:spPr>
          <a:xfrm>
            <a:off x="685800" y="1848002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9-box-6"/>
          <p:cNvSpPr/>
          <p:nvPr/>
        </p:nvSpPr>
        <p:spPr>
          <a:xfrm>
            <a:off x="685800" y="2171700"/>
            <a:ext cx="10820095" cy="1238097"/>
          </a:xfrm>
          <a:prstGeom prst="roundRect">
            <a:avLst>
              <a:gd name="adj" fmla="val 1538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9-text-7"/>
          <p:cNvSpPr txBox="1"/>
          <p:nvPr/>
        </p:nvSpPr>
        <p:spPr>
          <a:xfrm>
            <a:off x="933602" y="2361895"/>
            <a:ext cx="2400300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A8D85"/>
                </a:solidFill>
                <a:latin typeface="Noto Sans Mono CJK SC"/>
              </a:rPr>
              <a:t>AGENTFIT · SOLUTION ENGINEERING PLANE</a:t>
            </a:r>
          </a:p>
        </p:txBody>
      </p:sp>
      <p:sp>
        <p:nvSpPr>
          <p:cNvPr id="9" name="h2p-9-text-8"/>
          <p:cNvSpPr txBox="1"/>
          <p:nvPr/>
        </p:nvSpPr>
        <p:spPr>
          <a:xfrm>
            <a:off x="933602" y="2723997"/>
            <a:ext cx="1667865" cy="2057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102A43"/>
                </a:solidFill>
                <a:latin typeface="Noto Sans CJK SC"/>
              </a:rPr>
              <a:t>TaskSemanticSpec</a:t>
            </a:r>
          </a:p>
        </p:txBody>
      </p:sp>
      <p:sp>
        <p:nvSpPr>
          <p:cNvPr id="10" name="h2p-9-text-9"/>
          <p:cNvSpPr txBox="1"/>
          <p:nvPr/>
        </p:nvSpPr>
        <p:spPr>
          <a:xfrm>
            <a:off x="3219602" y="2723997"/>
            <a:ext cx="1489557" cy="2057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102A43"/>
                </a:solidFill>
                <a:latin typeface="Noto Sans CJK SC"/>
              </a:rPr>
              <a:t>Capability Graph</a:t>
            </a:r>
          </a:p>
        </p:txBody>
      </p:sp>
      <p:sp>
        <p:nvSpPr>
          <p:cNvPr id="11" name="h2p-9-text-10"/>
          <p:cNvSpPr txBox="1"/>
          <p:nvPr/>
        </p:nvSpPr>
        <p:spPr>
          <a:xfrm>
            <a:off x="5505602" y="2723997"/>
            <a:ext cx="1881835" cy="2057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102A43"/>
                </a:solidFill>
                <a:latin typeface="Noto Sans CJK SC"/>
              </a:rPr>
              <a:t>Candidate / TrialSpec</a:t>
            </a:r>
          </a:p>
        </p:txBody>
      </p:sp>
      <p:sp>
        <p:nvSpPr>
          <p:cNvPr id="12" name="h2p-9-text-11"/>
          <p:cNvSpPr txBox="1"/>
          <p:nvPr/>
        </p:nvSpPr>
        <p:spPr>
          <a:xfrm>
            <a:off x="8076895" y="2723997"/>
            <a:ext cx="2008936" cy="2057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102A43"/>
                </a:solidFill>
                <a:latin typeface="Noto Sans CJK SC"/>
              </a:rPr>
              <a:t>AgentSolutionPackage</a:t>
            </a:r>
          </a:p>
        </p:txBody>
      </p:sp>
      <p:sp>
        <p:nvSpPr>
          <p:cNvPr id="13" name="h2p-9-box-12"/>
          <p:cNvSpPr/>
          <p:nvPr/>
        </p:nvSpPr>
        <p:spPr>
          <a:xfrm>
            <a:off x="2457907" y="2848356"/>
            <a:ext cx="590702" cy="19202"/>
          </a:xfrm>
          <a:prstGeom prst="rect">
            <a:avLst/>
          </a:prstGeom>
          <a:solidFill>
            <a:srgbClr val="1A8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2p-9-text-13"/>
          <p:cNvSpPr txBox="1"/>
          <p:nvPr/>
        </p:nvSpPr>
        <p:spPr>
          <a:xfrm>
            <a:off x="2933395" y="2714853"/>
            <a:ext cx="64922" cy="3044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1A8D85"/>
                </a:solidFill>
                <a:latin typeface="Noto Sans CJK SC"/>
              </a:rPr>
              <a:t>›</a:t>
            </a:r>
          </a:p>
        </p:txBody>
      </p:sp>
      <p:sp>
        <p:nvSpPr>
          <p:cNvPr id="15" name="h2p-9-box-14"/>
          <p:cNvSpPr/>
          <p:nvPr/>
        </p:nvSpPr>
        <p:spPr>
          <a:xfrm>
            <a:off x="4743907" y="2848356"/>
            <a:ext cx="590702" cy="19202"/>
          </a:xfrm>
          <a:prstGeom prst="rect">
            <a:avLst/>
          </a:prstGeom>
          <a:solidFill>
            <a:srgbClr val="1A8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h2p-9-text-15"/>
          <p:cNvSpPr txBox="1"/>
          <p:nvPr/>
        </p:nvSpPr>
        <p:spPr>
          <a:xfrm>
            <a:off x="5219395" y="2714853"/>
            <a:ext cx="64922" cy="3044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1A8D85"/>
                </a:solidFill>
                <a:latin typeface="Noto Sans CJK SC"/>
              </a:rPr>
              <a:t>›</a:t>
            </a:r>
          </a:p>
        </p:txBody>
      </p:sp>
      <p:sp>
        <p:nvSpPr>
          <p:cNvPr id="17" name="h2p-9-box-16"/>
          <p:cNvSpPr/>
          <p:nvPr/>
        </p:nvSpPr>
        <p:spPr>
          <a:xfrm>
            <a:off x="7410297" y="2848356"/>
            <a:ext cx="495604" cy="19202"/>
          </a:xfrm>
          <a:prstGeom prst="rect">
            <a:avLst/>
          </a:prstGeom>
          <a:solidFill>
            <a:srgbClr val="1A8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2p-9-text-17"/>
          <p:cNvSpPr txBox="1"/>
          <p:nvPr/>
        </p:nvSpPr>
        <p:spPr>
          <a:xfrm>
            <a:off x="7791602" y="2714853"/>
            <a:ext cx="64922" cy="3044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>
                <a:solidFill>
                  <a:srgbClr val="1A8D85"/>
                </a:solidFill>
                <a:latin typeface="Noto Sans CJK SC"/>
              </a:rPr>
              <a:t>›</a:t>
            </a:r>
          </a:p>
        </p:txBody>
      </p:sp>
      <p:sp>
        <p:nvSpPr>
          <p:cNvPr id="19" name="h2p-9-text-18"/>
          <p:cNvSpPr txBox="1"/>
          <p:nvPr/>
        </p:nvSpPr>
        <p:spPr>
          <a:xfrm>
            <a:off x="933602" y="3086100"/>
            <a:ext cx="10007193" cy="180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回答：任务是什么、能力在哪里、哪些拓扑值得试、交付物怎样复验。</a:t>
            </a:r>
          </a:p>
        </p:txBody>
      </p:sp>
      <p:sp>
        <p:nvSpPr>
          <p:cNvPr id="20" name="h2p-9-box-19"/>
          <p:cNvSpPr/>
          <p:nvPr/>
        </p:nvSpPr>
        <p:spPr>
          <a:xfrm>
            <a:off x="6077102" y="3409797"/>
            <a:ext cx="19202" cy="552297"/>
          </a:xfrm>
          <a:prstGeom prst="rect">
            <a:avLst/>
          </a:prstGeom>
          <a:solidFill>
            <a:srgbClr val="1A8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2p-9-box-20"/>
          <p:cNvSpPr/>
          <p:nvPr/>
        </p:nvSpPr>
        <p:spPr>
          <a:xfrm>
            <a:off x="2038197" y="3733495"/>
            <a:ext cx="8115300" cy="819302"/>
          </a:xfrm>
          <a:prstGeom prst="roundRect">
            <a:avLst>
              <a:gd name="adj" fmla="val 50000"/>
            </a:avLst>
          </a:prstGeom>
          <a:solidFill>
            <a:srgbClr val="132F47"/>
          </a:solidFill>
          <a:ln w="19050">
            <a:solidFill>
              <a:srgbClr val="0B2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2p-9-text-21"/>
          <p:cNvSpPr txBox="1"/>
          <p:nvPr/>
        </p:nvSpPr>
        <p:spPr>
          <a:xfrm>
            <a:off x="2361895" y="3924604"/>
            <a:ext cx="947318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74D0C7"/>
                </a:solidFill>
                <a:latin typeface="Noto Sans Mono CJK SC"/>
              </a:rPr>
              <a:t>PROJECT DOSSIER</a:t>
            </a:r>
          </a:p>
        </p:txBody>
      </p:sp>
      <p:sp>
        <p:nvSpPr>
          <p:cNvPr id="23" name="h2p-9-text-22"/>
          <p:cNvSpPr txBox="1"/>
          <p:nvPr/>
        </p:nvSpPr>
        <p:spPr>
          <a:xfrm>
            <a:off x="4038904" y="3866997"/>
            <a:ext cx="5829300" cy="235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8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FFFFFF"/>
                </a:solidFill>
                <a:latin typeface="Noto Sans Mono CJK SC"/>
              </a:rPr>
              <a:t>versioned state · Artifact · ExecutionTrace · DecisionLedger</a:t>
            </a:r>
          </a:p>
        </p:txBody>
      </p:sp>
      <p:sp>
        <p:nvSpPr>
          <p:cNvPr id="24" name="h2p-9-box-23"/>
          <p:cNvSpPr/>
          <p:nvPr/>
        </p:nvSpPr>
        <p:spPr>
          <a:xfrm>
            <a:off x="6077102" y="4552797"/>
            <a:ext cx="19202" cy="552297"/>
          </a:xfrm>
          <a:prstGeom prst="rect">
            <a:avLst/>
          </a:prstGeom>
          <a:solidFill>
            <a:srgbClr val="D6A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h2p-9-box-24"/>
          <p:cNvSpPr/>
          <p:nvPr/>
        </p:nvSpPr>
        <p:spPr>
          <a:xfrm>
            <a:off x="685800" y="4953304"/>
            <a:ext cx="10820095" cy="1390802"/>
          </a:xfrm>
          <a:prstGeom prst="roundRect">
            <a:avLst>
              <a:gd name="adj" fmla="val 13700"/>
            </a:avLst>
          </a:prstGeom>
          <a:solidFill>
            <a:srgbClr val="132F47"/>
          </a:solidFill>
          <a:ln w="19050">
            <a:solidFill>
              <a:srgbClr val="0B2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h2p-9-text-25"/>
          <p:cNvSpPr txBox="1"/>
          <p:nvPr/>
        </p:nvSpPr>
        <p:spPr>
          <a:xfrm>
            <a:off x="933602" y="5143500"/>
            <a:ext cx="2715768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8FA6B9"/>
                </a:solidFill>
                <a:latin typeface="Noto Sans Mono CJK SC"/>
              </a:rPr>
              <a:t>AGENTTEAMS · RUNTIME &amp; COLLABORATION PLANE</a:t>
            </a:r>
          </a:p>
        </p:txBody>
      </p:sp>
      <p:sp>
        <p:nvSpPr>
          <p:cNvPr id="27" name="h2p-9-box-26"/>
          <p:cNvSpPr/>
          <p:nvPr/>
        </p:nvSpPr>
        <p:spPr>
          <a:xfrm>
            <a:off x="933602" y="5486400"/>
            <a:ext cx="1676095" cy="323697"/>
          </a:xfrm>
          <a:prstGeom prst="roundRect">
            <a:avLst>
              <a:gd name="adj" fmla="val 50000"/>
            </a:avLst>
          </a:prstGeom>
          <a:solidFill>
            <a:srgbClr val="132F47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h2p-9-text-27"/>
          <p:cNvSpPr txBox="1"/>
          <p:nvPr/>
        </p:nvSpPr>
        <p:spPr>
          <a:xfrm>
            <a:off x="1052474" y="5553151"/>
            <a:ext cx="1438351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FFFFF"/>
                </a:solidFill>
                <a:latin typeface="Noto Sans Mono CJK SC"/>
              </a:rPr>
              <a:t>Identity / Human</a:t>
            </a:r>
          </a:p>
        </p:txBody>
      </p:sp>
      <p:sp>
        <p:nvSpPr>
          <p:cNvPr id="29" name="h2p-9-box-28"/>
          <p:cNvSpPr/>
          <p:nvPr/>
        </p:nvSpPr>
        <p:spPr>
          <a:xfrm>
            <a:off x="2799892" y="5486400"/>
            <a:ext cx="2114092" cy="323697"/>
          </a:xfrm>
          <a:prstGeom prst="roundRect">
            <a:avLst>
              <a:gd name="adj" fmla="val 50000"/>
            </a:avLst>
          </a:prstGeom>
          <a:solidFill>
            <a:srgbClr val="132F47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h2p-9-text-29"/>
          <p:cNvSpPr txBox="1"/>
          <p:nvPr/>
        </p:nvSpPr>
        <p:spPr>
          <a:xfrm>
            <a:off x="2915107" y="5553151"/>
            <a:ext cx="1884578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FFFFF"/>
                </a:solidFill>
                <a:latin typeface="Noto Sans Mono CJK SC"/>
              </a:rPr>
              <a:t>Manager / Worker / Team</a:t>
            </a:r>
          </a:p>
        </p:txBody>
      </p:sp>
      <p:sp>
        <p:nvSpPr>
          <p:cNvPr id="31" name="h2p-9-box-30"/>
          <p:cNvSpPr/>
          <p:nvPr/>
        </p:nvSpPr>
        <p:spPr>
          <a:xfrm>
            <a:off x="5105095" y="5486400"/>
            <a:ext cx="1676095" cy="323697"/>
          </a:xfrm>
          <a:prstGeom prst="roundRect">
            <a:avLst>
              <a:gd name="adj" fmla="val 50000"/>
            </a:avLst>
          </a:prstGeom>
          <a:solidFill>
            <a:srgbClr val="132F47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h2p-9-text-31"/>
          <p:cNvSpPr txBox="1"/>
          <p:nvPr/>
        </p:nvSpPr>
        <p:spPr>
          <a:xfrm>
            <a:off x="5224881" y="5553151"/>
            <a:ext cx="1438351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FFFFF"/>
                </a:solidFill>
                <a:latin typeface="Noto Sans Mono CJK SC"/>
              </a:rPr>
              <a:t>Matrix / Chat</a:t>
            </a:r>
          </a:p>
        </p:txBody>
      </p:sp>
      <p:sp>
        <p:nvSpPr>
          <p:cNvPr id="33" name="h2p-9-box-32"/>
          <p:cNvSpPr/>
          <p:nvPr/>
        </p:nvSpPr>
        <p:spPr>
          <a:xfrm>
            <a:off x="6972300" y="5486400"/>
            <a:ext cx="2457907" cy="323697"/>
          </a:xfrm>
          <a:prstGeom prst="roundRect">
            <a:avLst>
              <a:gd name="adj" fmla="val 50000"/>
            </a:avLst>
          </a:prstGeom>
          <a:solidFill>
            <a:srgbClr val="132F47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h2p-9-text-33"/>
          <p:cNvSpPr txBox="1"/>
          <p:nvPr/>
        </p:nvSpPr>
        <p:spPr>
          <a:xfrm>
            <a:off x="7083856" y="5553151"/>
            <a:ext cx="2234793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FFFFF"/>
                </a:solidFill>
                <a:latin typeface="Noto Sans Mono CJK SC"/>
              </a:rPr>
              <a:t>Container / File / Cron</a:t>
            </a:r>
          </a:p>
        </p:txBody>
      </p:sp>
      <p:sp>
        <p:nvSpPr>
          <p:cNvPr id="35" name="h2p-9-box-34"/>
          <p:cNvSpPr/>
          <p:nvPr/>
        </p:nvSpPr>
        <p:spPr>
          <a:xfrm>
            <a:off x="9620402" y="5486400"/>
            <a:ext cx="1676095" cy="323697"/>
          </a:xfrm>
          <a:prstGeom prst="roundRect">
            <a:avLst>
              <a:gd name="adj" fmla="val 50000"/>
            </a:avLst>
          </a:prstGeom>
          <a:solidFill>
            <a:srgbClr val="132F47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h2p-9-text-35"/>
          <p:cNvSpPr txBox="1"/>
          <p:nvPr/>
        </p:nvSpPr>
        <p:spPr>
          <a:xfrm>
            <a:off x="9739274" y="5553151"/>
            <a:ext cx="1438351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FFFFF"/>
                </a:solidFill>
                <a:latin typeface="Noto Sans Mono CJK SC"/>
              </a:rPr>
              <a:t>Skill / MCP</a:t>
            </a:r>
          </a:p>
        </p:txBody>
      </p:sp>
      <p:sp>
        <p:nvSpPr>
          <p:cNvPr id="37" name="h2p-9-text-36"/>
          <p:cNvSpPr txBox="1"/>
          <p:nvPr/>
        </p:nvSpPr>
        <p:spPr>
          <a:xfrm>
            <a:off x="685800" y="6524244"/>
            <a:ext cx="117591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× AGENTTEAMS</a:t>
            </a:r>
          </a:p>
        </p:txBody>
      </p:sp>
      <p:sp>
        <p:nvSpPr>
          <p:cNvPr id="38" name="h2p-9-text-37"/>
          <p:cNvSpPr txBox="1"/>
          <p:nvPr/>
        </p:nvSpPr>
        <p:spPr>
          <a:xfrm>
            <a:off x="10173614" y="6524244"/>
            <a:ext cx="1388973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基于框架，不修改核心 ·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10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10-text-2"/>
          <p:cNvSpPr txBox="1"/>
          <p:nvPr/>
        </p:nvSpPr>
        <p:spPr>
          <a:xfrm>
            <a:off x="685800" y="362102"/>
            <a:ext cx="1495958" cy="1901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10 / 12 · DELIVERABLE</a:t>
            </a:r>
          </a:p>
        </p:txBody>
      </p:sp>
      <p:sp>
        <p:nvSpPr>
          <p:cNvPr id="4" name="h2p-10-text-3"/>
          <p:cNvSpPr txBox="1"/>
          <p:nvPr/>
        </p:nvSpPr>
        <p:spPr>
          <a:xfrm>
            <a:off x="685800" y="780897"/>
            <a:ext cx="11036808" cy="66659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3150">
                <a:solidFill>
                  <a:srgbClr val="102A43"/>
                </a:solidFill>
                <a:latin typeface="Noto Sans CJK SC"/>
              </a:rPr>
              <a:t>真正的交付物，是一份能部署、复验和回滚的方案包。</a:t>
            </a:r>
          </a:p>
        </p:txBody>
      </p:sp>
      <p:sp>
        <p:nvSpPr>
          <p:cNvPr id="5" name="h2p-10-text-4"/>
          <p:cNvSpPr txBox="1"/>
          <p:nvPr/>
        </p:nvSpPr>
        <p:spPr>
          <a:xfrm>
            <a:off x="705002" y="1466697"/>
            <a:ext cx="10492740" cy="32369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53697C"/>
                </a:solidFill>
                <a:latin typeface="Noto Sans CJK SC"/>
              </a:rPr>
              <a:t>不是一段 Prompt，也不是一张 Agent 名单，而是架构、运行契约、证据和安全边界的整体。</a:t>
            </a:r>
          </a:p>
        </p:txBody>
      </p:sp>
      <p:sp>
        <p:nvSpPr>
          <p:cNvPr id="6" name="h2p-10-box-5"/>
          <p:cNvSpPr/>
          <p:nvPr/>
        </p:nvSpPr>
        <p:spPr>
          <a:xfrm>
            <a:off x="685800" y="1848002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10-text-6"/>
          <p:cNvSpPr txBox="1"/>
          <p:nvPr/>
        </p:nvSpPr>
        <p:spPr>
          <a:xfrm>
            <a:off x="990295" y="2305202"/>
            <a:ext cx="1388973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A8D85"/>
                </a:solidFill>
                <a:latin typeface="Noto Sans Mono CJK SC"/>
              </a:rPr>
              <a:t>AGENT SOLUTION PACKAGE</a:t>
            </a:r>
          </a:p>
        </p:txBody>
      </p:sp>
      <p:sp>
        <p:nvSpPr>
          <p:cNvPr id="8" name="h2p-10-box-7"/>
          <p:cNvSpPr/>
          <p:nvPr/>
        </p:nvSpPr>
        <p:spPr>
          <a:xfrm>
            <a:off x="933602" y="2648102"/>
            <a:ext cx="8001000" cy="705002"/>
          </a:xfrm>
          <a:prstGeom prst="roundRect">
            <a:avLst>
              <a:gd name="adj" fmla="val 21620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h2p-10-text-8"/>
          <p:cNvSpPr txBox="1"/>
          <p:nvPr/>
        </p:nvSpPr>
        <p:spPr>
          <a:xfrm>
            <a:off x="1199692" y="2848356"/>
            <a:ext cx="511149" cy="2057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102A43"/>
                </a:solidFill>
                <a:latin typeface="Noto Sans CJK SC"/>
              </a:rPr>
              <a:t>WHAT</a:t>
            </a:r>
          </a:p>
        </p:txBody>
      </p:sp>
      <p:sp>
        <p:nvSpPr>
          <p:cNvPr id="10" name="h2p-10-text-9"/>
          <p:cNvSpPr txBox="1"/>
          <p:nvPr/>
        </p:nvSpPr>
        <p:spPr>
          <a:xfrm>
            <a:off x="2361895" y="2799892"/>
            <a:ext cx="6314846" cy="2487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任务契约 · Agent 身份 · 拓扑 · Human 责任边界</a:t>
            </a:r>
          </a:p>
        </p:txBody>
      </p:sp>
      <p:sp>
        <p:nvSpPr>
          <p:cNvPr id="11" name="h2p-10-box-10"/>
          <p:cNvSpPr/>
          <p:nvPr/>
        </p:nvSpPr>
        <p:spPr>
          <a:xfrm>
            <a:off x="1199692" y="3485692"/>
            <a:ext cx="7733995" cy="705002"/>
          </a:xfrm>
          <a:prstGeom prst="roundRect">
            <a:avLst>
              <a:gd name="adj" fmla="val 2162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h2p-10-text-11"/>
          <p:cNvSpPr txBox="1"/>
          <p:nvPr/>
        </p:nvSpPr>
        <p:spPr>
          <a:xfrm>
            <a:off x="1466697" y="3685946"/>
            <a:ext cx="436168" cy="2057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102A43"/>
                </a:solidFill>
                <a:latin typeface="Noto Sans CJK SC"/>
              </a:rPr>
              <a:t>HOW</a:t>
            </a:r>
          </a:p>
        </p:txBody>
      </p:sp>
      <p:sp>
        <p:nvSpPr>
          <p:cNvPr id="13" name="h2p-10-text-12"/>
          <p:cNvSpPr txBox="1"/>
          <p:nvPr/>
        </p:nvSpPr>
        <p:spPr>
          <a:xfrm>
            <a:off x="2628900" y="3638397"/>
            <a:ext cx="6023152" cy="2487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Skill · MCP · Memory · 共享状态 · 失败恢复</a:t>
            </a:r>
          </a:p>
        </p:txBody>
      </p:sp>
      <p:sp>
        <p:nvSpPr>
          <p:cNvPr id="14" name="h2p-10-box-13"/>
          <p:cNvSpPr/>
          <p:nvPr/>
        </p:nvSpPr>
        <p:spPr>
          <a:xfrm>
            <a:off x="1466697" y="4324197"/>
            <a:ext cx="7467904" cy="705002"/>
          </a:xfrm>
          <a:prstGeom prst="roundRect">
            <a:avLst>
              <a:gd name="adj" fmla="val 21620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h2p-10-text-14"/>
          <p:cNvSpPr txBox="1"/>
          <p:nvPr/>
        </p:nvSpPr>
        <p:spPr>
          <a:xfrm>
            <a:off x="1733702" y="4524451"/>
            <a:ext cx="624535" cy="2057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102A43"/>
                </a:solidFill>
                <a:latin typeface="Noto Sans CJK SC"/>
              </a:rPr>
              <a:t>PROOF</a:t>
            </a:r>
          </a:p>
        </p:txBody>
      </p:sp>
      <p:sp>
        <p:nvSpPr>
          <p:cNvPr id="16" name="h2p-10-text-15"/>
          <p:cNvSpPr txBox="1"/>
          <p:nvPr/>
        </p:nvSpPr>
        <p:spPr>
          <a:xfrm>
            <a:off x="2895904" y="4476902"/>
            <a:ext cx="5732373" cy="2487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统一评测 · 结果 · Trace · 审计 · 来源</a:t>
            </a:r>
          </a:p>
        </p:txBody>
      </p:sp>
      <p:sp>
        <p:nvSpPr>
          <p:cNvPr id="17" name="h2p-10-box-16"/>
          <p:cNvSpPr/>
          <p:nvPr/>
        </p:nvSpPr>
        <p:spPr>
          <a:xfrm>
            <a:off x="1733702" y="5162702"/>
            <a:ext cx="7200900" cy="705002"/>
          </a:xfrm>
          <a:prstGeom prst="roundRect">
            <a:avLst>
              <a:gd name="adj" fmla="val 2162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2p-10-text-17"/>
          <p:cNvSpPr txBox="1"/>
          <p:nvPr/>
        </p:nvSpPr>
        <p:spPr>
          <a:xfrm>
            <a:off x="2000707" y="5362956"/>
            <a:ext cx="657453" cy="2057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102A43"/>
                </a:solidFill>
                <a:latin typeface="Noto Sans CJK SC"/>
              </a:rPr>
              <a:t>SAFETY</a:t>
            </a:r>
          </a:p>
        </p:txBody>
      </p:sp>
      <p:sp>
        <p:nvSpPr>
          <p:cNvPr id="19" name="h2p-10-text-18"/>
          <p:cNvSpPr txBox="1"/>
          <p:nvPr/>
        </p:nvSpPr>
        <p:spPr>
          <a:xfrm>
            <a:off x="3161995" y="5314492"/>
            <a:ext cx="5343753" cy="2487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53697C"/>
                </a:solidFill>
                <a:latin typeface="Noto Sans CJK SC"/>
              </a:rPr>
              <a:t>权限 · 拒绝 · 回滚 · Provenance · 许可证</a:t>
            </a:r>
          </a:p>
        </p:txBody>
      </p:sp>
      <p:sp>
        <p:nvSpPr>
          <p:cNvPr id="20" name="h2p-10-box-19"/>
          <p:cNvSpPr/>
          <p:nvPr/>
        </p:nvSpPr>
        <p:spPr>
          <a:xfrm>
            <a:off x="9048902" y="4267504"/>
            <a:ext cx="857707" cy="19202"/>
          </a:xfrm>
          <a:prstGeom prst="rect">
            <a:avLst/>
          </a:prstGeom>
          <a:solidFill>
            <a:srgbClr val="1A8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2p-10-text-20"/>
          <p:cNvSpPr txBox="1"/>
          <p:nvPr/>
        </p:nvSpPr>
        <p:spPr>
          <a:xfrm>
            <a:off x="9791395" y="4123944"/>
            <a:ext cx="252374" cy="3520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50">
                <a:solidFill>
                  <a:srgbClr val="1A8D85"/>
                </a:solidFill>
                <a:latin typeface="Noto Sans CJK SC"/>
              </a:rPr>
              <a:t>→</a:t>
            </a:r>
          </a:p>
        </p:txBody>
      </p:sp>
      <p:sp>
        <p:nvSpPr>
          <p:cNvPr id="22" name="h2p-10-box-21"/>
          <p:cNvSpPr/>
          <p:nvPr/>
        </p:nvSpPr>
        <p:spPr>
          <a:xfrm>
            <a:off x="10058400" y="2971800"/>
            <a:ext cx="1447495" cy="2628900"/>
          </a:xfrm>
          <a:prstGeom prst="roundRect">
            <a:avLst>
              <a:gd name="adj" fmla="val 50000"/>
            </a:avLst>
          </a:prstGeom>
          <a:solidFill>
            <a:srgbClr val="132F47"/>
          </a:solidFill>
          <a:ln w="19050">
            <a:solidFill>
              <a:srgbClr val="0B2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2p-10-text-22"/>
          <p:cNvSpPr txBox="1"/>
          <p:nvPr/>
        </p:nvSpPr>
        <p:spPr>
          <a:xfrm>
            <a:off x="10296144" y="3333902"/>
            <a:ext cx="971092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74D0C7"/>
                </a:solidFill>
                <a:latin typeface="Noto Sans Mono CJK SC"/>
              </a:rPr>
              <a:t>REUSE LOOP</a:t>
            </a:r>
          </a:p>
        </p:txBody>
      </p:sp>
      <p:sp>
        <p:nvSpPr>
          <p:cNvPr id="24" name="h2p-10-box-23"/>
          <p:cNvSpPr/>
          <p:nvPr/>
        </p:nvSpPr>
        <p:spPr>
          <a:xfrm>
            <a:off x="10506456" y="3829507"/>
            <a:ext cx="552297" cy="552297"/>
          </a:xfrm>
          <a:prstGeom prst="roundRect">
            <a:avLst>
              <a:gd name="adj" fmla="val 50000"/>
            </a:avLst>
          </a:prstGeom>
          <a:solidFill>
            <a:srgbClr val="132F47"/>
          </a:solidFill>
          <a:ln w="19050">
            <a:solidFill>
              <a:srgbClr val="74D0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h2p-10-text-24"/>
          <p:cNvSpPr txBox="1"/>
          <p:nvPr/>
        </p:nvSpPr>
        <p:spPr>
          <a:xfrm>
            <a:off x="10520172" y="4009644"/>
            <a:ext cx="524865" cy="1426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1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FFFFFF"/>
                </a:solidFill>
                <a:latin typeface="Noto Sans Mono CJK SC"/>
              </a:rPr>
              <a:t>P</a:t>
            </a:r>
          </a:p>
        </p:txBody>
      </p:sp>
      <p:sp>
        <p:nvSpPr>
          <p:cNvPr id="26" name="h2p-10-text-25"/>
          <p:cNvSpPr txBox="1"/>
          <p:nvPr/>
        </p:nvSpPr>
        <p:spPr>
          <a:xfrm>
            <a:off x="10296144" y="4476902"/>
            <a:ext cx="971092" cy="180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FFFFFF"/>
                </a:solidFill>
                <a:latin typeface="Noto Sans CJK SC"/>
              </a:rPr>
              <a:t>ProjectAsset</a:t>
            </a:r>
          </a:p>
        </p:txBody>
      </p:sp>
      <p:sp>
        <p:nvSpPr>
          <p:cNvPr id="27" name="h2p-10-text-26"/>
          <p:cNvSpPr txBox="1"/>
          <p:nvPr/>
        </p:nvSpPr>
        <p:spPr>
          <a:xfrm>
            <a:off x="10629900" y="4762195"/>
            <a:ext cx="233172" cy="3337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>
                <a:solidFill>
                  <a:srgbClr val="D6A43B"/>
                </a:solidFill>
                <a:latin typeface="Noto Sans CJK SC"/>
              </a:rPr>
              <a:t>↓</a:t>
            </a:r>
          </a:p>
        </p:txBody>
      </p:sp>
      <p:sp>
        <p:nvSpPr>
          <p:cNvPr id="28" name="h2p-10-text-27"/>
          <p:cNvSpPr txBox="1"/>
          <p:nvPr/>
        </p:nvSpPr>
        <p:spPr>
          <a:xfrm>
            <a:off x="10296144" y="5105095"/>
            <a:ext cx="971092" cy="180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D6A43B"/>
                </a:solidFill>
                <a:latin typeface="Noto Sans CJK SC"/>
              </a:rPr>
              <a:t>MetaAsset</a:t>
            </a:r>
          </a:p>
        </p:txBody>
      </p:sp>
      <p:sp>
        <p:nvSpPr>
          <p:cNvPr id="29" name="h2p-10-box-28"/>
          <p:cNvSpPr/>
          <p:nvPr/>
        </p:nvSpPr>
        <p:spPr>
          <a:xfrm>
            <a:off x="9124797" y="5771692"/>
            <a:ext cx="2381097" cy="437997"/>
          </a:xfrm>
          <a:prstGeom prst="roundRect">
            <a:avLst>
              <a:gd name="adj" fmla="val 2609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h2p-10-text-29"/>
          <p:cNvSpPr txBox="1"/>
          <p:nvPr/>
        </p:nvSpPr>
        <p:spPr>
          <a:xfrm>
            <a:off x="9256471" y="5886907"/>
            <a:ext cx="2117750" cy="4005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806015"/>
                </a:solidFill>
                <a:latin typeface="Noto Sans CJK SC"/>
              </a:rPr>
              <a:t>未见项目验证前，</a:t>
            </a:r>
          </a:p>
          <a:p>
            <a:pPr marL="0" indent="0" algn="ctr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806015"/>
                </a:solidFill>
                <a:latin typeface="Noto Sans CJK SC"/>
              </a:rPr>
              <a:t>不宣称 Meta-learning。</a:t>
            </a:r>
          </a:p>
        </p:txBody>
      </p:sp>
      <p:sp>
        <p:nvSpPr>
          <p:cNvPr id="31" name="h2p-10-text-30"/>
          <p:cNvSpPr txBox="1"/>
          <p:nvPr/>
        </p:nvSpPr>
        <p:spPr>
          <a:xfrm>
            <a:off x="685800" y="6524244"/>
            <a:ext cx="154990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PORTABLE DELIVERY</a:t>
            </a:r>
          </a:p>
        </p:txBody>
      </p:sp>
      <p:sp>
        <p:nvSpPr>
          <p:cNvPr id="32" name="h2p-10-text-31"/>
          <p:cNvSpPr txBox="1"/>
          <p:nvPr/>
        </p:nvSpPr>
        <p:spPr>
          <a:xfrm>
            <a:off x="10494568" y="6524244"/>
            <a:ext cx="1068933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实际方案包待补 ·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11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EB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11-text-2"/>
          <p:cNvSpPr txBox="1"/>
          <p:nvPr/>
        </p:nvSpPr>
        <p:spPr>
          <a:xfrm>
            <a:off x="685800" y="362102"/>
            <a:ext cx="1699869" cy="1901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11 / 12 · EVIDENCE TRUTH</a:t>
            </a:r>
          </a:p>
        </p:txBody>
      </p:sp>
      <p:sp>
        <p:nvSpPr>
          <p:cNvPr id="4" name="h2p-11-text-3"/>
          <p:cNvSpPr txBox="1"/>
          <p:nvPr/>
        </p:nvSpPr>
        <p:spPr>
          <a:xfrm>
            <a:off x="685800" y="780897"/>
            <a:ext cx="11036808" cy="66659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3150">
                <a:solidFill>
                  <a:srgbClr val="102A43"/>
                </a:solidFill>
                <a:latin typeface="Noto Sans CJK SC"/>
              </a:rPr>
              <a:t>“没有证据”也是一项可审计结果。</a:t>
            </a:r>
          </a:p>
        </p:txBody>
      </p:sp>
      <p:sp>
        <p:nvSpPr>
          <p:cNvPr id="5" name="h2p-11-text-4"/>
          <p:cNvSpPr txBox="1"/>
          <p:nvPr/>
        </p:nvSpPr>
        <p:spPr>
          <a:xfrm>
            <a:off x="705002" y="1466697"/>
            <a:ext cx="10492740" cy="32369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53697C"/>
                </a:solidFill>
                <a:latin typeface="Noto Sans CJK SC"/>
              </a:rPr>
              <a:t>设计、模拟、真实集成和真实评测使用不同状态；不靠措辞互相替代。</a:t>
            </a:r>
          </a:p>
        </p:txBody>
      </p:sp>
      <p:sp>
        <p:nvSpPr>
          <p:cNvPr id="6" name="h2p-11-box-5"/>
          <p:cNvSpPr/>
          <p:nvPr/>
        </p:nvSpPr>
        <p:spPr>
          <a:xfrm>
            <a:off x="685800" y="1848002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11-text-6"/>
          <p:cNvSpPr txBox="1"/>
          <p:nvPr/>
        </p:nvSpPr>
        <p:spPr>
          <a:xfrm>
            <a:off x="838504" y="2152497"/>
            <a:ext cx="947318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53697C"/>
                </a:solidFill>
                <a:latin typeface="Noto Sans Mono CJK SC"/>
              </a:rPr>
              <a:t>EVIDENCE LEDGER</a:t>
            </a:r>
          </a:p>
        </p:txBody>
      </p:sp>
      <p:sp>
        <p:nvSpPr>
          <p:cNvPr id="8" name="h2p-11-box-7"/>
          <p:cNvSpPr/>
          <p:nvPr/>
        </p:nvSpPr>
        <p:spPr>
          <a:xfrm>
            <a:off x="838504" y="2533802"/>
            <a:ext cx="495604" cy="4956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h2p-11-text-8"/>
          <p:cNvSpPr txBox="1"/>
          <p:nvPr/>
        </p:nvSpPr>
        <p:spPr>
          <a:xfrm>
            <a:off x="852220" y="2695651"/>
            <a:ext cx="466344" cy="1426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1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A8D85"/>
                </a:solidFill>
                <a:latin typeface="Noto Sans Mono CJK SC"/>
              </a:rPr>
              <a:t>01</a:t>
            </a:r>
          </a:p>
        </p:txBody>
      </p:sp>
      <p:sp>
        <p:nvSpPr>
          <p:cNvPr id="10" name="h2p-11-text-9"/>
          <p:cNvSpPr txBox="1"/>
          <p:nvPr/>
        </p:nvSpPr>
        <p:spPr>
          <a:xfrm>
            <a:off x="1561795" y="2609697"/>
            <a:ext cx="1048816" cy="2057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102A43"/>
                </a:solidFill>
                <a:latin typeface="Noto Sans CJK SC"/>
              </a:rPr>
              <a:t>方案与方法论</a:t>
            </a:r>
          </a:p>
        </p:txBody>
      </p:sp>
      <p:sp>
        <p:nvSpPr>
          <p:cNvPr id="11" name="h2p-11-text-10"/>
          <p:cNvSpPr txBox="1"/>
          <p:nvPr/>
        </p:nvSpPr>
        <p:spPr>
          <a:xfrm>
            <a:off x="5524804" y="2648102"/>
            <a:ext cx="379476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A8D85"/>
                </a:solidFill>
                <a:latin typeface="Noto Sans Mono CJK SC"/>
              </a:rPr>
              <a:t>已收敛</a:t>
            </a:r>
          </a:p>
        </p:txBody>
      </p:sp>
      <p:sp>
        <p:nvSpPr>
          <p:cNvPr id="12" name="h2p-11-box-11"/>
          <p:cNvSpPr/>
          <p:nvPr/>
        </p:nvSpPr>
        <p:spPr>
          <a:xfrm>
            <a:off x="1561795" y="3124504"/>
            <a:ext cx="5048402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2p-11-box-12"/>
          <p:cNvSpPr/>
          <p:nvPr/>
        </p:nvSpPr>
        <p:spPr>
          <a:xfrm>
            <a:off x="838504" y="3333902"/>
            <a:ext cx="495604" cy="4956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2p-11-text-13"/>
          <p:cNvSpPr txBox="1"/>
          <p:nvPr/>
        </p:nvSpPr>
        <p:spPr>
          <a:xfrm>
            <a:off x="852220" y="3495751"/>
            <a:ext cx="466344" cy="1426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1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A8D85"/>
                </a:solidFill>
                <a:latin typeface="Noto Sans Mono CJK SC"/>
              </a:rPr>
              <a:t>02</a:t>
            </a:r>
          </a:p>
        </p:txBody>
      </p:sp>
      <p:sp>
        <p:nvSpPr>
          <p:cNvPr id="15" name="h2p-11-text-14"/>
          <p:cNvSpPr txBox="1"/>
          <p:nvPr/>
        </p:nvSpPr>
        <p:spPr>
          <a:xfrm>
            <a:off x="1561795" y="3409797"/>
            <a:ext cx="1399032" cy="2057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102A43"/>
                </a:solidFill>
                <a:latin typeface="Noto Sans CJK SC"/>
              </a:rPr>
              <a:t>官网案例设计模拟</a:t>
            </a:r>
          </a:p>
        </p:txBody>
      </p:sp>
      <p:sp>
        <p:nvSpPr>
          <p:cNvPr id="16" name="h2p-11-text-15"/>
          <p:cNvSpPr txBox="1"/>
          <p:nvPr/>
        </p:nvSpPr>
        <p:spPr>
          <a:xfrm>
            <a:off x="4631436" y="3448202"/>
            <a:ext cx="1826056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A8D85"/>
                </a:solidFill>
                <a:latin typeface="Noto Sans Mono CJK SC"/>
              </a:rPr>
              <a:t>已完成 · 非运行证据</a:t>
            </a:r>
          </a:p>
        </p:txBody>
      </p:sp>
      <p:sp>
        <p:nvSpPr>
          <p:cNvPr id="17" name="h2p-11-box-16"/>
          <p:cNvSpPr/>
          <p:nvPr/>
        </p:nvSpPr>
        <p:spPr>
          <a:xfrm>
            <a:off x="1561795" y="3924604"/>
            <a:ext cx="5048402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2p-11-box-17"/>
          <p:cNvSpPr/>
          <p:nvPr/>
        </p:nvSpPr>
        <p:spPr>
          <a:xfrm>
            <a:off x="838504" y="4134002"/>
            <a:ext cx="495604" cy="4956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2p-11-text-18"/>
          <p:cNvSpPr txBox="1"/>
          <p:nvPr/>
        </p:nvSpPr>
        <p:spPr>
          <a:xfrm>
            <a:off x="852220" y="4295851"/>
            <a:ext cx="466344" cy="1426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1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A5781C"/>
                </a:solidFill>
                <a:latin typeface="Noto Sans Mono CJK SC"/>
              </a:rPr>
              <a:t>03</a:t>
            </a:r>
          </a:p>
        </p:txBody>
      </p:sp>
      <p:sp>
        <p:nvSpPr>
          <p:cNvPr id="20" name="h2p-11-text-19"/>
          <p:cNvSpPr txBox="1"/>
          <p:nvPr/>
        </p:nvSpPr>
        <p:spPr>
          <a:xfrm>
            <a:off x="1561795" y="4209897"/>
            <a:ext cx="2478938" cy="2057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102A43"/>
                </a:solidFill>
                <a:latin typeface="Noto Sans CJK SC"/>
              </a:rPr>
              <a:t>AgentFit × AgentTeams 集成</a:t>
            </a:r>
          </a:p>
        </p:txBody>
      </p:sp>
      <p:sp>
        <p:nvSpPr>
          <p:cNvPr id="21" name="h2p-11-text-20"/>
          <p:cNvSpPr txBox="1"/>
          <p:nvPr/>
        </p:nvSpPr>
        <p:spPr>
          <a:xfrm>
            <a:off x="5524804" y="4248302"/>
            <a:ext cx="505663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A5781C"/>
                </a:solidFill>
                <a:latin typeface="Noto Sans Mono CJK SC"/>
              </a:rPr>
              <a:t>证据待补</a:t>
            </a:r>
          </a:p>
        </p:txBody>
      </p:sp>
      <p:sp>
        <p:nvSpPr>
          <p:cNvPr id="22" name="h2p-11-box-21"/>
          <p:cNvSpPr/>
          <p:nvPr/>
        </p:nvSpPr>
        <p:spPr>
          <a:xfrm>
            <a:off x="1561795" y="4724704"/>
            <a:ext cx="5048402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2p-11-box-22"/>
          <p:cNvSpPr/>
          <p:nvPr/>
        </p:nvSpPr>
        <p:spPr>
          <a:xfrm>
            <a:off x="838504" y="4934102"/>
            <a:ext cx="495604" cy="4956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h2p-11-text-23"/>
          <p:cNvSpPr txBox="1"/>
          <p:nvPr/>
        </p:nvSpPr>
        <p:spPr>
          <a:xfrm>
            <a:off x="852220" y="5095951"/>
            <a:ext cx="466344" cy="1426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1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A5781C"/>
                </a:solidFill>
                <a:latin typeface="Noto Sans Mono CJK SC"/>
              </a:rPr>
              <a:t>04</a:t>
            </a:r>
          </a:p>
        </p:txBody>
      </p:sp>
      <p:sp>
        <p:nvSpPr>
          <p:cNvPr id="25" name="h2p-11-text-24"/>
          <p:cNvSpPr txBox="1"/>
          <p:nvPr/>
        </p:nvSpPr>
        <p:spPr>
          <a:xfrm>
            <a:off x="1561795" y="5009997"/>
            <a:ext cx="1703527" cy="2057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102A43"/>
                </a:solidFill>
                <a:latin typeface="Noto Sans CJK SC"/>
              </a:rPr>
              <a:t>C0 / C1 / C2 真实对照</a:t>
            </a:r>
          </a:p>
        </p:txBody>
      </p:sp>
      <p:sp>
        <p:nvSpPr>
          <p:cNvPr id="26" name="h2p-11-text-25"/>
          <p:cNvSpPr txBox="1"/>
          <p:nvPr/>
        </p:nvSpPr>
        <p:spPr>
          <a:xfrm>
            <a:off x="5524804" y="5048402"/>
            <a:ext cx="505663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A5781C"/>
                </a:solidFill>
                <a:latin typeface="Noto Sans Mono CJK SC"/>
              </a:rPr>
              <a:t>证据待补</a:t>
            </a:r>
          </a:p>
        </p:txBody>
      </p:sp>
      <p:sp>
        <p:nvSpPr>
          <p:cNvPr id="27" name="h2p-11-box-26"/>
          <p:cNvSpPr/>
          <p:nvPr/>
        </p:nvSpPr>
        <p:spPr>
          <a:xfrm>
            <a:off x="1561795" y="5524804"/>
            <a:ext cx="5048402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h2p-11-box-27"/>
          <p:cNvSpPr/>
          <p:nvPr/>
        </p:nvSpPr>
        <p:spPr>
          <a:xfrm>
            <a:off x="7220102" y="2247595"/>
            <a:ext cx="4286707" cy="3390595"/>
          </a:xfrm>
          <a:prstGeom prst="roundRect">
            <a:avLst>
              <a:gd name="adj" fmla="val 6740"/>
            </a:avLst>
          </a:prstGeom>
          <a:solidFill>
            <a:srgbClr val="132F47"/>
          </a:solidFill>
          <a:ln w="19050">
            <a:solidFill>
              <a:srgbClr val="0B2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h2p-11-text-28"/>
          <p:cNvSpPr txBox="1"/>
          <p:nvPr/>
        </p:nvSpPr>
        <p:spPr>
          <a:xfrm>
            <a:off x="7487107" y="2476195"/>
            <a:ext cx="694944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D6A43B"/>
                </a:solidFill>
                <a:latin typeface="Noto Sans Mono CJK SC"/>
              </a:rPr>
              <a:t>HUMAN GATES</a:t>
            </a:r>
          </a:p>
        </p:txBody>
      </p:sp>
      <p:sp>
        <p:nvSpPr>
          <p:cNvPr id="30" name="h2p-11-box-29"/>
          <p:cNvSpPr/>
          <p:nvPr/>
        </p:nvSpPr>
        <p:spPr>
          <a:xfrm>
            <a:off x="7487107" y="2933395"/>
            <a:ext cx="552297" cy="552297"/>
          </a:xfrm>
          <a:prstGeom prst="roundRect">
            <a:avLst>
              <a:gd name="adj" fmla="val 50000"/>
            </a:avLst>
          </a:prstGeom>
          <a:solidFill>
            <a:srgbClr val="132F47"/>
          </a:solidFill>
          <a:ln w="19050">
            <a:solidFill>
              <a:srgbClr val="132F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h2p-11-text-30"/>
          <p:cNvSpPr txBox="1"/>
          <p:nvPr/>
        </p:nvSpPr>
        <p:spPr>
          <a:xfrm>
            <a:off x="7500823" y="3114446"/>
            <a:ext cx="524865" cy="1426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1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FFFFFF"/>
                </a:solidFill>
                <a:latin typeface="Noto Sans Mono CJK SC"/>
              </a:rPr>
              <a:t>1</a:t>
            </a:r>
          </a:p>
        </p:txBody>
      </p:sp>
      <p:sp>
        <p:nvSpPr>
          <p:cNvPr id="32" name="h2p-11-text-31"/>
          <p:cNvSpPr txBox="1"/>
          <p:nvPr/>
        </p:nvSpPr>
        <p:spPr>
          <a:xfrm>
            <a:off x="8286292" y="3010204"/>
            <a:ext cx="3886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00">
                <a:solidFill>
                  <a:srgbClr val="FFFFFF"/>
                </a:solidFill>
                <a:latin typeface="Noto Sans CJK SC"/>
              </a:rPr>
              <a:t>批准</a:t>
            </a:r>
          </a:p>
        </p:txBody>
      </p:sp>
      <p:sp>
        <p:nvSpPr>
          <p:cNvPr id="33" name="h2p-11-text-32"/>
          <p:cNvSpPr txBox="1"/>
          <p:nvPr/>
        </p:nvSpPr>
        <p:spPr>
          <a:xfrm>
            <a:off x="9144000" y="3010204"/>
            <a:ext cx="2040026" cy="2057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C6D3DD"/>
                </a:solidFill>
                <a:latin typeface="Noto Sans CJK SC"/>
              </a:rPr>
              <a:t>冻结任务、预算、权限</a:t>
            </a:r>
          </a:p>
        </p:txBody>
      </p:sp>
      <p:sp>
        <p:nvSpPr>
          <p:cNvPr id="34" name="h2p-11-box-33"/>
          <p:cNvSpPr/>
          <p:nvPr/>
        </p:nvSpPr>
        <p:spPr>
          <a:xfrm>
            <a:off x="7487107" y="3829507"/>
            <a:ext cx="552297" cy="552297"/>
          </a:xfrm>
          <a:prstGeom prst="roundRect">
            <a:avLst>
              <a:gd name="adj" fmla="val 50000"/>
            </a:avLst>
          </a:prstGeom>
          <a:solidFill>
            <a:srgbClr val="132F47"/>
          </a:solidFill>
          <a:ln w="19050">
            <a:solidFill>
              <a:srgbClr val="132F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h2p-11-text-34"/>
          <p:cNvSpPr txBox="1"/>
          <p:nvPr/>
        </p:nvSpPr>
        <p:spPr>
          <a:xfrm>
            <a:off x="7500823" y="4009644"/>
            <a:ext cx="524865" cy="1426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1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FFFFFF"/>
                </a:solidFill>
                <a:latin typeface="Noto Sans Mono CJK SC"/>
              </a:rPr>
              <a:t>2</a:t>
            </a:r>
          </a:p>
        </p:txBody>
      </p:sp>
      <p:sp>
        <p:nvSpPr>
          <p:cNvPr id="36" name="h2p-11-text-35"/>
          <p:cNvSpPr txBox="1"/>
          <p:nvPr/>
        </p:nvSpPr>
        <p:spPr>
          <a:xfrm>
            <a:off x="8286292" y="3905402"/>
            <a:ext cx="3886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00">
                <a:solidFill>
                  <a:srgbClr val="FFFFFF"/>
                </a:solidFill>
                <a:latin typeface="Noto Sans CJK SC"/>
              </a:rPr>
              <a:t>拒绝</a:t>
            </a:r>
          </a:p>
        </p:txBody>
      </p:sp>
      <p:sp>
        <p:nvSpPr>
          <p:cNvPr id="37" name="h2p-11-text-36"/>
          <p:cNvSpPr txBox="1"/>
          <p:nvPr/>
        </p:nvSpPr>
        <p:spPr>
          <a:xfrm>
            <a:off x="9144000" y="3886200"/>
            <a:ext cx="2040026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C6D3DD"/>
                </a:solidFill>
                <a:latin typeface="Noto Sans CJK SC"/>
              </a:rPr>
              <a:t>证据不足或</a:t>
            </a:r>
          </a:p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C6D3DD"/>
                </a:solidFill>
                <a:latin typeface="Noto Sans CJK SC"/>
              </a:rPr>
              <a:t>责任不可转移</a:t>
            </a:r>
          </a:p>
        </p:txBody>
      </p:sp>
      <p:sp>
        <p:nvSpPr>
          <p:cNvPr id="38" name="h2p-11-box-37"/>
          <p:cNvSpPr/>
          <p:nvPr/>
        </p:nvSpPr>
        <p:spPr>
          <a:xfrm>
            <a:off x="7487107" y="4724704"/>
            <a:ext cx="552297" cy="552297"/>
          </a:xfrm>
          <a:prstGeom prst="roundRect">
            <a:avLst>
              <a:gd name="adj" fmla="val 50000"/>
            </a:avLst>
          </a:prstGeom>
          <a:solidFill>
            <a:srgbClr val="132F47"/>
          </a:solidFill>
          <a:ln w="19050">
            <a:solidFill>
              <a:srgbClr val="132F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h2p-11-text-38"/>
          <p:cNvSpPr txBox="1"/>
          <p:nvPr/>
        </p:nvSpPr>
        <p:spPr>
          <a:xfrm>
            <a:off x="7500823" y="4905756"/>
            <a:ext cx="524865" cy="1426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1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FFFFFF"/>
                </a:solidFill>
                <a:latin typeface="Noto Sans Mono CJK SC"/>
              </a:rPr>
              <a:t>3</a:t>
            </a:r>
          </a:p>
        </p:txBody>
      </p:sp>
      <p:sp>
        <p:nvSpPr>
          <p:cNvPr id="40" name="h2p-11-text-39"/>
          <p:cNvSpPr txBox="1"/>
          <p:nvPr/>
        </p:nvSpPr>
        <p:spPr>
          <a:xfrm>
            <a:off x="8286292" y="4800600"/>
            <a:ext cx="3886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00">
                <a:solidFill>
                  <a:srgbClr val="FFFFFF"/>
                </a:solidFill>
                <a:latin typeface="Noto Sans CJK SC"/>
              </a:rPr>
              <a:t>回滚</a:t>
            </a:r>
          </a:p>
        </p:txBody>
      </p:sp>
      <p:sp>
        <p:nvSpPr>
          <p:cNvPr id="41" name="h2p-11-text-40"/>
          <p:cNvSpPr txBox="1"/>
          <p:nvPr/>
        </p:nvSpPr>
        <p:spPr>
          <a:xfrm>
            <a:off x="9144000" y="4762195"/>
            <a:ext cx="2040026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C6D3DD"/>
                </a:solidFill>
                <a:latin typeface="Noto Sans CJK SC"/>
              </a:rPr>
              <a:t>失败、超时、</a:t>
            </a:r>
          </a:p>
          <a:p>
            <a:pPr marL="0" indent="0"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C6D3DD"/>
                </a:solidFill>
                <a:latin typeface="Noto Sans CJK SC"/>
              </a:rPr>
              <a:t>错误写入</a:t>
            </a:r>
          </a:p>
        </p:txBody>
      </p:sp>
      <p:sp>
        <p:nvSpPr>
          <p:cNvPr id="42" name="h2p-11-box-41"/>
          <p:cNvSpPr/>
          <p:nvPr/>
        </p:nvSpPr>
        <p:spPr>
          <a:xfrm>
            <a:off x="7220102" y="5810097"/>
            <a:ext cx="4286707" cy="513892"/>
          </a:xfrm>
          <a:prstGeom prst="roundRect">
            <a:avLst>
              <a:gd name="adj" fmla="val 22220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h2p-11-text-42"/>
          <p:cNvSpPr txBox="1"/>
          <p:nvPr/>
        </p:nvSpPr>
        <p:spPr>
          <a:xfrm>
            <a:off x="7429500" y="5924397"/>
            <a:ext cx="3866997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5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80">
                <a:solidFill>
                  <a:srgbClr val="C64C32"/>
                </a:solidFill>
                <a:latin typeface="Noto Sans CJK SC"/>
              </a:rPr>
              <a:t>没有 Trace，不改变项目状态。</a:t>
            </a:r>
          </a:p>
        </p:txBody>
      </p:sp>
      <p:sp>
        <p:nvSpPr>
          <p:cNvPr id="44" name="h2p-11-text-43"/>
          <p:cNvSpPr txBox="1"/>
          <p:nvPr/>
        </p:nvSpPr>
        <p:spPr>
          <a:xfrm>
            <a:off x="685800" y="6524244"/>
            <a:ext cx="154990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EVIDENCE BOUNDARY</a:t>
            </a:r>
          </a:p>
        </p:txBody>
      </p:sp>
      <p:sp>
        <p:nvSpPr>
          <p:cNvPr id="45" name="h2p-11-text-44"/>
          <p:cNvSpPr txBox="1"/>
          <p:nvPr/>
        </p:nvSpPr>
        <p:spPr>
          <a:xfrm>
            <a:off x="10387584" y="6524244"/>
            <a:ext cx="117591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真实运行证据待补 ·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12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12-text-2"/>
          <p:cNvSpPr txBox="1"/>
          <p:nvPr/>
        </p:nvSpPr>
        <p:spPr>
          <a:xfrm>
            <a:off x="685800" y="362102"/>
            <a:ext cx="1632204" cy="1901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12 / 12 · DELIVERY PATH</a:t>
            </a:r>
          </a:p>
        </p:txBody>
      </p:sp>
      <p:sp>
        <p:nvSpPr>
          <p:cNvPr id="4" name="h2p-12-text-3"/>
          <p:cNvSpPr txBox="1"/>
          <p:nvPr/>
        </p:nvSpPr>
        <p:spPr>
          <a:xfrm>
            <a:off x="685800" y="838504"/>
            <a:ext cx="8355787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8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3600">
                <a:solidFill>
                  <a:srgbClr val="FFFFFF"/>
                </a:solidFill>
                <a:latin typeface="Noto Sans CJK SC"/>
              </a:rPr>
              <a:t>初赛交付方法，</a:t>
            </a:r>
          </a:p>
          <a:p>
            <a:pPr marL="0" indent="0" algn="l">
              <a:lnSpc>
                <a:spcPts val="38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3600">
                <a:solidFill>
                  <a:srgbClr val="FFFFFF"/>
                </a:solidFill>
                <a:latin typeface="Noto Sans CJK SC"/>
              </a:rPr>
              <a:t>复赛用真实运行证明边际价值。</a:t>
            </a:r>
          </a:p>
        </p:txBody>
      </p:sp>
      <p:sp>
        <p:nvSpPr>
          <p:cNvPr id="5" name="h2p-12-text-4"/>
          <p:cNvSpPr txBox="1"/>
          <p:nvPr/>
        </p:nvSpPr>
        <p:spPr>
          <a:xfrm>
            <a:off x="705002" y="2190902"/>
            <a:ext cx="7967167" cy="32369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C6D3DD"/>
                </a:solidFill>
                <a:latin typeface="Noto Sans CJK SC"/>
              </a:rPr>
              <a:t>AgentFit 的主张不是“多 Agent 更强”，而是让 Agent 架构成为可验证的设计变量。</a:t>
            </a:r>
          </a:p>
        </p:txBody>
      </p:sp>
      <p:sp>
        <p:nvSpPr>
          <p:cNvPr id="6" name="h2p-12-box-5"/>
          <p:cNvSpPr/>
          <p:nvPr/>
        </p:nvSpPr>
        <p:spPr>
          <a:xfrm>
            <a:off x="971092" y="3714292"/>
            <a:ext cx="6819595" cy="38404"/>
          </a:xfrm>
          <a:prstGeom prst="rect">
            <a:avLst/>
          </a:prstGeom>
          <a:solidFill>
            <a:srgbClr val="2851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12-box-6"/>
          <p:cNvSpPr/>
          <p:nvPr/>
        </p:nvSpPr>
        <p:spPr>
          <a:xfrm>
            <a:off x="685800" y="3429000"/>
            <a:ext cx="609904" cy="609904"/>
          </a:xfrm>
          <a:prstGeom prst="roundRect">
            <a:avLst>
              <a:gd name="adj" fmla="val 50000"/>
            </a:avLst>
          </a:prstGeom>
          <a:solidFill>
            <a:srgbClr val="132F47"/>
          </a:solidFill>
          <a:ln w="19050">
            <a:solidFill>
              <a:srgbClr val="74D0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12-text-7"/>
          <p:cNvSpPr txBox="1"/>
          <p:nvPr/>
        </p:nvSpPr>
        <p:spPr>
          <a:xfrm>
            <a:off x="699516" y="3629253"/>
            <a:ext cx="583387" cy="1426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1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FFFFFF"/>
                </a:solidFill>
                <a:latin typeface="Noto Sans Mono CJK SC"/>
              </a:rPr>
              <a:t>01</a:t>
            </a:r>
          </a:p>
        </p:txBody>
      </p:sp>
      <p:sp>
        <p:nvSpPr>
          <p:cNvPr id="9" name="h2p-12-box-8"/>
          <p:cNvSpPr/>
          <p:nvPr/>
        </p:nvSpPr>
        <p:spPr>
          <a:xfrm>
            <a:off x="3105302" y="3429000"/>
            <a:ext cx="609904" cy="609904"/>
          </a:xfrm>
          <a:prstGeom prst="roundRect">
            <a:avLst>
              <a:gd name="adj" fmla="val 50000"/>
            </a:avLst>
          </a:prstGeom>
          <a:solidFill>
            <a:srgbClr val="132F47"/>
          </a:solidFill>
          <a:ln w="19050">
            <a:solidFill>
              <a:srgbClr val="74D0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h2p-12-text-9"/>
          <p:cNvSpPr txBox="1"/>
          <p:nvPr/>
        </p:nvSpPr>
        <p:spPr>
          <a:xfrm>
            <a:off x="3118104" y="3629253"/>
            <a:ext cx="583387" cy="1426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1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FFFFFF"/>
                </a:solidFill>
                <a:latin typeface="Noto Sans Mono CJK SC"/>
              </a:rPr>
              <a:t>02</a:t>
            </a:r>
          </a:p>
        </p:txBody>
      </p:sp>
      <p:sp>
        <p:nvSpPr>
          <p:cNvPr id="11" name="h2p-12-box-10"/>
          <p:cNvSpPr/>
          <p:nvPr/>
        </p:nvSpPr>
        <p:spPr>
          <a:xfrm>
            <a:off x="5410504" y="3429000"/>
            <a:ext cx="609904" cy="609904"/>
          </a:xfrm>
          <a:prstGeom prst="roundRect">
            <a:avLst>
              <a:gd name="adj" fmla="val 50000"/>
            </a:avLst>
          </a:prstGeom>
          <a:solidFill>
            <a:srgbClr val="132F47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h2p-12-text-11"/>
          <p:cNvSpPr txBox="1"/>
          <p:nvPr/>
        </p:nvSpPr>
        <p:spPr>
          <a:xfrm>
            <a:off x="5423306" y="3629253"/>
            <a:ext cx="583387" cy="1426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1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FFFFFF"/>
                </a:solidFill>
                <a:latin typeface="Noto Sans Mono CJK SC"/>
              </a:rPr>
              <a:t>03</a:t>
            </a:r>
          </a:p>
        </p:txBody>
      </p:sp>
      <p:sp>
        <p:nvSpPr>
          <p:cNvPr id="13" name="h2p-12-box-12"/>
          <p:cNvSpPr/>
          <p:nvPr/>
        </p:nvSpPr>
        <p:spPr>
          <a:xfrm>
            <a:off x="7715707" y="3429000"/>
            <a:ext cx="609904" cy="609904"/>
          </a:xfrm>
          <a:prstGeom prst="roundRect">
            <a:avLst>
              <a:gd name="adj" fmla="val 50000"/>
            </a:avLst>
          </a:prstGeom>
          <a:solidFill>
            <a:srgbClr val="132F47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2p-12-text-13"/>
          <p:cNvSpPr txBox="1"/>
          <p:nvPr/>
        </p:nvSpPr>
        <p:spPr>
          <a:xfrm>
            <a:off x="7728508" y="3629253"/>
            <a:ext cx="583387" cy="1426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1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FFFFFF"/>
                </a:solidFill>
                <a:latin typeface="Noto Sans Mono CJK SC"/>
              </a:rPr>
              <a:t>04</a:t>
            </a:r>
          </a:p>
        </p:txBody>
      </p:sp>
      <p:sp>
        <p:nvSpPr>
          <p:cNvPr id="15" name="h2p-12-text-14"/>
          <p:cNvSpPr txBox="1"/>
          <p:nvPr/>
        </p:nvSpPr>
        <p:spPr>
          <a:xfrm>
            <a:off x="672084" y="4267504"/>
            <a:ext cx="1360627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74D0C7"/>
                </a:solidFill>
                <a:latin typeface="Noto Sans Mono CJK SC"/>
              </a:rPr>
              <a:t>READY</a:t>
            </a:r>
          </a:p>
        </p:txBody>
      </p:sp>
      <p:sp>
        <p:nvSpPr>
          <p:cNvPr id="16" name="h2p-12-text-15"/>
          <p:cNvSpPr txBox="1"/>
          <p:nvPr/>
        </p:nvSpPr>
        <p:spPr>
          <a:xfrm>
            <a:off x="672084" y="4552797"/>
            <a:ext cx="1360627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FFFFFF"/>
                </a:solidFill>
                <a:latin typeface="Noto Sans CJK SC"/>
              </a:rPr>
              <a:t>方法论</a:t>
            </a:r>
          </a:p>
          <a:p>
            <a:pPr marL="0" indent="0" algn="ctr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FFFFFF"/>
                </a:solidFill>
                <a:latin typeface="Noto Sans CJK SC"/>
              </a:rPr>
              <a:t>官网案例拆解</a:t>
            </a:r>
          </a:p>
        </p:txBody>
      </p:sp>
      <p:sp>
        <p:nvSpPr>
          <p:cNvPr id="17" name="h2p-12-text-16"/>
          <p:cNvSpPr txBox="1"/>
          <p:nvPr/>
        </p:nvSpPr>
        <p:spPr>
          <a:xfrm>
            <a:off x="2711196" y="4267504"/>
            <a:ext cx="1360627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74D0C7"/>
                </a:solidFill>
                <a:latin typeface="Noto Sans Mono CJK SC"/>
              </a:rPr>
              <a:t>FREEZE</a:t>
            </a:r>
          </a:p>
        </p:txBody>
      </p:sp>
      <p:sp>
        <p:nvSpPr>
          <p:cNvPr id="18" name="h2p-12-text-17"/>
          <p:cNvSpPr txBox="1"/>
          <p:nvPr/>
        </p:nvSpPr>
        <p:spPr>
          <a:xfrm>
            <a:off x="2711196" y="4552797"/>
            <a:ext cx="1360627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FFFFFF"/>
                </a:solidFill>
                <a:latin typeface="Noto Sans CJK SC"/>
              </a:rPr>
              <a:t>首个 ProjectCase</a:t>
            </a:r>
          </a:p>
          <a:p>
            <a:pPr marL="0" indent="0" algn="ctr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FFFFFF"/>
                </a:solidFill>
                <a:latin typeface="Noto Sans CJK SC"/>
              </a:rPr>
              <a:t>任务 / 预算 / 权限</a:t>
            </a:r>
          </a:p>
        </p:txBody>
      </p:sp>
      <p:sp>
        <p:nvSpPr>
          <p:cNvPr id="19" name="h2p-12-text-18"/>
          <p:cNvSpPr txBox="1"/>
          <p:nvPr/>
        </p:nvSpPr>
        <p:spPr>
          <a:xfrm>
            <a:off x="5015484" y="4267504"/>
            <a:ext cx="1360627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F6AA92"/>
                </a:solidFill>
                <a:latin typeface="Noto Sans Mono CJK SC"/>
              </a:rPr>
              <a:t>RUN</a:t>
            </a:r>
          </a:p>
        </p:txBody>
      </p:sp>
      <p:sp>
        <p:nvSpPr>
          <p:cNvPr id="20" name="h2p-12-text-19"/>
          <p:cNvSpPr txBox="1"/>
          <p:nvPr/>
        </p:nvSpPr>
        <p:spPr>
          <a:xfrm>
            <a:off x="5015484" y="4552797"/>
            <a:ext cx="1360627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FFFFFF"/>
                </a:solidFill>
                <a:latin typeface="Noto Sans CJK SC"/>
              </a:rPr>
              <a:t>五 Agent Trace</a:t>
            </a:r>
          </a:p>
          <a:p>
            <a:pPr marL="0" indent="0" algn="ctr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FFFFFF"/>
                </a:solidFill>
                <a:latin typeface="Noto Sans CJK SC"/>
              </a:rPr>
              <a:t>C0 / C1 / C2 对照</a:t>
            </a:r>
          </a:p>
        </p:txBody>
      </p:sp>
      <p:sp>
        <p:nvSpPr>
          <p:cNvPr id="21" name="h2p-12-text-20"/>
          <p:cNvSpPr txBox="1"/>
          <p:nvPr/>
        </p:nvSpPr>
        <p:spPr>
          <a:xfrm>
            <a:off x="7320686" y="4267504"/>
            <a:ext cx="1360627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D6A43B"/>
                </a:solidFill>
                <a:latin typeface="Noto Sans Mono CJK SC"/>
              </a:rPr>
              <a:t>PROVE</a:t>
            </a:r>
          </a:p>
        </p:txBody>
      </p:sp>
      <p:sp>
        <p:nvSpPr>
          <p:cNvPr id="22" name="h2p-12-text-21"/>
          <p:cNvSpPr txBox="1"/>
          <p:nvPr/>
        </p:nvSpPr>
        <p:spPr>
          <a:xfrm>
            <a:off x="7320686" y="4552797"/>
            <a:ext cx="1360627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FFFFFF"/>
                </a:solidFill>
                <a:latin typeface="Noto Sans CJK SC"/>
              </a:rPr>
              <a:t>真实证据替换</a:t>
            </a:r>
          </a:p>
          <a:p>
            <a:pPr marL="0" indent="0" algn="ctr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FFFFFF"/>
                </a:solidFill>
                <a:latin typeface="Noto Sans CJK SC"/>
              </a:rPr>
              <a:t>第 11 页状态</a:t>
            </a:r>
          </a:p>
        </p:txBody>
      </p:sp>
      <p:sp>
        <p:nvSpPr>
          <p:cNvPr id="23" name="h2p-12-box-22"/>
          <p:cNvSpPr/>
          <p:nvPr/>
        </p:nvSpPr>
        <p:spPr>
          <a:xfrm>
            <a:off x="9029700" y="2895904"/>
            <a:ext cx="2476195" cy="2723997"/>
          </a:xfrm>
          <a:prstGeom prst="roundRect">
            <a:avLst>
              <a:gd name="adj" fmla="val 11540"/>
            </a:avLst>
          </a:prstGeom>
          <a:solidFill>
            <a:srgbClr val="132F47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h2p-12-text-23"/>
          <p:cNvSpPr txBox="1"/>
          <p:nvPr/>
        </p:nvSpPr>
        <p:spPr>
          <a:xfrm>
            <a:off x="9334195" y="3257092"/>
            <a:ext cx="758037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74D0C7"/>
                </a:solidFill>
                <a:latin typeface="Noto Sans Mono CJK SC"/>
              </a:rPr>
              <a:t>FINAL OUTPUT</a:t>
            </a:r>
          </a:p>
        </p:txBody>
      </p:sp>
      <p:sp>
        <p:nvSpPr>
          <p:cNvPr id="25" name="h2p-12-text-24"/>
          <p:cNvSpPr txBox="1"/>
          <p:nvPr/>
        </p:nvSpPr>
        <p:spPr>
          <a:xfrm>
            <a:off x="9334195" y="3733495"/>
            <a:ext cx="1904695" cy="115945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2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80">
                <a:solidFill>
                  <a:srgbClr val="FFFFFF"/>
                </a:solidFill>
                <a:latin typeface="Noto Sans CJK SC"/>
              </a:rPr>
              <a:t>可部署</a:t>
            </a:r>
          </a:p>
          <a:p>
            <a:pPr marL="0" indent="0" algn="l">
              <a:lnSpc>
                <a:spcPts val="22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80">
                <a:solidFill>
                  <a:srgbClr val="FFFFFF"/>
                </a:solidFill>
                <a:latin typeface="Noto Sans CJK SC"/>
              </a:rPr>
              <a:t>可评测</a:t>
            </a:r>
          </a:p>
          <a:p>
            <a:pPr marL="0" indent="0" algn="l">
              <a:lnSpc>
                <a:spcPts val="22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80">
                <a:solidFill>
                  <a:srgbClr val="FFFFFF"/>
                </a:solidFill>
                <a:latin typeface="Noto Sans CJK SC"/>
              </a:rPr>
              <a:t>可审计</a:t>
            </a:r>
          </a:p>
          <a:p>
            <a:pPr marL="0" indent="0" algn="l">
              <a:lnSpc>
                <a:spcPts val="22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80">
                <a:solidFill>
                  <a:srgbClr val="FFFFFF"/>
                </a:solidFill>
                <a:latin typeface="Noto Sans CJK SC"/>
              </a:rPr>
              <a:t>可回滚</a:t>
            </a:r>
          </a:p>
        </p:txBody>
      </p:sp>
      <p:sp>
        <p:nvSpPr>
          <p:cNvPr id="26" name="h2p-12-text-25"/>
          <p:cNvSpPr txBox="1"/>
          <p:nvPr/>
        </p:nvSpPr>
        <p:spPr>
          <a:xfrm>
            <a:off x="9334195" y="5048402"/>
            <a:ext cx="1904695" cy="4370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7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C6D3DD"/>
                </a:solidFill>
                <a:latin typeface="Noto Sans CJK SC"/>
              </a:rPr>
              <a:t>或有证据地保留人工，</a:t>
            </a:r>
          </a:p>
          <a:p>
            <a:pPr marL="0" indent="0" algn="l">
              <a:lnSpc>
                <a:spcPts val="17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C6D3DD"/>
                </a:solidFill>
                <a:latin typeface="Noto Sans CJK SC"/>
              </a:rPr>
              <a:t>或拒绝自动化</a:t>
            </a:r>
          </a:p>
        </p:txBody>
      </p:sp>
      <p:sp>
        <p:nvSpPr>
          <p:cNvPr id="27" name="h2p-12-text-26"/>
          <p:cNvSpPr txBox="1"/>
          <p:nvPr/>
        </p:nvSpPr>
        <p:spPr>
          <a:xfrm>
            <a:off x="685800" y="6524244"/>
            <a:ext cx="149595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8FA6B9"/>
                </a:solidFill>
                <a:latin typeface="Noto Sans Mono CJK SC"/>
              </a:rPr>
              <a:t>AGENTFIT · GOAI AGENT INFRA</a:t>
            </a:r>
          </a:p>
        </p:txBody>
      </p:sp>
      <p:sp>
        <p:nvSpPr>
          <p:cNvPr id="28" name="h2p-12-text-27"/>
          <p:cNvSpPr txBox="1"/>
          <p:nvPr/>
        </p:nvSpPr>
        <p:spPr>
          <a:xfrm>
            <a:off x="10494568" y="6524244"/>
            <a:ext cx="1068933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8FA6B9"/>
                </a:solidFill>
                <a:latin typeface="Noto Sans Mono CJK SC"/>
              </a:rPr>
              <a:t>INTERNAL DRAFT ·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AgentFit GOAI Agent Infra 初赛路演方案</dc:title>
  <dc:subject>AgentTeams 上的 Agent 解决方案元团队</dc:subject>
  <dc:creator>AgentFit Team</dc:creator>
  <cp:keywords>AgentFit, AgentTeams, Agent Infra, HTML-first</cp:keywords>
  <dc:description>Internal draft. Official cases are design simulations, not runtime evidence.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