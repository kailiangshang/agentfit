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01 / 12 · 一道真实选择题</a:t>
            </a:r>
          </a:p>
        </p:txBody>
      </p:sp>
      <p:sp>
        <p:nvSpPr>
          <p:cNvPr id="4" name="h2p-1-text-3"/>
          <p:cNvSpPr txBox="1"/>
          <p:nvPr/>
        </p:nvSpPr>
        <p:spPr>
          <a:xfrm>
            <a:off x="685800" y="800100"/>
            <a:ext cx="6801307" cy="11731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200">
                <a:solidFill>
                  <a:srgbClr val="FFFFFF"/>
                </a:solidFill>
                <a:latin typeface="Noto Sans CJK SC"/>
              </a:rPr>
              <a:t>选对 Agent 方案，</a:t>
            </a:r>
          </a:p>
          <a:p>
            <a:pPr marL="0" indent="0"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200">
                <a:solidFill>
                  <a:srgbClr val="FFFFFF"/>
                </a:solidFill>
                <a:latin typeface="Noto Sans CJK SC"/>
              </a:rPr>
              <a:t>不该靠猜。</a:t>
            </a:r>
          </a:p>
        </p:txBody>
      </p:sp>
      <p:sp>
        <p:nvSpPr>
          <p:cNvPr id="5" name="h2p-1-text-4"/>
          <p:cNvSpPr txBox="1"/>
          <p:nvPr/>
        </p:nvSpPr>
        <p:spPr>
          <a:xfrm>
            <a:off x="705002" y="2247595"/>
            <a:ext cx="6412687" cy="495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C6D3DD"/>
                </a:solidFill>
                <a:latin typeface="Noto Sans CJK SC"/>
              </a:rPr>
              <a:t>一家电商公司要在故障自愈里选 Agent 方案：0 个、1 个、多个，还是保留人工。</a:t>
            </a:r>
          </a:p>
        </p:txBody>
      </p:sp>
      <p:sp>
        <p:nvSpPr>
          <p:cNvPr id="6" name="h2p-1-box-5"/>
          <p:cNvSpPr/>
          <p:nvPr/>
        </p:nvSpPr>
        <p:spPr>
          <a:xfrm>
            <a:off x="685800" y="2857500"/>
            <a:ext cx="6286500" cy="1695297"/>
          </a:xfrm>
          <a:prstGeom prst="roundRect">
            <a:avLst>
              <a:gd name="adj" fmla="val 10110"/>
            </a:avLst>
          </a:prstGeom>
          <a:solidFill>
            <a:srgbClr val="132F47"/>
          </a:solidFill>
          <a:ln w="19050">
            <a:solidFill>
              <a:srgbClr val="2851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-text-6"/>
          <p:cNvSpPr txBox="1"/>
          <p:nvPr/>
        </p:nvSpPr>
        <p:spPr>
          <a:xfrm>
            <a:off x="952804" y="3086100"/>
            <a:ext cx="2915107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AGENTFIT · 方案建筑师</a:t>
            </a:r>
          </a:p>
        </p:txBody>
      </p:sp>
      <p:sp>
        <p:nvSpPr>
          <p:cNvPr id="8" name="h2p-1-text-7"/>
          <p:cNvSpPr txBox="1"/>
          <p:nvPr/>
        </p:nvSpPr>
        <p:spPr>
          <a:xfrm>
            <a:off x="952804" y="3409797"/>
            <a:ext cx="5907024" cy="5431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0">
                <a:solidFill>
                  <a:srgbClr val="FFFFFF"/>
                </a:solidFill>
                <a:latin typeface="Noto Sans CJK SC"/>
              </a:rPr>
              <a:t>先理解任务、再盘点能力、最后比较候选；</a:t>
            </a:r>
          </a:p>
          <a:p>
            <a:pPr marL="0" indent="0" algn="l">
              <a:lnSpc>
                <a:spcPts val="2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0">
                <a:solidFill>
                  <a:srgbClr val="FFFFFF"/>
                </a:solidFill>
                <a:latin typeface="Noto Sans CJK SC"/>
              </a:rPr>
              <a:t>合法答案也可以是保留人工或拒绝自动化。</a:t>
            </a:r>
          </a:p>
        </p:txBody>
      </p:sp>
      <p:sp>
        <p:nvSpPr>
          <p:cNvPr id="9" name="h2p-1-text-8"/>
          <p:cNvSpPr txBox="1"/>
          <p:nvPr/>
        </p:nvSpPr>
        <p:spPr>
          <a:xfrm>
            <a:off x="952804" y="4153204"/>
            <a:ext cx="5907024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D6A43B"/>
                </a:solidFill>
                <a:latin typeface="Noto Sans CJK SC"/>
              </a:rPr>
              <a:t>运行在 AgentTeams 上 · 负责方案选择，不重造运行底座</a:t>
            </a:r>
          </a:p>
        </p:txBody>
      </p:sp>
      <p:sp>
        <p:nvSpPr>
          <p:cNvPr id="10" name="h2p-1-box-9"/>
          <p:cNvSpPr/>
          <p:nvPr/>
        </p:nvSpPr>
        <p:spPr>
          <a:xfrm>
            <a:off x="7239304" y="1181404"/>
            <a:ext cx="4267504" cy="4190695"/>
          </a:xfrm>
          <a:prstGeom prst="roundRect">
            <a:avLst>
              <a:gd name="adj" fmla="val 5910"/>
            </a:avLst>
          </a:prstGeom>
          <a:solidFill>
            <a:srgbClr val="132F47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2p-1-text-10"/>
          <p:cNvSpPr txBox="1"/>
          <p:nvPr/>
        </p:nvSpPr>
        <p:spPr>
          <a:xfrm>
            <a:off x="7563002" y="1466697"/>
            <a:ext cx="1360627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一次事故 · 四种候选</a:t>
            </a:r>
          </a:p>
        </p:txBody>
      </p:sp>
      <p:sp>
        <p:nvSpPr>
          <p:cNvPr id="12" name="h2p-1-box-11"/>
          <p:cNvSpPr/>
          <p:nvPr/>
        </p:nvSpPr>
        <p:spPr>
          <a:xfrm>
            <a:off x="7563002" y="1809597"/>
            <a:ext cx="3619195" cy="685800"/>
          </a:xfrm>
          <a:prstGeom prst="roundRect">
            <a:avLst>
              <a:gd name="adj" fmla="val 16670"/>
            </a:avLst>
          </a:prstGeom>
          <a:solidFill>
            <a:srgbClr val="132F47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1-text-12"/>
          <p:cNvSpPr txBox="1"/>
          <p:nvPr/>
        </p:nvSpPr>
        <p:spPr>
          <a:xfrm>
            <a:off x="7715707" y="1923897"/>
            <a:ext cx="1831543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A9C3D5"/>
                </a:solidFill>
                <a:latin typeface="Noto Sans Mono CJK SC"/>
              </a:rPr>
              <a:t>incident · db_pool_exhausted</a:t>
            </a:r>
          </a:p>
        </p:txBody>
      </p:sp>
      <p:sp>
        <p:nvSpPr>
          <p:cNvPr id="14" name="h2p-1-text-13"/>
          <p:cNvSpPr txBox="1"/>
          <p:nvPr/>
        </p:nvSpPr>
        <p:spPr>
          <a:xfrm>
            <a:off x="7715707" y="2171700"/>
            <a:ext cx="3380536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6D3DD"/>
                </a:solidFill>
                <a:latin typeface="Noto Sans CJK SC"/>
              </a:rPr>
              <a:t>订单 5xx 升高 · 连接池耗尽 · 候选待运行</a:t>
            </a:r>
          </a:p>
        </p:txBody>
      </p:sp>
      <p:sp>
        <p:nvSpPr>
          <p:cNvPr id="15" name="h2p-1-box-14"/>
          <p:cNvSpPr/>
          <p:nvPr/>
        </p:nvSpPr>
        <p:spPr>
          <a:xfrm>
            <a:off x="7563002" y="2743200"/>
            <a:ext cx="1695297" cy="381304"/>
          </a:xfrm>
          <a:prstGeom prst="roundRect">
            <a:avLst>
              <a:gd name="adj" fmla="val 50000"/>
            </a:avLst>
          </a:prstGeom>
          <a:solidFill>
            <a:srgbClr val="132F47"/>
          </a:solidFill>
          <a:ln w="19050">
            <a:solidFill>
              <a:srgbClr val="536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2p-1-text-15"/>
          <p:cNvSpPr txBox="1"/>
          <p:nvPr/>
        </p:nvSpPr>
        <p:spPr>
          <a:xfrm>
            <a:off x="7681874" y="2829153"/>
            <a:ext cx="1457553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C6D3DD"/>
                </a:solidFill>
                <a:latin typeface="Noto Sans Mono CJK SC"/>
              </a:rPr>
              <a:t>C0 · 0 Agent</a:t>
            </a:r>
          </a:p>
        </p:txBody>
      </p:sp>
      <p:sp>
        <p:nvSpPr>
          <p:cNvPr id="17" name="h2p-1-box-16"/>
          <p:cNvSpPr/>
          <p:nvPr/>
        </p:nvSpPr>
        <p:spPr>
          <a:xfrm>
            <a:off x="9486900" y="2743200"/>
            <a:ext cx="1695297" cy="381304"/>
          </a:xfrm>
          <a:prstGeom prst="roundRect">
            <a:avLst>
              <a:gd name="adj" fmla="val 50000"/>
            </a:avLst>
          </a:prstGeom>
          <a:solidFill>
            <a:srgbClr val="132F47"/>
          </a:solidFill>
          <a:ln w="19050">
            <a:solidFill>
              <a:srgbClr val="536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1-text-17"/>
          <p:cNvSpPr txBox="1"/>
          <p:nvPr/>
        </p:nvSpPr>
        <p:spPr>
          <a:xfrm>
            <a:off x="9605772" y="2829153"/>
            <a:ext cx="1457553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C6D3DD"/>
                </a:solidFill>
                <a:latin typeface="Noto Sans Mono CJK SC"/>
              </a:rPr>
              <a:t>C1 · 1 Agent</a:t>
            </a:r>
          </a:p>
        </p:txBody>
      </p:sp>
      <p:sp>
        <p:nvSpPr>
          <p:cNvPr id="19" name="h2p-1-box-18"/>
          <p:cNvSpPr/>
          <p:nvPr/>
        </p:nvSpPr>
        <p:spPr>
          <a:xfrm>
            <a:off x="7563002" y="3372307"/>
            <a:ext cx="1695297" cy="381304"/>
          </a:xfrm>
          <a:prstGeom prst="roundRect">
            <a:avLst>
              <a:gd name="adj" fmla="val 50000"/>
            </a:avLst>
          </a:prstGeom>
          <a:solidFill>
            <a:srgbClr val="132F47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1-text-19"/>
          <p:cNvSpPr txBox="1"/>
          <p:nvPr/>
        </p:nvSpPr>
        <p:spPr>
          <a:xfrm>
            <a:off x="7681874" y="3457346"/>
            <a:ext cx="1457553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C2 · N Agents</a:t>
            </a:r>
          </a:p>
        </p:txBody>
      </p:sp>
      <p:sp>
        <p:nvSpPr>
          <p:cNvPr id="21" name="h2p-1-box-20"/>
          <p:cNvSpPr/>
          <p:nvPr/>
        </p:nvSpPr>
        <p:spPr>
          <a:xfrm>
            <a:off x="9486900" y="3372307"/>
            <a:ext cx="1695297" cy="381304"/>
          </a:xfrm>
          <a:prstGeom prst="roundRect">
            <a:avLst>
              <a:gd name="adj" fmla="val 50000"/>
            </a:avLst>
          </a:prstGeom>
          <a:solidFill>
            <a:srgbClr val="132F47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2p-1-text-21"/>
          <p:cNvSpPr txBox="1"/>
          <p:nvPr/>
        </p:nvSpPr>
        <p:spPr>
          <a:xfrm>
            <a:off x="9605772" y="3457346"/>
            <a:ext cx="1457553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Mono CJK SC"/>
              </a:rPr>
              <a:t>C3 · Human</a:t>
            </a:r>
          </a:p>
        </p:txBody>
      </p:sp>
      <p:sp>
        <p:nvSpPr>
          <p:cNvPr id="23" name="h2p-1-box-22"/>
          <p:cNvSpPr/>
          <p:nvPr/>
        </p:nvSpPr>
        <p:spPr>
          <a:xfrm>
            <a:off x="8191195" y="4095597"/>
            <a:ext cx="2286000" cy="800100"/>
          </a:xfrm>
          <a:prstGeom prst="roundRect">
            <a:avLst>
              <a:gd name="adj" fmla="val 19050"/>
            </a:avLst>
          </a:prstGeom>
          <a:solidFill>
            <a:srgbClr val="132F47"/>
          </a:solidFill>
          <a:ln w="3810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2p-1-text-23"/>
          <p:cNvSpPr txBox="1"/>
          <p:nvPr/>
        </p:nvSpPr>
        <p:spPr>
          <a:xfrm>
            <a:off x="8323783" y="4343400"/>
            <a:ext cx="2020824" cy="2670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100">
                <a:solidFill>
                  <a:srgbClr val="74D0C7"/>
                </a:solidFill>
                <a:latin typeface="Noto Sans Mono CJK SC"/>
              </a:rPr>
              <a:t>FIT</a:t>
            </a:r>
          </a:p>
        </p:txBody>
      </p:sp>
      <p:sp>
        <p:nvSpPr>
          <p:cNvPr id="25" name="h2p-1-text-24"/>
          <p:cNvSpPr txBox="1"/>
          <p:nvPr/>
        </p:nvSpPr>
        <p:spPr>
          <a:xfrm>
            <a:off x="7526426" y="5029200"/>
            <a:ext cx="369234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6D3DD"/>
                </a:solidFill>
                <a:latin typeface="Noto Sans CJK SC"/>
              </a:rPr>
              <a:t>统一验收 · 最小复杂度 · 可审计</a:t>
            </a:r>
          </a:p>
        </p:txBody>
      </p:sp>
      <p:sp>
        <p:nvSpPr>
          <p:cNvPr id="26" name="h2p-1-text-25"/>
          <p:cNvSpPr txBox="1"/>
          <p:nvPr/>
        </p:nvSpPr>
        <p:spPr>
          <a:xfrm>
            <a:off x="685800" y="5296204"/>
            <a:ext cx="11036808" cy="2569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FFFFFF"/>
                </a:solidFill>
                <a:latin typeface="Noto Sans CJK SC"/>
              </a:rPr>
              <a:t>用官方 OpsPilot baseline 作为首个 ProjectCase 参考，让选择有证据。</a:t>
            </a:r>
          </a:p>
        </p:txBody>
      </p:sp>
      <p:sp>
        <p:nvSpPr>
          <p:cNvPr id="27" name="h2p-1-text-26"/>
          <p:cNvSpPr txBox="1"/>
          <p:nvPr/>
        </p:nvSpPr>
        <p:spPr>
          <a:xfrm>
            <a:off x="685800" y="6543446"/>
            <a:ext cx="117591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8FA6B9"/>
                </a:solidFill>
                <a:latin typeface="Noto Sans Mono CJK SC"/>
              </a:rPr>
              <a:t>AGENTFIT · 评分主线版</a:t>
            </a:r>
          </a:p>
        </p:txBody>
      </p:sp>
      <p:sp>
        <p:nvSpPr>
          <p:cNvPr id="28" name="h2p-1-text-27"/>
          <p:cNvSpPr txBox="1"/>
          <p:nvPr/>
        </p:nvSpPr>
        <p:spPr>
          <a:xfrm>
            <a:off x="10815523" y="6543446"/>
            <a:ext cx="747979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8FA6B9"/>
                </a:solidFill>
                <a:latin typeface="Noto Sans Mono CJK SC"/>
              </a:rPr>
              <a:t>方案路演 ·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2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2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02 / 12 · 证据锚点</a:t>
            </a:r>
          </a:p>
        </p:txBody>
      </p:sp>
      <p:sp>
        <p:nvSpPr>
          <p:cNvPr id="4" name="h2p-2-text-3"/>
          <p:cNvSpPr txBox="1"/>
          <p:nvPr/>
        </p:nvSpPr>
        <p:spPr>
          <a:xfrm>
            <a:off x="685800" y="724204"/>
            <a:ext cx="11036808" cy="4398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4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150">
                <a:solidFill>
                  <a:srgbClr val="102A43"/>
                </a:solidFill>
                <a:latin typeface="Noto Sans CJK SC"/>
              </a:rPr>
              <a:t>OpsPilot 官方 baseline 是首个 ProjectCase 参考。</a:t>
            </a:r>
          </a:p>
        </p:txBody>
      </p:sp>
      <p:sp>
        <p:nvSpPr>
          <p:cNvPr id="5" name="h2p-2-text-4"/>
          <p:cNvSpPr txBox="1"/>
          <p:nvPr/>
        </p:nvSpPr>
        <p:spPr>
          <a:xfrm>
            <a:off x="705002" y="1410004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它是官方发布的可运行示例，也是 AgentFit 第一个具体案例的输入，不是 AgentFit 自己的运行证据。</a:t>
            </a:r>
          </a:p>
        </p:txBody>
      </p:sp>
      <p:sp>
        <p:nvSpPr>
          <p:cNvPr id="6" name="h2p-2-box-5"/>
          <p:cNvSpPr/>
          <p:nvPr/>
        </p:nvSpPr>
        <p:spPr>
          <a:xfrm>
            <a:off x="685800" y="1848002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2-box-6"/>
          <p:cNvSpPr/>
          <p:nvPr/>
        </p:nvSpPr>
        <p:spPr>
          <a:xfrm>
            <a:off x="685800" y="2190902"/>
            <a:ext cx="5333695" cy="3504895"/>
          </a:xfrm>
          <a:prstGeom prst="roundRect">
            <a:avLst>
              <a:gd name="adj" fmla="val 4890"/>
            </a:avLst>
          </a:prstGeom>
          <a:solidFill>
            <a:srgbClr val="EEF1F5"/>
          </a:solidFill>
          <a:ln w="19050">
            <a:solidFill>
              <a:srgbClr val="536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2-text-7"/>
          <p:cNvSpPr txBox="1"/>
          <p:nvPr/>
        </p:nvSpPr>
        <p:spPr>
          <a:xfrm>
            <a:off x="914400" y="2419502"/>
            <a:ext cx="2040026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官方 BASELINE · OpsPilot Zero</a:t>
            </a:r>
          </a:p>
        </p:txBody>
      </p:sp>
      <p:sp>
        <p:nvSpPr>
          <p:cNvPr id="9" name="h2p-2-text-8"/>
          <p:cNvSpPr txBox="1"/>
          <p:nvPr/>
        </p:nvSpPr>
        <p:spPr>
          <a:xfrm>
            <a:off x="914400" y="2743200"/>
            <a:ext cx="4974336" cy="235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80">
                <a:solidFill>
                  <a:srgbClr val="102A43"/>
                </a:solidFill>
                <a:latin typeface="Noto Sans CJK SC"/>
              </a:rPr>
              <a:t>零人工运维多 Agent 排查与自愈</a:t>
            </a:r>
          </a:p>
        </p:txBody>
      </p:sp>
      <p:sp>
        <p:nvSpPr>
          <p:cNvPr id="10" name="h2p-2-text-9"/>
          <p:cNvSpPr txBox="1"/>
          <p:nvPr/>
        </p:nvSpPr>
        <p:spPr>
          <a:xfrm>
            <a:off x="914400" y="3066897"/>
            <a:ext cx="497433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面向云上与自建 IDC 业务故障，把人工排障链拆成可并行、可回放的协作单元。</a:t>
            </a:r>
          </a:p>
        </p:txBody>
      </p:sp>
      <p:sp>
        <p:nvSpPr>
          <p:cNvPr id="11" name="h2p-2-text-10"/>
          <p:cNvSpPr txBox="1"/>
          <p:nvPr/>
        </p:nvSpPr>
        <p:spPr>
          <a:xfrm>
            <a:off x="914400" y="3791102"/>
            <a:ext cx="4974336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业务执行 Agent（baseline 自带，非 AgentFit）</a:t>
            </a:r>
          </a:p>
        </p:txBody>
      </p:sp>
      <p:sp>
        <p:nvSpPr>
          <p:cNvPr id="12" name="h2p-2-text-11"/>
          <p:cNvSpPr txBox="1"/>
          <p:nvPr/>
        </p:nvSpPr>
        <p:spPr>
          <a:xfrm>
            <a:off x="914400" y="4058107"/>
            <a:ext cx="5052060" cy="4005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Alert Intake · Commander · RCA Analyst · Data Advisor · Planner · Executor · Verifier</a:t>
            </a:r>
          </a:p>
        </p:txBody>
      </p:sp>
      <p:sp>
        <p:nvSpPr>
          <p:cNvPr id="13" name="h2p-2-box-12"/>
          <p:cNvSpPr/>
          <p:nvPr/>
        </p:nvSpPr>
        <p:spPr>
          <a:xfrm>
            <a:off x="914400" y="4724704"/>
            <a:ext cx="4876495" cy="724204"/>
          </a:xfrm>
          <a:prstGeom prst="roundRect">
            <a:avLst>
              <a:gd name="adj" fmla="val 23680"/>
            </a:avLst>
          </a:prstGeom>
          <a:solidFill>
            <a:srgbClr val="F6F2E8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2-text-13"/>
          <p:cNvSpPr txBox="1"/>
          <p:nvPr/>
        </p:nvSpPr>
        <p:spPr>
          <a:xfrm>
            <a:off x="1067104" y="4839004"/>
            <a:ext cx="2336292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demo 事故 · db.pool.maxSize: 50 -&gt; 8</a:t>
            </a:r>
          </a:p>
        </p:txBody>
      </p:sp>
      <p:sp>
        <p:nvSpPr>
          <p:cNvPr id="15" name="h2p-2-text-14"/>
          <p:cNvSpPr txBox="1"/>
          <p:nvPr/>
        </p:nvSpPr>
        <p:spPr>
          <a:xfrm>
            <a:off x="1067104" y="5085892"/>
            <a:ext cx="466344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/api/order/create 5xx 升高 · 连接池耗尽 · 5–10 分钟初诊目标</a:t>
            </a:r>
          </a:p>
        </p:txBody>
      </p:sp>
      <p:sp>
        <p:nvSpPr>
          <p:cNvPr id="16" name="h2p-2-box-15"/>
          <p:cNvSpPr/>
          <p:nvPr/>
        </p:nvSpPr>
        <p:spPr>
          <a:xfrm>
            <a:off x="6286500" y="2190902"/>
            <a:ext cx="5219395" cy="3504895"/>
          </a:xfrm>
          <a:prstGeom prst="roundRect">
            <a:avLst>
              <a:gd name="adj" fmla="val 489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2p-2-text-16"/>
          <p:cNvSpPr txBox="1"/>
          <p:nvPr/>
        </p:nvSpPr>
        <p:spPr>
          <a:xfrm>
            <a:off x="6515100" y="2419502"/>
            <a:ext cx="1292047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AGENTFIT 如何使用它</a:t>
            </a:r>
          </a:p>
        </p:txBody>
      </p:sp>
      <p:sp>
        <p:nvSpPr>
          <p:cNvPr id="18" name="h2p-2-text-17"/>
          <p:cNvSpPr txBox="1"/>
          <p:nvPr/>
        </p:nvSpPr>
        <p:spPr>
          <a:xfrm>
            <a:off x="6515100" y="2743200"/>
            <a:ext cx="4857292" cy="235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80">
                <a:solidFill>
                  <a:srgbClr val="102A43"/>
                </a:solidFill>
                <a:latin typeface="Noto Sans CJK SC"/>
              </a:rPr>
              <a:t>作为首个 ProjectCase 与证据锚点</a:t>
            </a:r>
          </a:p>
        </p:txBody>
      </p:sp>
      <p:sp>
        <p:nvSpPr>
          <p:cNvPr id="19" name="h2p-2-box-18"/>
          <p:cNvSpPr/>
          <p:nvPr/>
        </p:nvSpPr>
        <p:spPr>
          <a:xfrm>
            <a:off x="6515100" y="3200400"/>
            <a:ext cx="4762195" cy="705002"/>
          </a:xfrm>
          <a:prstGeom prst="roundRect">
            <a:avLst>
              <a:gd name="adj" fmla="val 2432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2-text-19"/>
          <p:cNvSpPr txBox="1"/>
          <p:nvPr/>
        </p:nvSpPr>
        <p:spPr>
          <a:xfrm>
            <a:off x="6667804" y="3314700"/>
            <a:ext cx="4547311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不是：把 OpsPilot 当成 AgentFit 已跑通</a:t>
            </a:r>
          </a:p>
        </p:txBody>
      </p:sp>
      <p:sp>
        <p:nvSpPr>
          <p:cNvPr id="21" name="h2p-2-text-20"/>
          <p:cNvSpPr txBox="1"/>
          <p:nvPr/>
        </p:nvSpPr>
        <p:spPr>
          <a:xfrm>
            <a:off x="6667804" y="3562502"/>
            <a:ext cx="4547311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而是：拿它的 Agent、事故、工具契约做输入</a:t>
            </a:r>
          </a:p>
        </p:txBody>
      </p:sp>
      <p:sp>
        <p:nvSpPr>
          <p:cNvPr id="22" name="h2p-2-text-21"/>
          <p:cNvSpPr txBox="1"/>
          <p:nvPr/>
        </p:nvSpPr>
        <p:spPr>
          <a:xfrm>
            <a:off x="6515100" y="4095597"/>
            <a:ext cx="48572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把 baseline 的 7 个业务 Agent、事故样本和工具契约编译成任务与能力语义，再生成并列候选去比较。</a:t>
            </a:r>
          </a:p>
        </p:txBody>
      </p:sp>
      <p:sp>
        <p:nvSpPr>
          <p:cNvPr id="23" name="h2p-2-text-22"/>
          <p:cNvSpPr txBox="1"/>
          <p:nvPr/>
        </p:nvSpPr>
        <p:spPr>
          <a:xfrm>
            <a:off x="6515100" y="5143500"/>
            <a:ext cx="4857292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26B4B"/>
                </a:solidFill>
                <a:latin typeface="Noto Sans CJK SC"/>
              </a:rPr>
              <a:t>边界：设计契约，非运行证据</a:t>
            </a:r>
          </a:p>
        </p:txBody>
      </p:sp>
      <p:sp>
        <p:nvSpPr>
          <p:cNvPr id="24" name="h2p-2-text-23"/>
          <p:cNvSpPr txBox="1"/>
          <p:nvPr/>
        </p:nvSpPr>
        <p:spPr>
          <a:xfrm>
            <a:off x="577900" y="5886907"/>
            <a:ext cx="11036808" cy="2569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102A43"/>
                </a:solidFill>
                <a:latin typeface="Noto Sans CJK SC"/>
              </a:rPr>
              <a:t>OpsPilot 证明这类故障值得做；AgentFit 证明的是“该用哪种方案做”。</a:t>
            </a:r>
          </a:p>
        </p:txBody>
      </p:sp>
      <p:sp>
        <p:nvSpPr>
          <p:cNvPr id="25" name="h2p-2-text-24"/>
          <p:cNvSpPr txBox="1"/>
          <p:nvPr/>
        </p:nvSpPr>
        <p:spPr>
          <a:xfrm>
            <a:off x="685800" y="6543446"/>
            <a:ext cx="106893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证据锚点</a:t>
            </a:r>
          </a:p>
        </p:txBody>
      </p:sp>
      <p:sp>
        <p:nvSpPr>
          <p:cNvPr id="26" name="h2p-2-text-25"/>
          <p:cNvSpPr txBox="1"/>
          <p:nvPr/>
        </p:nvSpPr>
        <p:spPr>
          <a:xfrm>
            <a:off x="10120579" y="6543446"/>
            <a:ext cx="144292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首个 ProjectCase 参考 ·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3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3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03 / 12 · 从材料到案例</a:t>
            </a:r>
          </a:p>
        </p:txBody>
      </p:sp>
      <p:sp>
        <p:nvSpPr>
          <p:cNvPr id="4" name="h2p-3-text-3"/>
          <p:cNvSpPr txBox="1"/>
          <p:nvPr/>
        </p:nvSpPr>
        <p:spPr>
          <a:xfrm>
            <a:off x="685800" y="724204"/>
            <a:ext cx="11036808" cy="4398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4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150">
                <a:solidFill>
                  <a:srgbClr val="102A43"/>
                </a:solidFill>
                <a:latin typeface="Noto Sans CJK SC"/>
              </a:rPr>
              <a:t>AgentFit 把业务难题编译成 ProjectCase。</a:t>
            </a:r>
          </a:p>
        </p:txBody>
      </p:sp>
      <p:sp>
        <p:nvSpPr>
          <p:cNvPr id="5" name="h2p-3-text-4"/>
          <p:cNvSpPr txBox="1"/>
          <p:nvPr/>
        </p:nvSpPr>
        <p:spPr>
          <a:xfrm>
            <a:off x="705002" y="1410004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企业带来的不是干净任务，而是散落的材料；AgentFit 先把它变成可验收的项目档案。</a:t>
            </a:r>
          </a:p>
        </p:txBody>
      </p:sp>
      <p:sp>
        <p:nvSpPr>
          <p:cNvPr id="6" name="h2p-3-box-5"/>
          <p:cNvSpPr/>
          <p:nvPr/>
        </p:nvSpPr>
        <p:spPr>
          <a:xfrm>
            <a:off x="685800" y="1848002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3-box-6"/>
          <p:cNvSpPr/>
          <p:nvPr/>
        </p:nvSpPr>
        <p:spPr>
          <a:xfrm>
            <a:off x="685800" y="2190902"/>
            <a:ext cx="4095597" cy="3657600"/>
          </a:xfrm>
          <a:prstGeom prst="roundRect">
            <a:avLst>
              <a:gd name="adj" fmla="val 4690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3-text-7"/>
          <p:cNvSpPr txBox="1"/>
          <p:nvPr/>
        </p:nvSpPr>
        <p:spPr>
          <a:xfrm>
            <a:off x="914400" y="2419502"/>
            <a:ext cx="1292047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426B86"/>
                </a:solidFill>
                <a:latin typeface="Noto Sans Mono CJK SC"/>
              </a:rPr>
              <a:t>AgentFit 接收的材料</a:t>
            </a:r>
          </a:p>
        </p:txBody>
      </p:sp>
      <p:sp>
        <p:nvSpPr>
          <p:cNvPr id="9" name="h2p-3-box-8"/>
          <p:cNvSpPr/>
          <p:nvPr/>
        </p:nvSpPr>
        <p:spPr>
          <a:xfrm>
            <a:off x="914400" y="2762402"/>
            <a:ext cx="1752904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2p-3-text-9"/>
          <p:cNvSpPr txBox="1"/>
          <p:nvPr/>
        </p:nvSpPr>
        <p:spPr>
          <a:xfrm>
            <a:off x="1000353" y="2809951"/>
            <a:ext cx="1613001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426B86"/>
                </a:solidFill>
                <a:latin typeface="Noto Sans Mono CJK SC"/>
              </a:rPr>
              <a:t>客诉 / 告警</a:t>
            </a:r>
          </a:p>
        </p:txBody>
      </p:sp>
      <p:sp>
        <p:nvSpPr>
          <p:cNvPr id="11" name="h2p-3-box-10"/>
          <p:cNvSpPr/>
          <p:nvPr/>
        </p:nvSpPr>
        <p:spPr>
          <a:xfrm>
            <a:off x="2781604" y="2762402"/>
            <a:ext cx="1752904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2p-3-text-11"/>
          <p:cNvSpPr txBox="1"/>
          <p:nvPr/>
        </p:nvSpPr>
        <p:spPr>
          <a:xfrm>
            <a:off x="2866644" y="2809951"/>
            <a:ext cx="1613001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426B86"/>
                </a:solidFill>
                <a:latin typeface="Noto Sans Mono CJK SC"/>
              </a:rPr>
              <a:t>日志 / Trace</a:t>
            </a:r>
          </a:p>
        </p:txBody>
      </p:sp>
      <p:sp>
        <p:nvSpPr>
          <p:cNvPr id="13" name="h2p-3-box-12"/>
          <p:cNvSpPr/>
          <p:nvPr/>
        </p:nvSpPr>
        <p:spPr>
          <a:xfrm>
            <a:off x="914400" y="3181197"/>
            <a:ext cx="1752904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3-text-13"/>
          <p:cNvSpPr txBox="1"/>
          <p:nvPr/>
        </p:nvSpPr>
        <p:spPr>
          <a:xfrm>
            <a:off x="1000353" y="3228746"/>
            <a:ext cx="1613001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426B86"/>
                </a:solidFill>
                <a:latin typeface="Noto Sans Mono CJK SC"/>
              </a:rPr>
              <a:t>指标 / 变更</a:t>
            </a:r>
          </a:p>
        </p:txBody>
      </p:sp>
      <p:sp>
        <p:nvSpPr>
          <p:cNvPr id="15" name="h2p-3-box-14"/>
          <p:cNvSpPr/>
          <p:nvPr/>
        </p:nvSpPr>
        <p:spPr>
          <a:xfrm>
            <a:off x="2781604" y="3181197"/>
            <a:ext cx="1752904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2p-3-text-15"/>
          <p:cNvSpPr txBox="1"/>
          <p:nvPr/>
        </p:nvSpPr>
        <p:spPr>
          <a:xfrm>
            <a:off x="2866644" y="3228746"/>
            <a:ext cx="1613001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426B86"/>
                </a:solidFill>
                <a:latin typeface="Noto Sans Mono CJK SC"/>
              </a:rPr>
              <a:t>Runbook / 知识库</a:t>
            </a:r>
          </a:p>
        </p:txBody>
      </p:sp>
      <p:sp>
        <p:nvSpPr>
          <p:cNvPr id="17" name="h2p-3-box-16"/>
          <p:cNvSpPr/>
          <p:nvPr/>
        </p:nvSpPr>
        <p:spPr>
          <a:xfrm>
            <a:off x="914400" y="3600907"/>
            <a:ext cx="1752904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3-text-17"/>
          <p:cNvSpPr txBox="1"/>
          <p:nvPr/>
        </p:nvSpPr>
        <p:spPr>
          <a:xfrm>
            <a:off x="1000353" y="3648456"/>
            <a:ext cx="1613001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426B86"/>
                </a:solidFill>
                <a:latin typeface="Noto Sans Mono CJK SC"/>
              </a:rPr>
              <a:t>历史事故</a:t>
            </a:r>
          </a:p>
        </p:txBody>
      </p:sp>
      <p:sp>
        <p:nvSpPr>
          <p:cNvPr id="19" name="h2p-3-box-18"/>
          <p:cNvSpPr/>
          <p:nvPr/>
        </p:nvSpPr>
        <p:spPr>
          <a:xfrm>
            <a:off x="2781604" y="3600907"/>
            <a:ext cx="1752904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3-text-19"/>
          <p:cNvSpPr txBox="1"/>
          <p:nvPr/>
        </p:nvSpPr>
        <p:spPr>
          <a:xfrm>
            <a:off x="2866644" y="3648456"/>
            <a:ext cx="1613001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426B86"/>
                </a:solidFill>
                <a:latin typeface="Noto Sans Mono CJK SC"/>
              </a:rPr>
              <a:t>OpsPilot baseline</a:t>
            </a:r>
          </a:p>
        </p:txBody>
      </p:sp>
      <p:sp>
        <p:nvSpPr>
          <p:cNvPr id="21" name="h2p-3-text-20"/>
          <p:cNvSpPr txBox="1"/>
          <p:nvPr/>
        </p:nvSpPr>
        <p:spPr>
          <a:xfrm>
            <a:off x="914400" y="4095597"/>
            <a:ext cx="374995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材料保留来源与时间边界；它们是 SourceObservation，还不是可评价的样本。</a:t>
            </a:r>
          </a:p>
        </p:txBody>
      </p:sp>
      <p:sp>
        <p:nvSpPr>
          <p:cNvPr id="22" name="h2p-3-text-21"/>
          <p:cNvSpPr txBox="1"/>
          <p:nvPr/>
        </p:nvSpPr>
        <p:spPr>
          <a:xfrm>
            <a:off x="914400" y="5143500"/>
            <a:ext cx="3749954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426B86"/>
                </a:solidFill>
                <a:latin typeface="Noto Sans CJK SC"/>
              </a:rPr>
              <a:t>Human 提供材料并确认任务契约</a:t>
            </a:r>
          </a:p>
        </p:txBody>
      </p:sp>
      <p:sp>
        <p:nvSpPr>
          <p:cNvPr id="23" name="h2p-3-text-22"/>
          <p:cNvSpPr txBox="1"/>
          <p:nvPr/>
        </p:nvSpPr>
        <p:spPr>
          <a:xfrm>
            <a:off x="4895697" y="3733495"/>
            <a:ext cx="350215" cy="495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>
                <a:solidFill>
                  <a:srgbClr val="1A8D85"/>
                </a:solidFill>
                <a:latin typeface="Noto Sans CJK SC"/>
              </a:rPr>
              <a:t>→</a:t>
            </a:r>
          </a:p>
        </p:txBody>
      </p:sp>
      <p:sp>
        <p:nvSpPr>
          <p:cNvPr id="24" name="h2p-3-box-23"/>
          <p:cNvSpPr/>
          <p:nvPr/>
        </p:nvSpPr>
        <p:spPr>
          <a:xfrm>
            <a:off x="5333695" y="2190902"/>
            <a:ext cx="6172200" cy="3657600"/>
          </a:xfrm>
          <a:prstGeom prst="roundRect">
            <a:avLst>
              <a:gd name="adj" fmla="val 469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2p-3-text-24"/>
          <p:cNvSpPr txBox="1"/>
          <p:nvPr/>
        </p:nvSpPr>
        <p:spPr>
          <a:xfrm>
            <a:off x="5562295" y="2419502"/>
            <a:ext cx="2312517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编译后的 ProjectCase（版本化档案）</a:t>
            </a:r>
          </a:p>
        </p:txBody>
      </p:sp>
      <p:sp>
        <p:nvSpPr>
          <p:cNvPr id="26" name="h2p-3-box-25"/>
          <p:cNvSpPr/>
          <p:nvPr/>
        </p:nvSpPr>
        <p:spPr>
          <a:xfrm>
            <a:off x="5562295" y="2762402"/>
            <a:ext cx="2838297" cy="705002"/>
          </a:xfrm>
          <a:prstGeom prst="roundRect">
            <a:avLst>
              <a:gd name="adj" fmla="val 2432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2p-3-text-26"/>
          <p:cNvSpPr txBox="1"/>
          <p:nvPr/>
        </p:nvSpPr>
        <p:spPr>
          <a:xfrm>
            <a:off x="5715000" y="2857500"/>
            <a:ext cx="505663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样本语义</a:t>
            </a:r>
          </a:p>
        </p:txBody>
      </p:sp>
      <p:sp>
        <p:nvSpPr>
          <p:cNvPr id="28" name="h2p-3-text-27"/>
          <p:cNvSpPr txBox="1"/>
          <p:nvPr/>
        </p:nvSpPr>
        <p:spPr>
          <a:xfrm>
            <a:off x="5715000" y="3105302"/>
            <a:ext cx="2584094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事故级单位、边界、重放与标注契约</a:t>
            </a:r>
          </a:p>
        </p:txBody>
      </p:sp>
      <p:sp>
        <p:nvSpPr>
          <p:cNvPr id="29" name="h2p-3-box-28"/>
          <p:cNvSpPr/>
          <p:nvPr/>
        </p:nvSpPr>
        <p:spPr>
          <a:xfrm>
            <a:off x="8534095" y="2762402"/>
            <a:ext cx="2838297" cy="705002"/>
          </a:xfrm>
          <a:prstGeom prst="roundRect">
            <a:avLst>
              <a:gd name="adj" fmla="val 2432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2p-3-text-29"/>
          <p:cNvSpPr txBox="1"/>
          <p:nvPr/>
        </p:nvSpPr>
        <p:spPr>
          <a:xfrm>
            <a:off x="8686800" y="2857500"/>
            <a:ext cx="505663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任务语义</a:t>
            </a:r>
          </a:p>
        </p:txBody>
      </p:sp>
      <p:sp>
        <p:nvSpPr>
          <p:cNvPr id="31" name="h2p-3-text-30"/>
          <p:cNvSpPr txBox="1"/>
          <p:nvPr/>
        </p:nvSpPr>
        <p:spPr>
          <a:xfrm>
            <a:off x="8686800" y="3105302"/>
            <a:ext cx="2584094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输入、输出、指标、预算、验收</a:t>
            </a:r>
          </a:p>
        </p:txBody>
      </p:sp>
      <p:sp>
        <p:nvSpPr>
          <p:cNvPr id="32" name="h2p-3-box-31"/>
          <p:cNvSpPr/>
          <p:nvPr/>
        </p:nvSpPr>
        <p:spPr>
          <a:xfrm>
            <a:off x="5562295" y="3600907"/>
            <a:ext cx="2838297" cy="705002"/>
          </a:xfrm>
          <a:prstGeom prst="roundRect">
            <a:avLst>
              <a:gd name="adj" fmla="val 2432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2p-3-text-32"/>
          <p:cNvSpPr txBox="1"/>
          <p:nvPr/>
        </p:nvSpPr>
        <p:spPr>
          <a:xfrm>
            <a:off x="5715000" y="3696004"/>
            <a:ext cx="505663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能力语义</a:t>
            </a:r>
          </a:p>
        </p:txBody>
      </p:sp>
      <p:sp>
        <p:nvSpPr>
          <p:cNvPr id="34" name="h2p-3-text-33"/>
          <p:cNvSpPr txBox="1"/>
          <p:nvPr/>
        </p:nvSpPr>
        <p:spPr>
          <a:xfrm>
            <a:off x="5715000" y="3942892"/>
            <a:ext cx="2584094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算子、契约、权限、成本、适用域</a:t>
            </a:r>
          </a:p>
        </p:txBody>
      </p:sp>
      <p:sp>
        <p:nvSpPr>
          <p:cNvPr id="35" name="h2p-3-box-34"/>
          <p:cNvSpPr/>
          <p:nvPr/>
        </p:nvSpPr>
        <p:spPr>
          <a:xfrm>
            <a:off x="8534095" y="3600907"/>
            <a:ext cx="2838297" cy="705002"/>
          </a:xfrm>
          <a:prstGeom prst="roundRect">
            <a:avLst>
              <a:gd name="adj" fmla="val 2432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h2p-3-text-35"/>
          <p:cNvSpPr txBox="1"/>
          <p:nvPr/>
        </p:nvSpPr>
        <p:spPr>
          <a:xfrm>
            <a:off x="8686800" y="3696004"/>
            <a:ext cx="1199692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候选空间 + 评测协议</a:t>
            </a:r>
          </a:p>
        </p:txBody>
      </p:sp>
      <p:sp>
        <p:nvSpPr>
          <p:cNvPr id="37" name="h2p-3-text-36"/>
          <p:cNvSpPr txBox="1"/>
          <p:nvPr/>
        </p:nvSpPr>
        <p:spPr>
          <a:xfrm>
            <a:off x="8686800" y="3942892"/>
            <a:ext cx="2584094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公平预算、安全门禁、责任边界</a:t>
            </a:r>
          </a:p>
        </p:txBody>
      </p:sp>
      <p:sp>
        <p:nvSpPr>
          <p:cNvPr id="38" name="h2p-3-text-37"/>
          <p:cNvSpPr txBox="1"/>
          <p:nvPr/>
        </p:nvSpPr>
        <p:spPr>
          <a:xfrm>
            <a:off x="5562295" y="4476902"/>
            <a:ext cx="58293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ProjectCase 描述整个任务分布与候选空间；它不是单条样本，也不等于某次运行。</a:t>
            </a:r>
          </a:p>
        </p:txBody>
      </p:sp>
      <p:sp>
        <p:nvSpPr>
          <p:cNvPr id="39" name="h2p-3-text-38"/>
          <p:cNvSpPr txBox="1"/>
          <p:nvPr/>
        </p:nvSpPr>
        <p:spPr>
          <a:xfrm>
            <a:off x="5562295" y="5296204"/>
            <a:ext cx="582930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26B4B"/>
                </a:solidFill>
                <a:latin typeface="Noto Sans CJK SC"/>
              </a:rPr>
              <a:t>设计契约，非运行证据</a:t>
            </a:r>
          </a:p>
        </p:txBody>
      </p:sp>
      <p:sp>
        <p:nvSpPr>
          <p:cNvPr id="40" name="h2p-3-text-39"/>
          <p:cNvSpPr txBox="1"/>
          <p:nvPr/>
        </p:nvSpPr>
        <p:spPr>
          <a:xfrm>
            <a:off x="577900" y="6057900"/>
            <a:ext cx="11036808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先有可验收的项目档案，才有资格讨论“用几个 Agent”。</a:t>
            </a:r>
          </a:p>
        </p:txBody>
      </p:sp>
      <p:sp>
        <p:nvSpPr>
          <p:cNvPr id="41" name="h2p-3-text-40"/>
          <p:cNvSpPr txBox="1"/>
          <p:nvPr/>
        </p:nvSpPr>
        <p:spPr>
          <a:xfrm>
            <a:off x="685800" y="6543446"/>
            <a:ext cx="122895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ProjectCase</a:t>
            </a:r>
          </a:p>
        </p:txBody>
      </p:sp>
      <p:sp>
        <p:nvSpPr>
          <p:cNvPr id="42" name="h2p-3-text-41"/>
          <p:cNvSpPr txBox="1"/>
          <p:nvPr/>
        </p:nvSpPr>
        <p:spPr>
          <a:xfrm>
            <a:off x="10601553" y="6543446"/>
            <a:ext cx="96194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材料 → 档案 ·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4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4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04 / 12 · 一个样本长什么样</a:t>
            </a:r>
          </a:p>
        </p:txBody>
      </p:sp>
      <p:sp>
        <p:nvSpPr>
          <p:cNvPr id="4" name="h2p-4-text-3"/>
          <p:cNvSpPr txBox="1"/>
          <p:nvPr/>
        </p:nvSpPr>
        <p:spPr>
          <a:xfrm>
            <a:off x="685800" y="724204"/>
            <a:ext cx="11036808" cy="4398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4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150">
                <a:solidFill>
                  <a:srgbClr val="102A43"/>
                </a:solidFill>
                <a:latin typeface="Noto Sans CJK SC"/>
              </a:rPr>
              <a:t>一次事故定义 TaskSample、输入输出与验收。</a:t>
            </a:r>
          </a:p>
        </p:txBody>
      </p:sp>
      <p:sp>
        <p:nvSpPr>
          <p:cNvPr id="5" name="h2p-4-text-4"/>
          <p:cNvSpPr txBox="1"/>
          <p:nvPr/>
        </p:nvSpPr>
        <p:spPr>
          <a:xfrm>
            <a:off x="705002" y="1410004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用 OpsPilot baseline 的两个事故，说明什么能被冻结、重放和评价。</a:t>
            </a:r>
          </a:p>
        </p:txBody>
      </p:sp>
      <p:sp>
        <p:nvSpPr>
          <p:cNvPr id="6" name="h2p-4-box-5"/>
          <p:cNvSpPr/>
          <p:nvPr/>
        </p:nvSpPr>
        <p:spPr>
          <a:xfrm>
            <a:off x="685800" y="1848002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4-box-6"/>
          <p:cNvSpPr/>
          <p:nvPr/>
        </p:nvSpPr>
        <p:spPr>
          <a:xfrm>
            <a:off x="685800" y="2152497"/>
            <a:ext cx="5296204" cy="3238804"/>
          </a:xfrm>
          <a:prstGeom prst="roundRect">
            <a:avLst>
              <a:gd name="adj" fmla="val 5290"/>
            </a:avLst>
          </a:prstGeom>
          <a:solidFill>
            <a:srgbClr val="F8DDD4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4-text-7"/>
          <p:cNvSpPr txBox="1"/>
          <p:nvPr/>
        </p:nvSpPr>
        <p:spPr>
          <a:xfrm>
            <a:off x="914400" y="2361895"/>
            <a:ext cx="1088136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26B4B"/>
                </a:solidFill>
                <a:latin typeface="Noto Sans Mono CJK SC"/>
              </a:rPr>
              <a:t>TaskSample · 01</a:t>
            </a:r>
          </a:p>
        </p:txBody>
      </p:sp>
      <p:sp>
        <p:nvSpPr>
          <p:cNvPr id="9" name="h2p-4-text-8"/>
          <p:cNvSpPr txBox="1"/>
          <p:nvPr/>
        </p:nvSpPr>
        <p:spPr>
          <a:xfrm>
            <a:off x="914400" y="2648102"/>
            <a:ext cx="4955133" cy="235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80">
                <a:solidFill>
                  <a:srgbClr val="F26B4B"/>
                </a:solidFill>
                <a:latin typeface="Noto Sans CJK SC"/>
              </a:rPr>
              <a:t>db_pool_exhausted</a:t>
            </a:r>
          </a:p>
        </p:txBody>
      </p:sp>
      <p:sp>
        <p:nvSpPr>
          <p:cNvPr id="10" name="h2p-4-text-9"/>
          <p:cNvSpPr txBox="1"/>
          <p:nvPr/>
        </p:nvSpPr>
        <p:spPr>
          <a:xfrm>
            <a:off x="914400" y="2971800"/>
            <a:ext cx="495513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订单 5xx 升高 · 数据库连接池耗尽</a:t>
            </a:r>
          </a:p>
        </p:txBody>
      </p:sp>
      <p:sp>
        <p:nvSpPr>
          <p:cNvPr id="11" name="h2p-4-text-10"/>
          <p:cNvSpPr txBox="1"/>
          <p:nvPr/>
        </p:nvSpPr>
        <p:spPr>
          <a:xfrm>
            <a:off x="914400" y="3295497"/>
            <a:ext cx="495513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输入</a:t>
            </a:r>
          </a:p>
        </p:txBody>
      </p:sp>
      <p:sp>
        <p:nvSpPr>
          <p:cNvPr id="12" name="h2p-4-text-11"/>
          <p:cNvSpPr txBox="1"/>
          <p:nvPr/>
        </p:nvSpPr>
        <p:spPr>
          <a:xfrm>
            <a:off x="914400" y="3504895"/>
            <a:ext cx="495513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告警、/api/order/create 5xx、Trace、变更 db.pool.maxSize 50→8</a:t>
            </a:r>
          </a:p>
        </p:txBody>
      </p:sp>
      <p:sp>
        <p:nvSpPr>
          <p:cNvPr id="13" name="h2p-4-text-12"/>
          <p:cNvSpPr txBox="1"/>
          <p:nvPr/>
        </p:nvSpPr>
        <p:spPr>
          <a:xfrm>
            <a:off x="914400" y="3924604"/>
            <a:ext cx="495513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输出</a:t>
            </a:r>
          </a:p>
        </p:txBody>
      </p:sp>
      <p:sp>
        <p:nvSpPr>
          <p:cNvPr id="14" name="h2p-4-text-13"/>
          <p:cNvSpPr txBox="1"/>
          <p:nvPr/>
        </p:nvSpPr>
        <p:spPr>
          <a:xfrm>
            <a:off x="914400" y="4134002"/>
            <a:ext cx="495513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根因（变更导致池容量不足）、回滚计划、恢复验证</a:t>
            </a:r>
          </a:p>
        </p:txBody>
      </p:sp>
      <p:sp>
        <p:nvSpPr>
          <p:cNvPr id="15" name="h2p-4-text-14"/>
          <p:cNvSpPr txBox="1"/>
          <p:nvPr/>
        </p:nvSpPr>
        <p:spPr>
          <a:xfrm>
            <a:off x="914400" y="4552797"/>
            <a:ext cx="495513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验收</a:t>
            </a:r>
          </a:p>
        </p:txBody>
      </p:sp>
      <p:sp>
        <p:nvSpPr>
          <p:cNvPr id="16" name="h2p-4-text-15"/>
          <p:cNvSpPr txBox="1"/>
          <p:nvPr/>
        </p:nvSpPr>
        <p:spPr>
          <a:xfrm>
            <a:off x="914400" y="4762195"/>
            <a:ext cx="495513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定位可追溯 · 回滚可验证 · 无未批准写入</a:t>
            </a:r>
          </a:p>
        </p:txBody>
      </p:sp>
      <p:sp>
        <p:nvSpPr>
          <p:cNvPr id="17" name="h2p-4-box-16"/>
          <p:cNvSpPr/>
          <p:nvPr/>
        </p:nvSpPr>
        <p:spPr>
          <a:xfrm>
            <a:off x="6210604" y="2152497"/>
            <a:ext cx="5296204" cy="3238804"/>
          </a:xfrm>
          <a:prstGeom prst="roundRect">
            <a:avLst>
              <a:gd name="adj" fmla="val 529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4-text-17"/>
          <p:cNvSpPr txBox="1"/>
          <p:nvPr/>
        </p:nvSpPr>
        <p:spPr>
          <a:xfrm>
            <a:off x="6439204" y="2361895"/>
            <a:ext cx="1088136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Mono CJK SC"/>
              </a:rPr>
              <a:t>TaskSample · 02</a:t>
            </a:r>
          </a:p>
        </p:txBody>
      </p:sp>
      <p:sp>
        <p:nvSpPr>
          <p:cNvPr id="19" name="h2p-4-text-18"/>
          <p:cNvSpPr txBox="1"/>
          <p:nvPr/>
        </p:nvSpPr>
        <p:spPr>
          <a:xfrm>
            <a:off x="6439204" y="2648102"/>
            <a:ext cx="4955133" cy="235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80">
                <a:solidFill>
                  <a:srgbClr val="D6A43B"/>
                </a:solidFill>
                <a:latin typeface="Noto Sans CJK SC"/>
              </a:rPr>
              <a:t>slow_sql_degradation</a:t>
            </a:r>
          </a:p>
        </p:txBody>
      </p:sp>
      <p:sp>
        <p:nvSpPr>
          <p:cNvPr id="20" name="h2p-4-text-19"/>
          <p:cNvSpPr txBox="1"/>
          <p:nvPr/>
        </p:nvSpPr>
        <p:spPr>
          <a:xfrm>
            <a:off x="6439204" y="2971800"/>
            <a:ext cx="495513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P99 延迟爬升 · 慢 SQL 逐步劣化</a:t>
            </a:r>
          </a:p>
        </p:txBody>
      </p:sp>
      <p:sp>
        <p:nvSpPr>
          <p:cNvPr id="21" name="h2p-4-text-20"/>
          <p:cNvSpPr txBox="1"/>
          <p:nvPr/>
        </p:nvSpPr>
        <p:spPr>
          <a:xfrm>
            <a:off x="6439204" y="3295497"/>
            <a:ext cx="495513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输入</a:t>
            </a:r>
          </a:p>
        </p:txBody>
      </p:sp>
      <p:sp>
        <p:nvSpPr>
          <p:cNvPr id="22" name="h2p-4-text-21"/>
          <p:cNvSpPr txBox="1"/>
          <p:nvPr/>
        </p:nvSpPr>
        <p:spPr>
          <a:xfrm>
            <a:off x="6439204" y="3504895"/>
            <a:ext cx="495513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延迟指标、慢日志、采样 Trace、近 24h 变更</a:t>
            </a:r>
          </a:p>
        </p:txBody>
      </p:sp>
      <p:sp>
        <p:nvSpPr>
          <p:cNvPr id="23" name="h2p-4-text-22"/>
          <p:cNvSpPr txBox="1"/>
          <p:nvPr/>
        </p:nvSpPr>
        <p:spPr>
          <a:xfrm>
            <a:off x="6439204" y="3924604"/>
            <a:ext cx="495513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输出</a:t>
            </a:r>
          </a:p>
        </p:txBody>
      </p:sp>
      <p:sp>
        <p:nvSpPr>
          <p:cNvPr id="24" name="h2p-4-text-23"/>
          <p:cNvSpPr txBox="1"/>
          <p:nvPr/>
        </p:nvSpPr>
        <p:spPr>
          <a:xfrm>
            <a:off x="6439204" y="4134002"/>
            <a:ext cx="495513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慢 SQL 候选、索引/限流建议、影响面评估</a:t>
            </a:r>
          </a:p>
        </p:txBody>
      </p:sp>
      <p:sp>
        <p:nvSpPr>
          <p:cNvPr id="25" name="h2p-4-text-24"/>
          <p:cNvSpPr txBox="1"/>
          <p:nvPr/>
        </p:nvSpPr>
        <p:spPr>
          <a:xfrm>
            <a:off x="6439204" y="4552797"/>
            <a:ext cx="495513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验收</a:t>
            </a:r>
          </a:p>
        </p:txBody>
      </p:sp>
      <p:sp>
        <p:nvSpPr>
          <p:cNvPr id="26" name="h2p-4-text-25"/>
          <p:cNvSpPr txBox="1"/>
          <p:nvPr/>
        </p:nvSpPr>
        <p:spPr>
          <a:xfrm>
            <a:off x="6439204" y="4762195"/>
            <a:ext cx="495513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建议可复核 · 范围受限 · 采集缺口被标出</a:t>
            </a:r>
          </a:p>
        </p:txBody>
      </p:sp>
      <p:sp>
        <p:nvSpPr>
          <p:cNvPr id="27" name="h2p-4-box-26"/>
          <p:cNvSpPr/>
          <p:nvPr/>
        </p:nvSpPr>
        <p:spPr>
          <a:xfrm>
            <a:off x="685800" y="5581497"/>
            <a:ext cx="10820095" cy="609904"/>
          </a:xfrm>
          <a:prstGeom prst="roundRect">
            <a:avLst>
              <a:gd name="adj" fmla="val 2812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2p-4-text-27"/>
          <p:cNvSpPr txBox="1"/>
          <p:nvPr/>
        </p:nvSpPr>
        <p:spPr>
          <a:xfrm>
            <a:off x="914400" y="5715000"/>
            <a:ext cx="10589666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102A43"/>
                </a:solidFill>
                <a:latin typeface="Noto Sans CJK SC"/>
              </a:rPr>
              <a:t>TaskSample = 当前任务契约下可独立冻结、重放、执行和评价的最小单位；告警只是 SourceObservation，还不等于样本。</a:t>
            </a:r>
          </a:p>
        </p:txBody>
      </p:sp>
      <p:sp>
        <p:nvSpPr>
          <p:cNvPr id="29" name="h2p-4-text-28"/>
          <p:cNvSpPr txBox="1"/>
          <p:nvPr/>
        </p:nvSpPr>
        <p:spPr>
          <a:xfrm>
            <a:off x="685800" y="6543446"/>
            <a:ext cx="117591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TaskSample</a:t>
            </a:r>
          </a:p>
        </p:txBody>
      </p:sp>
      <p:sp>
        <p:nvSpPr>
          <p:cNvPr id="30" name="h2p-4-text-29"/>
          <p:cNvSpPr txBox="1"/>
          <p:nvPr/>
        </p:nvSpPr>
        <p:spPr>
          <a:xfrm>
            <a:off x="10173614" y="6543446"/>
            <a:ext cx="138897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设计契约，非运行证据 ·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5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5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05 / 12 · 元团队</a:t>
            </a:r>
          </a:p>
        </p:txBody>
      </p:sp>
      <p:sp>
        <p:nvSpPr>
          <p:cNvPr id="4" name="h2p-5-text-3"/>
          <p:cNvSpPr txBox="1"/>
          <p:nvPr/>
        </p:nvSpPr>
        <p:spPr>
          <a:xfrm>
            <a:off x="685800" y="724204"/>
            <a:ext cx="11036808" cy="4398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4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150">
                <a:solidFill>
                  <a:srgbClr val="102A43"/>
                </a:solidFill>
                <a:latin typeface="Noto Sans CJK SC"/>
              </a:rPr>
              <a:t>五元元团队完成方案设计闭环。</a:t>
            </a:r>
          </a:p>
        </p:txBody>
      </p:sp>
      <p:sp>
        <p:nvSpPr>
          <p:cNvPr id="5" name="h2p-5-text-4"/>
          <p:cNvSpPr txBox="1"/>
          <p:nvPr/>
        </p:nvSpPr>
        <p:spPr>
          <a:xfrm>
            <a:off x="705002" y="1410004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它们设计并评测方案，本身不是业务执行 Agent；C2 候选里才可能出现 OpsPilot 式的执行 Agent。</a:t>
            </a:r>
          </a:p>
        </p:txBody>
      </p:sp>
      <p:sp>
        <p:nvSpPr>
          <p:cNvPr id="6" name="h2p-5-box-5"/>
          <p:cNvSpPr/>
          <p:nvPr/>
        </p:nvSpPr>
        <p:spPr>
          <a:xfrm>
            <a:off x="685800" y="1848002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5-box-6"/>
          <p:cNvSpPr/>
          <p:nvPr/>
        </p:nvSpPr>
        <p:spPr>
          <a:xfrm>
            <a:off x="685800" y="2152497"/>
            <a:ext cx="10820095" cy="1904695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5-text-7"/>
          <p:cNvSpPr txBox="1"/>
          <p:nvPr/>
        </p:nvSpPr>
        <p:spPr>
          <a:xfrm>
            <a:off x="914400" y="2324404"/>
            <a:ext cx="3400653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五个元 Agent · 各自拥有判断权、状态边界与责任产物</a:t>
            </a:r>
          </a:p>
        </p:txBody>
      </p:sp>
      <p:sp>
        <p:nvSpPr>
          <p:cNvPr id="9" name="h2p-5-box-8"/>
          <p:cNvSpPr/>
          <p:nvPr/>
        </p:nvSpPr>
        <p:spPr>
          <a:xfrm>
            <a:off x="914400" y="2667304"/>
            <a:ext cx="1981504" cy="1218895"/>
          </a:xfrm>
          <a:prstGeom prst="roundRect">
            <a:avLst>
              <a:gd name="adj" fmla="val 14060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2p-5-text-9"/>
          <p:cNvSpPr txBox="1"/>
          <p:nvPr/>
        </p:nvSpPr>
        <p:spPr>
          <a:xfrm>
            <a:off x="1067104" y="2781604"/>
            <a:ext cx="568756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426B86"/>
                </a:solidFill>
                <a:latin typeface="Noto Sans Mono CJK SC"/>
              </a:rPr>
              <a:t>01 交付官</a:t>
            </a:r>
          </a:p>
        </p:txBody>
      </p:sp>
      <p:sp>
        <p:nvSpPr>
          <p:cNvPr id="11" name="h2p-5-text-10"/>
          <p:cNvSpPr txBox="1"/>
          <p:nvPr/>
        </p:nvSpPr>
        <p:spPr>
          <a:xfrm>
            <a:off x="1067104" y="3010204"/>
            <a:ext cx="1729130" cy="180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102A43"/>
                </a:solidFill>
                <a:latin typeface="Noto Sans CJK SC"/>
              </a:rPr>
              <a:t>EngagementLead</a:t>
            </a:r>
          </a:p>
        </p:txBody>
      </p:sp>
      <p:sp>
        <p:nvSpPr>
          <p:cNvPr id="12" name="h2p-5-text-11"/>
          <p:cNvSpPr txBox="1"/>
          <p:nvPr/>
        </p:nvSpPr>
        <p:spPr>
          <a:xfrm>
            <a:off x="1067104" y="3353104"/>
            <a:ext cx="1748332" cy="357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控制阶段、组织审批、作出交付决定</a:t>
            </a:r>
          </a:p>
        </p:txBody>
      </p:sp>
      <p:sp>
        <p:nvSpPr>
          <p:cNvPr id="13" name="h2p-5-box-12"/>
          <p:cNvSpPr/>
          <p:nvPr/>
        </p:nvSpPr>
        <p:spPr>
          <a:xfrm>
            <a:off x="3047695" y="2667304"/>
            <a:ext cx="1981504" cy="1218895"/>
          </a:xfrm>
          <a:prstGeom prst="roundRect">
            <a:avLst>
              <a:gd name="adj" fmla="val 1406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5-text-13"/>
          <p:cNvSpPr txBox="1"/>
          <p:nvPr/>
        </p:nvSpPr>
        <p:spPr>
          <a:xfrm>
            <a:off x="3200400" y="2781604"/>
            <a:ext cx="821131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02 业务架构师</a:t>
            </a:r>
          </a:p>
        </p:txBody>
      </p:sp>
      <p:sp>
        <p:nvSpPr>
          <p:cNvPr id="15" name="h2p-5-text-14"/>
          <p:cNvSpPr txBox="1"/>
          <p:nvPr/>
        </p:nvSpPr>
        <p:spPr>
          <a:xfrm>
            <a:off x="3200400" y="3010204"/>
            <a:ext cx="1729130" cy="180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102A43"/>
                </a:solidFill>
                <a:latin typeface="Noto Sans CJK SC"/>
              </a:rPr>
              <a:t>BusinessEngineer</a:t>
            </a:r>
          </a:p>
        </p:txBody>
      </p:sp>
      <p:sp>
        <p:nvSpPr>
          <p:cNvPr id="16" name="h2p-5-text-15"/>
          <p:cNvSpPr txBox="1"/>
          <p:nvPr/>
        </p:nvSpPr>
        <p:spPr>
          <a:xfrm>
            <a:off x="3200400" y="3353104"/>
            <a:ext cx="1748332" cy="357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定义样本与任务、冻结指标预算</a:t>
            </a:r>
          </a:p>
        </p:txBody>
      </p:sp>
      <p:sp>
        <p:nvSpPr>
          <p:cNvPr id="17" name="h2p-5-box-16"/>
          <p:cNvSpPr/>
          <p:nvPr/>
        </p:nvSpPr>
        <p:spPr>
          <a:xfrm>
            <a:off x="5181904" y="2667304"/>
            <a:ext cx="1981504" cy="1218895"/>
          </a:xfrm>
          <a:prstGeom prst="roundRect">
            <a:avLst>
              <a:gd name="adj" fmla="val 1406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5-text-17"/>
          <p:cNvSpPr txBox="1"/>
          <p:nvPr/>
        </p:nvSpPr>
        <p:spPr>
          <a:xfrm>
            <a:off x="5333695" y="2781604"/>
            <a:ext cx="821131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03 方案架构师</a:t>
            </a:r>
          </a:p>
        </p:txBody>
      </p:sp>
      <p:sp>
        <p:nvSpPr>
          <p:cNvPr id="19" name="h2p-5-text-18"/>
          <p:cNvSpPr txBox="1"/>
          <p:nvPr/>
        </p:nvSpPr>
        <p:spPr>
          <a:xfrm>
            <a:off x="5333695" y="3010204"/>
            <a:ext cx="1729130" cy="180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102A43"/>
                </a:solidFill>
                <a:latin typeface="Noto Sans CJK SC"/>
              </a:rPr>
              <a:t>AgentArchitect</a:t>
            </a:r>
          </a:p>
        </p:txBody>
      </p:sp>
      <p:sp>
        <p:nvSpPr>
          <p:cNvPr id="20" name="h2p-5-text-19"/>
          <p:cNvSpPr txBox="1"/>
          <p:nvPr/>
        </p:nvSpPr>
        <p:spPr>
          <a:xfrm>
            <a:off x="5333695" y="3353104"/>
            <a:ext cx="1748332" cy="357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盘点能力、生成并列候选、解释 Agentize</a:t>
            </a:r>
          </a:p>
        </p:txBody>
      </p:sp>
      <p:sp>
        <p:nvSpPr>
          <p:cNvPr id="21" name="h2p-5-box-20"/>
          <p:cNvSpPr/>
          <p:nvPr/>
        </p:nvSpPr>
        <p:spPr>
          <a:xfrm>
            <a:off x="7315200" y="2667304"/>
            <a:ext cx="1981504" cy="1218895"/>
          </a:xfrm>
          <a:prstGeom prst="roundRect">
            <a:avLst>
              <a:gd name="adj" fmla="val 1406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2p-5-text-21"/>
          <p:cNvSpPr txBox="1"/>
          <p:nvPr/>
        </p:nvSpPr>
        <p:spPr>
          <a:xfrm>
            <a:off x="7467904" y="2781604"/>
            <a:ext cx="821131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04 验证工程师</a:t>
            </a:r>
          </a:p>
        </p:txBody>
      </p:sp>
      <p:sp>
        <p:nvSpPr>
          <p:cNvPr id="23" name="h2p-5-text-22"/>
          <p:cNvSpPr txBox="1"/>
          <p:nvPr/>
        </p:nvSpPr>
        <p:spPr>
          <a:xfrm>
            <a:off x="7467904" y="3010204"/>
            <a:ext cx="1729130" cy="180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102A43"/>
                </a:solidFill>
                <a:latin typeface="Noto Sans CJK SC"/>
              </a:rPr>
              <a:t>ValidationEngineer</a:t>
            </a:r>
          </a:p>
        </p:txBody>
      </p:sp>
      <p:sp>
        <p:nvSpPr>
          <p:cNvPr id="24" name="h2p-5-text-23"/>
          <p:cNvSpPr txBox="1"/>
          <p:nvPr/>
        </p:nvSpPr>
        <p:spPr>
          <a:xfrm>
            <a:off x="7467904" y="3353104"/>
            <a:ext cx="1748332" cy="357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隔离运行候选、收集失败证据</a:t>
            </a:r>
          </a:p>
        </p:txBody>
      </p:sp>
      <p:sp>
        <p:nvSpPr>
          <p:cNvPr id="25" name="h2p-5-box-24"/>
          <p:cNvSpPr/>
          <p:nvPr/>
        </p:nvSpPr>
        <p:spPr>
          <a:xfrm>
            <a:off x="9448495" y="2667304"/>
            <a:ext cx="1981504" cy="1218895"/>
          </a:xfrm>
          <a:prstGeom prst="roundRect">
            <a:avLst>
              <a:gd name="adj" fmla="val 1406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2p-5-text-25"/>
          <p:cNvSpPr txBox="1"/>
          <p:nvPr/>
        </p:nvSpPr>
        <p:spPr>
          <a:xfrm>
            <a:off x="9601200" y="2781604"/>
            <a:ext cx="568756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D6A43B"/>
                </a:solidFill>
                <a:latin typeface="Noto Sans Mono CJK SC"/>
              </a:rPr>
              <a:t>05 审计官</a:t>
            </a:r>
          </a:p>
        </p:txBody>
      </p:sp>
      <p:sp>
        <p:nvSpPr>
          <p:cNvPr id="27" name="h2p-5-text-26"/>
          <p:cNvSpPr txBox="1"/>
          <p:nvPr/>
        </p:nvSpPr>
        <p:spPr>
          <a:xfrm>
            <a:off x="9601200" y="3010204"/>
            <a:ext cx="1729130" cy="180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102A43"/>
                </a:solidFill>
                <a:latin typeface="Noto Sans CJK SC"/>
              </a:rPr>
              <a:t>GovernanceAuditor</a:t>
            </a:r>
          </a:p>
        </p:txBody>
      </p:sp>
      <p:sp>
        <p:nvSpPr>
          <p:cNvPr id="28" name="h2p-5-text-27"/>
          <p:cNvSpPr txBox="1"/>
          <p:nvPr/>
        </p:nvSpPr>
        <p:spPr>
          <a:xfrm>
            <a:off x="9601200" y="3353104"/>
            <a:ext cx="1748332" cy="357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独立检查证据、选择 / 否决 / 降级</a:t>
            </a:r>
          </a:p>
        </p:txBody>
      </p:sp>
      <p:sp>
        <p:nvSpPr>
          <p:cNvPr id="29" name="h2p-5-text-28"/>
          <p:cNvSpPr txBox="1"/>
          <p:nvPr/>
        </p:nvSpPr>
        <p:spPr>
          <a:xfrm>
            <a:off x="914400" y="4304995"/>
            <a:ext cx="816559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固定阶段骨架</a:t>
            </a:r>
          </a:p>
        </p:txBody>
      </p:sp>
      <p:sp>
        <p:nvSpPr>
          <p:cNvPr id="30" name="h2p-5-box-29"/>
          <p:cNvSpPr/>
          <p:nvPr/>
        </p:nvSpPr>
        <p:spPr>
          <a:xfrm>
            <a:off x="685800" y="4552797"/>
            <a:ext cx="10820095" cy="1028700"/>
          </a:xfrm>
          <a:prstGeom prst="roundRect">
            <a:avLst>
              <a:gd name="adj" fmla="val 16670"/>
            </a:avLst>
          </a:prstGeom>
          <a:solidFill>
            <a:srgbClr val="EEF1F5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2p-5-box-30"/>
          <p:cNvSpPr/>
          <p:nvPr/>
        </p:nvSpPr>
        <p:spPr>
          <a:xfrm>
            <a:off x="875995" y="4819802"/>
            <a:ext cx="1028700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2p-5-text-31"/>
          <p:cNvSpPr txBox="1"/>
          <p:nvPr/>
        </p:nvSpPr>
        <p:spPr>
          <a:xfrm>
            <a:off x="961948" y="4867351"/>
            <a:ext cx="87416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Intake</a:t>
            </a:r>
          </a:p>
        </p:txBody>
      </p:sp>
      <p:sp>
        <p:nvSpPr>
          <p:cNvPr id="33" name="h2p-5-box-32"/>
          <p:cNvSpPr/>
          <p:nvPr/>
        </p:nvSpPr>
        <p:spPr>
          <a:xfrm>
            <a:off x="2018995" y="4819802"/>
            <a:ext cx="1028700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2p-5-text-33"/>
          <p:cNvSpPr txBox="1"/>
          <p:nvPr/>
        </p:nvSpPr>
        <p:spPr>
          <a:xfrm>
            <a:off x="2104948" y="4867351"/>
            <a:ext cx="87416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Discover</a:t>
            </a:r>
          </a:p>
        </p:txBody>
      </p:sp>
      <p:sp>
        <p:nvSpPr>
          <p:cNvPr id="35" name="h2p-5-box-34"/>
          <p:cNvSpPr/>
          <p:nvPr/>
        </p:nvSpPr>
        <p:spPr>
          <a:xfrm>
            <a:off x="3161995" y="4819802"/>
            <a:ext cx="1028700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h2p-5-text-35"/>
          <p:cNvSpPr txBox="1"/>
          <p:nvPr/>
        </p:nvSpPr>
        <p:spPr>
          <a:xfrm>
            <a:off x="3247948" y="4867351"/>
            <a:ext cx="87416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Freeze</a:t>
            </a:r>
          </a:p>
        </p:txBody>
      </p:sp>
      <p:sp>
        <p:nvSpPr>
          <p:cNvPr id="37" name="h2p-5-box-36"/>
          <p:cNvSpPr/>
          <p:nvPr/>
        </p:nvSpPr>
        <p:spPr>
          <a:xfrm>
            <a:off x="4304995" y="4819802"/>
            <a:ext cx="1028700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h2p-5-text-37"/>
          <p:cNvSpPr txBox="1"/>
          <p:nvPr/>
        </p:nvSpPr>
        <p:spPr>
          <a:xfrm>
            <a:off x="4390948" y="4867351"/>
            <a:ext cx="87416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Architect</a:t>
            </a:r>
          </a:p>
        </p:txBody>
      </p:sp>
      <p:sp>
        <p:nvSpPr>
          <p:cNvPr id="39" name="h2p-5-box-38"/>
          <p:cNvSpPr/>
          <p:nvPr/>
        </p:nvSpPr>
        <p:spPr>
          <a:xfrm>
            <a:off x="5447995" y="4819802"/>
            <a:ext cx="1028700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h2p-5-text-39"/>
          <p:cNvSpPr txBox="1"/>
          <p:nvPr/>
        </p:nvSpPr>
        <p:spPr>
          <a:xfrm>
            <a:off x="5533948" y="4867351"/>
            <a:ext cx="87416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D6A43B"/>
                </a:solidFill>
                <a:latin typeface="Noto Sans Mono CJK SC"/>
              </a:rPr>
              <a:t>Approve</a:t>
            </a:r>
          </a:p>
        </p:txBody>
      </p:sp>
      <p:sp>
        <p:nvSpPr>
          <p:cNvPr id="41" name="h2p-5-box-40"/>
          <p:cNvSpPr/>
          <p:nvPr/>
        </p:nvSpPr>
        <p:spPr>
          <a:xfrm>
            <a:off x="6590995" y="4819802"/>
            <a:ext cx="1028700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h2p-5-text-41"/>
          <p:cNvSpPr txBox="1"/>
          <p:nvPr/>
        </p:nvSpPr>
        <p:spPr>
          <a:xfrm>
            <a:off x="6676948" y="4867351"/>
            <a:ext cx="87416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Trial</a:t>
            </a:r>
          </a:p>
        </p:txBody>
      </p:sp>
      <p:sp>
        <p:nvSpPr>
          <p:cNvPr id="43" name="h2p-5-box-42"/>
          <p:cNvSpPr/>
          <p:nvPr/>
        </p:nvSpPr>
        <p:spPr>
          <a:xfrm>
            <a:off x="7733995" y="4819802"/>
            <a:ext cx="1028700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h2p-5-text-43"/>
          <p:cNvSpPr txBox="1"/>
          <p:nvPr/>
        </p:nvSpPr>
        <p:spPr>
          <a:xfrm>
            <a:off x="7819948" y="4867351"/>
            <a:ext cx="87416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D6A43B"/>
                </a:solidFill>
                <a:latin typeface="Noto Sans Mono CJK SC"/>
              </a:rPr>
              <a:t>Audit</a:t>
            </a:r>
          </a:p>
        </p:txBody>
      </p:sp>
      <p:sp>
        <p:nvSpPr>
          <p:cNvPr id="45" name="h2p-5-box-44"/>
          <p:cNvSpPr/>
          <p:nvPr/>
        </p:nvSpPr>
        <p:spPr>
          <a:xfrm>
            <a:off x="8876995" y="4819802"/>
            <a:ext cx="1028700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h2p-5-text-45"/>
          <p:cNvSpPr txBox="1"/>
          <p:nvPr/>
        </p:nvSpPr>
        <p:spPr>
          <a:xfrm>
            <a:off x="8962948" y="4867351"/>
            <a:ext cx="87416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Deliver</a:t>
            </a:r>
          </a:p>
        </p:txBody>
      </p:sp>
      <p:sp>
        <p:nvSpPr>
          <p:cNvPr id="47" name="h2p-5-box-46"/>
          <p:cNvSpPr/>
          <p:nvPr/>
        </p:nvSpPr>
        <p:spPr>
          <a:xfrm>
            <a:off x="10019995" y="4819802"/>
            <a:ext cx="1028700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536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h2p-5-text-47"/>
          <p:cNvSpPr txBox="1"/>
          <p:nvPr/>
        </p:nvSpPr>
        <p:spPr>
          <a:xfrm>
            <a:off x="10105948" y="4867351"/>
            <a:ext cx="87416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53697C"/>
                </a:solidFill>
                <a:latin typeface="Noto Sans Mono CJK SC"/>
              </a:rPr>
              <a:t>Learn</a:t>
            </a:r>
          </a:p>
        </p:txBody>
      </p:sp>
      <p:sp>
        <p:nvSpPr>
          <p:cNvPr id="49" name="h2p-5-text-48"/>
          <p:cNvSpPr txBox="1"/>
          <p:nvPr/>
        </p:nvSpPr>
        <p:spPr>
          <a:xfrm>
            <a:off x="875995" y="5219395"/>
            <a:ext cx="1084204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候选生成前冻结 Sample/Task · 候选生成后单独批准 TrialSpec、权限、预算</a:t>
            </a:r>
          </a:p>
        </p:txBody>
      </p:sp>
      <p:sp>
        <p:nvSpPr>
          <p:cNvPr id="50" name="h2p-5-text-49"/>
          <p:cNvSpPr txBox="1"/>
          <p:nvPr/>
        </p:nvSpPr>
        <p:spPr>
          <a:xfrm>
            <a:off x="577900" y="5829300"/>
            <a:ext cx="11036808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一个 Agent 不可用时阶段保持未完成，其他 Agent 不得冒充它的责任产物。</a:t>
            </a:r>
          </a:p>
        </p:txBody>
      </p:sp>
      <p:sp>
        <p:nvSpPr>
          <p:cNvPr id="51" name="h2p-5-text-50"/>
          <p:cNvSpPr txBox="1"/>
          <p:nvPr/>
        </p:nvSpPr>
        <p:spPr>
          <a:xfrm>
            <a:off x="685800" y="6543446"/>
            <a:ext cx="117591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五元责任链</a:t>
            </a:r>
          </a:p>
        </p:txBody>
      </p:sp>
      <p:sp>
        <p:nvSpPr>
          <p:cNvPr id="52" name="h2p-5-text-51"/>
          <p:cNvSpPr txBox="1"/>
          <p:nvPr/>
        </p:nvSpPr>
        <p:spPr>
          <a:xfrm>
            <a:off x="10548518" y="6543446"/>
            <a:ext cx="1014984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设计 Identity ·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6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6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06 / 12 · 候选空间</a:t>
            </a:r>
          </a:p>
        </p:txBody>
      </p:sp>
      <p:sp>
        <p:nvSpPr>
          <p:cNvPr id="4" name="h2p-6-text-3"/>
          <p:cNvSpPr txBox="1"/>
          <p:nvPr/>
        </p:nvSpPr>
        <p:spPr>
          <a:xfrm>
            <a:off x="685800" y="724204"/>
            <a:ext cx="11036808" cy="4398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4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150">
                <a:solidFill>
                  <a:srgbClr val="102A43"/>
                </a:solidFill>
                <a:latin typeface="Noto Sans CJK SC"/>
              </a:rPr>
              <a:t>C0 / C1 / C2 / C3 是同一搜索空间的候选。</a:t>
            </a:r>
          </a:p>
        </p:txBody>
      </p:sp>
      <p:sp>
        <p:nvSpPr>
          <p:cNvPr id="5" name="h2p-6-text-4"/>
          <p:cNvSpPr txBox="1"/>
          <p:nvPr/>
        </p:nvSpPr>
        <p:spPr>
          <a:xfrm>
            <a:off x="705002" y="1410004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四个候选处理同一个冻结 TaskSample；多一个 Agent 都要证明边际价值，不预设多 Agent 更好。</a:t>
            </a:r>
          </a:p>
        </p:txBody>
      </p:sp>
      <p:sp>
        <p:nvSpPr>
          <p:cNvPr id="6" name="h2p-6-box-5"/>
          <p:cNvSpPr/>
          <p:nvPr/>
        </p:nvSpPr>
        <p:spPr>
          <a:xfrm>
            <a:off x="685800" y="1848002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6-box-6"/>
          <p:cNvSpPr/>
          <p:nvPr/>
        </p:nvSpPr>
        <p:spPr>
          <a:xfrm>
            <a:off x="685800" y="2152497"/>
            <a:ext cx="2571292" cy="3314700"/>
          </a:xfrm>
          <a:prstGeom prst="roundRect">
            <a:avLst>
              <a:gd name="adj" fmla="val 6669"/>
            </a:avLst>
          </a:prstGeom>
          <a:solidFill>
            <a:srgbClr val="EEF1F5"/>
          </a:solidFill>
          <a:ln w="19050">
            <a:solidFill>
              <a:srgbClr val="536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6-text-7"/>
          <p:cNvSpPr txBox="1"/>
          <p:nvPr/>
        </p:nvSpPr>
        <p:spPr>
          <a:xfrm>
            <a:off x="875995" y="2286000"/>
            <a:ext cx="947318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53697C"/>
                </a:solidFill>
                <a:latin typeface="Noto Sans Mono CJK SC"/>
              </a:rPr>
              <a:t>C0 · AGENTLESS</a:t>
            </a:r>
          </a:p>
        </p:txBody>
      </p:sp>
      <p:sp>
        <p:nvSpPr>
          <p:cNvPr id="9" name="h2p-6-text-8"/>
          <p:cNvSpPr txBox="1"/>
          <p:nvPr/>
        </p:nvSpPr>
        <p:spPr>
          <a:xfrm>
            <a:off x="875995" y="2553004"/>
            <a:ext cx="2234793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102A43"/>
                </a:solidFill>
                <a:latin typeface="Noto Sans CJK SC"/>
              </a:rPr>
              <a:t>固定流程基线</a:t>
            </a:r>
          </a:p>
        </p:txBody>
      </p:sp>
      <p:sp>
        <p:nvSpPr>
          <p:cNvPr id="10" name="h2p-6-text-9"/>
          <p:cNvSpPr txBox="1"/>
          <p:nvPr/>
        </p:nvSpPr>
        <p:spPr>
          <a:xfrm>
            <a:off x="875995" y="2933395"/>
            <a:ext cx="2292400" cy="386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线索去重 → 规则筛选 → 配置/仓库检索 → 冻结验证。</a:t>
            </a:r>
          </a:p>
        </p:txBody>
      </p:sp>
      <p:sp>
        <p:nvSpPr>
          <p:cNvPr id="11" name="h2p-6-text-10"/>
          <p:cNvSpPr txBox="1"/>
          <p:nvPr/>
        </p:nvSpPr>
        <p:spPr>
          <a:xfrm>
            <a:off x="875995" y="3676802"/>
            <a:ext cx="229240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426B86"/>
                </a:solidFill>
                <a:latin typeface="Noto Sans CJK SC"/>
              </a:rPr>
              <a:t>强基线 · 低复杂度</a:t>
            </a:r>
          </a:p>
        </p:txBody>
      </p:sp>
      <p:sp>
        <p:nvSpPr>
          <p:cNvPr id="12" name="h2p-6-text-11"/>
          <p:cNvSpPr txBox="1"/>
          <p:nvPr/>
        </p:nvSpPr>
        <p:spPr>
          <a:xfrm>
            <a:off x="875995" y="4095597"/>
            <a:ext cx="2292400" cy="386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输入稳定、变更模式已知时够用；跨文件不确定定位能力有限。</a:t>
            </a:r>
          </a:p>
        </p:txBody>
      </p:sp>
      <p:sp>
        <p:nvSpPr>
          <p:cNvPr id="13" name="h2p-6-box-12"/>
          <p:cNvSpPr/>
          <p:nvPr/>
        </p:nvSpPr>
        <p:spPr>
          <a:xfrm>
            <a:off x="3390595" y="2152497"/>
            <a:ext cx="2571292" cy="3314700"/>
          </a:xfrm>
          <a:prstGeom prst="roundRect">
            <a:avLst>
              <a:gd name="adj" fmla="val 6669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6-text-13"/>
          <p:cNvSpPr txBox="1"/>
          <p:nvPr/>
        </p:nvSpPr>
        <p:spPr>
          <a:xfrm>
            <a:off x="3581704" y="2286000"/>
            <a:ext cx="884224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426B86"/>
                </a:solidFill>
                <a:latin typeface="Noto Sans Mono CJK SC"/>
              </a:rPr>
              <a:t>C1 · 单 AGENT</a:t>
            </a:r>
          </a:p>
        </p:txBody>
      </p:sp>
      <p:sp>
        <p:nvSpPr>
          <p:cNvPr id="15" name="h2p-6-text-14"/>
          <p:cNvSpPr txBox="1"/>
          <p:nvPr/>
        </p:nvSpPr>
        <p:spPr>
          <a:xfrm>
            <a:off x="3581704" y="2553004"/>
            <a:ext cx="2234793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102A43"/>
                </a:solidFill>
                <a:latin typeface="Noto Sans CJK SC"/>
              </a:rPr>
              <a:t>一个责任主体</a:t>
            </a:r>
          </a:p>
        </p:txBody>
      </p:sp>
      <p:sp>
        <p:nvSpPr>
          <p:cNvPr id="16" name="h2p-6-text-15"/>
          <p:cNvSpPr txBox="1"/>
          <p:nvPr/>
        </p:nvSpPr>
        <p:spPr>
          <a:xfrm>
            <a:off x="3581704" y="2933395"/>
            <a:ext cx="2292400" cy="386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定位 + 影响分析 + 修复 + 测试重试，统一上下文与决策。</a:t>
            </a:r>
          </a:p>
        </p:txBody>
      </p:sp>
      <p:sp>
        <p:nvSpPr>
          <p:cNvPr id="17" name="h2p-6-text-16"/>
          <p:cNvSpPr txBox="1"/>
          <p:nvPr/>
        </p:nvSpPr>
        <p:spPr>
          <a:xfrm>
            <a:off x="3581704" y="3733495"/>
            <a:ext cx="229240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426B86"/>
                </a:solidFill>
                <a:latin typeface="Noto Sans CJK SC"/>
              </a:rPr>
              <a:t>少通信 · 长上下文</a:t>
            </a:r>
          </a:p>
        </p:txBody>
      </p:sp>
      <p:sp>
        <p:nvSpPr>
          <p:cNvPr id="18" name="h2p-6-text-17"/>
          <p:cNvSpPr txBox="1"/>
          <p:nvPr/>
        </p:nvSpPr>
        <p:spPr>
          <a:xfrm>
            <a:off x="3581704" y="4153204"/>
            <a:ext cx="2292400" cy="386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需检查权限集中、长上下文与自验偏差。</a:t>
            </a:r>
          </a:p>
        </p:txBody>
      </p:sp>
      <p:sp>
        <p:nvSpPr>
          <p:cNvPr id="19" name="h2p-6-box-18"/>
          <p:cNvSpPr/>
          <p:nvPr/>
        </p:nvSpPr>
        <p:spPr>
          <a:xfrm>
            <a:off x="6096304" y="2152497"/>
            <a:ext cx="2571292" cy="3314700"/>
          </a:xfrm>
          <a:prstGeom prst="roundRect">
            <a:avLst>
              <a:gd name="adj" fmla="val 6669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6-text-19"/>
          <p:cNvSpPr txBox="1"/>
          <p:nvPr/>
        </p:nvSpPr>
        <p:spPr>
          <a:xfrm>
            <a:off x="6286500" y="2286000"/>
            <a:ext cx="884224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C2 · 多 AGENT</a:t>
            </a:r>
          </a:p>
        </p:txBody>
      </p:sp>
      <p:sp>
        <p:nvSpPr>
          <p:cNvPr id="21" name="h2p-6-text-20"/>
          <p:cNvSpPr txBox="1"/>
          <p:nvPr/>
        </p:nvSpPr>
        <p:spPr>
          <a:xfrm>
            <a:off x="6286500" y="2553004"/>
            <a:ext cx="2234793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102A43"/>
                </a:solidFill>
                <a:latin typeface="Noto Sans CJK SC"/>
              </a:rPr>
              <a:t>分责并独立验证</a:t>
            </a:r>
          </a:p>
        </p:txBody>
      </p:sp>
      <p:sp>
        <p:nvSpPr>
          <p:cNvPr id="22" name="h2p-6-text-21"/>
          <p:cNvSpPr txBox="1"/>
          <p:nvPr/>
        </p:nvSpPr>
        <p:spPr>
          <a:xfrm>
            <a:off x="6286500" y="2933395"/>
            <a:ext cx="2292400" cy="5797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定位 / 修复 / 验证由不同主体承担；这里才可能生成 OpsPilot 式执行 Agent。</a:t>
            </a:r>
          </a:p>
        </p:txBody>
      </p:sp>
      <p:sp>
        <p:nvSpPr>
          <p:cNvPr id="23" name="h2p-6-text-22"/>
          <p:cNvSpPr txBox="1"/>
          <p:nvPr/>
        </p:nvSpPr>
        <p:spPr>
          <a:xfrm>
            <a:off x="6286500" y="3810304"/>
            <a:ext cx="229240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CJK SC"/>
              </a:rPr>
              <a:t>必须证明边际价值</a:t>
            </a:r>
          </a:p>
        </p:txBody>
      </p:sp>
      <p:sp>
        <p:nvSpPr>
          <p:cNvPr id="24" name="h2p-6-text-23"/>
          <p:cNvSpPr txBox="1"/>
          <p:nvPr/>
        </p:nvSpPr>
        <p:spPr>
          <a:xfrm>
            <a:off x="6286500" y="4229100"/>
            <a:ext cx="2292400" cy="386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新增通信、状态同步与错误归因成本。</a:t>
            </a:r>
          </a:p>
        </p:txBody>
      </p:sp>
      <p:sp>
        <p:nvSpPr>
          <p:cNvPr id="25" name="h2p-6-box-24"/>
          <p:cNvSpPr/>
          <p:nvPr/>
        </p:nvSpPr>
        <p:spPr>
          <a:xfrm>
            <a:off x="8801100" y="2152497"/>
            <a:ext cx="2704795" cy="3314700"/>
          </a:xfrm>
          <a:prstGeom prst="roundRect">
            <a:avLst>
              <a:gd name="adj" fmla="val 634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2p-6-text-25"/>
          <p:cNvSpPr txBox="1"/>
          <p:nvPr/>
        </p:nvSpPr>
        <p:spPr>
          <a:xfrm>
            <a:off x="8991295" y="2286000"/>
            <a:ext cx="1010412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D6A43B"/>
                </a:solidFill>
                <a:latin typeface="Noto Sans Mono CJK SC"/>
              </a:rPr>
              <a:t>C3 · HUMAN 混合</a:t>
            </a:r>
          </a:p>
        </p:txBody>
      </p:sp>
      <p:sp>
        <p:nvSpPr>
          <p:cNvPr id="27" name="h2p-6-text-26"/>
          <p:cNvSpPr txBox="1"/>
          <p:nvPr/>
        </p:nvSpPr>
        <p:spPr>
          <a:xfrm>
            <a:off x="8991295" y="2553004"/>
            <a:ext cx="2370124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102A43"/>
                </a:solidFill>
                <a:latin typeface="Noto Sans CJK SC"/>
              </a:rPr>
              <a:t>高风险交给人工</a:t>
            </a:r>
          </a:p>
        </p:txBody>
      </p:sp>
      <p:sp>
        <p:nvSpPr>
          <p:cNvPr id="28" name="h2p-6-text-27"/>
          <p:cNvSpPr txBox="1"/>
          <p:nvPr/>
        </p:nvSpPr>
        <p:spPr>
          <a:xfrm>
            <a:off x="8991295" y="2933395"/>
            <a:ext cx="2428646" cy="386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外部写入、真实发布、责任转移由 Human 批准并留痕。</a:t>
            </a:r>
          </a:p>
        </p:txBody>
      </p:sp>
      <p:sp>
        <p:nvSpPr>
          <p:cNvPr id="29" name="h2p-6-text-28"/>
          <p:cNvSpPr txBox="1"/>
          <p:nvPr/>
        </p:nvSpPr>
        <p:spPr>
          <a:xfrm>
            <a:off x="8991295" y="3733495"/>
            <a:ext cx="2428646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CJK SC"/>
              </a:rPr>
              <a:t>Human 是正式能力</a:t>
            </a:r>
          </a:p>
        </p:txBody>
      </p:sp>
      <p:sp>
        <p:nvSpPr>
          <p:cNvPr id="30" name="h2p-6-text-29"/>
          <p:cNvSpPr txBox="1"/>
          <p:nvPr/>
        </p:nvSpPr>
        <p:spPr>
          <a:xfrm>
            <a:off x="8991295" y="4153204"/>
            <a:ext cx="2428646" cy="386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不是兜底文案，有触发、审批、回滚与 Trace。</a:t>
            </a:r>
          </a:p>
        </p:txBody>
      </p:sp>
      <p:sp>
        <p:nvSpPr>
          <p:cNvPr id="31" name="h2p-6-box-30"/>
          <p:cNvSpPr/>
          <p:nvPr/>
        </p:nvSpPr>
        <p:spPr>
          <a:xfrm>
            <a:off x="685800" y="5639104"/>
            <a:ext cx="10820095" cy="571500"/>
          </a:xfrm>
          <a:prstGeom prst="roundRect">
            <a:avLst>
              <a:gd name="adj" fmla="val 3000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2p-6-text-31"/>
          <p:cNvSpPr txBox="1"/>
          <p:nvPr/>
        </p:nvSpPr>
        <p:spPr>
          <a:xfrm>
            <a:off x="914400" y="5771692"/>
            <a:ext cx="10589666" cy="216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102A43"/>
                </a:solidFill>
                <a:latin typeface="Noto Sans CJK SC"/>
              </a:rPr>
              <a:t>同一冻结样本集 · 同一版本化 TaskSample · 相同预算与安全门禁 · 尚未运行，不预设赢家。</a:t>
            </a:r>
          </a:p>
        </p:txBody>
      </p:sp>
      <p:sp>
        <p:nvSpPr>
          <p:cNvPr id="33" name="h2p-6-text-32"/>
          <p:cNvSpPr txBox="1"/>
          <p:nvPr/>
        </p:nvSpPr>
        <p:spPr>
          <a:xfrm>
            <a:off x="685800" y="6543446"/>
            <a:ext cx="106893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候选空间</a:t>
            </a:r>
          </a:p>
        </p:txBody>
      </p:sp>
      <p:sp>
        <p:nvSpPr>
          <p:cNvPr id="34" name="h2p-6-text-33"/>
          <p:cNvSpPr txBox="1"/>
          <p:nvPr/>
        </p:nvSpPr>
        <p:spPr>
          <a:xfrm>
            <a:off x="10815523" y="6543446"/>
            <a:ext cx="747979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四类候选 ·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7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7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07 / 12 · 落地映射</a:t>
            </a:r>
          </a:p>
        </p:txBody>
      </p:sp>
      <p:sp>
        <p:nvSpPr>
          <p:cNvPr id="4" name="h2p-7-text-3"/>
          <p:cNvSpPr txBox="1"/>
          <p:nvPr/>
        </p:nvSpPr>
        <p:spPr>
          <a:xfrm>
            <a:off x="685800" y="724204"/>
            <a:ext cx="11036808" cy="349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550">
                <a:solidFill>
                  <a:srgbClr val="102A43"/>
                </a:solidFill>
                <a:latin typeface="Noto Sans CJK SC"/>
              </a:rPr>
              <a:t>五元团队映射到 AgentTeams 的 Worker / Team / Room / Human。</a:t>
            </a:r>
          </a:p>
        </p:txBody>
      </p:sp>
      <p:sp>
        <p:nvSpPr>
          <p:cNvPr id="5" name="h2p-7-text-4"/>
          <p:cNvSpPr txBox="1"/>
          <p:nvPr/>
        </p:nvSpPr>
        <p:spPr>
          <a:xfrm>
            <a:off x="705002" y="1580997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AgentTeams 提供原生底座，AgentFit 只补方案工程层；不改核心、不建新前端。</a:t>
            </a:r>
          </a:p>
        </p:txBody>
      </p:sp>
      <p:sp>
        <p:nvSpPr>
          <p:cNvPr id="6" name="h2p-7-box-5"/>
          <p:cNvSpPr/>
          <p:nvPr/>
        </p:nvSpPr>
        <p:spPr>
          <a:xfrm>
            <a:off x="685800" y="1981504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7-box-6"/>
          <p:cNvSpPr/>
          <p:nvPr/>
        </p:nvSpPr>
        <p:spPr>
          <a:xfrm>
            <a:off x="685800" y="2190902"/>
            <a:ext cx="10820095" cy="3638397"/>
          </a:xfrm>
          <a:prstGeom prst="roundRect">
            <a:avLst>
              <a:gd name="adj" fmla="val 4710"/>
            </a:avLst>
          </a:prstGeom>
          <a:solidFill>
            <a:srgbClr val="FFFFFF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7-text-7"/>
          <p:cNvSpPr txBox="1"/>
          <p:nvPr/>
        </p:nvSpPr>
        <p:spPr>
          <a:xfrm>
            <a:off x="914400" y="2324404"/>
            <a:ext cx="884224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AgentFit 对象</a:t>
            </a:r>
          </a:p>
        </p:txBody>
      </p:sp>
      <p:sp>
        <p:nvSpPr>
          <p:cNvPr id="9" name="h2p-7-text-8"/>
          <p:cNvSpPr txBox="1"/>
          <p:nvPr/>
        </p:nvSpPr>
        <p:spPr>
          <a:xfrm>
            <a:off x="5219395" y="2324404"/>
            <a:ext cx="102047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AgentTeams 落点</a:t>
            </a:r>
          </a:p>
        </p:txBody>
      </p:sp>
      <p:sp>
        <p:nvSpPr>
          <p:cNvPr id="10" name="h2p-7-text-9"/>
          <p:cNvSpPr txBox="1"/>
          <p:nvPr/>
        </p:nvSpPr>
        <p:spPr>
          <a:xfrm>
            <a:off x="8648395" y="2324404"/>
            <a:ext cx="816559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第一阶段实现</a:t>
            </a:r>
          </a:p>
        </p:txBody>
      </p:sp>
      <p:sp>
        <p:nvSpPr>
          <p:cNvPr id="11" name="h2p-7-box-10"/>
          <p:cNvSpPr/>
          <p:nvPr/>
        </p:nvSpPr>
        <p:spPr>
          <a:xfrm>
            <a:off x="914400" y="2590495"/>
            <a:ext cx="10362895" cy="19202"/>
          </a:xfrm>
          <a:prstGeom prst="rect">
            <a:avLst/>
          </a:prstGeom>
          <a:solidFill>
            <a:srgbClr val="E3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2p-7-text-11"/>
          <p:cNvSpPr txBox="1"/>
          <p:nvPr/>
        </p:nvSpPr>
        <p:spPr>
          <a:xfrm>
            <a:off x="914400" y="2743200"/>
            <a:ext cx="417789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EngagementLead 交付官</a:t>
            </a:r>
          </a:p>
        </p:txBody>
      </p:sp>
      <p:sp>
        <p:nvSpPr>
          <p:cNvPr id="13" name="h2p-7-text-12"/>
          <p:cNvSpPr txBox="1"/>
          <p:nvPr/>
        </p:nvSpPr>
        <p:spPr>
          <a:xfrm>
            <a:off x="5219395" y="2743200"/>
            <a:ext cx="330372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Manager / Team Leader（Team）</a:t>
            </a:r>
          </a:p>
        </p:txBody>
      </p:sp>
      <p:sp>
        <p:nvSpPr>
          <p:cNvPr id="14" name="h2p-7-text-13"/>
          <p:cNvSpPr txBox="1"/>
          <p:nvPr/>
        </p:nvSpPr>
        <p:spPr>
          <a:xfrm>
            <a:off x="8648395" y="2743200"/>
            <a:ext cx="268102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阶段控制 Skill + 项目状态文件</a:t>
            </a:r>
          </a:p>
        </p:txBody>
      </p:sp>
      <p:sp>
        <p:nvSpPr>
          <p:cNvPr id="15" name="h2p-7-box-14"/>
          <p:cNvSpPr/>
          <p:nvPr/>
        </p:nvSpPr>
        <p:spPr>
          <a:xfrm>
            <a:off x="914400" y="3066897"/>
            <a:ext cx="10362895" cy="19202"/>
          </a:xfrm>
          <a:prstGeom prst="rect">
            <a:avLst/>
          </a:prstGeom>
          <a:solidFill>
            <a:srgbClr val="F0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2p-7-text-15"/>
          <p:cNvSpPr txBox="1"/>
          <p:nvPr/>
        </p:nvSpPr>
        <p:spPr>
          <a:xfrm>
            <a:off x="914400" y="3219602"/>
            <a:ext cx="417789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BusinessEngineer 业务架构师</a:t>
            </a:r>
          </a:p>
        </p:txBody>
      </p:sp>
      <p:sp>
        <p:nvSpPr>
          <p:cNvPr id="17" name="h2p-7-text-16"/>
          <p:cNvSpPr txBox="1"/>
          <p:nvPr/>
        </p:nvSpPr>
        <p:spPr>
          <a:xfrm>
            <a:off x="5219395" y="3219602"/>
            <a:ext cx="330372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独立 Worker</a:t>
            </a:r>
          </a:p>
        </p:txBody>
      </p:sp>
      <p:sp>
        <p:nvSpPr>
          <p:cNvPr id="18" name="h2p-7-text-17"/>
          <p:cNvSpPr txBox="1"/>
          <p:nvPr/>
        </p:nvSpPr>
        <p:spPr>
          <a:xfrm>
            <a:off x="8648395" y="3219602"/>
            <a:ext cx="268102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Sample/Task 编译 Skill</a:t>
            </a:r>
          </a:p>
        </p:txBody>
      </p:sp>
      <p:sp>
        <p:nvSpPr>
          <p:cNvPr id="19" name="h2p-7-box-18"/>
          <p:cNvSpPr/>
          <p:nvPr/>
        </p:nvSpPr>
        <p:spPr>
          <a:xfrm>
            <a:off x="914400" y="3543300"/>
            <a:ext cx="10362895" cy="19202"/>
          </a:xfrm>
          <a:prstGeom prst="rect">
            <a:avLst/>
          </a:prstGeom>
          <a:solidFill>
            <a:srgbClr val="F0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7-text-19"/>
          <p:cNvSpPr txBox="1"/>
          <p:nvPr/>
        </p:nvSpPr>
        <p:spPr>
          <a:xfrm>
            <a:off x="914400" y="3696004"/>
            <a:ext cx="417789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AgentArchitect 方案架构师</a:t>
            </a:r>
          </a:p>
        </p:txBody>
      </p:sp>
      <p:sp>
        <p:nvSpPr>
          <p:cNvPr id="21" name="h2p-7-text-20"/>
          <p:cNvSpPr txBox="1"/>
          <p:nvPr/>
        </p:nvSpPr>
        <p:spPr>
          <a:xfrm>
            <a:off x="5219395" y="3696004"/>
            <a:ext cx="330372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独立 Worker</a:t>
            </a:r>
          </a:p>
        </p:txBody>
      </p:sp>
      <p:sp>
        <p:nvSpPr>
          <p:cNvPr id="22" name="h2p-7-text-21"/>
          <p:cNvSpPr txBox="1"/>
          <p:nvPr/>
        </p:nvSpPr>
        <p:spPr>
          <a:xfrm>
            <a:off x="8648395" y="3696004"/>
            <a:ext cx="268102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能力对齐 + 候选设计 Skill</a:t>
            </a:r>
          </a:p>
        </p:txBody>
      </p:sp>
      <p:sp>
        <p:nvSpPr>
          <p:cNvPr id="23" name="h2p-7-box-22"/>
          <p:cNvSpPr/>
          <p:nvPr/>
        </p:nvSpPr>
        <p:spPr>
          <a:xfrm>
            <a:off x="914400" y="4019702"/>
            <a:ext cx="10362895" cy="19202"/>
          </a:xfrm>
          <a:prstGeom prst="rect">
            <a:avLst/>
          </a:prstGeom>
          <a:solidFill>
            <a:srgbClr val="F0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2p-7-text-23"/>
          <p:cNvSpPr txBox="1"/>
          <p:nvPr/>
        </p:nvSpPr>
        <p:spPr>
          <a:xfrm>
            <a:off x="914400" y="4171492"/>
            <a:ext cx="417789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ValidationEngineer 验证工程师</a:t>
            </a:r>
          </a:p>
        </p:txBody>
      </p:sp>
      <p:sp>
        <p:nvSpPr>
          <p:cNvPr id="25" name="h2p-7-text-24"/>
          <p:cNvSpPr txBox="1"/>
          <p:nvPr/>
        </p:nvSpPr>
        <p:spPr>
          <a:xfrm>
            <a:off x="5219395" y="4171492"/>
            <a:ext cx="330372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独立 Worker + 沙箱</a:t>
            </a:r>
          </a:p>
        </p:txBody>
      </p:sp>
      <p:sp>
        <p:nvSpPr>
          <p:cNvPr id="26" name="h2p-7-text-25"/>
          <p:cNvSpPr txBox="1"/>
          <p:nvPr/>
        </p:nvSpPr>
        <p:spPr>
          <a:xfrm>
            <a:off x="8648395" y="4171492"/>
            <a:ext cx="268102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统一预算评测工具</a:t>
            </a:r>
          </a:p>
        </p:txBody>
      </p:sp>
      <p:sp>
        <p:nvSpPr>
          <p:cNvPr id="27" name="h2p-7-box-26"/>
          <p:cNvSpPr/>
          <p:nvPr/>
        </p:nvSpPr>
        <p:spPr>
          <a:xfrm>
            <a:off x="914400" y="4496104"/>
            <a:ext cx="10362895" cy="19202"/>
          </a:xfrm>
          <a:prstGeom prst="rect">
            <a:avLst/>
          </a:prstGeom>
          <a:solidFill>
            <a:srgbClr val="F0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2p-7-text-27"/>
          <p:cNvSpPr txBox="1"/>
          <p:nvPr/>
        </p:nvSpPr>
        <p:spPr>
          <a:xfrm>
            <a:off x="914400" y="4647895"/>
            <a:ext cx="417789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GovernanceAuditor 审计官</a:t>
            </a:r>
          </a:p>
        </p:txBody>
      </p:sp>
      <p:sp>
        <p:nvSpPr>
          <p:cNvPr id="29" name="h2p-7-text-28"/>
          <p:cNvSpPr txBox="1"/>
          <p:nvPr/>
        </p:nvSpPr>
        <p:spPr>
          <a:xfrm>
            <a:off x="5219395" y="4647895"/>
            <a:ext cx="330372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独立 Worker + 独立权限</a:t>
            </a:r>
          </a:p>
        </p:txBody>
      </p:sp>
      <p:sp>
        <p:nvSpPr>
          <p:cNvPr id="30" name="h2p-7-text-29"/>
          <p:cNvSpPr txBox="1"/>
          <p:nvPr/>
        </p:nvSpPr>
        <p:spPr>
          <a:xfrm>
            <a:off x="8648395" y="4647895"/>
            <a:ext cx="268102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只读证据 + 审计 Skill</a:t>
            </a:r>
          </a:p>
        </p:txBody>
      </p:sp>
      <p:sp>
        <p:nvSpPr>
          <p:cNvPr id="31" name="h2p-7-box-30"/>
          <p:cNvSpPr/>
          <p:nvPr/>
        </p:nvSpPr>
        <p:spPr>
          <a:xfrm>
            <a:off x="914400" y="4972507"/>
            <a:ext cx="10362895" cy="19202"/>
          </a:xfrm>
          <a:prstGeom prst="rect">
            <a:avLst/>
          </a:prstGeom>
          <a:solidFill>
            <a:srgbClr val="F0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2p-7-text-31"/>
          <p:cNvSpPr txBox="1"/>
          <p:nvPr/>
        </p:nvSpPr>
        <p:spPr>
          <a:xfrm>
            <a:off x="914400" y="5124297"/>
            <a:ext cx="417789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阶段委派 / Human 审批</a:t>
            </a:r>
          </a:p>
        </p:txBody>
      </p:sp>
      <p:sp>
        <p:nvSpPr>
          <p:cNvPr id="33" name="h2p-7-text-32"/>
          <p:cNvSpPr txBox="1"/>
          <p:nvPr/>
        </p:nvSpPr>
        <p:spPr>
          <a:xfrm>
            <a:off x="5219395" y="5124297"/>
            <a:ext cx="330372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Room（房间通信）+ Human</a:t>
            </a:r>
          </a:p>
        </p:txBody>
      </p:sp>
      <p:sp>
        <p:nvSpPr>
          <p:cNvPr id="34" name="h2p-7-text-33"/>
          <p:cNvSpPr txBox="1"/>
          <p:nvPr/>
        </p:nvSpPr>
        <p:spPr>
          <a:xfrm>
            <a:off x="8648395" y="5124297"/>
            <a:ext cx="268102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结构化 Task + 批准/拒绝留痕</a:t>
            </a:r>
          </a:p>
        </p:txBody>
      </p:sp>
      <p:sp>
        <p:nvSpPr>
          <p:cNvPr id="35" name="h2p-7-text-34"/>
          <p:cNvSpPr txBox="1"/>
          <p:nvPr/>
        </p:nvSpPr>
        <p:spPr>
          <a:xfrm>
            <a:off x="577900" y="6000292"/>
            <a:ext cx="11036808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Project Dossier 落在共享存储；Trace 落在共享 Artifact + 消息引用。设计契约，非运行证据。</a:t>
            </a:r>
          </a:p>
        </p:txBody>
      </p:sp>
      <p:sp>
        <p:nvSpPr>
          <p:cNvPr id="36" name="h2p-7-text-35"/>
          <p:cNvSpPr txBox="1"/>
          <p:nvPr/>
        </p:nvSpPr>
        <p:spPr>
          <a:xfrm>
            <a:off x="685800" y="6543446"/>
            <a:ext cx="117591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× AGENTTEAMS</a:t>
            </a:r>
          </a:p>
        </p:txBody>
      </p:sp>
      <p:sp>
        <p:nvSpPr>
          <p:cNvPr id="37" name="h2p-7-text-36"/>
          <p:cNvSpPr txBox="1"/>
          <p:nvPr/>
        </p:nvSpPr>
        <p:spPr>
          <a:xfrm>
            <a:off x="9746589" y="6543446"/>
            <a:ext cx="1816912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Worker / Team / Room / Human ·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8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8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08 / 12 · 公平试验</a:t>
            </a:r>
          </a:p>
        </p:txBody>
      </p:sp>
      <p:sp>
        <p:nvSpPr>
          <p:cNvPr id="4" name="h2p-8-text-3"/>
          <p:cNvSpPr txBox="1"/>
          <p:nvPr/>
        </p:nvSpPr>
        <p:spPr>
          <a:xfrm>
            <a:off x="685800" y="724204"/>
            <a:ext cx="11036808" cy="4398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4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150">
                <a:solidFill>
                  <a:srgbClr val="102A43"/>
                </a:solidFill>
                <a:latin typeface="Noto Sans CJK SC"/>
              </a:rPr>
              <a:t>公平试验、Episode、Trace 与证据契约尚待真实运行。</a:t>
            </a:r>
          </a:p>
        </p:txBody>
      </p:sp>
      <p:sp>
        <p:nvSpPr>
          <p:cNvPr id="5" name="h2p-8-text-4"/>
          <p:cNvSpPr txBox="1"/>
          <p:nvPr/>
        </p:nvSpPr>
        <p:spPr>
          <a:xfrm>
            <a:off x="705002" y="1410004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纸面 Trace 只描述契约；真实运行、分数和赢家都没有，也不能编造。</a:t>
            </a:r>
          </a:p>
        </p:txBody>
      </p:sp>
      <p:sp>
        <p:nvSpPr>
          <p:cNvPr id="6" name="h2p-8-box-5"/>
          <p:cNvSpPr/>
          <p:nvPr/>
        </p:nvSpPr>
        <p:spPr>
          <a:xfrm>
            <a:off x="685800" y="1848002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8-box-6"/>
          <p:cNvSpPr/>
          <p:nvPr/>
        </p:nvSpPr>
        <p:spPr>
          <a:xfrm>
            <a:off x="685800" y="2152497"/>
            <a:ext cx="6476695" cy="3638397"/>
          </a:xfrm>
          <a:prstGeom prst="roundRect">
            <a:avLst>
              <a:gd name="adj" fmla="val 4710"/>
            </a:avLst>
          </a:prstGeom>
          <a:solidFill>
            <a:srgbClr val="FFFFFF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8-text-7"/>
          <p:cNvSpPr txBox="1"/>
          <p:nvPr/>
        </p:nvSpPr>
        <p:spPr>
          <a:xfrm>
            <a:off x="914400" y="2324404"/>
            <a:ext cx="2040026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Episode 网格（设计，未实例化）</a:t>
            </a:r>
          </a:p>
        </p:txBody>
      </p:sp>
      <p:sp>
        <p:nvSpPr>
          <p:cNvPr id="9" name="h2p-8-text-8"/>
          <p:cNvSpPr txBox="1"/>
          <p:nvPr/>
        </p:nvSpPr>
        <p:spPr>
          <a:xfrm>
            <a:off x="914400" y="2628900"/>
            <a:ext cx="194310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候选 \ 样本</a:t>
            </a:r>
          </a:p>
        </p:txBody>
      </p:sp>
      <p:sp>
        <p:nvSpPr>
          <p:cNvPr id="10" name="h2p-8-text-9"/>
          <p:cNvSpPr txBox="1"/>
          <p:nvPr/>
        </p:nvSpPr>
        <p:spPr>
          <a:xfrm>
            <a:off x="2992831" y="2628900"/>
            <a:ext cx="1748332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db_pool_exhausted</a:t>
            </a:r>
          </a:p>
        </p:txBody>
      </p:sp>
      <p:sp>
        <p:nvSpPr>
          <p:cNvPr id="11" name="h2p-8-text-10"/>
          <p:cNvSpPr txBox="1"/>
          <p:nvPr/>
        </p:nvSpPr>
        <p:spPr>
          <a:xfrm>
            <a:off x="4895697" y="2628900"/>
            <a:ext cx="194310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slow_sql_degradation</a:t>
            </a:r>
          </a:p>
        </p:txBody>
      </p:sp>
      <p:sp>
        <p:nvSpPr>
          <p:cNvPr id="12" name="h2p-8-box-11"/>
          <p:cNvSpPr/>
          <p:nvPr/>
        </p:nvSpPr>
        <p:spPr>
          <a:xfrm>
            <a:off x="914400" y="2895904"/>
            <a:ext cx="6019495" cy="19202"/>
          </a:xfrm>
          <a:prstGeom prst="rect">
            <a:avLst/>
          </a:prstGeom>
          <a:solidFill>
            <a:srgbClr val="E3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8-text-12"/>
          <p:cNvSpPr txBox="1"/>
          <p:nvPr/>
        </p:nvSpPr>
        <p:spPr>
          <a:xfrm>
            <a:off x="914400" y="3028492"/>
            <a:ext cx="758037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53697C"/>
                </a:solidFill>
                <a:latin typeface="Noto Sans Mono CJK SC"/>
              </a:rPr>
              <a:t>C0 Agentless</a:t>
            </a:r>
          </a:p>
        </p:txBody>
      </p:sp>
      <p:sp>
        <p:nvSpPr>
          <p:cNvPr id="14" name="h2p-8-box-13"/>
          <p:cNvSpPr/>
          <p:nvPr/>
        </p:nvSpPr>
        <p:spPr>
          <a:xfrm>
            <a:off x="3010204" y="3010204"/>
            <a:ext cx="1714500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536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2p-8-text-14"/>
          <p:cNvSpPr txBox="1"/>
          <p:nvPr/>
        </p:nvSpPr>
        <p:spPr>
          <a:xfrm>
            <a:off x="3095244" y="3057753"/>
            <a:ext cx="157368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53697C"/>
                </a:solidFill>
                <a:latin typeface="Noto Sans Mono CJK SC"/>
              </a:rPr>
              <a:t>Episode · 待运行</a:t>
            </a:r>
          </a:p>
        </p:txBody>
      </p:sp>
      <p:sp>
        <p:nvSpPr>
          <p:cNvPr id="16" name="h2p-8-box-15"/>
          <p:cNvSpPr/>
          <p:nvPr/>
        </p:nvSpPr>
        <p:spPr>
          <a:xfrm>
            <a:off x="4914900" y="3010204"/>
            <a:ext cx="1904695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536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2p-8-text-16"/>
          <p:cNvSpPr txBox="1"/>
          <p:nvPr/>
        </p:nvSpPr>
        <p:spPr>
          <a:xfrm>
            <a:off x="5000853" y="3057753"/>
            <a:ext cx="1768449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53697C"/>
                </a:solidFill>
                <a:latin typeface="Noto Sans Mono CJK SC"/>
              </a:rPr>
              <a:t>Episode · 待运行</a:t>
            </a:r>
          </a:p>
        </p:txBody>
      </p:sp>
      <p:sp>
        <p:nvSpPr>
          <p:cNvPr id="18" name="h2p-8-text-17"/>
          <p:cNvSpPr txBox="1"/>
          <p:nvPr/>
        </p:nvSpPr>
        <p:spPr>
          <a:xfrm>
            <a:off x="914400" y="3543300"/>
            <a:ext cx="694944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426B86"/>
                </a:solidFill>
                <a:latin typeface="Noto Sans Mono CJK SC"/>
              </a:rPr>
              <a:t>C1 单 Agent</a:t>
            </a:r>
          </a:p>
        </p:txBody>
      </p:sp>
      <p:sp>
        <p:nvSpPr>
          <p:cNvPr id="19" name="h2p-8-box-18"/>
          <p:cNvSpPr/>
          <p:nvPr/>
        </p:nvSpPr>
        <p:spPr>
          <a:xfrm>
            <a:off x="3010204" y="3524097"/>
            <a:ext cx="1714500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536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8-text-19"/>
          <p:cNvSpPr txBox="1"/>
          <p:nvPr/>
        </p:nvSpPr>
        <p:spPr>
          <a:xfrm>
            <a:off x="3095244" y="3571646"/>
            <a:ext cx="157368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53697C"/>
                </a:solidFill>
                <a:latin typeface="Noto Sans Mono CJK SC"/>
              </a:rPr>
              <a:t>Episode · 待运行</a:t>
            </a:r>
          </a:p>
        </p:txBody>
      </p:sp>
      <p:sp>
        <p:nvSpPr>
          <p:cNvPr id="21" name="h2p-8-box-20"/>
          <p:cNvSpPr/>
          <p:nvPr/>
        </p:nvSpPr>
        <p:spPr>
          <a:xfrm>
            <a:off x="4914900" y="3524097"/>
            <a:ext cx="1904695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536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2p-8-text-21"/>
          <p:cNvSpPr txBox="1"/>
          <p:nvPr/>
        </p:nvSpPr>
        <p:spPr>
          <a:xfrm>
            <a:off x="5000853" y="3571646"/>
            <a:ext cx="1768449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53697C"/>
                </a:solidFill>
                <a:latin typeface="Noto Sans Mono CJK SC"/>
              </a:rPr>
              <a:t>Episode · 待运行</a:t>
            </a:r>
          </a:p>
        </p:txBody>
      </p:sp>
      <p:sp>
        <p:nvSpPr>
          <p:cNvPr id="23" name="h2p-8-text-22"/>
          <p:cNvSpPr txBox="1"/>
          <p:nvPr/>
        </p:nvSpPr>
        <p:spPr>
          <a:xfrm>
            <a:off x="914400" y="4058107"/>
            <a:ext cx="694944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C2 多 Agent</a:t>
            </a:r>
          </a:p>
        </p:txBody>
      </p:sp>
      <p:sp>
        <p:nvSpPr>
          <p:cNvPr id="24" name="h2p-8-box-23"/>
          <p:cNvSpPr/>
          <p:nvPr/>
        </p:nvSpPr>
        <p:spPr>
          <a:xfrm>
            <a:off x="3010204" y="4038904"/>
            <a:ext cx="1714500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536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2p-8-text-24"/>
          <p:cNvSpPr txBox="1"/>
          <p:nvPr/>
        </p:nvSpPr>
        <p:spPr>
          <a:xfrm>
            <a:off x="3095244" y="4086453"/>
            <a:ext cx="157368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53697C"/>
                </a:solidFill>
                <a:latin typeface="Noto Sans Mono CJK SC"/>
              </a:rPr>
              <a:t>Episode · 待运行</a:t>
            </a:r>
          </a:p>
        </p:txBody>
      </p:sp>
      <p:sp>
        <p:nvSpPr>
          <p:cNvPr id="26" name="h2p-8-box-25"/>
          <p:cNvSpPr/>
          <p:nvPr/>
        </p:nvSpPr>
        <p:spPr>
          <a:xfrm>
            <a:off x="4914900" y="4038904"/>
            <a:ext cx="1904695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536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2p-8-text-26"/>
          <p:cNvSpPr txBox="1"/>
          <p:nvPr/>
        </p:nvSpPr>
        <p:spPr>
          <a:xfrm>
            <a:off x="5000853" y="4086453"/>
            <a:ext cx="1768449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53697C"/>
                </a:solidFill>
                <a:latin typeface="Noto Sans Mono CJK SC"/>
              </a:rPr>
              <a:t>Episode · 待运行</a:t>
            </a:r>
          </a:p>
        </p:txBody>
      </p:sp>
      <p:sp>
        <p:nvSpPr>
          <p:cNvPr id="28" name="h2p-8-text-27"/>
          <p:cNvSpPr txBox="1"/>
          <p:nvPr/>
        </p:nvSpPr>
        <p:spPr>
          <a:xfrm>
            <a:off x="914400" y="4572000"/>
            <a:ext cx="504748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D6A43B"/>
                </a:solidFill>
                <a:latin typeface="Noto Sans Mono CJK SC"/>
              </a:rPr>
              <a:t>C3 Human</a:t>
            </a:r>
          </a:p>
        </p:txBody>
      </p:sp>
      <p:sp>
        <p:nvSpPr>
          <p:cNvPr id="29" name="h2p-8-box-28"/>
          <p:cNvSpPr/>
          <p:nvPr/>
        </p:nvSpPr>
        <p:spPr>
          <a:xfrm>
            <a:off x="3010204" y="4552797"/>
            <a:ext cx="1714500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2p-8-text-29"/>
          <p:cNvSpPr txBox="1"/>
          <p:nvPr/>
        </p:nvSpPr>
        <p:spPr>
          <a:xfrm>
            <a:off x="3095244" y="4600346"/>
            <a:ext cx="157368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D6A43B"/>
                </a:solidFill>
                <a:latin typeface="Noto Sans Mono CJK SC"/>
              </a:rPr>
              <a:t>Human 门禁</a:t>
            </a:r>
          </a:p>
        </p:txBody>
      </p:sp>
      <p:sp>
        <p:nvSpPr>
          <p:cNvPr id="31" name="h2p-8-box-30"/>
          <p:cNvSpPr/>
          <p:nvPr/>
        </p:nvSpPr>
        <p:spPr>
          <a:xfrm>
            <a:off x="4914900" y="4552797"/>
            <a:ext cx="1904695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2p-8-text-31"/>
          <p:cNvSpPr txBox="1"/>
          <p:nvPr/>
        </p:nvSpPr>
        <p:spPr>
          <a:xfrm>
            <a:off x="5000853" y="4600346"/>
            <a:ext cx="1768449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D6A43B"/>
                </a:solidFill>
                <a:latin typeface="Noto Sans Mono CJK SC"/>
              </a:rPr>
              <a:t>Human 门禁</a:t>
            </a:r>
          </a:p>
        </p:txBody>
      </p:sp>
      <p:sp>
        <p:nvSpPr>
          <p:cNvPr id="33" name="h2p-8-text-32"/>
          <p:cNvSpPr txBox="1"/>
          <p:nvPr/>
        </p:nvSpPr>
        <p:spPr>
          <a:xfrm>
            <a:off x="914400" y="5048402"/>
            <a:ext cx="6179515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EvaluationUnit = CandidateVersion × SampleVersion × RunIndex</a:t>
            </a:r>
          </a:p>
        </p:txBody>
      </p:sp>
      <p:sp>
        <p:nvSpPr>
          <p:cNvPr id="34" name="h2p-8-text-33"/>
          <p:cNvSpPr txBox="1"/>
          <p:nvPr/>
        </p:nvSpPr>
        <p:spPr>
          <a:xfrm>
            <a:off x="914400" y="5314492"/>
            <a:ext cx="6179515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26B4B"/>
                </a:solidFill>
                <a:latin typeface="Noto Sans CJK SC"/>
              </a:rPr>
              <a:t>格子全部为空：没有候选分数、没有 Trace、没有赢家。</a:t>
            </a:r>
          </a:p>
        </p:txBody>
      </p:sp>
      <p:sp>
        <p:nvSpPr>
          <p:cNvPr id="35" name="h2p-8-box-34"/>
          <p:cNvSpPr/>
          <p:nvPr/>
        </p:nvSpPr>
        <p:spPr>
          <a:xfrm>
            <a:off x="7353604" y="2152497"/>
            <a:ext cx="4153204" cy="3638397"/>
          </a:xfrm>
          <a:prstGeom prst="roundRect">
            <a:avLst>
              <a:gd name="adj" fmla="val 471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h2p-8-text-35"/>
          <p:cNvSpPr txBox="1"/>
          <p:nvPr/>
        </p:nvSpPr>
        <p:spPr>
          <a:xfrm>
            <a:off x="7582204" y="2324404"/>
            <a:ext cx="1088136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Mono CJK SC"/>
              </a:rPr>
              <a:t>证据契约 · 设计</a:t>
            </a:r>
          </a:p>
        </p:txBody>
      </p:sp>
      <p:sp>
        <p:nvSpPr>
          <p:cNvPr id="37" name="h2p-8-text-36"/>
          <p:cNvSpPr txBox="1"/>
          <p:nvPr/>
        </p:nvSpPr>
        <p:spPr>
          <a:xfrm>
            <a:off x="7582204" y="2628900"/>
            <a:ext cx="3769156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102A43"/>
                </a:solidFill>
                <a:latin typeface="Noto Sans CJK SC"/>
              </a:rPr>
              <a:t>每个 Episode 记录什么</a:t>
            </a:r>
          </a:p>
        </p:txBody>
      </p:sp>
      <p:sp>
        <p:nvSpPr>
          <p:cNvPr id="38" name="h2p-8-text-37"/>
          <p:cNvSpPr txBox="1"/>
          <p:nvPr/>
        </p:nvSpPr>
        <p:spPr>
          <a:xfrm>
            <a:off x="7582204" y="3010204"/>
            <a:ext cx="3769156" cy="4005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输入/状态引用、决策与理由码、Skill/工具调用、权限与审批、输出/产物、成本/时延/错误、重试/回滚。</a:t>
            </a:r>
          </a:p>
        </p:txBody>
      </p:sp>
      <p:sp>
        <p:nvSpPr>
          <p:cNvPr id="39" name="h2p-8-text-38"/>
          <p:cNvSpPr txBox="1"/>
          <p:nvPr/>
        </p:nvSpPr>
        <p:spPr>
          <a:xfrm>
            <a:off x="7582204" y="4153204"/>
            <a:ext cx="3769156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102A43"/>
                </a:solidFill>
                <a:latin typeface="Noto Sans CJK SC"/>
              </a:rPr>
              <a:t>公平与隔离</a:t>
            </a:r>
          </a:p>
        </p:txBody>
      </p:sp>
      <p:sp>
        <p:nvSpPr>
          <p:cNvPr id="40" name="h2p-8-text-39"/>
          <p:cNvSpPr txBox="1"/>
          <p:nvPr/>
        </p:nvSpPr>
        <p:spPr>
          <a:xfrm>
            <a:off x="7582204" y="4457700"/>
            <a:ext cx="3769156" cy="4005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同一冻结样本集 · 相同预算/安全门禁；sealed holdout 仅 GovernanceAuditor 在候选冻结后读取。</a:t>
            </a:r>
          </a:p>
        </p:txBody>
      </p:sp>
      <p:sp>
        <p:nvSpPr>
          <p:cNvPr id="41" name="h2p-8-text-40"/>
          <p:cNvSpPr txBox="1"/>
          <p:nvPr/>
        </p:nvSpPr>
        <p:spPr>
          <a:xfrm>
            <a:off x="7582204" y="5296204"/>
            <a:ext cx="3769156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26B4B"/>
                </a:solidFill>
                <a:latin typeface="Noto Sans CJK SC"/>
              </a:rPr>
              <a:t>结论：requires_runtime_trial · 设计契约，非运行证据</a:t>
            </a:r>
          </a:p>
        </p:txBody>
      </p:sp>
      <p:sp>
        <p:nvSpPr>
          <p:cNvPr id="42" name="h2p-8-text-41"/>
          <p:cNvSpPr txBox="1"/>
          <p:nvPr/>
        </p:nvSpPr>
        <p:spPr>
          <a:xfrm>
            <a:off x="577900" y="5982004"/>
            <a:ext cx="11036808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先有可重放的证据契约，真实运行后才能填格子、换掉这页。</a:t>
            </a:r>
          </a:p>
        </p:txBody>
      </p:sp>
      <p:sp>
        <p:nvSpPr>
          <p:cNvPr id="43" name="h2p-8-text-42"/>
          <p:cNvSpPr txBox="1"/>
          <p:nvPr/>
        </p:nvSpPr>
        <p:spPr>
          <a:xfrm>
            <a:off x="685800" y="6543446"/>
            <a:ext cx="106893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统一评测</a:t>
            </a:r>
          </a:p>
        </p:txBody>
      </p:sp>
      <p:sp>
        <p:nvSpPr>
          <p:cNvPr id="44" name="h2p-8-text-43"/>
          <p:cNvSpPr txBox="1"/>
          <p:nvPr/>
        </p:nvSpPr>
        <p:spPr>
          <a:xfrm>
            <a:off x="10601553" y="6543446"/>
            <a:ext cx="96194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尚待真实运行 ·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9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9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09 / 12 · 工程支撑</a:t>
            </a:r>
          </a:p>
        </p:txBody>
      </p:sp>
      <p:sp>
        <p:nvSpPr>
          <p:cNvPr id="4" name="h2p-9-text-3"/>
          <p:cNvSpPr txBox="1"/>
          <p:nvPr/>
        </p:nvSpPr>
        <p:spPr>
          <a:xfrm>
            <a:off x="685800" y="724204"/>
            <a:ext cx="11036808" cy="370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700">
                <a:solidFill>
                  <a:srgbClr val="102A43"/>
                </a:solidFill>
                <a:latin typeface="Noto Sans CJK SC"/>
              </a:rPr>
              <a:t>七个 Skill、HTTP/MCP 契约、共享状态与风险门禁支撑闭环。</a:t>
            </a:r>
          </a:p>
        </p:txBody>
      </p:sp>
      <p:sp>
        <p:nvSpPr>
          <p:cNvPr id="5" name="h2p-9-text-4"/>
          <p:cNvSpPr txBox="1"/>
          <p:nvPr/>
        </p:nvSpPr>
        <p:spPr>
          <a:xfrm>
            <a:off x="705002" y="1580997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Skill 承载方法，HTTP 与 MCP 是等价的工具契约，Project Dossier 是事实源，风险门禁守边界。</a:t>
            </a:r>
          </a:p>
        </p:txBody>
      </p:sp>
      <p:sp>
        <p:nvSpPr>
          <p:cNvPr id="6" name="h2p-9-box-5"/>
          <p:cNvSpPr/>
          <p:nvPr/>
        </p:nvSpPr>
        <p:spPr>
          <a:xfrm>
            <a:off x="685800" y="1981504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9-box-6"/>
          <p:cNvSpPr/>
          <p:nvPr/>
        </p:nvSpPr>
        <p:spPr>
          <a:xfrm>
            <a:off x="685800" y="2152497"/>
            <a:ext cx="10820095" cy="1333195"/>
          </a:xfrm>
          <a:prstGeom prst="roundRect">
            <a:avLst>
              <a:gd name="adj" fmla="val 1286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9-text-7"/>
          <p:cNvSpPr txBox="1"/>
          <p:nvPr/>
        </p:nvSpPr>
        <p:spPr>
          <a:xfrm>
            <a:off x="914400" y="2324404"/>
            <a:ext cx="1768449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SEVEN SKILLS · 可复用方法</a:t>
            </a:r>
          </a:p>
        </p:txBody>
      </p:sp>
      <p:sp>
        <p:nvSpPr>
          <p:cNvPr id="9" name="h2p-9-box-8"/>
          <p:cNvSpPr/>
          <p:nvPr/>
        </p:nvSpPr>
        <p:spPr>
          <a:xfrm>
            <a:off x="914400" y="2648102"/>
            <a:ext cx="1333195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2p-9-text-9"/>
          <p:cNvSpPr txBox="1"/>
          <p:nvPr/>
        </p:nvSpPr>
        <p:spPr>
          <a:xfrm>
            <a:off x="1000353" y="2695651"/>
            <a:ext cx="118506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1 任务编译</a:t>
            </a:r>
          </a:p>
        </p:txBody>
      </p:sp>
      <p:sp>
        <p:nvSpPr>
          <p:cNvPr id="11" name="h2p-9-box-10"/>
          <p:cNvSpPr/>
          <p:nvPr/>
        </p:nvSpPr>
        <p:spPr>
          <a:xfrm>
            <a:off x="2342692" y="2648102"/>
            <a:ext cx="1333195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2p-9-text-11"/>
          <p:cNvSpPr txBox="1"/>
          <p:nvPr/>
        </p:nvSpPr>
        <p:spPr>
          <a:xfrm>
            <a:off x="2428646" y="2695651"/>
            <a:ext cx="118506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2 能力对齐</a:t>
            </a:r>
          </a:p>
        </p:txBody>
      </p:sp>
      <p:sp>
        <p:nvSpPr>
          <p:cNvPr id="13" name="h2p-9-box-12"/>
          <p:cNvSpPr/>
          <p:nvPr/>
        </p:nvSpPr>
        <p:spPr>
          <a:xfrm>
            <a:off x="3771900" y="2648102"/>
            <a:ext cx="1333195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9-text-13"/>
          <p:cNvSpPr txBox="1"/>
          <p:nvPr/>
        </p:nvSpPr>
        <p:spPr>
          <a:xfrm>
            <a:off x="3857853" y="2695651"/>
            <a:ext cx="118506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3 候选建图</a:t>
            </a:r>
          </a:p>
        </p:txBody>
      </p:sp>
      <p:sp>
        <p:nvSpPr>
          <p:cNvPr id="15" name="h2p-9-box-14"/>
          <p:cNvSpPr/>
          <p:nvPr/>
        </p:nvSpPr>
        <p:spPr>
          <a:xfrm>
            <a:off x="5201107" y="2648102"/>
            <a:ext cx="1333195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2p-9-text-15"/>
          <p:cNvSpPr txBox="1"/>
          <p:nvPr/>
        </p:nvSpPr>
        <p:spPr>
          <a:xfrm>
            <a:off x="5286146" y="2695651"/>
            <a:ext cx="118506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4 统一试验</a:t>
            </a:r>
          </a:p>
        </p:txBody>
      </p:sp>
      <p:sp>
        <p:nvSpPr>
          <p:cNvPr id="17" name="h2p-9-box-16"/>
          <p:cNvSpPr/>
          <p:nvPr/>
        </p:nvSpPr>
        <p:spPr>
          <a:xfrm>
            <a:off x="6629400" y="2648102"/>
            <a:ext cx="1333195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9-text-17"/>
          <p:cNvSpPr txBox="1"/>
          <p:nvPr/>
        </p:nvSpPr>
        <p:spPr>
          <a:xfrm>
            <a:off x="6715353" y="2695651"/>
            <a:ext cx="118506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5 独立审计</a:t>
            </a:r>
          </a:p>
        </p:txBody>
      </p:sp>
      <p:sp>
        <p:nvSpPr>
          <p:cNvPr id="19" name="h2p-9-box-18"/>
          <p:cNvSpPr/>
          <p:nvPr/>
        </p:nvSpPr>
        <p:spPr>
          <a:xfrm>
            <a:off x="8057692" y="2648102"/>
            <a:ext cx="1333195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9-text-19"/>
          <p:cNvSpPr txBox="1"/>
          <p:nvPr/>
        </p:nvSpPr>
        <p:spPr>
          <a:xfrm>
            <a:off x="8143646" y="2695651"/>
            <a:ext cx="118506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D6A43B"/>
                </a:solidFill>
                <a:latin typeface="Noto Sans Mono CJK SC"/>
              </a:rPr>
              <a:t>6 人工门禁</a:t>
            </a:r>
          </a:p>
        </p:txBody>
      </p:sp>
      <p:sp>
        <p:nvSpPr>
          <p:cNvPr id="21" name="h2p-9-box-20"/>
          <p:cNvSpPr/>
          <p:nvPr/>
        </p:nvSpPr>
        <p:spPr>
          <a:xfrm>
            <a:off x="9486900" y="2648102"/>
            <a:ext cx="1714500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2p-9-text-21"/>
          <p:cNvSpPr txBox="1"/>
          <p:nvPr/>
        </p:nvSpPr>
        <p:spPr>
          <a:xfrm>
            <a:off x="9572853" y="2695651"/>
            <a:ext cx="157368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7 经验沉淀</a:t>
            </a:r>
          </a:p>
        </p:txBody>
      </p:sp>
      <p:sp>
        <p:nvSpPr>
          <p:cNvPr id="23" name="h2p-9-text-22"/>
          <p:cNvSpPr txBox="1"/>
          <p:nvPr/>
        </p:nvSpPr>
        <p:spPr>
          <a:xfrm>
            <a:off x="914400" y="3086100"/>
            <a:ext cx="10551261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每项含输入、输出、触发、失败处理、安全边界与复用契约；真实 MCP 绑定当前未实现。</a:t>
            </a:r>
          </a:p>
        </p:txBody>
      </p:sp>
      <p:sp>
        <p:nvSpPr>
          <p:cNvPr id="24" name="h2p-9-box-23"/>
          <p:cNvSpPr/>
          <p:nvPr/>
        </p:nvSpPr>
        <p:spPr>
          <a:xfrm>
            <a:off x="685800" y="3638397"/>
            <a:ext cx="3504895" cy="2095804"/>
          </a:xfrm>
          <a:prstGeom prst="roundRect">
            <a:avLst>
              <a:gd name="adj" fmla="val 8180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2p-9-text-24"/>
          <p:cNvSpPr txBox="1"/>
          <p:nvPr/>
        </p:nvSpPr>
        <p:spPr>
          <a:xfrm>
            <a:off x="914400" y="3810304"/>
            <a:ext cx="1836115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426B86"/>
                </a:solidFill>
                <a:latin typeface="Noto Sans Mono CJK SC"/>
              </a:rPr>
              <a:t>工具契约 · HTTP / MCP 等价</a:t>
            </a:r>
          </a:p>
        </p:txBody>
      </p:sp>
      <p:sp>
        <p:nvSpPr>
          <p:cNvPr id="26" name="h2p-9-text-25"/>
          <p:cNvSpPr txBox="1"/>
          <p:nvPr/>
        </p:nvSpPr>
        <p:spPr>
          <a:xfrm>
            <a:off x="914400" y="4114800"/>
            <a:ext cx="3148279" cy="4005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同一 Schema 描述入参、出参、鉴权、幂等键、错误码与审计字段。</a:t>
            </a:r>
          </a:p>
        </p:txBody>
      </p:sp>
      <p:sp>
        <p:nvSpPr>
          <p:cNvPr id="27" name="h2p-9-text-26"/>
          <p:cNvSpPr txBox="1"/>
          <p:nvPr/>
        </p:nvSpPr>
        <p:spPr>
          <a:xfrm>
            <a:off x="914400" y="4762195"/>
            <a:ext cx="3148279" cy="4005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MCP、REST、内部适配器都走同一契约；契约即上下文。</a:t>
            </a:r>
          </a:p>
        </p:txBody>
      </p:sp>
      <p:sp>
        <p:nvSpPr>
          <p:cNvPr id="28" name="h2p-9-text-27"/>
          <p:cNvSpPr txBox="1"/>
          <p:nvPr/>
        </p:nvSpPr>
        <p:spPr>
          <a:xfrm>
            <a:off x="914400" y="5410504"/>
            <a:ext cx="2020824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426B86"/>
                </a:solidFill>
                <a:latin typeface="Noto Sans Mono CJK SC"/>
              </a:rPr>
              <a:t>示例：读配置 · 列变更 · 写回滚</a:t>
            </a:r>
          </a:p>
        </p:txBody>
      </p:sp>
      <p:sp>
        <p:nvSpPr>
          <p:cNvPr id="29" name="h2p-9-box-28"/>
          <p:cNvSpPr/>
          <p:nvPr/>
        </p:nvSpPr>
        <p:spPr>
          <a:xfrm>
            <a:off x="4343400" y="3638397"/>
            <a:ext cx="3504895" cy="2095804"/>
          </a:xfrm>
          <a:prstGeom prst="roundRect">
            <a:avLst>
              <a:gd name="adj" fmla="val 818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2p-9-text-29"/>
          <p:cNvSpPr txBox="1"/>
          <p:nvPr/>
        </p:nvSpPr>
        <p:spPr>
          <a:xfrm>
            <a:off x="4572000" y="3810304"/>
            <a:ext cx="1224381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共享状态 · 4 选 2</a:t>
            </a:r>
          </a:p>
        </p:txBody>
      </p:sp>
      <p:sp>
        <p:nvSpPr>
          <p:cNvPr id="31" name="h2p-9-text-30"/>
          <p:cNvSpPr txBox="1"/>
          <p:nvPr/>
        </p:nvSpPr>
        <p:spPr>
          <a:xfrm>
            <a:off x="4572000" y="4114800"/>
            <a:ext cx="3148279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选择 1 · 共享状态</a:t>
            </a:r>
          </a:p>
        </p:txBody>
      </p:sp>
      <p:sp>
        <p:nvSpPr>
          <p:cNvPr id="32" name="h2p-9-text-31"/>
          <p:cNvSpPr txBox="1"/>
          <p:nvPr/>
        </p:nvSpPr>
        <p:spPr>
          <a:xfrm>
            <a:off x="4572000" y="4343400"/>
            <a:ext cx="3148279" cy="4005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Project Dossier 作事实源，含样本、候选、Trace、审批。</a:t>
            </a:r>
          </a:p>
        </p:txBody>
      </p:sp>
      <p:sp>
        <p:nvSpPr>
          <p:cNvPr id="33" name="h2p-9-text-32"/>
          <p:cNvSpPr txBox="1"/>
          <p:nvPr/>
        </p:nvSpPr>
        <p:spPr>
          <a:xfrm>
            <a:off x="4572000" y="4800600"/>
            <a:ext cx="3148279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选择 2 · 轨迹可观测</a:t>
            </a:r>
          </a:p>
        </p:txBody>
      </p:sp>
      <p:sp>
        <p:nvSpPr>
          <p:cNvPr id="34" name="h2p-9-text-33"/>
          <p:cNvSpPr txBox="1"/>
          <p:nvPr/>
        </p:nvSpPr>
        <p:spPr>
          <a:xfrm>
            <a:off x="4572000" y="5029200"/>
            <a:ext cx="3148279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Step / Episode 级 Trace 可回放，保留来源与版本。</a:t>
            </a:r>
          </a:p>
        </p:txBody>
      </p:sp>
      <p:sp>
        <p:nvSpPr>
          <p:cNvPr id="35" name="h2p-9-box-34"/>
          <p:cNvSpPr/>
          <p:nvPr/>
        </p:nvSpPr>
        <p:spPr>
          <a:xfrm>
            <a:off x="8001000" y="3638397"/>
            <a:ext cx="3504895" cy="2095804"/>
          </a:xfrm>
          <a:prstGeom prst="roundRect">
            <a:avLst>
              <a:gd name="adj" fmla="val 8180"/>
            </a:avLst>
          </a:prstGeom>
          <a:solidFill>
            <a:srgbClr val="F8DDD4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h2p-9-text-35"/>
          <p:cNvSpPr txBox="1"/>
          <p:nvPr/>
        </p:nvSpPr>
        <p:spPr>
          <a:xfrm>
            <a:off x="8229600" y="3810304"/>
            <a:ext cx="544068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26B4B"/>
                </a:solidFill>
                <a:latin typeface="Noto Sans Mono CJK SC"/>
              </a:rPr>
              <a:t>风险门禁</a:t>
            </a:r>
          </a:p>
        </p:txBody>
      </p:sp>
      <p:sp>
        <p:nvSpPr>
          <p:cNvPr id="37" name="h2p-9-text-36"/>
          <p:cNvSpPr txBox="1"/>
          <p:nvPr/>
        </p:nvSpPr>
        <p:spPr>
          <a:xfrm>
            <a:off x="8229600" y="4114800"/>
            <a:ext cx="3148279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外部写入、真实发布、责任转移必须 Human 批准。</a:t>
            </a:r>
          </a:p>
        </p:txBody>
      </p:sp>
      <p:sp>
        <p:nvSpPr>
          <p:cNvPr id="38" name="h2p-9-text-37"/>
          <p:cNvSpPr txBox="1"/>
          <p:nvPr/>
        </p:nvSpPr>
        <p:spPr>
          <a:xfrm>
            <a:off x="8229600" y="4686300"/>
            <a:ext cx="3148279" cy="4005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无批准 = 拒绝执行 + 保留证据；不可逆操作默认拒绝。</a:t>
            </a:r>
          </a:p>
        </p:txBody>
      </p:sp>
      <p:sp>
        <p:nvSpPr>
          <p:cNvPr id="39" name="h2p-9-text-38"/>
          <p:cNvSpPr txBox="1"/>
          <p:nvPr/>
        </p:nvSpPr>
        <p:spPr>
          <a:xfrm>
            <a:off x="8229600" y="5257800"/>
            <a:ext cx="3148279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26B4B"/>
                </a:solidFill>
                <a:latin typeface="Noto Sans CJK SC"/>
              </a:rPr>
              <a:t>成功与失败使用同一 Trace 语义</a:t>
            </a:r>
          </a:p>
        </p:txBody>
      </p:sp>
      <p:sp>
        <p:nvSpPr>
          <p:cNvPr id="40" name="h2p-9-text-39"/>
          <p:cNvSpPr txBox="1"/>
          <p:nvPr/>
        </p:nvSpPr>
        <p:spPr>
          <a:xfrm>
            <a:off x="577900" y="5924397"/>
            <a:ext cx="11036808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契约先行：Skill 必选、HTTP/MCP 工具可选、共享状态与 Trace 必在。</a:t>
            </a:r>
          </a:p>
        </p:txBody>
      </p:sp>
      <p:sp>
        <p:nvSpPr>
          <p:cNvPr id="41" name="h2p-9-text-40"/>
          <p:cNvSpPr txBox="1"/>
          <p:nvPr/>
        </p:nvSpPr>
        <p:spPr>
          <a:xfrm>
            <a:off x="685800" y="6543446"/>
            <a:ext cx="176296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Skill / 工具 / 上下文</a:t>
            </a:r>
          </a:p>
        </p:txBody>
      </p:sp>
      <p:sp>
        <p:nvSpPr>
          <p:cNvPr id="42" name="h2p-9-text-41"/>
          <p:cNvSpPr txBox="1"/>
          <p:nvPr/>
        </p:nvSpPr>
        <p:spPr>
          <a:xfrm>
            <a:off x="10815523" y="6543446"/>
            <a:ext cx="747979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设计契约 ·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0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0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10 / 12 · 交付物</a:t>
            </a:r>
          </a:p>
        </p:txBody>
      </p:sp>
      <p:sp>
        <p:nvSpPr>
          <p:cNvPr id="4" name="h2p-10-text-3"/>
          <p:cNvSpPr txBox="1"/>
          <p:nvPr/>
        </p:nvSpPr>
        <p:spPr>
          <a:xfrm>
            <a:off x="685800" y="724204"/>
            <a:ext cx="11036808" cy="4398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4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150">
                <a:solidFill>
                  <a:srgbClr val="102A43"/>
                </a:solidFill>
                <a:latin typeface="Noto Sans CJK SC"/>
              </a:rPr>
              <a:t>交付 AgentSolutionPackage 与五种合法结果。</a:t>
            </a:r>
          </a:p>
        </p:txBody>
      </p:sp>
      <p:sp>
        <p:nvSpPr>
          <p:cNvPr id="5" name="h2p-10-text-4"/>
          <p:cNvSpPr txBox="1"/>
          <p:nvPr/>
        </p:nvSpPr>
        <p:spPr>
          <a:xfrm>
            <a:off x="705002" y="1410004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交付的不是 Prompt，而是可验收方案包；诚实拒绝也是合法交付。</a:t>
            </a:r>
          </a:p>
        </p:txBody>
      </p:sp>
      <p:sp>
        <p:nvSpPr>
          <p:cNvPr id="6" name="h2p-10-box-5"/>
          <p:cNvSpPr/>
          <p:nvPr/>
        </p:nvSpPr>
        <p:spPr>
          <a:xfrm>
            <a:off x="685800" y="1848002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0-box-6"/>
          <p:cNvSpPr/>
          <p:nvPr/>
        </p:nvSpPr>
        <p:spPr>
          <a:xfrm>
            <a:off x="685800" y="2152497"/>
            <a:ext cx="6476695" cy="3600907"/>
          </a:xfrm>
          <a:prstGeom prst="roundRect">
            <a:avLst>
              <a:gd name="adj" fmla="val 476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0-text-7"/>
          <p:cNvSpPr txBox="1"/>
          <p:nvPr/>
        </p:nvSpPr>
        <p:spPr>
          <a:xfrm>
            <a:off x="914400" y="2324404"/>
            <a:ext cx="1495958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AGENT SOLUTION PACKAGE</a:t>
            </a:r>
          </a:p>
        </p:txBody>
      </p:sp>
      <p:sp>
        <p:nvSpPr>
          <p:cNvPr id="9" name="h2p-10-text-8"/>
          <p:cNvSpPr txBox="1"/>
          <p:nvPr/>
        </p:nvSpPr>
        <p:spPr>
          <a:xfrm>
            <a:off x="914400" y="2628900"/>
            <a:ext cx="6179515" cy="235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80">
                <a:solidFill>
                  <a:srgbClr val="102A43"/>
                </a:solidFill>
                <a:latin typeface="Noto Sans CJK SC"/>
              </a:rPr>
              <a:t>方案包包含什么</a:t>
            </a:r>
          </a:p>
        </p:txBody>
      </p:sp>
      <p:sp>
        <p:nvSpPr>
          <p:cNvPr id="10" name="h2p-10-text-9"/>
          <p:cNvSpPr txBox="1"/>
          <p:nvPr/>
        </p:nvSpPr>
        <p:spPr>
          <a:xfrm>
            <a:off x="914400" y="3010204"/>
            <a:ext cx="291510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01 架构图</a:t>
            </a:r>
          </a:p>
        </p:txBody>
      </p:sp>
      <p:sp>
        <p:nvSpPr>
          <p:cNvPr id="11" name="h2p-10-text-10"/>
          <p:cNvSpPr txBox="1"/>
          <p:nvPr/>
        </p:nvSpPr>
        <p:spPr>
          <a:xfrm>
            <a:off x="914400" y="3238804"/>
            <a:ext cx="291510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能力、Agent、通信、共享范围、Human 门禁</a:t>
            </a:r>
          </a:p>
        </p:txBody>
      </p:sp>
      <p:sp>
        <p:nvSpPr>
          <p:cNvPr id="12" name="h2p-10-text-11"/>
          <p:cNvSpPr txBox="1"/>
          <p:nvPr/>
        </p:nvSpPr>
        <p:spPr>
          <a:xfrm>
            <a:off x="914400" y="3581704"/>
            <a:ext cx="291510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02 决策说明</a:t>
            </a:r>
          </a:p>
        </p:txBody>
      </p:sp>
      <p:sp>
        <p:nvSpPr>
          <p:cNvPr id="13" name="h2p-10-text-12"/>
          <p:cNvSpPr txBox="1"/>
          <p:nvPr/>
        </p:nvSpPr>
        <p:spPr>
          <a:xfrm>
            <a:off x="914400" y="3810304"/>
            <a:ext cx="291510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为什么这样拆、为什么不用更复杂方案</a:t>
            </a:r>
          </a:p>
        </p:txBody>
      </p:sp>
      <p:sp>
        <p:nvSpPr>
          <p:cNvPr id="14" name="h2p-10-text-13"/>
          <p:cNvSpPr txBox="1"/>
          <p:nvPr/>
        </p:nvSpPr>
        <p:spPr>
          <a:xfrm>
            <a:off x="914400" y="4153204"/>
            <a:ext cx="291510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03 证据包</a:t>
            </a:r>
          </a:p>
        </p:txBody>
      </p:sp>
      <p:sp>
        <p:nvSpPr>
          <p:cNvPr id="15" name="h2p-10-text-14"/>
          <p:cNvSpPr txBox="1"/>
          <p:nvPr/>
        </p:nvSpPr>
        <p:spPr>
          <a:xfrm>
            <a:off x="914400" y="4381804"/>
            <a:ext cx="291510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统一试验、Trace、失败与成本记录</a:t>
            </a:r>
          </a:p>
        </p:txBody>
      </p:sp>
      <p:sp>
        <p:nvSpPr>
          <p:cNvPr id="16" name="h2p-10-text-15"/>
          <p:cNvSpPr txBox="1"/>
          <p:nvPr/>
        </p:nvSpPr>
        <p:spPr>
          <a:xfrm>
            <a:off x="914400" y="4724704"/>
            <a:ext cx="291510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04 运行护栏</a:t>
            </a:r>
          </a:p>
        </p:txBody>
      </p:sp>
      <p:sp>
        <p:nvSpPr>
          <p:cNvPr id="17" name="h2p-10-text-16"/>
          <p:cNvSpPr txBox="1"/>
          <p:nvPr/>
        </p:nvSpPr>
        <p:spPr>
          <a:xfrm>
            <a:off x="914400" y="4953304"/>
            <a:ext cx="291510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权限、审批、预算、异常、回滚、责任边界</a:t>
            </a:r>
          </a:p>
        </p:txBody>
      </p:sp>
      <p:sp>
        <p:nvSpPr>
          <p:cNvPr id="18" name="h2p-10-text-17"/>
          <p:cNvSpPr txBox="1"/>
          <p:nvPr/>
        </p:nvSpPr>
        <p:spPr>
          <a:xfrm>
            <a:off x="4000500" y="3010204"/>
            <a:ext cx="2992831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可部署</a:t>
            </a:r>
          </a:p>
        </p:txBody>
      </p:sp>
      <p:sp>
        <p:nvSpPr>
          <p:cNvPr id="19" name="h2p-10-text-18"/>
          <p:cNvSpPr txBox="1"/>
          <p:nvPr/>
        </p:nvSpPr>
        <p:spPr>
          <a:xfrm>
            <a:off x="4000500" y="3295497"/>
            <a:ext cx="2992831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可复验</a:t>
            </a:r>
          </a:p>
        </p:txBody>
      </p:sp>
      <p:sp>
        <p:nvSpPr>
          <p:cNvPr id="20" name="h2p-10-text-19"/>
          <p:cNvSpPr txBox="1"/>
          <p:nvPr/>
        </p:nvSpPr>
        <p:spPr>
          <a:xfrm>
            <a:off x="4000500" y="3581704"/>
            <a:ext cx="2992831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可审计</a:t>
            </a:r>
          </a:p>
        </p:txBody>
      </p:sp>
      <p:sp>
        <p:nvSpPr>
          <p:cNvPr id="21" name="h2p-10-text-20"/>
          <p:cNvSpPr txBox="1"/>
          <p:nvPr/>
        </p:nvSpPr>
        <p:spPr>
          <a:xfrm>
            <a:off x="4000500" y="3866997"/>
            <a:ext cx="2992831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可回滚</a:t>
            </a:r>
          </a:p>
        </p:txBody>
      </p:sp>
      <p:sp>
        <p:nvSpPr>
          <p:cNvPr id="22" name="h2p-10-text-21"/>
          <p:cNvSpPr txBox="1"/>
          <p:nvPr/>
        </p:nvSpPr>
        <p:spPr>
          <a:xfrm>
            <a:off x="4000500" y="4153204"/>
            <a:ext cx="2992831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或诚实地说“别自动化”</a:t>
            </a:r>
          </a:p>
        </p:txBody>
      </p:sp>
      <p:sp>
        <p:nvSpPr>
          <p:cNvPr id="23" name="h2p-10-text-22"/>
          <p:cNvSpPr txBox="1"/>
          <p:nvPr/>
        </p:nvSpPr>
        <p:spPr>
          <a:xfrm>
            <a:off x="4000500" y="4724704"/>
            <a:ext cx="2992831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26B4B"/>
                </a:solidFill>
                <a:latin typeface="Noto Sans CJK SC"/>
              </a:rPr>
              <a:t>DeliveryDecision 必须有证据和适用边界</a:t>
            </a:r>
          </a:p>
        </p:txBody>
      </p:sp>
      <p:sp>
        <p:nvSpPr>
          <p:cNvPr id="24" name="h2p-10-box-23"/>
          <p:cNvSpPr/>
          <p:nvPr/>
        </p:nvSpPr>
        <p:spPr>
          <a:xfrm>
            <a:off x="7353604" y="2152497"/>
            <a:ext cx="4153204" cy="3600907"/>
          </a:xfrm>
          <a:prstGeom prst="roundRect">
            <a:avLst>
              <a:gd name="adj" fmla="val 4760"/>
            </a:avLst>
          </a:prstGeom>
          <a:solidFill>
            <a:srgbClr val="FFFFFF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2p-10-text-24"/>
          <p:cNvSpPr txBox="1"/>
          <p:nvPr/>
        </p:nvSpPr>
        <p:spPr>
          <a:xfrm>
            <a:off x="7582204" y="2324404"/>
            <a:ext cx="816559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五种合法结果</a:t>
            </a:r>
          </a:p>
        </p:txBody>
      </p:sp>
      <p:sp>
        <p:nvSpPr>
          <p:cNvPr id="26" name="h2p-10-box-25"/>
          <p:cNvSpPr/>
          <p:nvPr/>
        </p:nvSpPr>
        <p:spPr>
          <a:xfrm>
            <a:off x="7582204" y="2686507"/>
            <a:ext cx="3696004" cy="495604"/>
          </a:xfrm>
          <a:prstGeom prst="roundRect">
            <a:avLst>
              <a:gd name="adj" fmla="val 3462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2p-10-text-26"/>
          <p:cNvSpPr txBox="1"/>
          <p:nvPr/>
        </p:nvSpPr>
        <p:spPr>
          <a:xfrm>
            <a:off x="7733995" y="2799892"/>
            <a:ext cx="349758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01 全自动方案</a:t>
            </a:r>
          </a:p>
        </p:txBody>
      </p:sp>
      <p:sp>
        <p:nvSpPr>
          <p:cNvPr id="28" name="h2p-10-box-27"/>
          <p:cNvSpPr/>
          <p:nvPr/>
        </p:nvSpPr>
        <p:spPr>
          <a:xfrm>
            <a:off x="7582204" y="3295497"/>
            <a:ext cx="3696004" cy="495604"/>
          </a:xfrm>
          <a:prstGeom prst="roundRect">
            <a:avLst>
              <a:gd name="adj" fmla="val 3462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2p-10-text-28"/>
          <p:cNvSpPr txBox="1"/>
          <p:nvPr/>
        </p:nvSpPr>
        <p:spPr>
          <a:xfrm>
            <a:off x="7733995" y="3409797"/>
            <a:ext cx="349758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02 部分自动化方案</a:t>
            </a:r>
          </a:p>
        </p:txBody>
      </p:sp>
      <p:sp>
        <p:nvSpPr>
          <p:cNvPr id="30" name="h2p-10-box-29"/>
          <p:cNvSpPr/>
          <p:nvPr/>
        </p:nvSpPr>
        <p:spPr>
          <a:xfrm>
            <a:off x="7582204" y="3905402"/>
            <a:ext cx="3696004" cy="495604"/>
          </a:xfrm>
          <a:prstGeom prst="roundRect">
            <a:avLst>
              <a:gd name="adj" fmla="val 3462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2p-10-text-30"/>
          <p:cNvSpPr txBox="1"/>
          <p:nvPr/>
        </p:nvSpPr>
        <p:spPr>
          <a:xfrm>
            <a:off x="7733995" y="4019702"/>
            <a:ext cx="349758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03 降级方案</a:t>
            </a:r>
          </a:p>
        </p:txBody>
      </p:sp>
      <p:sp>
        <p:nvSpPr>
          <p:cNvPr id="32" name="h2p-10-box-31"/>
          <p:cNvSpPr/>
          <p:nvPr/>
        </p:nvSpPr>
        <p:spPr>
          <a:xfrm>
            <a:off x="7582204" y="4515307"/>
            <a:ext cx="3696004" cy="495604"/>
          </a:xfrm>
          <a:prstGeom prst="roundRect">
            <a:avLst>
              <a:gd name="adj" fmla="val 3462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2p-10-text-32"/>
          <p:cNvSpPr txBox="1"/>
          <p:nvPr/>
        </p:nvSpPr>
        <p:spPr>
          <a:xfrm>
            <a:off x="7733995" y="4628692"/>
            <a:ext cx="349758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04 保留人工</a:t>
            </a:r>
          </a:p>
        </p:txBody>
      </p:sp>
      <p:sp>
        <p:nvSpPr>
          <p:cNvPr id="34" name="h2p-10-box-33"/>
          <p:cNvSpPr/>
          <p:nvPr/>
        </p:nvSpPr>
        <p:spPr>
          <a:xfrm>
            <a:off x="7582204" y="5124297"/>
            <a:ext cx="3696004" cy="495604"/>
          </a:xfrm>
          <a:prstGeom prst="roundRect">
            <a:avLst>
              <a:gd name="adj" fmla="val 34620"/>
            </a:avLst>
          </a:prstGeom>
          <a:solidFill>
            <a:srgbClr val="F8DDD4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2p-10-text-34"/>
          <p:cNvSpPr txBox="1"/>
          <p:nvPr/>
        </p:nvSpPr>
        <p:spPr>
          <a:xfrm>
            <a:off x="7733995" y="5238597"/>
            <a:ext cx="349758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05 拒绝自动化（有证据）</a:t>
            </a:r>
          </a:p>
        </p:txBody>
      </p:sp>
      <p:sp>
        <p:nvSpPr>
          <p:cNvPr id="36" name="h2p-10-text-35"/>
          <p:cNvSpPr txBox="1"/>
          <p:nvPr/>
        </p:nvSpPr>
        <p:spPr>
          <a:xfrm>
            <a:off x="577900" y="5924397"/>
            <a:ext cx="11036808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当前证据不足，无法给出 01–04；本轮结论是 requires_runtime_trial。</a:t>
            </a:r>
          </a:p>
        </p:txBody>
      </p:sp>
      <p:sp>
        <p:nvSpPr>
          <p:cNvPr id="37" name="h2p-10-text-36"/>
          <p:cNvSpPr txBox="1"/>
          <p:nvPr/>
        </p:nvSpPr>
        <p:spPr>
          <a:xfrm>
            <a:off x="685800" y="6543446"/>
            <a:ext cx="96194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方案包</a:t>
            </a:r>
          </a:p>
        </p:txBody>
      </p:sp>
      <p:sp>
        <p:nvSpPr>
          <p:cNvPr id="38" name="h2p-10-text-37"/>
          <p:cNvSpPr txBox="1"/>
          <p:nvPr/>
        </p:nvSpPr>
        <p:spPr>
          <a:xfrm>
            <a:off x="10708538" y="6543446"/>
            <a:ext cx="854964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可验收交付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1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1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11 / 12 · 当前进展</a:t>
            </a:r>
          </a:p>
        </p:txBody>
      </p:sp>
      <p:sp>
        <p:nvSpPr>
          <p:cNvPr id="4" name="h2p-11-text-3"/>
          <p:cNvSpPr txBox="1"/>
          <p:nvPr/>
        </p:nvSpPr>
        <p:spPr>
          <a:xfrm>
            <a:off x="685800" y="724204"/>
            <a:ext cx="11036808" cy="4398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4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150">
                <a:solidFill>
                  <a:srgbClr val="102A43"/>
                </a:solidFill>
                <a:latin typeface="Noto Sans CJK SC"/>
              </a:rPr>
              <a:t>证据账本：baseline 已代码级审计，候选对照仍待运行。</a:t>
            </a:r>
          </a:p>
        </p:txBody>
      </p:sp>
      <p:sp>
        <p:nvSpPr>
          <p:cNvPr id="5" name="h2p-11-text-4"/>
          <p:cNvSpPr txBox="1"/>
          <p:nvPr/>
        </p:nvSpPr>
        <p:spPr>
          <a:xfrm>
            <a:off x="705002" y="1410004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把已完成、已 smoke 和仍待运行分开；不让设计模拟冒充运行证据。</a:t>
            </a:r>
          </a:p>
        </p:txBody>
      </p:sp>
      <p:sp>
        <p:nvSpPr>
          <p:cNvPr id="6" name="h2p-11-box-5"/>
          <p:cNvSpPr/>
          <p:nvPr/>
        </p:nvSpPr>
        <p:spPr>
          <a:xfrm>
            <a:off x="685800" y="1848002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1-box-6"/>
          <p:cNvSpPr/>
          <p:nvPr/>
        </p:nvSpPr>
        <p:spPr>
          <a:xfrm>
            <a:off x="685800" y="2152497"/>
            <a:ext cx="3504895" cy="3504895"/>
          </a:xfrm>
          <a:prstGeom prst="roundRect">
            <a:avLst>
              <a:gd name="adj" fmla="val 489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1-text-7"/>
          <p:cNvSpPr txBox="1"/>
          <p:nvPr/>
        </p:nvSpPr>
        <p:spPr>
          <a:xfrm>
            <a:off x="914400" y="2324404"/>
            <a:ext cx="102047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READY · 已完成</a:t>
            </a:r>
          </a:p>
        </p:txBody>
      </p:sp>
      <p:sp>
        <p:nvSpPr>
          <p:cNvPr id="9" name="h2p-11-text-8"/>
          <p:cNvSpPr txBox="1"/>
          <p:nvPr/>
        </p:nvSpPr>
        <p:spPr>
          <a:xfrm>
            <a:off x="914400" y="2628900"/>
            <a:ext cx="3148279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102A43"/>
                </a:solidFill>
                <a:latin typeface="Noto Sans CJK SC"/>
              </a:rPr>
              <a:t>baseline 已代码级审计</a:t>
            </a:r>
          </a:p>
        </p:txBody>
      </p:sp>
      <p:sp>
        <p:nvSpPr>
          <p:cNvPr id="10" name="h2p-11-text-9"/>
          <p:cNvSpPr txBox="1"/>
          <p:nvPr/>
        </p:nvSpPr>
        <p:spPr>
          <a:xfrm>
            <a:off x="914400" y="3047695"/>
            <a:ext cx="3148279" cy="4005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OpsPilot Zero 的结构、7 个业务执行 Agent、事故样本与工具契约已逐项核验。</a:t>
            </a:r>
          </a:p>
        </p:txBody>
      </p:sp>
      <p:sp>
        <p:nvSpPr>
          <p:cNvPr id="11" name="h2p-11-text-10"/>
          <p:cNvSpPr txBox="1"/>
          <p:nvPr/>
        </p:nvSpPr>
        <p:spPr>
          <a:xfrm>
            <a:off x="914400" y="3924604"/>
            <a:ext cx="3148279" cy="4005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AgentFit 方法、五元 Identity、七个 Skill、风险门禁契约已收敛。</a:t>
            </a:r>
          </a:p>
        </p:txBody>
      </p:sp>
      <p:sp>
        <p:nvSpPr>
          <p:cNvPr id="12" name="h2p-11-text-11"/>
          <p:cNvSpPr txBox="1"/>
          <p:nvPr/>
        </p:nvSpPr>
        <p:spPr>
          <a:xfrm>
            <a:off x="914400" y="4610404"/>
            <a:ext cx="3148279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CJK SC"/>
              </a:rPr>
              <a:t>证据：仓库文档与本套生成链</a:t>
            </a:r>
          </a:p>
        </p:txBody>
      </p:sp>
      <p:sp>
        <p:nvSpPr>
          <p:cNvPr id="13" name="h2p-11-box-12"/>
          <p:cNvSpPr/>
          <p:nvPr/>
        </p:nvSpPr>
        <p:spPr>
          <a:xfrm>
            <a:off x="4343400" y="2152497"/>
            <a:ext cx="3504895" cy="3504895"/>
          </a:xfrm>
          <a:prstGeom prst="roundRect">
            <a:avLst>
              <a:gd name="adj" fmla="val 489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11-text-13"/>
          <p:cNvSpPr txBox="1"/>
          <p:nvPr/>
        </p:nvSpPr>
        <p:spPr>
          <a:xfrm>
            <a:off x="4572000" y="2324404"/>
            <a:ext cx="1564538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Mono CJK SC"/>
              </a:rPr>
              <a:t>SMOKE · 平台已单独试用</a:t>
            </a:r>
          </a:p>
        </p:txBody>
      </p:sp>
      <p:sp>
        <p:nvSpPr>
          <p:cNvPr id="15" name="h2p-11-text-14"/>
          <p:cNvSpPr txBox="1"/>
          <p:nvPr/>
        </p:nvSpPr>
        <p:spPr>
          <a:xfrm>
            <a:off x="4572000" y="2628900"/>
            <a:ext cx="3148279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102A43"/>
                </a:solidFill>
                <a:latin typeface="Noto Sans CJK SC"/>
              </a:rPr>
              <a:t>AgentTeams 底座能力</a:t>
            </a:r>
          </a:p>
        </p:txBody>
      </p:sp>
      <p:sp>
        <p:nvSpPr>
          <p:cNvPr id="16" name="h2p-11-text-15"/>
          <p:cNvSpPr txBox="1"/>
          <p:nvPr/>
        </p:nvSpPr>
        <p:spPr>
          <a:xfrm>
            <a:off x="4572000" y="3047695"/>
            <a:ext cx="3148279" cy="4005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Worker、Team、Human、文件同步、定时任务等曾被单独 smoke。</a:t>
            </a:r>
          </a:p>
        </p:txBody>
      </p:sp>
      <p:sp>
        <p:nvSpPr>
          <p:cNvPr id="17" name="h2p-11-text-16"/>
          <p:cNvSpPr txBox="1"/>
          <p:nvPr/>
        </p:nvSpPr>
        <p:spPr>
          <a:xfrm>
            <a:off x="4572000" y="3771900"/>
            <a:ext cx="3148279" cy="4005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只证明平台能力，不等于 AgentFit 已集成或已跑通。</a:t>
            </a:r>
          </a:p>
        </p:txBody>
      </p:sp>
      <p:sp>
        <p:nvSpPr>
          <p:cNvPr id="18" name="h2p-11-text-17"/>
          <p:cNvSpPr txBox="1"/>
          <p:nvPr/>
        </p:nvSpPr>
        <p:spPr>
          <a:xfrm>
            <a:off x="4572000" y="4610404"/>
            <a:ext cx="3148279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CJK SC"/>
              </a:rPr>
              <a:t>非 AgentFit 运行证据</a:t>
            </a:r>
          </a:p>
        </p:txBody>
      </p:sp>
      <p:sp>
        <p:nvSpPr>
          <p:cNvPr id="19" name="h2p-11-box-18"/>
          <p:cNvSpPr/>
          <p:nvPr/>
        </p:nvSpPr>
        <p:spPr>
          <a:xfrm>
            <a:off x="8001000" y="2152497"/>
            <a:ext cx="3504895" cy="3504895"/>
          </a:xfrm>
          <a:prstGeom prst="roundRect">
            <a:avLst>
              <a:gd name="adj" fmla="val 4890"/>
            </a:avLst>
          </a:prstGeom>
          <a:solidFill>
            <a:srgbClr val="F8DDD4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11-text-19"/>
          <p:cNvSpPr txBox="1"/>
          <p:nvPr/>
        </p:nvSpPr>
        <p:spPr>
          <a:xfrm>
            <a:off x="8229600" y="2324404"/>
            <a:ext cx="1564538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26B4B"/>
                </a:solidFill>
                <a:latin typeface="Noto Sans Mono CJK SC"/>
              </a:rPr>
              <a:t>NOT STARTED · 仍待运行</a:t>
            </a:r>
          </a:p>
        </p:txBody>
      </p:sp>
      <p:sp>
        <p:nvSpPr>
          <p:cNvPr id="21" name="h2p-11-text-20"/>
          <p:cNvSpPr txBox="1"/>
          <p:nvPr/>
        </p:nvSpPr>
        <p:spPr>
          <a:xfrm>
            <a:off x="8229600" y="2628900"/>
            <a:ext cx="3148279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102A43"/>
                </a:solidFill>
                <a:latin typeface="Noto Sans CJK SC"/>
              </a:rPr>
              <a:t>AgentFit 运行闭环</a:t>
            </a:r>
          </a:p>
        </p:txBody>
      </p:sp>
      <p:sp>
        <p:nvSpPr>
          <p:cNvPr id="22" name="h2p-11-text-21"/>
          <p:cNvSpPr txBox="1"/>
          <p:nvPr/>
        </p:nvSpPr>
        <p:spPr>
          <a:xfrm>
            <a:off x="8229600" y="3047695"/>
            <a:ext cx="3148279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冻结首个 ProjectCase。</a:t>
            </a:r>
          </a:p>
        </p:txBody>
      </p:sp>
      <p:sp>
        <p:nvSpPr>
          <p:cNvPr id="23" name="h2p-11-text-22"/>
          <p:cNvSpPr txBox="1"/>
          <p:nvPr/>
        </p:nvSpPr>
        <p:spPr>
          <a:xfrm>
            <a:off x="8229600" y="3353104"/>
            <a:ext cx="3148279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五元 Agent 在 AgentTeams 实例化。</a:t>
            </a:r>
          </a:p>
        </p:txBody>
      </p:sp>
      <p:sp>
        <p:nvSpPr>
          <p:cNvPr id="24" name="h2p-11-text-23"/>
          <p:cNvSpPr txBox="1"/>
          <p:nvPr/>
        </p:nvSpPr>
        <p:spPr>
          <a:xfrm>
            <a:off x="8229600" y="3657600"/>
            <a:ext cx="3148279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统一预算下的 C0/C1/C2/C3 对照。</a:t>
            </a:r>
          </a:p>
        </p:txBody>
      </p:sp>
      <p:sp>
        <p:nvSpPr>
          <p:cNvPr id="25" name="h2p-11-text-24"/>
          <p:cNvSpPr txBox="1"/>
          <p:nvPr/>
        </p:nvSpPr>
        <p:spPr>
          <a:xfrm>
            <a:off x="8229600" y="3962095"/>
            <a:ext cx="3148279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真实 Episode、Trace 与失败/降级证据。</a:t>
            </a:r>
          </a:p>
        </p:txBody>
      </p:sp>
      <p:sp>
        <p:nvSpPr>
          <p:cNvPr id="26" name="h2p-11-text-25"/>
          <p:cNvSpPr txBox="1"/>
          <p:nvPr/>
        </p:nvSpPr>
        <p:spPr>
          <a:xfrm>
            <a:off x="8229600" y="4610404"/>
            <a:ext cx="3148279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26B4B"/>
                </a:solidFill>
                <a:latin typeface="Noto Sans CJK SC"/>
              </a:rPr>
              <a:t>证据待补 · 不伪装完成</a:t>
            </a:r>
          </a:p>
        </p:txBody>
      </p:sp>
      <p:sp>
        <p:nvSpPr>
          <p:cNvPr id="27" name="h2p-11-text-26"/>
          <p:cNvSpPr txBox="1"/>
          <p:nvPr/>
        </p:nvSpPr>
        <p:spPr>
          <a:xfrm>
            <a:off x="577900" y="5867704"/>
            <a:ext cx="11036808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下一门禁：冻结首个 ProjectCase → 在 AgentTeams 跑真实候选 → 审计并替换本页。</a:t>
            </a:r>
          </a:p>
        </p:txBody>
      </p:sp>
      <p:sp>
        <p:nvSpPr>
          <p:cNvPr id="28" name="h2p-11-text-27"/>
          <p:cNvSpPr txBox="1"/>
          <p:nvPr/>
        </p:nvSpPr>
        <p:spPr>
          <a:xfrm>
            <a:off x="685800" y="6543446"/>
            <a:ext cx="106893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证据账本</a:t>
            </a:r>
          </a:p>
        </p:txBody>
      </p:sp>
      <p:sp>
        <p:nvSpPr>
          <p:cNvPr id="29" name="h2p-11-text-28"/>
          <p:cNvSpPr txBox="1"/>
          <p:nvPr/>
        </p:nvSpPr>
        <p:spPr>
          <a:xfrm>
            <a:off x="10387584" y="6543446"/>
            <a:ext cx="117591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候选对照仍待运行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2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2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12 / 12 · 结论</a:t>
            </a:r>
          </a:p>
        </p:txBody>
      </p:sp>
      <p:sp>
        <p:nvSpPr>
          <p:cNvPr id="4" name="h2p-12-text-3"/>
          <p:cNvSpPr txBox="1"/>
          <p:nvPr/>
        </p:nvSpPr>
        <p:spPr>
          <a:xfrm>
            <a:off x="685800" y="724204"/>
            <a:ext cx="1103680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600">
                <a:solidFill>
                  <a:srgbClr val="FFFFFF"/>
                </a:solidFill>
                <a:latin typeface="Noto Sans CJK SC"/>
              </a:rPr>
              <a:t>Fit：不是更多 Agent，而是有证据选对方案。</a:t>
            </a:r>
          </a:p>
        </p:txBody>
      </p:sp>
      <p:sp>
        <p:nvSpPr>
          <p:cNvPr id="5" name="h2p-12-text-4"/>
          <p:cNvSpPr txBox="1"/>
          <p:nvPr/>
        </p:nvSpPr>
        <p:spPr>
          <a:xfrm>
            <a:off x="705002" y="1428292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C6D3DD"/>
                </a:solidFill>
                <a:latin typeface="Noto Sans CJK SC"/>
              </a:rPr>
              <a:t>企业缺的是决定该不该用、用几个、如何验收的方案工程层。</a:t>
            </a:r>
          </a:p>
        </p:txBody>
      </p:sp>
      <p:sp>
        <p:nvSpPr>
          <p:cNvPr id="6" name="h2p-12-box-5"/>
          <p:cNvSpPr/>
          <p:nvPr/>
        </p:nvSpPr>
        <p:spPr>
          <a:xfrm>
            <a:off x="685800" y="1848002"/>
            <a:ext cx="10820095" cy="19202"/>
          </a:xfrm>
          <a:prstGeom prst="rect">
            <a:avLst/>
          </a:prstGeom>
          <a:solidFill>
            <a:srgbClr val="285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2-box-6"/>
          <p:cNvSpPr/>
          <p:nvPr/>
        </p:nvSpPr>
        <p:spPr>
          <a:xfrm>
            <a:off x="685800" y="2171700"/>
            <a:ext cx="3504895" cy="2857500"/>
          </a:xfrm>
          <a:prstGeom prst="roundRect">
            <a:avLst>
              <a:gd name="adj" fmla="val 6000"/>
            </a:avLst>
          </a:prstGeom>
          <a:solidFill>
            <a:srgbClr val="132F47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2-text-7"/>
          <p:cNvSpPr txBox="1"/>
          <p:nvPr/>
        </p:nvSpPr>
        <p:spPr>
          <a:xfrm>
            <a:off x="914400" y="2400300"/>
            <a:ext cx="388620" cy="381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000">
                <a:solidFill>
                  <a:srgbClr val="74D0C7"/>
                </a:solidFill>
                <a:latin typeface="Noto Sans Mono CJK SC"/>
              </a:rPr>
              <a:t>01</a:t>
            </a:r>
          </a:p>
        </p:txBody>
      </p:sp>
      <p:sp>
        <p:nvSpPr>
          <p:cNvPr id="9" name="h2p-12-text-8"/>
          <p:cNvSpPr txBox="1"/>
          <p:nvPr/>
        </p:nvSpPr>
        <p:spPr>
          <a:xfrm>
            <a:off x="914400" y="2971800"/>
            <a:ext cx="427939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50">
                <a:solidFill>
                  <a:srgbClr val="FFFFFF"/>
                </a:solidFill>
                <a:latin typeface="Noto Sans CJK SC"/>
              </a:rPr>
              <a:t>问题</a:t>
            </a:r>
          </a:p>
        </p:txBody>
      </p:sp>
      <p:sp>
        <p:nvSpPr>
          <p:cNvPr id="10" name="h2p-12-text-9"/>
          <p:cNvSpPr txBox="1"/>
          <p:nvPr/>
        </p:nvSpPr>
        <p:spPr>
          <a:xfrm>
            <a:off x="914400" y="3353104"/>
            <a:ext cx="3148279" cy="728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C6D3DD"/>
                </a:solidFill>
                <a:latin typeface="Noto Sans CJK SC"/>
              </a:rPr>
              <a:t>用 OpsPilot baseline 作首个 ProjectCase，把“该用几个 Agent”变成可比较问题。</a:t>
            </a:r>
          </a:p>
        </p:txBody>
      </p:sp>
      <p:sp>
        <p:nvSpPr>
          <p:cNvPr id="11" name="h2p-12-box-10"/>
          <p:cNvSpPr/>
          <p:nvPr/>
        </p:nvSpPr>
        <p:spPr>
          <a:xfrm>
            <a:off x="4343400" y="2171700"/>
            <a:ext cx="3504895" cy="2857500"/>
          </a:xfrm>
          <a:prstGeom prst="roundRect">
            <a:avLst>
              <a:gd name="adj" fmla="val 6000"/>
            </a:avLst>
          </a:prstGeom>
          <a:solidFill>
            <a:srgbClr val="132F47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2p-12-text-11"/>
          <p:cNvSpPr txBox="1"/>
          <p:nvPr/>
        </p:nvSpPr>
        <p:spPr>
          <a:xfrm>
            <a:off x="4572000" y="2400300"/>
            <a:ext cx="388620" cy="381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000">
                <a:solidFill>
                  <a:srgbClr val="74A8C6"/>
                </a:solidFill>
                <a:latin typeface="Noto Sans Mono CJK SC"/>
              </a:rPr>
              <a:t>02</a:t>
            </a:r>
          </a:p>
        </p:txBody>
      </p:sp>
      <p:sp>
        <p:nvSpPr>
          <p:cNvPr id="13" name="h2p-12-text-12"/>
          <p:cNvSpPr txBox="1"/>
          <p:nvPr/>
        </p:nvSpPr>
        <p:spPr>
          <a:xfrm>
            <a:off x="4572000" y="2971800"/>
            <a:ext cx="427939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50">
                <a:solidFill>
                  <a:srgbClr val="FFFFFF"/>
                </a:solidFill>
                <a:latin typeface="Noto Sans CJK SC"/>
              </a:rPr>
              <a:t>方法</a:t>
            </a:r>
          </a:p>
        </p:txBody>
      </p:sp>
      <p:sp>
        <p:nvSpPr>
          <p:cNvPr id="14" name="h2p-12-text-13"/>
          <p:cNvSpPr txBox="1"/>
          <p:nvPr/>
        </p:nvSpPr>
        <p:spPr>
          <a:xfrm>
            <a:off x="4572000" y="3353104"/>
            <a:ext cx="3148279" cy="4855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C6D3DD"/>
                </a:solidFill>
                <a:latin typeface="Noto Sans CJK SC"/>
              </a:rPr>
              <a:t>样本语义 + 任务语义 + 能力语义 + 候选比较 + 统一评测；前四页不谈 ML/NAS。</a:t>
            </a:r>
          </a:p>
        </p:txBody>
      </p:sp>
      <p:sp>
        <p:nvSpPr>
          <p:cNvPr id="15" name="h2p-12-box-14"/>
          <p:cNvSpPr/>
          <p:nvPr/>
        </p:nvSpPr>
        <p:spPr>
          <a:xfrm>
            <a:off x="8001000" y="2171700"/>
            <a:ext cx="3504895" cy="2857500"/>
          </a:xfrm>
          <a:prstGeom prst="roundRect">
            <a:avLst>
              <a:gd name="adj" fmla="val 6000"/>
            </a:avLst>
          </a:prstGeom>
          <a:solidFill>
            <a:srgbClr val="132F47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2p-12-text-15"/>
          <p:cNvSpPr txBox="1"/>
          <p:nvPr/>
        </p:nvSpPr>
        <p:spPr>
          <a:xfrm>
            <a:off x="8229600" y="2400300"/>
            <a:ext cx="388620" cy="381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000">
                <a:solidFill>
                  <a:srgbClr val="D6A43B"/>
                </a:solidFill>
                <a:latin typeface="Noto Sans Mono CJK SC"/>
              </a:rPr>
              <a:t>03</a:t>
            </a:r>
          </a:p>
        </p:txBody>
      </p:sp>
      <p:sp>
        <p:nvSpPr>
          <p:cNvPr id="17" name="h2p-12-text-16"/>
          <p:cNvSpPr txBox="1"/>
          <p:nvPr/>
        </p:nvSpPr>
        <p:spPr>
          <a:xfrm>
            <a:off x="8229600" y="2971800"/>
            <a:ext cx="427939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50">
                <a:solidFill>
                  <a:srgbClr val="FFFFFF"/>
                </a:solidFill>
                <a:latin typeface="Noto Sans CJK SC"/>
              </a:rPr>
              <a:t>诚实</a:t>
            </a:r>
          </a:p>
        </p:txBody>
      </p:sp>
      <p:sp>
        <p:nvSpPr>
          <p:cNvPr id="18" name="h2p-12-text-17"/>
          <p:cNvSpPr txBox="1"/>
          <p:nvPr/>
        </p:nvSpPr>
        <p:spPr>
          <a:xfrm>
            <a:off x="8229600" y="3353104"/>
            <a:ext cx="3148279" cy="4855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C6D3DD"/>
                </a:solidFill>
                <a:latin typeface="Noto Sans CJK SC"/>
              </a:rPr>
              <a:t>五元团队、候选对照与 Trace 仍待真实运行；本轮结论 requires_runtime_trial。</a:t>
            </a:r>
          </a:p>
        </p:txBody>
      </p:sp>
      <p:sp>
        <p:nvSpPr>
          <p:cNvPr id="19" name="h2p-12-box-18"/>
          <p:cNvSpPr/>
          <p:nvPr/>
        </p:nvSpPr>
        <p:spPr>
          <a:xfrm>
            <a:off x="4476902" y="5296204"/>
            <a:ext cx="3238804" cy="800100"/>
          </a:xfrm>
          <a:prstGeom prst="roundRect">
            <a:avLst>
              <a:gd name="adj" fmla="val 19050"/>
            </a:avLst>
          </a:prstGeom>
          <a:solidFill>
            <a:srgbClr val="132F47"/>
          </a:solidFill>
          <a:ln w="3810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12-text-19"/>
          <p:cNvSpPr txBox="1"/>
          <p:nvPr/>
        </p:nvSpPr>
        <p:spPr>
          <a:xfrm>
            <a:off x="4599432" y="5543092"/>
            <a:ext cx="2992831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800">
                <a:solidFill>
                  <a:srgbClr val="74D0C7"/>
                </a:solidFill>
                <a:latin typeface="Noto Sans Mono CJK SC"/>
              </a:rPr>
              <a:t>JUST ENOUGH · PROVEN</a:t>
            </a:r>
          </a:p>
        </p:txBody>
      </p:sp>
      <p:sp>
        <p:nvSpPr>
          <p:cNvPr id="21" name="h2p-12-text-20"/>
          <p:cNvSpPr txBox="1"/>
          <p:nvPr/>
        </p:nvSpPr>
        <p:spPr>
          <a:xfrm>
            <a:off x="577900" y="6286500"/>
            <a:ext cx="11036808" cy="2569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FFFFFF"/>
                </a:solidFill>
                <a:latin typeface="Noto Sans CJK SC"/>
              </a:rPr>
              <a:t>下一步：冻结 ProjectCase，在 AgentTeams 上跑出第一份真实证据。</a:t>
            </a:r>
          </a:p>
        </p:txBody>
      </p:sp>
      <p:sp>
        <p:nvSpPr>
          <p:cNvPr id="22" name="h2p-12-text-21"/>
          <p:cNvSpPr txBox="1"/>
          <p:nvPr/>
        </p:nvSpPr>
        <p:spPr>
          <a:xfrm>
            <a:off x="685800" y="6543446"/>
            <a:ext cx="149595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8FA6B9"/>
                </a:solidFill>
                <a:latin typeface="Noto Sans Mono CJK SC"/>
              </a:rPr>
              <a:t>AGENTFIT · GOAI AGENT INFRA</a:t>
            </a:r>
          </a:p>
        </p:txBody>
      </p:sp>
      <p:sp>
        <p:nvSpPr>
          <p:cNvPr id="23" name="h2p-12-text-22"/>
          <p:cNvSpPr txBox="1"/>
          <p:nvPr/>
        </p:nvSpPr>
        <p:spPr>
          <a:xfrm>
            <a:off x="11082528" y="6543446"/>
            <a:ext cx="480974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8FA6B9"/>
                </a:solidFill>
                <a:latin typeface="Noto Sans Mono CJK SC"/>
              </a:rPr>
              <a:t>Fit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3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3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A1 / 05 · 技术映射</a:t>
            </a:r>
          </a:p>
        </p:txBody>
      </p:sp>
      <p:sp>
        <p:nvSpPr>
          <p:cNvPr id="4" name="h2p-13-text-3"/>
          <p:cNvSpPr txBox="1"/>
          <p:nvPr/>
        </p:nvSpPr>
        <p:spPr>
          <a:xfrm>
            <a:off x="685800" y="666597"/>
            <a:ext cx="11036808" cy="3767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700">
                <a:solidFill>
                  <a:srgbClr val="102A43"/>
                </a:solidFill>
                <a:latin typeface="Noto Sans CJK SC"/>
              </a:rPr>
              <a:t>候选表示与搜索规则：不让 ML/NAS 抢主线。</a:t>
            </a:r>
          </a:p>
        </p:txBody>
      </p:sp>
      <p:sp>
        <p:nvSpPr>
          <p:cNvPr id="5" name="h2p-13-text-4"/>
          <p:cNvSpPr txBox="1"/>
          <p:nvPr/>
        </p:nvSpPr>
        <p:spPr>
          <a:xfrm>
            <a:off x="705002" y="1257300"/>
            <a:ext cx="1049274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53697C"/>
                </a:solidFill>
                <a:latin typeface="Noto Sans CJK SC"/>
              </a:rPr>
              <a:t>主线是方案选择；公式与七层映射只是后台手段，全部压在附录。</a:t>
            </a:r>
          </a:p>
        </p:txBody>
      </p:sp>
      <p:sp>
        <p:nvSpPr>
          <p:cNvPr id="6" name="h2p-13-box-5"/>
          <p:cNvSpPr/>
          <p:nvPr/>
        </p:nvSpPr>
        <p:spPr>
          <a:xfrm>
            <a:off x="685800" y="1695297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3-box-6"/>
          <p:cNvSpPr/>
          <p:nvPr/>
        </p:nvSpPr>
        <p:spPr>
          <a:xfrm>
            <a:off x="685800" y="1962302"/>
            <a:ext cx="5296204" cy="3238804"/>
          </a:xfrm>
          <a:prstGeom prst="roundRect">
            <a:avLst>
              <a:gd name="adj" fmla="val 529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3-text-7"/>
          <p:cNvSpPr txBox="1"/>
          <p:nvPr/>
        </p:nvSpPr>
        <p:spPr>
          <a:xfrm>
            <a:off x="914400" y="2114092"/>
            <a:ext cx="816559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极简候选表示</a:t>
            </a:r>
          </a:p>
        </p:txBody>
      </p:sp>
      <p:sp>
        <p:nvSpPr>
          <p:cNvPr id="9" name="h2p-13-text-8"/>
          <p:cNvSpPr txBox="1"/>
          <p:nvPr/>
        </p:nvSpPr>
        <p:spPr>
          <a:xfrm>
            <a:off x="914400" y="2381097"/>
            <a:ext cx="4955133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102A43"/>
                </a:solidFill>
                <a:latin typeface="Noto Sans CJK SC"/>
              </a:rPr>
              <a:t>Candidate = (G, Π, θ, ρ)</a:t>
            </a:r>
          </a:p>
        </p:txBody>
      </p:sp>
      <p:sp>
        <p:nvSpPr>
          <p:cNvPr id="10" name="h2p-13-text-9"/>
          <p:cNvSpPr txBox="1"/>
          <p:nvPr/>
        </p:nvSpPr>
        <p:spPr>
          <a:xfrm>
            <a:off x="914400" y="2723997"/>
            <a:ext cx="4955133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CJK SC"/>
              </a:rPr>
              <a:t>G</a:t>
            </a:r>
            <a:r>
              <a:rPr sz="980">
                <a:solidFill>
                  <a:srgbClr val="53697C"/>
                </a:solidFill>
                <a:latin typeface="Noto Sans CJK SC"/>
              </a:rPr>
              <a:t> 能力图：能力节点、数据/控制边、DAG 主干、局部 SCC</a:t>
            </a:r>
          </a:p>
        </p:txBody>
      </p:sp>
      <p:sp>
        <p:nvSpPr>
          <p:cNvPr id="11" name="h2p-13-text-10"/>
          <p:cNvSpPr txBox="1"/>
          <p:nvPr/>
        </p:nvSpPr>
        <p:spPr>
          <a:xfrm>
            <a:off x="914400" y="3143707"/>
            <a:ext cx="4955133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CJK SC"/>
              </a:rPr>
              <a:t>Π</a:t>
            </a:r>
            <a:r>
              <a:rPr sz="980">
                <a:solidFill>
                  <a:srgbClr val="53697C"/>
                </a:solidFill>
                <a:latin typeface="Noto Sans CJK SC"/>
              </a:rPr>
              <a:t> Agent 分区：哪些子图拥有独立身份与责任</a:t>
            </a:r>
          </a:p>
        </p:txBody>
      </p:sp>
      <p:sp>
        <p:nvSpPr>
          <p:cNvPr id="12" name="h2p-13-text-11"/>
          <p:cNvSpPr txBox="1"/>
          <p:nvPr/>
        </p:nvSpPr>
        <p:spPr>
          <a:xfrm>
            <a:off x="914400" y="3562502"/>
            <a:ext cx="4955133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CJK SC"/>
              </a:rPr>
              <a:t>θ</a:t>
            </a:r>
            <a:r>
              <a:rPr sz="980">
                <a:solidFill>
                  <a:srgbClr val="53697C"/>
                </a:solidFill>
                <a:latin typeface="Noto Sans CJK SC"/>
              </a:rPr>
              <a:t> 参数：模型、Prompt、阈值、重试、预算</a:t>
            </a:r>
          </a:p>
        </p:txBody>
      </p:sp>
      <p:sp>
        <p:nvSpPr>
          <p:cNvPr id="13" name="h2p-13-text-12"/>
          <p:cNvSpPr txBox="1"/>
          <p:nvPr/>
        </p:nvSpPr>
        <p:spPr>
          <a:xfrm>
            <a:off x="914400" y="3981297"/>
            <a:ext cx="4955133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CJK SC"/>
              </a:rPr>
              <a:t>ρ</a:t>
            </a:r>
            <a:r>
              <a:rPr sz="980">
                <a:solidFill>
                  <a:srgbClr val="53697C"/>
                </a:solidFill>
                <a:latin typeface="Noto Sans CJK SC"/>
              </a:rPr>
              <a:t> 共享范围：Skill/MCP/Memory/状态/通信的私有与共享</a:t>
            </a:r>
          </a:p>
        </p:txBody>
      </p:sp>
      <p:sp>
        <p:nvSpPr>
          <p:cNvPr id="14" name="h2p-13-text-13"/>
          <p:cNvSpPr txBox="1"/>
          <p:nvPr/>
        </p:nvSpPr>
        <p:spPr>
          <a:xfrm>
            <a:off x="914400" y="4533595"/>
            <a:ext cx="4955133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Agent 数量是搜索变量，不是项目目标。</a:t>
            </a:r>
          </a:p>
        </p:txBody>
      </p:sp>
      <p:sp>
        <p:nvSpPr>
          <p:cNvPr id="15" name="h2p-13-box-14"/>
          <p:cNvSpPr/>
          <p:nvPr/>
        </p:nvSpPr>
        <p:spPr>
          <a:xfrm>
            <a:off x="6172200" y="1962302"/>
            <a:ext cx="5333695" cy="3238804"/>
          </a:xfrm>
          <a:prstGeom prst="roundRect">
            <a:avLst>
              <a:gd name="adj" fmla="val 5290"/>
            </a:avLst>
          </a:prstGeom>
          <a:solidFill>
            <a:srgbClr val="FFFFFF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2p-13-text-15"/>
          <p:cNvSpPr txBox="1"/>
          <p:nvPr/>
        </p:nvSpPr>
        <p:spPr>
          <a:xfrm>
            <a:off x="6400800" y="2114092"/>
            <a:ext cx="1224381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搜索规则（受约束）</a:t>
            </a:r>
          </a:p>
        </p:txBody>
      </p:sp>
      <p:sp>
        <p:nvSpPr>
          <p:cNvPr id="17" name="h2p-13-text-16"/>
          <p:cNvSpPr txBox="1"/>
          <p:nvPr/>
        </p:nvSpPr>
        <p:spPr>
          <a:xfrm>
            <a:off x="6400800" y="2419502"/>
            <a:ext cx="499353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从覆盖核心契约的最简候选开始，只有局部不足才加反馈循环，只有出现独立决策/边界需求才 Agentize。</a:t>
            </a:r>
          </a:p>
        </p:txBody>
      </p:sp>
      <p:sp>
        <p:nvSpPr>
          <p:cNvPr id="18" name="h2p-13-text-17"/>
          <p:cNvSpPr txBox="1"/>
          <p:nvPr/>
        </p:nvSpPr>
        <p:spPr>
          <a:xfrm>
            <a:off x="6400800" y="3448202"/>
            <a:ext cx="499353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同一冻结样本集、同一 TaskSample、相同预算与安全门禁下比较；选满足门槛的最小充分候选。</a:t>
            </a:r>
          </a:p>
        </p:txBody>
      </p:sp>
      <p:sp>
        <p:nvSpPr>
          <p:cNvPr id="19" name="h2p-13-text-18"/>
          <p:cNvSpPr txBox="1"/>
          <p:nvPr/>
        </p:nvSpPr>
        <p:spPr>
          <a:xfrm>
            <a:off x="6400800" y="4324197"/>
            <a:ext cx="4993538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F26B4B"/>
                </a:solidFill>
                <a:latin typeface="Noto Sans CJK SC"/>
              </a:rPr>
              <a:t>不预设多 Agent 胜出；搜索为方案选择服务。</a:t>
            </a:r>
          </a:p>
        </p:txBody>
      </p:sp>
      <p:sp>
        <p:nvSpPr>
          <p:cNvPr id="20" name="h2p-13-box-19"/>
          <p:cNvSpPr/>
          <p:nvPr/>
        </p:nvSpPr>
        <p:spPr>
          <a:xfrm>
            <a:off x="685800" y="5352897"/>
            <a:ext cx="10820095" cy="1123797"/>
          </a:xfrm>
          <a:prstGeom prst="roundRect">
            <a:avLst>
              <a:gd name="adj" fmla="val 15250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2p-13-text-20"/>
          <p:cNvSpPr txBox="1"/>
          <p:nvPr/>
        </p:nvSpPr>
        <p:spPr>
          <a:xfrm>
            <a:off x="914400" y="5486400"/>
            <a:ext cx="2584094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426B86"/>
                </a:solidFill>
                <a:latin typeface="Noto Sans Mono CJK SC"/>
              </a:rPr>
              <a:t>七层 ML 映射（仅技术附录，非路演主线）</a:t>
            </a:r>
          </a:p>
        </p:txBody>
      </p:sp>
      <p:sp>
        <p:nvSpPr>
          <p:cNvPr id="22" name="h2p-13-text-21"/>
          <p:cNvSpPr txBox="1"/>
          <p:nvPr/>
        </p:nvSpPr>
        <p:spPr>
          <a:xfrm>
            <a:off x="914400" y="5753404"/>
            <a:ext cx="10589666" cy="1792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L1 样本语义 → L2 任务语义 → L3 能力语义 → L4 候选表示 → L5 内循环 → L6 外循环 → L7 跨项目学习</a:t>
            </a:r>
          </a:p>
        </p:txBody>
      </p:sp>
      <p:sp>
        <p:nvSpPr>
          <p:cNvPr id="23" name="h2p-13-text-22"/>
          <p:cNvSpPr txBox="1"/>
          <p:nvPr/>
        </p:nvSpPr>
        <p:spPr>
          <a:xfrm>
            <a:off x="914400" y="6191402"/>
            <a:ext cx="10589666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718190"/>
                </a:solidFill>
                <a:latin typeface="Noto Sans CJK SC"/>
              </a:rPr>
              <a:t>L7 是未来方向：单项目样本优化不能证明跨项目学习；真实候选搜索当前未实现。</a:t>
            </a:r>
          </a:p>
        </p:txBody>
      </p:sp>
      <p:sp>
        <p:nvSpPr>
          <p:cNvPr id="24" name="h2p-13-text-23"/>
          <p:cNvSpPr txBox="1"/>
          <p:nvPr/>
        </p:nvSpPr>
        <p:spPr>
          <a:xfrm>
            <a:off x="685800" y="6543446"/>
            <a:ext cx="2671876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SAMPLE × TASK × CAPABILITY × SEARCH</a:t>
            </a:r>
          </a:p>
        </p:txBody>
      </p:sp>
      <p:sp>
        <p:nvSpPr>
          <p:cNvPr id="25" name="h2p-13-text-24"/>
          <p:cNvSpPr txBox="1"/>
          <p:nvPr/>
        </p:nvSpPr>
        <p:spPr>
          <a:xfrm>
            <a:off x="10815523" y="6543446"/>
            <a:ext cx="747979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技术附录 · A1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4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4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A2 / 05 · AGENT IDENTITY</a:t>
            </a:r>
          </a:p>
        </p:txBody>
      </p:sp>
      <p:sp>
        <p:nvSpPr>
          <p:cNvPr id="4" name="h2p-14-text-3"/>
          <p:cNvSpPr txBox="1"/>
          <p:nvPr/>
        </p:nvSpPr>
        <p:spPr>
          <a:xfrm>
            <a:off x="685800" y="666597"/>
            <a:ext cx="11036808" cy="3767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700">
                <a:solidFill>
                  <a:srgbClr val="102A43"/>
                </a:solidFill>
                <a:latin typeface="Noto Sans CJK SC"/>
              </a:rPr>
              <a:t>五个 Agent Identity：判断权、状态边界与责任产物。</a:t>
            </a:r>
          </a:p>
        </p:txBody>
      </p:sp>
      <p:sp>
        <p:nvSpPr>
          <p:cNvPr id="5" name="h2p-14-text-4"/>
          <p:cNvSpPr txBox="1"/>
          <p:nvPr/>
        </p:nvSpPr>
        <p:spPr>
          <a:xfrm>
            <a:off x="705002" y="1257300"/>
            <a:ext cx="1049274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53697C"/>
                </a:solidFill>
                <a:latin typeface="Noto Sans CJK SC"/>
              </a:rPr>
              <a:t>设计 Identity；真实 AgentTeams 实例化与端到端运行仍待完成。</a:t>
            </a:r>
          </a:p>
        </p:txBody>
      </p:sp>
      <p:sp>
        <p:nvSpPr>
          <p:cNvPr id="6" name="h2p-14-box-5"/>
          <p:cNvSpPr/>
          <p:nvPr/>
        </p:nvSpPr>
        <p:spPr>
          <a:xfrm>
            <a:off x="685800" y="1695297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4-box-6"/>
          <p:cNvSpPr/>
          <p:nvPr/>
        </p:nvSpPr>
        <p:spPr>
          <a:xfrm>
            <a:off x="685800" y="1962302"/>
            <a:ext cx="2076602" cy="2857500"/>
          </a:xfrm>
          <a:prstGeom prst="roundRect">
            <a:avLst>
              <a:gd name="adj" fmla="val 8260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4-text-7"/>
          <p:cNvSpPr txBox="1"/>
          <p:nvPr/>
        </p:nvSpPr>
        <p:spPr>
          <a:xfrm>
            <a:off x="838504" y="2095804"/>
            <a:ext cx="568756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426B86"/>
                </a:solidFill>
                <a:latin typeface="Noto Sans Mono CJK SC"/>
              </a:rPr>
              <a:t>01 交付官</a:t>
            </a:r>
          </a:p>
        </p:txBody>
      </p:sp>
      <p:sp>
        <p:nvSpPr>
          <p:cNvPr id="9" name="h2p-14-text-8"/>
          <p:cNvSpPr txBox="1"/>
          <p:nvPr/>
        </p:nvSpPr>
        <p:spPr>
          <a:xfrm>
            <a:off x="838504" y="2361895"/>
            <a:ext cx="1826056" cy="1911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80">
                <a:solidFill>
                  <a:srgbClr val="102A43"/>
                </a:solidFill>
                <a:latin typeface="Noto Sans CJK SC"/>
              </a:rPr>
              <a:t>EngagementLead</a:t>
            </a:r>
          </a:p>
        </p:txBody>
      </p:sp>
      <p:sp>
        <p:nvSpPr>
          <p:cNvPr id="10" name="h2p-14-text-9"/>
          <p:cNvSpPr txBox="1"/>
          <p:nvPr/>
        </p:nvSpPr>
        <p:spPr>
          <a:xfrm>
            <a:off x="838504" y="2743200"/>
            <a:ext cx="1826056" cy="3465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控制项目阶段、路由 Human 审批、作出交付决定。</a:t>
            </a:r>
          </a:p>
        </p:txBody>
      </p:sp>
      <p:sp>
        <p:nvSpPr>
          <p:cNvPr id="11" name="h2p-14-text-10"/>
          <p:cNvSpPr txBox="1"/>
          <p:nvPr/>
        </p:nvSpPr>
        <p:spPr>
          <a:xfrm>
            <a:off x="838504" y="3810304"/>
            <a:ext cx="1826056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426B86"/>
                </a:solidFill>
                <a:latin typeface="Noto Sans CJK SC"/>
              </a:rPr>
              <a:t>产物：项目简报 / 决议</a:t>
            </a:r>
          </a:p>
        </p:txBody>
      </p:sp>
      <p:sp>
        <p:nvSpPr>
          <p:cNvPr id="12" name="h2p-14-box-11"/>
          <p:cNvSpPr/>
          <p:nvPr/>
        </p:nvSpPr>
        <p:spPr>
          <a:xfrm>
            <a:off x="2876702" y="1962302"/>
            <a:ext cx="2076602" cy="2857500"/>
          </a:xfrm>
          <a:prstGeom prst="roundRect">
            <a:avLst>
              <a:gd name="adj" fmla="val 826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14-text-12"/>
          <p:cNvSpPr txBox="1"/>
          <p:nvPr/>
        </p:nvSpPr>
        <p:spPr>
          <a:xfrm>
            <a:off x="3028492" y="2095804"/>
            <a:ext cx="821131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02 业务架构师</a:t>
            </a:r>
          </a:p>
        </p:txBody>
      </p:sp>
      <p:sp>
        <p:nvSpPr>
          <p:cNvPr id="14" name="h2p-14-text-13"/>
          <p:cNvSpPr txBox="1"/>
          <p:nvPr/>
        </p:nvSpPr>
        <p:spPr>
          <a:xfrm>
            <a:off x="3028492" y="2361895"/>
            <a:ext cx="1826056" cy="1911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80">
                <a:solidFill>
                  <a:srgbClr val="102A43"/>
                </a:solidFill>
                <a:latin typeface="Noto Sans CJK SC"/>
              </a:rPr>
              <a:t>BusinessEngineer</a:t>
            </a:r>
          </a:p>
        </p:txBody>
      </p:sp>
      <p:sp>
        <p:nvSpPr>
          <p:cNvPr id="15" name="h2p-14-text-14"/>
          <p:cNvSpPr txBox="1"/>
          <p:nvPr/>
        </p:nvSpPr>
        <p:spPr>
          <a:xfrm>
            <a:off x="3028492" y="2743200"/>
            <a:ext cx="1826056" cy="3465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编译业务任务、冻结指标预算、标注 Human 边界。</a:t>
            </a:r>
          </a:p>
        </p:txBody>
      </p:sp>
      <p:sp>
        <p:nvSpPr>
          <p:cNvPr id="16" name="h2p-14-text-15"/>
          <p:cNvSpPr txBox="1"/>
          <p:nvPr/>
        </p:nvSpPr>
        <p:spPr>
          <a:xfrm>
            <a:off x="3028492" y="3733495"/>
            <a:ext cx="1826056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1A8D85"/>
                </a:solidFill>
                <a:latin typeface="Noto Sans CJK SC"/>
              </a:rPr>
              <a:t>产物：任务说明书</a:t>
            </a:r>
          </a:p>
        </p:txBody>
      </p:sp>
      <p:sp>
        <p:nvSpPr>
          <p:cNvPr id="17" name="h2p-14-box-16"/>
          <p:cNvSpPr/>
          <p:nvPr/>
        </p:nvSpPr>
        <p:spPr>
          <a:xfrm>
            <a:off x="5067604" y="1962302"/>
            <a:ext cx="2076602" cy="2857500"/>
          </a:xfrm>
          <a:prstGeom prst="roundRect">
            <a:avLst>
              <a:gd name="adj" fmla="val 826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14-text-17"/>
          <p:cNvSpPr txBox="1"/>
          <p:nvPr/>
        </p:nvSpPr>
        <p:spPr>
          <a:xfrm>
            <a:off x="5219395" y="2095804"/>
            <a:ext cx="821131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03 方案架构师</a:t>
            </a:r>
          </a:p>
        </p:txBody>
      </p:sp>
      <p:sp>
        <p:nvSpPr>
          <p:cNvPr id="19" name="h2p-14-text-18"/>
          <p:cNvSpPr txBox="1"/>
          <p:nvPr/>
        </p:nvSpPr>
        <p:spPr>
          <a:xfrm>
            <a:off x="5219395" y="2361895"/>
            <a:ext cx="1826056" cy="1911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80">
                <a:solidFill>
                  <a:srgbClr val="102A43"/>
                </a:solidFill>
                <a:latin typeface="Noto Sans CJK SC"/>
              </a:rPr>
              <a:t>AgentArchitect</a:t>
            </a:r>
          </a:p>
        </p:txBody>
      </p:sp>
      <p:sp>
        <p:nvSpPr>
          <p:cNvPr id="20" name="h2p-14-text-19"/>
          <p:cNvSpPr txBox="1"/>
          <p:nvPr/>
        </p:nvSpPr>
        <p:spPr>
          <a:xfrm>
            <a:off x="5219395" y="2743200"/>
            <a:ext cx="1826056" cy="3465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盘点能力缺口、生成并列候选、解释 Agentize。</a:t>
            </a:r>
          </a:p>
        </p:txBody>
      </p:sp>
      <p:sp>
        <p:nvSpPr>
          <p:cNvPr id="21" name="h2p-14-text-20"/>
          <p:cNvSpPr txBox="1"/>
          <p:nvPr/>
        </p:nvSpPr>
        <p:spPr>
          <a:xfrm>
            <a:off x="5219395" y="3733495"/>
            <a:ext cx="1826056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1A8D85"/>
                </a:solidFill>
                <a:latin typeface="Noto Sans CJK SC"/>
              </a:rPr>
              <a:t>产物：候选方案集</a:t>
            </a:r>
          </a:p>
        </p:txBody>
      </p:sp>
      <p:sp>
        <p:nvSpPr>
          <p:cNvPr id="22" name="h2p-14-box-21"/>
          <p:cNvSpPr/>
          <p:nvPr/>
        </p:nvSpPr>
        <p:spPr>
          <a:xfrm>
            <a:off x="7258507" y="1962302"/>
            <a:ext cx="2076602" cy="2857500"/>
          </a:xfrm>
          <a:prstGeom prst="roundRect">
            <a:avLst>
              <a:gd name="adj" fmla="val 826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2p-14-text-22"/>
          <p:cNvSpPr txBox="1"/>
          <p:nvPr/>
        </p:nvSpPr>
        <p:spPr>
          <a:xfrm>
            <a:off x="7410297" y="2095804"/>
            <a:ext cx="821131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04 验证工程师</a:t>
            </a:r>
          </a:p>
        </p:txBody>
      </p:sp>
      <p:sp>
        <p:nvSpPr>
          <p:cNvPr id="24" name="h2p-14-text-23"/>
          <p:cNvSpPr txBox="1"/>
          <p:nvPr/>
        </p:nvSpPr>
        <p:spPr>
          <a:xfrm>
            <a:off x="7410297" y="2361895"/>
            <a:ext cx="1826056" cy="1911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80">
                <a:solidFill>
                  <a:srgbClr val="102A43"/>
                </a:solidFill>
                <a:latin typeface="Noto Sans CJK SC"/>
              </a:rPr>
              <a:t>ValidationEngineer</a:t>
            </a:r>
          </a:p>
        </p:txBody>
      </p:sp>
      <p:sp>
        <p:nvSpPr>
          <p:cNvPr id="25" name="h2p-14-text-24"/>
          <p:cNvSpPr txBox="1"/>
          <p:nvPr/>
        </p:nvSpPr>
        <p:spPr>
          <a:xfrm>
            <a:off x="7410297" y="2743200"/>
            <a:ext cx="1826056" cy="3465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隔离运行候选、执行统一预算、收集失败证据。</a:t>
            </a:r>
          </a:p>
        </p:txBody>
      </p:sp>
      <p:sp>
        <p:nvSpPr>
          <p:cNvPr id="26" name="h2p-14-text-25"/>
          <p:cNvSpPr txBox="1"/>
          <p:nvPr/>
        </p:nvSpPr>
        <p:spPr>
          <a:xfrm>
            <a:off x="7410297" y="3733495"/>
            <a:ext cx="1826056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1A8D85"/>
                </a:solidFill>
                <a:latin typeface="Noto Sans CJK SC"/>
              </a:rPr>
              <a:t>产物：Execution Trace</a:t>
            </a:r>
          </a:p>
        </p:txBody>
      </p:sp>
      <p:sp>
        <p:nvSpPr>
          <p:cNvPr id="27" name="h2p-14-box-26"/>
          <p:cNvSpPr/>
          <p:nvPr/>
        </p:nvSpPr>
        <p:spPr>
          <a:xfrm>
            <a:off x="9448495" y="1962302"/>
            <a:ext cx="2057400" cy="2857500"/>
          </a:xfrm>
          <a:prstGeom prst="roundRect">
            <a:avLst>
              <a:gd name="adj" fmla="val 833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2p-14-text-27"/>
          <p:cNvSpPr txBox="1"/>
          <p:nvPr/>
        </p:nvSpPr>
        <p:spPr>
          <a:xfrm>
            <a:off x="9601200" y="2095804"/>
            <a:ext cx="568756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D6A43B"/>
                </a:solidFill>
                <a:latin typeface="Noto Sans Mono CJK SC"/>
              </a:rPr>
              <a:t>05 审计官</a:t>
            </a:r>
          </a:p>
        </p:txBody>
      </p:sp>
      <p:sp>
        <p:nvSpPr>
          <p:cNvPr id="29" name="h2p-14-text-28"/>
          <p:cNvSpPr txBox="1"/>
          <p:nvPr/>
        </p:nvSpPr>
        <p:spPr>
          <a:xfrm>
            <a:off x="9601200" y="2361895"/>
            <a:ext cx="1806854" cy="1911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80">
                <a:solidFill>
                  <a:srgbClr val="102A43"/>
                </a:solidFill>
                <a:latin typeface="Noto Sans CJK SC"/>
              </a:rPr>
              <a:t>GovernanceAuditor</a:t>
            </a:r>
          </a:p>
        </p:txBody>
      </p:sp>
      <p:sp>
        <p:nvSpPr>
          <p:cNvPr id="30" name="h2p-14-text-29"/>
          <p:cNvSpPr txBox="1"/>
          <p:nvPr/>
        </p:nvSpPr>
        <p:spPr>
          <a:xfrm>
            <a:off x="9601200" y="2743200"/>
            <a:ext cx="1806854" cy="3465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独立检查证据、独占 sealed holdout、选择 / 否决 / 降级。</a:t>
            </a:r>
          </a:p>
        </p:txBody>
      </p:sp>
      <p:sp>
        <p:nvSpPr>
          <p:cNvPr id="31" name="h2p-14-text-30"/>
          <p:cNvSpPr txBox="1"/>
          <p:nvPr/>
        </p:nvSpPr>
        <p:spPr>
          <a:xfrm>
            <a:off x="9601200" y="3733495"/>
            <a:ext cx="1806854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D6A43B"/>
                </a:solidFill>
                <a:latin typeface="Noto Sans CJK SC"/>
              </a:rPr>
              <a:t>产物：决策账本</a:t>
            </a:r>
          </a:p>
        </p:txBody>
      </p:sp>
      <p:sp>
        <p:nvSpPr>
          <p:cNvPr id="32" name="h2p-14-box-31"/>
          <p:cNvSpPr/>
          <p:nvPr/>
        </p:nvSpPr>
        <p:spPr>
          <a:xfrm>
            <a:off x="685800" y="4990795"/>
            <a:ext cx="10820095" cy="1143000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2p-14-text-32"/>
          <p:cNvSpPr txBox="1"/>
          <p:nvPr/>
        </p:nvSpPr>
        <p:spPr>
          <a:xfrm>
            <a:off x="914400" y="5143500"/>
            <a:ext cx="102047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官方 8 字段契约</a:t>
            </a:r>
          </a:p>
        </p:txBody>
      </p:sp>
      <p:sp>
        <p:nvSpPr>
          <p:cNvPr id="34" name="h2p-14-text-33"/>
          <p:cNvSpPr txBox="1"/>
          <p:nvPr/>
        </p:nvSpPr>
        <p:spPr>
          <a:xfrm>
            <a:off x="914400" y="5447995"/>
            <a:ext cx="10589666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Name · Role · Capabilities · Inputs · Outputs · Dependencies · Decision Boundary · Trace</a:t>
            </a:r>
          </a:p>
        </p:txBody>
      </p:sp>
      <p:sp>
        <p:nvSpPr>
          <p:cNvPr id="35" name="h2p-14-text-34"/>
          <p:cNvSpPr txBox="1"/>
          <p:nvPr/>
        </p:nvSpPr>
        <p:spPr>
          <a:xfrm>
            <a:off x="914400" y="5810097"/>
            <a:ext cx="10589666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F26B4B"/>
                </a:solidFill>
                <a:latin typeface="Noto Sans CJK SC"/>
              </a:rPr>
              <a:t>候选冻结后，仅 GovernanceAuditor 消费 sealed holdout；其他角色不得读取。设计契约，非运行证据。</a:t>
            </a:r>
          </a:p>
        </p:txBody>
      </p:sp>
      <p:sp>
        <p:nvSpPr>
          <p:cNvPr id="36" name="h2p-14-text-35"/>
          <p:cNvSpPr txBox="1"/>
          <p:nvPr/>
        </p:nvSpPr>
        <p:spPr>
          <a:xfrm>
            <a:off x="685800" y="6543446"/>
            <a:ext cx="117591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五元责任链</a:t>
            </a:r>
          </a:p>
        </p:txBody>
      </p:sp>
      <p:sp>
        <p:nvSpPr>
          <p:cNvPr id="37" name="h2p-14-text-36"/>
          <p:cNvSpPr txBox="1"/>
          <p:nvPr/>
        </p:nvSpPr>
        <p:spPr>
          <a:xfrm>
            <a:off x="10548518" y="6543446"/>
            <a:ext cx="1014984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设计 Identity · A2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5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5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A3 / 05 · SKILL / MCP / CONTEXT</a:t>
            </a:r>
          </a:p>
        </p:txBody>
      </p:sp>
      <p:sp>
        <p:nvSpPr>
          <p:cNvPr id="4" name="h2p-15-text-3"/>
          <p:cNvSpPr txBox="1"/>
          <p:nvPr/>
        </p:nvSpPr>
        <p:spPr>
          <a:xfrm>
            <a:off x="685800" y="666597"/>
            <a:ext cx="11036808" cy="3767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700">
                <a:solidFill>
                  <a:srgbClr val="102A43"/>
                </a:solidFill>
                <a:latin typeface="Noto Sans CJK SC"/>
              </a:rPr>
              <a:t>七个 Skill、HTTP/MCP 等价工具与上下文机制。</a:t>
            </a:r>
          </a:p>
        </p:txBody>
      </p:sp>
      <p:sp>
        <p:nvSpPr>
          <p:cNvPr id="5" name="h2p-15-text-4"/>
          <p:cNvSpPr txBox="1"/>
          <p:nvPr/>
        </p:nvSpPr>
        <p:spPr>
          <a:xfrm>
            <a:off x="705002" y="1257300"/>
            <a:ext cx="1049274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53697C"/>
                </a:solidFill>
                <a:latin typeface="Noto Sans CJK SC"/>
              </a:rPr>
              <a:t>Skill 必选、HTTP/MCP 工具可选；上下文 4 选 2，不以 RAG 为主机制。均为设计契约。</a:t>
            </a:r>
          </a:p>
        </p:txBody>
      </p:sp>
      <p:sp>
        <p:nvSpPr>
          <p:cNvPr id="6" name="h2p-15-box-5"/>
          <p:cNvSpPr/>
          <p:nvPr/>
        </p:nvSpPr>
        <p:spPr>
          <a:xfrm>
            <a:off x="685800" y="1695297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5-box-6"/>
          <p:cNvSpPr/>
          <p:nvPr/>
        </p:nvSpPr>
        <p:spPr>
          <a:xfrm>
            <a:off x="685800" y="1962302"/>
            <a:ext cx="10820095" cy="9144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5-text-7"/>
          <p:cNvSpPr txBox="1"/>
          <p:nvPr/>
        </p:nvSpPr>
        <p:spPr>
          <a:xfrm>
            <a:off x="914400" y="2114092"/>
            <a:ext cx="816559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SEVEN SKILLS</a:t>
            </a:r>
          </a:p>
        </p:txBody>
      </p:sp>
      <p:sp>
        <p:nvSpPr>
          <p:cNvPr id="9" name="h2p-15-box-8"/>
          <p:cNvSpPr/>
          <p:nvPr/>
        </p:nvSpPr>
        <p:spPr>
          <a:xfrm>
            <a:off x="914400" y="2400300"/>
            <a:ext cx="1295704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2p-15-text-9"/>
          <p:cNvSpPr txBox="1"/>
          <p:nvPr/>
        </p:nvSpPr>
        <p:spPr>
          <a:xfrm>
            <a:off x="1000353" y="2447848"/>
            <a:ext cx="1146657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1 任务编译</a:t>
            </a:r>
          </a:p>
        </p:txBody>
      </p:sp>
      <p:sp>
        <p:nvSpPr>
          <p:cNvPr id="11" name="h2p-15-box-10"/>
          <p:cNvSpPr/>
          <p:nvPr/>
        </p:nvSpPr>
        <p:spPr>
          <a:xfrm>
            <a:off x="2286000" y="2400300"/>
            <a:ext cx="1295704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2p-15-text-11"/>
          <p:cNvSpPr txBox="1"/>
          <p:nvPr/>
        </p:nvSpPr>
        <p:spPr>
          <a:xfrm>
            <a:off x="2371953" y="2447848"/>
            <a:ext cx="1146657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2 能力对齐</a:t>
            </a:r>
          </a:p>
        </p:txBody>
      </p:sp>
      <p:sp>
        <p:nvSpPr>
          <p:cNvPr id="13" name="h2p-15-box-12"/>
          <p:cNvSpPr/>
          <p:nvPr/>
        </p:nvSpPr>
        <p:spPr>
          <a:xfrm>
            <a:off x="3657600" y="2400300"/>
            <a:ext cx="1295704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15-text-13"/>
          <p:cNvSpPr txBox="1"/>
          <p:nvPr/>
        </p:nvSpPr>
        <p:spPr>
          <a:xfrm>
            <a:off x="3743553" y="2447848"/>
            <a:ext cx="1146657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3 候选建图</a:t>
            </a:r>
          </a:p>
        </p:txBody>
      </p:sp>
      <p:sp>
        <p:nvSpPr>
          <p:cNvPr id="15" name="h2p-15-box-14"/>
          <p:cNvSpPr/>
          <p:nvPr/>
        </p:nvSpPr>
        <p:spPr>
          <a:xfrm>
            <a:off x="5029200" y="2400300"/>
            <a:ext cx="1295704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2p-15-text-15"/>
          <p:cNvSpPr txBox="1"/>
          <p:nvPr/>
        </p:nvSpPr>
        <p:spPr>
          <a:xfrm>
            <a:off x="5115153" y="2447848"/>
            <a:ext cx="1146657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4 统一试验</a:t>
            </a:r>
          </a:p>
        </p:txBody>
      </p:sp>
      <p:sp>
        <p:nvSpPr>
          <p:cNvPr id="17" name="h2p-15-box-16"/>
          <p:cNvSpPr/>
          <p:nvPr/>
        </p:nvSpPr>
        <p:spPr>
          <a:xfrm>
            <a:off x="6400800" y="2400300"/>
            <a:ext cx="1295704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15-text-17"/>
          <p:cNvSpPr txBox="1"/>
          <p:nvPr/>
        </p:nvSpPr>
        <p:spPr>
          <a:xfrm>
            <a:off x="6486753" y="2447848"/>
            <a:ext cx="1146657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5 独立审计</a:t>
            </a:r>
          </a:p>
        </p:txBody>
      </p:sp>
      <p:sp>
        <p:nvSpPr>
          <p:cNvPr id="19" name="h2p-15-box-18"/>
          <p:cNvSpPr/>
          <p:nvPr/>
        </p:nvSpPr>
        <p:spPr>
          <a:xfrm>
            <a:off x="7772400" y="2400300"/>
            <a:ext cx="1295704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15-text-19"/>
          <p:cNvSpPr txBox="1"/>
          <p:nvPr/>
        </p:nvSpPr>
        <p:spPr>
          <a:xfrm>
            <a:off x="7858353" y="2447848"/>
            <a:ext cx="1146657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D6A43B"/>
                </a:solidFill>
                <a:latin typeface="Noto Sans Mono CJK SC"/>
              </a:rPr>
              <a:t>6 人工门禁</a:t>
            </a:r>
          </a:p>
        </p:txBody>
      </p:sp>
      <p:sp>
        <p:nvSpPr>
          <p:cNvPr id="21" name="h2p-15-box-20"/>
          <p:cNvSpPr/>
          <p:nvPr/>
        </p:nvSpPr>
        <p:spPr>
          <a:xfrm>
            <a:off x="9144000" y="2400300"/>
            <a:ext cx="1904695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2p-15-text-21"/>
          <p:cNvSpPr txBox="1"/>
          <p:nvPr/>
        </p:nvSpPr>
        <p:spPr>
          <a:xfrm>
            <a:off x="9229953" y="2447848"/>
            <a:ext cx="1768449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7 经验沉淀</a:t>
            </a:r>
          </a:p>
        </p:txBody>
      </p:sp>
      <p:sp>
        <p:nvSpPr>
          <p:cNvPr id="23" name="h2p-15-box-22"/>
          <p:cNvSpPr/>
          <p:nvPr/>
        </p:nvSpPr>
        <p:spPr>
          <a:xfrm>
            <a:off x="685800" y="3047695"/>
            <a:ext cx="3504895" cy="2971800"/>
          </a:xfrm>
          <a:prstGeom prst="roundRect">
            <a:avLst>
              <a:gd name="adj" fmla="val 577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2p-15-text-23"/>
          <p:cNvSpPr txBox="1"/>
          <p:nvPr/>
        </p:nvSpPr>
        <p:spPr>
          <a:xfrm>
            <a:off x="914400" y="3200400"/>
            <a:ext cx="1292047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SKILL · 可复用方法</a:t>
            </a:r>
          </a:p>
        </p:txBody>
      </p:sp>
      <p:sp>
        <p:nvSpPr>
          <p:cNvPr id="25" name="h2p-15-text-24"/>
          <p:cNvSpPr txBox="1"/>
          <p:nvPr/>
        </p:nvSpPr>
        <p:spPr>
          <a:xfrm>
            <a:off x="914400" y="3543300"/>
            <a:ext cx="3148279" cy="5751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承载任务编译、建图、评测、审计、门禁等“如何做”。每项含输入、输出、触发、失败处理、安全边界、复用契约。</a:t>
            </a:r>
          </a:p>
        </p:txBody>
      </p:sp>
      <p:sp>
        <p:nvSpPr>
          <p:cNvPr id="26" name="h2p-15-text-25"/>
          <p:cNvSpPr txBox="1"/>
          <p:nvPr/>
        </p:nvSpPr>
        <p:spPr>
          <a:xfrm>
            <a:off x="914400" y="5219395"/>
            <a:ext cx="3148279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完整字段见 submission/skill-catalog.md</a:t>
            </a:r>
          </a:p>
        </p:txBody>
      </p:sp>
      <p:sp>
        <p:nvSpPr>
          <p:cNvPr id="27" name="h2p-15-box-26"/>
          <p:cNvSpPr/>
          <p:nvPr/>
        </p:nvSpPr>
        <p:spPr>
          <a:xfrm>
            <a:off x="4343400" y="3047695"/>
            <a:ext cx="3504895" cy="2971800"/>
          </a:xfrm>
          <a:prstGeom prst="roundRect">
            <a:avLst>
              <a:gd name="adj" fmla="val 5770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2p-15-text-27"/>
          <p:cNvSpPr txBox="1"/>
          <p:nvPr/>
        </p:nvSpPr>
        <p:spPr>
          <a:xfrm>
            <a:off x="4572000" y="3200400"/>
            <a:ext cx="1768449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426B86"/>
                </a:solidFill>
                <a:latin typeface="Noto Sans Mono CJK SC"/>
              </a:rPr>
              <a:t>MCP / HTTP · 等价工具契约</a:t>
            </a:r>
          </a:p>
        </p:txBody>
      </p:sp>
      <p:sp>
        <p:nvSpPr>
          <p:cNvPr id="29" name="h2p-15-text-28"/>
          <p:cNvSpPr txBox="1"/>
          <p:nvPr/>
        </p:nvSpPr>
        <p:spPr>
          <a:xfrm>
            <a:off x="4572000" y="3543300"/>
            <a:ext cx="314827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需要外部系统、明确 Schema、鉴权、幂等键、错误码与审计时才用。MCP、REST、适配器走同一契约。</a:t>
            </a:r>
          </a:p>
        </p:txBody>
      </p:sp>
      <p:sp>
        <p:nvSpPr>
          <p:cNvPr id="30" name="h2p-15-text-29"/>
          <p:cNvSpPr txBox="1"/>
          <p:nvPr/>
        </p:nvSpPr>
        <p:spPr>
          <a:xfrm>
            <a:off x="4572000" y="4533595"/>
            <a:ext cx="314827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纯推理与文档契约优先 Skill；真实 MCP 绑定当前未实现。</a:t>
            </a:r>
          </a:p>
        </p:txBody>
      </p:sp>
      <p:sp>
        <p:nvSpPr>
          <p:cNvPr id="31" name="h2p-15-text-30"/>
          <p:cNvSpPr txBox="1"/>
          <p:nvPr/>
        </p:nvSpPr>
        <p:spPr>
          <a:xfrm>
            <a:off x="4572000" y="5219395"/>
            <a:ext cx="3148279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426B86"/>
                </a:solidFill>
                <a:latin typeface="Noto Sans CJK SC"/>
              </a:rPr>
              <a:t>契约即上下文，工具不散调</a:t>
            </a:r>
          </a:p>
        </p:txBody>
      </p:sp>
      <p:sp>
        <p:nvSpPr>
          <p:cNvPr id="32" name="h2p-15-box-31"/>
          <p:cNvSpPr/>
          <p:nvPr/>
        </p:nvSpPr>
        <p:spPr>
          <a:xfrm>
            <a:off x="8001000" y="3047695"/>
            <a:ext cx="3504895" cy="2971800"/>
          </a:xfrm>
          <a:prstGeom prst="roundRect">
            <a:avLst>
              <a:gd name="adj" fmla="val 577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2p-15-text-32"/>
          <p:cNvSpPr txBox="1"/>
          <p:nvPr/>
        </p:nvSpPr>
        <p:spPr>
          <a:xfrm>
            <a:off x="8229600" y="3200400"/>
            <a:ext cx="1360627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Mono CJK SC"/>
              </a:rPr>
              <a:t>上下文能力 · 4 选 2</a:t>
            </a:r>
          </a:p>
        </p:txBody>
      </p:sp>
      <p:sp>
        <p:nvSpPr>
          <p:cNvPr id="34" name="h2p-15-text-33"/>
          <p:cNvSpPr txBox="1"/>
          <p:nvPr/>
        </p:nvSpPr>
        <p:spPr>
          <a:xfrm>
            <a:off x="8229600" y="3543300"/>
            <a:ext cx="3148279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02A43"/>
                </a:solidFill>
                <a:latin typeface="Noto Sans CJK SC"/>
              </a:rPr>
              <a:t>选择 1 · 共享状态</a:t>
            </a:r>
          </a:p>
        </p:txBody>
      </p:sp>
      <p:sp>
        <p:nvSpPr>
          <p:cNvPr id="35" name="h2p-15-text-34"/>
          <p:cNvSpPr txBox="1"/>
          <p:nvPr/>
        </p:nvSpPr>
        <p:spPr>
          <a:xfrm>
            <a:off x="8229600" y="3810304"/>
            <a:ext cx="3148279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Project Dossier 作事实源。</a:t>
            </a:r>
          </a:p>
        </p:txBody>
      </p:sp>
      <p:sp>
        <p:nvSpPr>
          <p:cNvPr id="36" name="h2p-15-text-35"/>
          <p:cNvSpPr txBox="1"/>
          <p:nvPr/>
        </p:nvSpPr>
        <p:spPr>
          <a:xfrm>
            <a:off x="8229600" y="4267504"/>
            <a:ext cx="3148279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02A43"/>
                </a:solidFill>
                <a:latin typeface="Noto Sans CJK SC"/>
              </a:rPr>
              <a:t>选择 2 · 轨迹可观测</a:t>
            </a:r>
          </a:p>
        </p:txBody>
      </p:sp>
      <p:sp>
        <p:nvSpPr>
          <p:cNvPr id="37" name="h2p-15-text-36"/>
          <p:cNvSpPr txBox="1"/>
          <p:nvPr/>
        </p:nvSpPr>
        <p:spPr>
          <a:xfrm>
            <a:off x="8229600" y="4533595"/>
            <a:ext cx="3148279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Step / Episode 级 Trace。</a:t>
            </a:r>
          </a:p>
        </p:txBody>
      </p:sp>
      <p:sp>
        <p:nvSpPr>
          <p:cNvPr id="38" name="h2p-15-text-37"/>
          <p:cNvSpPr txBox="1"/>
          <p:nvPr/>
        </p:nvSpPr>
        <p:spPr>
          <a:xfrm>
            <a:off x="8229600" y="5219395"/>
            <a:ext cx="3148279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D6A43B"/>
                </a:solidFill>
                <a:latin typeface="Noto Sans CJK SC"/>
              </a:rPr>
              <a:t>不以 RAG 作为主上下文机制</a:t>
            </a:r>
          </a:p>
        </p:txBody>
      </p:sp>
      <p:sp>
        <p:nvSpPr>
          <p:cNvPr id="39" name="h2p-15-text-38"/>
          <p:cNvSpPr txBox="1"/>
          <p:nvPr/>
        </p:nvSpPr>
        <p:spPr>
          <a:xfrm>
            <a:off x="577900" y="6210604"/>
            <a:ext cx="11036808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设计契约，非运行证据 · Skill 必选，MCP 可选</a:t>
            </a:r>
          </a:p>
        </p:txBody>
      </p:sp>
      <p:sp>
        <p:nvSpPr>
          <p:cNvPr id="40" name="h2p-15-text-39"/>
          <p:cNvSpPr txBox="1"/>
          <p:nvPr/>
        </p:nvSpPr>
        <p:spPr>
          <a:xfrm>
            <a:off x="685800" y="6543446"/>
            <a:ext cx="170992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Skill / MCP / 上下文</a:t>
            </a:r>
          </a:p>
        </p:txBody>
      </p:sp>
      <p:sp>
        <p:nvSpPr>
          <p:cNvPr id="41" name="h2p-15-text-40"/>
          <p:cNvSpPr txBox="1"/>
          <p:nvPr/>
        </p:nvSpPr>
        <p:spPr>
          <a:xfrm>
            <a:off x="10815523" y="6543446"/>
            <a:ext cx="747979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技术附录 · A3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6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6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A4 / 05 · HUMAN / RISK / ROLLBACK</a:t>
            </a:r>
          </a:p>
        </p:txBody>
      </p:sp>
      <p:sp>
        <p:nvSpPr>
          <p:cNvPr id="4" name="h2p-16-text-3"/>
          <p:cNvSpPr txBox="1"/>
          <p:nvPr/>
        </p:nvSpPr>
        <p:spPr>
          <a:xfrm>
            <a:off x="685800" y="666597"/>
            <a:ext cx="11036808" cy="3767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700">
                <a:solidFill>
                  <a:srgbClr val="102A43"/>
                </a:solidFill>
                <a:latin typeface="Noto Sans CJK SC"/>
              </a:rPr>
              <a:t>Human 门禁、风险、异常与回滚。</a:t>
            </a:r>
          </a:p>
        </p:txBody>
      </p:sp>
      <p:sp>
        <p:nvSpPr>
          <p:cNvPr id="5" name="h2p-16-text-4"/>
          <p:cNvSpPr txBox="1"/>
          <p:nvPr/>
        </p:nvSpPr>
        <p:spPr>
          <a:xfrm>
            <a:off x="705002" y="1257300"/>
            <a:ext cx="1049274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53697C"/>
                </a:solidFill>
                <a:latin typeface="Noto Sans CJK SC"/>
              </a:rPr>
              <a:t>高风险动作先审批；异常必须能停止、降级和回滚；Human 是正式能力，不是兜底文案。</a:t>
            </a:r>
          </a:p>
        </p:txBody>
      </p:sp>
      <p:sp>
        <p:nvSpPr>
          <p:cNvPr id="6" name="h2p-16-box-5"/>
          <p:cNvSpPr/>
          <p:nvPr/>
        </p:nvSpPr>
        <p:spPr>
          <a:xfrm>
            <a:off x="685800" y="1695297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6-box-6"/>
          <p:cNvSpPr/>
          <p:nvPr/>
        </p:nvSpPr>
        <p:spPr>
          <a:xfrm>
            <a:off x="685800" y="1962302"/>
            <a:ext cx="7048195" cy="1524304"/>
          </a:xfrm>
          <a:prstGeom prst="roundRect">
            <a:avLst>
              <a:gd name="adj" fmla="val 1125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6-text-7"/>
          <p:cNvSpPr txBox="1"/>
          <p:nvPr/>
        </p:nvSpPr>
        <p:spPr>
          <a:xfrm>
            <a:off x="914400" y="2114092"/>
            <a:ext cx="680313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Mono CJK SC"/>
              </a:rPr>
              <a:t>HUMAN GATE</a:t>
            </a:r>
          </a:p>
        </p:txBody>
      </p:sp>
      <p:sp>
        <p:nvSpPr>
          <p:cNvPr id="9" name="h2p-16-text-8"/>
          <p:cNvSpPr txBox="1"/>
          <p:nvPr/>
        </p:nvSpPr>
        <p:spPr>
          <a:xfrm>
            <a:off x="914400" y="2419502"/>
            <a:ext cx="6742785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动作请求 → 风险分类 → 审批：批准→执行 ｜ 拒绝 / 超时→拒绝执行或安全降级 → Trace 与回滚验证</a:t>
            </a:r>
          </a:p>
        </p:txBody>
      </p:sp>
      <p:sp>
        <p:nvSpPr>
          <p:cNvPr id="10" name="h2p-16-box-9"/>
          <p:cNvSpPr/>
          <p:nvPr/>
        </p:nvSpPr>
        <p:spPr>
          <a:xfrm>
            <a:off x="914400" y="2857500"/>
            <a:ext cx="1505102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2p-16-text-10"/>
          <p:cNvSpPr txBox="1"/>
          <p:nvPr/>
        </p:nvSpPr>
        <p:spPr>
          <a:xfrm>
            <a:off x="1000353" y="2905048"/>
            <a:ext cx="1360627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D6A43B"/>
                </a:solidFill>
                <a:latin typeface="Noto Sans Mono CJK SC"/>
              </a:rPr>
              <a:t>外部系统写入</a:t>
            </a:r>
          </a:p>
        </p:txBody>
      </p:sp>
      <p:sp>
        <p:nvSpPr>
          <p:cNvPr id="12" name="h2p-16-box-11"/>
          <p:cNvSpPr/>
          <p:nvPr/>
        </p:nvSpPr>
        <p:spPr>
          <a:xfrm>
            <a:off x="2495397" y="2857500"/>
            <a:ext cx="1505102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16-text-12"/>
          <p:cNvSpPr txBox="1"/>
          <p:nvPr/>
        </p:nvSpPr>
        <p:spPr>
          <a:xfrm>
            <a:off x="2581351" y="2905048"/>
            <a:ext cx="1360627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D6A43B"/>
                </a:solidFill>
                <a:latin typeface="Noto Sans Mono CJK SC"/>
              </a:rPr>
              <a:t>真实发布部署</a:t>
            </a:r>
          </a:p>
        </p:txBody>
      </p:sp>
      <p:sp>
        <p:nvSpPr>
          <p:cNvPr id="14" name="h2p-16-box-13"/>
          <p:cNvSpPr/>
          <p:nvPr/>
        </p:nvSpPr>
        <p:spPr>
          <a:xfrm>
            <a:off x="4076395" y="2857500"/>
            <a:ext cx="1505102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2p-16-text-14"/>
          <p:cNvSpPr txBox="1"/>
          <p:nvPr/>
        </p:nvSpPr>
        <p:spPr>
          <a:xfrm>
            <a:off x="4162348" y="2905048"/>
            <a:ext cx="1360627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D6A43B"/>
                </a:solidFill>
                <a:latin typeface="Noto Sans Mono CJK SC"/>
              </a:rPr>
              <a:t>责任转移</a:t>
            </a:r>
          </a:p>
        </p:txBody>
      </p:sp>
      <p:sp>
        <p:nvSpPr>
          <p:cNvPr id="16" name="h2p-16-box-15"/>
          <p:cNvSpPr/>
          <p:nvPr/>
        </p:nvSpPr>
        <p:spPr>
          <a:xfrm>
            <a:off x="5658307" y="2857500"/>
            <a:ext cx="1809597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2p-16-text-16"/>
          <p:cNvSpPr txBox="1"/>
          <p:nvPr/>
        </p:nvSpPr>
        <p:spPr>
          <a:xfrm>
            <a:off x="5743346" y="2905048"/>
            <a:ext cx="1670608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D6A43B"/>
                </a:solidFill>
                <a:latin typeface="Noto Sans Mono CJK SC"/>
              </a:rPr>
              <a:t>密钥 / 敏感数据访问</a:t>
            </a:r>
          </a:p>
        </p:txBody>
      </p:sp>
      <p:sp>
        <p:nvSpPr>
          <p:cNvPr id="18" name="h2p-16-box-17"/>
          <p:cNvSpPr/>
          <p:nvPr/>
        </p:nvSpPr>
        <p:spPr>
          <a:xfrm>
            <a:off x="7925104" y="1962302"/>
            <a:ext cx="3581704" cy="1524304"/>
          </a:xfrm>
          <a:prstGeom prst="roundRect">
            <a:avLst>
              <a:gd name="adj" fmla="val 11250"/>
            </a:avLst>
          </a:prstGeom>
          <a:solidFill>
            <a:srgbClr val="F8DDD4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2p-16-text-18"/>
          <p:cNvSpPr txBox="1"/>
          <p:nvPr/>
        </p:nvSpPr>
        <p:spPr>
          <a:xfrm>
            <a:off x="8153704" y="2114092"/>
            <a:ext cx="816559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26B4B"/>
                </a:solidFill>
                <a:latin typeface="Noto Sans Mono CJK SC"/>
              </a:rPr>
              <a:t>必须人工批准</a:t>
            </a:r>
          </a:p>
        </p:txBody>
      </p:sp>
      <p:sp>
        <p:nvSpPr>
          <p:cNvPr id="20" name="h2p-16-text-19"/>
          <p:cNvSpPr txBox="1"/>
          <p:nvPr/>
        </p:nvSpPr>
        <p:spPr>
          <a:xfrm>
            <a:off x="8153704" y="2419502"/>
            <a:ext cx="3205886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不可逆操作、责任转移、预算提升与交付决议。</a:t>
            </a:r>
          </a:p>
        </p:txBody>
      </p:sp>
      <p:sp>
        <p:nvSpPr>
          <p:cNvPr id="21" name="h2p-16-text-20"/>
          <p:cNvSpPr txBox="1"/>
          <p:nvPr/>
        </p:nvSpPr>
        <p:spPr>
          <a:xfrm>
            <a:off x="8153704" y="3028492"/>
            <a:ext cx="3205886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F26B4B"/>
                </a:solidFill>
                <a:latin typeface="Noto Sans CJK SC"/>
              </a:rPr>
              <a:t>无批准 = 拒绝执行 + 保留证据</a:t>
            </a:r>
          </a:p>
        </p:txBody>
      </p:sp>
      <p:sp>
        <p:nvSpPr>
          <p:cNvPr id="22" name="h2p-16-box-21"/>
          <p:cNvSpPr/>
          <p:nvPr/>
        </p:nvSpPr>
        <p:spPr>
          <a:xfrm>
            <a:off x="685800" y="3676802"/>
            <a:ext cx="7048195" cy="2361895"/>
          </a:xfrm>
          <a:prstGeom prst="roundRect">
            <a:avLst>
              <a:gd name="adj" fmla="val 7260"/>
            </a:avLst>
          </a:prstGeom>
          <a:solidFill>
            <a:srgbClr val="FFFFFF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2p-16-text-22"/>
          <p:cNvSpPr txBox="1"/>
          <p:nvPr/>
        </p:nvSpPr>
        <p:spPr>
          <a:xfrm>
            <a:off x="914400" y="3829507"/>
            <a:ext cx="197236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异常与恢复 · 同一 Trace 语义</a:t>
            </a:r>
          </a:p>
        </p:txBody>
      </p:sp>
      <p:sp>
        <p:nvSpPr>
          <p:cNvPr id="24" name="h2p-16-box-23"/>
          <p:cNvSpPr/>
          <p:nvPr/>
        </p:nvSpPr>
        <p:spPr>
          <a:xfrm>
            <a:off x="914400" y="4171492"/>
            <a:ext cx="2076602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536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2p-16-text-24"/>
          <p:cNvSpPr txBox="1"/>
          <p:nvPr/>
        </p:nvSpPr>
        <p:spPr>
          <a:xfrm>
            <a:off x="1000353" y="4219956"/>
            <a:ext cx="19431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53697C"/>
                </a:solidFill>
                <a:latin typeface="Noto Sans Mono CJK SC"/>
              </a:rPr>
              <a:t>Agent 不可用→阶段暂停</a:t>
            </a:r>
          </a:p>
        </p:txBody>
      </p:sp>
      <p:sp>
        <p:nvSpPr>
          <p:cNvPr id="26" name="h2p-16-box-25"/>
          <p:cNvSpPr/>
          <p:nvPr/>
        </p:nvSpPr>
        <p:spPr>
          <a:xfrm>
            <a:off x="3086100" y="4171492"/>
            <a:ext cx="2076602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536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2p-16-text-26"/>
          <p:cNvSpPr txBox="1"/>
          <p:nvPr/>
        </p:nvSpPr>
        <p:spPr>
          <a:xfrm>
            <a:off x="3172053" y="4219956"/>
            <a:ext cx="19431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53697C"/>
                </a:solidFill>
                <a:latin typeface="Noto Sans Mono CJK SC"/>
              </a:rPr>
              <a:t>Schema 非法→拒绝推进</a:t>
            </a:r>
          </a:p>
        </p:txBody>
      </p:sp>
      <p:sp>
        <p:nvSpPr>
          <p:cNvPr id="28" name="h2p-16-box-27"/>
          <p:cNvSpPr/>
          <p:nvPr/>
        </p:nvSpPr>
        <p:spPr>
          <a:xfrm>
            <a:off x="5257800" y="4171492"/>
            <a:ext cx="2286000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536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2p-16-text-28"/>
          <p:cNvSpPr txBox="1"/>
          <p:nvPr/>
        </p:nvSpPr>
        <p:spPr>
          <a:xfrm>
            <a:off x="5343753" y="4219956"/>
            <a:ext cx="2157069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53697C"/>
                </a:solidFill>
                <a:latin typeface="Noto Sans Mono CJK SC"/>
              </a:rPr>
              <a:t>预算耗尽→硬停止</a:t>
            </a:r>
          </a:p>
        </p:txBody>
      </p:sp>
      <p:sp>
        <p:nvSpPr>
          <p:cNvPr id="30" name="h2p-16-box-29"/>
          <p:cNvSpPr/>
          <p:nvPr/>
        </p:nvSpPr>
        <p:spPr>
          <a:xfrm>
            <a:off x="914400" y="4628692"/>
            <a:ext cx="2076602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536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2p-16-text-30"/>
          <p:cNvSpPr txBox="1"/>
          <p:nvPr/>
        </p:nvSpPr>
        <p:spPr>
          <a:xfrm>
            <a:off x="1000353" y="4677156"/>
            <a:ext cx="19431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53697C"/>
                </a:solidFill>
                <a:latin typeface="Noto Sans Mono CJK SC"/>
              </a:rPr>
              <a:t>通信异常→幂等重发</a:t>
            </a:r>
          </a:p>
        </p:txBody>
      </p:sp>
      <p:sp>
        <p:nvSpPr>
          <p:cNvPr id="32" name="h2p-16-box-31"/>
          <p:cNvSpPr/>
          <p:nvPr/>
        </p:nvSpPr>
        <p:spPr>
          <a:xfrm>
            <a:off x="3086100" y="4628692"/>
            <a:ext cx="2076602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536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2p-16-text-32"/>
          <p:cNvSpPr txBox="1"/>
          <p:nvPr/>
        </p:nvSpPr>
        <p:spPr>
          <a:xfrm>
            <a:off x="3172053" y="4677156"/>
            <a:ext cx="19431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53697C"/>
                </a:solidFill>
                <a:latin typeface="Noto Sans Mono CJK SC"/>
              </a:rPr>
              <a:t>holdout 泄漏→本轮无效</a:t>
            </a:r>
          </a:p>
        </p:txBody>
      </p:sp>
      <p:sp>
        <p:nvSpPr>
          <p:cNvPr id="34" name="h2p-16-box-33"/>
          <p:cNvSpPr/>
          <p:nvPr/>
        </p:nvSpPr>
        <p:spPr>
          <a:xfrm>
            <a:off x="5257800" y="4628692"/>
            <a:ext cx="2286000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536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2p-16-text-34"/>
          <p:cNvSpPr txBox="1"/>
          <p:nvPr/>
        </p:nvSpPr>
        <p:spPr>
          <a:xfrm>
            <a:off x="5343753" y="4677156"/>
            <a:ext cx="2157069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53697C"/>
                </a:solidFill>
                <a:latin typeface="Noto Sans Mono CJK SC"/>
              </a:rPr>
              <a:t>循环失控→达上限停止</a:t>
            </a:r>
          </a:p>
        </p:txBody>
      </p:sp>
      <p:sp>
        <p:nvSpPr>
          <p:cNvPr id="36" name="h2p-16-text-35"/>
          <p:cNvSpPr txBox="1"/>
          <p:nvPr/>
        </p:nvSpPr>
        <p:spPr>
          <a:xfrm>
            <a:off x="914400" y="5162702"/>
            <a:ext cx="6742785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权限缺失→缩小范围；不可回滚→默认拒绝；成功与失败同等留证。</a:t>
            </a:r>
          </a:p>
        </p:txBody>
      </p:sp>
      <p:sp>
        <p:nvSpPr>
          <p:cNvPr id="37" name="h2p-16-text-36"/>
          <p:cNvSpPr txBox="1"/>
          <p:nvPr/>
        </p:nvSpPr>
        <p:spPr>
          <a:xfrm>
            <a:off x="914400" y="5639104"/>
            <a:ext cx="6742785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F26B4B"/>
                </a:solidFill>
                <a:latin typeface="Noto Sans CJK SC"/>
              </a:rPr>
              <a:t>候选生成前冻结 Sample/Task · 候选生成后统一试验前批准 TrialSpec</a:t>
            </a:r>
          </a:p>
        </p:txBody>
      </p:sp>
      <p:sp>
        <p:nvSpPr>
          <p:cNvPr id="38" name="h2p-16-box-37"/>
          <p:cNvSpPr/>
          <p:nvPr/>
        </p:nvSpPr>
        <p:spPr>
          <a:xfrm>
            <a:off x="7925104" y="3676802"/>
            <a:ext cx="3581704" cy="2361895"/>
          </a:xfrm>
          <a:prstGeom prst="roundRect">
            <a:avLst>
              <a:gd name="adj" fmla="val 7260"/>
            </a:avLst>
          </a:prstGeom>
          <a:solidFill>
            <a:srgbClr val="EEF1F5"/>
          </a:solidFill>
          <a:ln w="19050">
            <a:solidFill>
              <a:srgbClr val="536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h2p-16-text-38"/>
          <p:cNvSpPr txBox="1"/>
          <p:nvPr/>
        </p:nvSpPr>
        <p:spPr>
          <a:xfrm>
            <a:off x="8153704" y="3829507"/>
            <a:ext cx="1360627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风险分级 · 动作档位</a:t>
            </a:r>
          </a:p>
        </p:txBody>
      </p:sp>
      <p:sp>
        <p:nvSpPr>
          <p:cNvPr id="40" name="h2p-16-box-39"/>
          <p:cNvSpPr/>
          <p:nvPr/>
        </p:nvSpPr>
        <p:spPr>
          <a:xfrm>
            <a:off x="8153704" y="4171492"/>
            <a:ext cx="3143707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h2p-16-text-40"/>
          <p:cNvSpPr txBox="1"/>
          <p:nvPr/>
        </p:nvSpPr>
        <p:spPr>
          <a:xfrm>
            <a:off x="8238744" y="4219956"/>
            <a:ext cx="303123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L0 只读诊断</a:t>
            </a:r>
          </a:p>
        </p:txBody>
      </p:sp>
      <p:sp>
        <p:nvSpPr>
          <p:cNvPr id="42" name="h2p-16-box-41"/>
          <p:cNvSpPr/>
          <p:nvPr/>
        </p:nvSpPr>
        <p:spPr>
          <a:xfrm>
            <a:off x="8153704" y="4591202"/>
            <a:ext cx="3143707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h2p-16-text-42"/>
          <p:cNvSpPr txBox="1"/>
          <p:nvPr/>
        </p:nvSpPr>
        <p:spPr>
          <a:xfrm>
            <a:off x="8238744" y="4638751"/>
            <a:ext cx="303123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L1 低风险自动执行</a:t>
            </a:r>
          </a:p>
        </p:txBody>
      </p:sp>
      <p:sp>
        <p:nvSpPr>
          <p:cNvPr id="44" name="h2p-16-box-43"/>
          <p:cNvSpPr/>
          <p:nvPr/>
        </p:nvSpPr>
        <p:spPr>
          <a:xfrm>
            <a:off x="8153704" y="5009997"/>
            <a:ext cx="3143707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h2p-16-text-44"/>
          <p:cNvSpPr txBox="1"/>
          <p:nvPr/>
        </p:nvSpPr>
        <p:spPr>
          <a:xfrm>
            <a:off x="8238744" y="5057546"/>
            <a:ext cx="303123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D6A43B"/>
                </a:solidFill>
                <a:latin typeface="Noto Sans Mono CJK SC"/>
              </a:rPr>
              <a:t>L2 灰度 + 审批</a:t>
            </a:r>
          </a:p>
        </p:txBody>
      </p:sp>
      <p:sp>
        <p:nvSpPr>
          <p:cNvPr id="46" name="h2p-16-box-45"/>
          <p:cNvSpPr/>
          <p:nvPr/>
        </p:nvSpPr>
        <p:spPr>
          <a:xfrm>
            <a:off x="8153704" y="5429707"/>
            <a:ext cx="3143707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h2p-16-text-46"/>
          <p:cNvSpPr txBox="1"/>
          <p:nvPr/>
        </p:nvSpPr>
        <p:spPr>
          <a:xfrm>
            <a:off x="8238744" y="5477256"/>
            <a:ext cx="303123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F26B4B"/>
                </a:solidFill>
                <a:latin typeface="Noto Sans Mono CJK SC"/>
              </a:rPr>
              <a:t>L3 只生成方案</a:t>
            </a:r>
          </a:p>
        </p:txBody>
      </p:sp>
      <p:sp>
        <p:nvSpPr>
          <p:cNvPr id="48" name="h2p-16-text-47"/>
          <p:cNvSpPr txBox="1"/>
          <p:nvPr/>
        </p:nvSpPr>
        <p:spPr>
          <a:xfrm>
            <a:off x="577900" y="6210604"/>
            <a:ext cx="11036808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设计契约，非运行证据 · 完整清单见 submission/risk-and-human-gates.md</a:t>
            </a:r>
          </a:p>
        </p:txBody>
      </p:sp>
      <p:sp>
        <p:nvSpPr>
          <p:cNvPr id="49" name="h2p-16-text-48"/>
          <p:cNvSpPr txBox="1"/>
          <p:nvPr/>
        </p:nvSpPr>
        <p:spPr>
          <a:xfrm>
            <a:off x="685800" y="6543446"/>
            <a:ext cx="106893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安全设计</a:t>
            </a:r>
          </a:p>
        </p:txBody>
      </p:sp>
      <p:sp>
        <p:nvSpPr>
          <p:cNvPr id="50" name="h2p-16-text-49"/>
          <p:cNvSpPr txBox="1"/>
          <p:nvPr/>
        </p:nvSpPr>
        <p:spPr>
          <a:xfrm>
            <a:off x="10815523" y="6543446"/>
            <a:ext cx="747979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技术附录 · A4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7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7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A5 / 05 · 开放 / 依赖 / 当前边界</a:t>
            </a:r>
          </a:p>
        </p:txBody>
      </p:sp>
      <p:sp>
        <p:nvSpPr>
          <p:cNvPr id="4" name="h2p-17-text-3"/>
          <p:cNvSpPr txBox="1"/>
          <p:nvPr/>
        </p:nvSpPr>
        <p:spPr>
          <a:xfrm>
            <a:off x="685800" y="666597"/>
            <a:ext cx="11036808" cy="3767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700">
                <a:solidFill>
                  <a:srgbClr val="102A43"/>
                </a:solidFill>
                <a:latin typeface="Noto Sans CJK SC"/>
              </a:rPr>
              <a:t>开放、依赖、许可证、baseline 引用与未实现边界。</a:t>
            </a:r>
          </a:p>
        </p:txBody>
      </p:sp>
      <p:sp>
        <p:nvSpPr>
          <p:cNvPr id="5" name="h2p-17-text-4"/>
          <p:cNvSpPr txBox="1"/>
          <p:nvPr/>
        </p:nvSpPr>
        <p:spPr>
          <a:xfrm>
            <a:off x="705002" y="1257300"/>
            <a:ext cx="1049274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53697C"/>
                </a:solidFill>
                <a:latin typeface="Noto Sans CJK SC"/>
              </a:rPr>
              <a:t>仓库当前为私有，项目许可证尚未选择；任何“已开源”声明都不成立。</a:t>
            </a:r>
          </a:p>
        </p:txBody>
      </p:sp>
      <p:sp>
        <p:nvSpPr>
          <p:cNvPr id="6" name="h2p-17-box-5"/>
          <p:cNvSpPr/>
          <p:nvPr/>
        </p:nvSpPr>
        <p:spPr>
          <a:xfrm>
            <a:off x="685800" y="1695297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7-box-6"/>
          <p:cNvSpPr/>
          <p:nvPr/>
        </p:nvSpPr>
        <p:spPr>
          <a:xfrm>
            <a:off x="685800" y="1962302"/>
            <a:ext cx="3504895" cy="3143707"/>
          </a:xfrm>
          <a:prstGeom prst="roundRect">
            <a:avLst>
              <a:gd name="adj" fmla="val 545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7-text-7"/>
          <p:cNvSpPr txBox="1"/>
          <p:nvPr/>
        </p:nvSpPr>
        <p:spPr>
          <a:xfrm>
            <a:off x="914400" y="2114092"/>
            <a:ext cx="1224381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计划开放 · 未发布</a:t>
            </a:r>
          </a:p>
        </p:txBody>
      </p:sp>
      <p:sp>
        <p:nvSpPr>
          <p:cNvPr id="9" name="h2p-17-text-8"/>
          <p:cNvSpPr txBox="1"/>
          <p:nvPr/>
        </p:nvSpPr>
        <p:spPr>
          <a:xfrm>
            <a:off x="914400" y="2438704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任务 / 能力 / 候选 / Trace Schema</a:t>
            </a:r>
          </a:p>
        </p:txBody>
      </p:sp>
      <p:sp>
        <p:nvSpPr>
          <p:cNvPr id="10" name="h2p-17-text-9"/>
          <p:cNvSpPr txBox="1"/>
          <p:nvPr/>
        </p:nvSpPr>
        <p:spPr>
          <a:xfrm>
            <a:off x="914400" y="2819095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五个 Agent Identity 与七个 Skill 契约</a:t>
            </a:r>
          </a:p>
        </p:txBody>
      </p:sp>
      <p:sp>
        <p:nvSpPr>
          <p:cNvPr id="11" name="h2p-17-text-10"/>
          <p:cNvSpPr txBox="1"/>
          <p:nvPr/>
        </p:nvSpPr>
        <p:spPr>
          <a:xfrm>
            <a:off x="914400" y="3200400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评测与 Human 门禁模板</a:t>
            </a:r>
          </a:p>
        </p:txBody>
      </p:sp>
      <p:sp>
        <p:nvSpPr>
          <p:cNvPr id="12" name="h2p-17-text-11"/>
          <p:cNvSpPr txBox="1"/>
          <p:nvPr/>
        </p:nvSpPr>
        <p:spPr>
          <a:xfrm>
            <a:off x="914400" y="3581704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脱敏样例与生成链</a:t>
            </a:r>
          </a:p>
        </p:txBody>
      </p:sp>
      <p:sp>
        <p:nvSpPr>
          <p:cNvPr id="13" name="h2p-17-text-12"/>
          <p:cNvSpPr txBox="1"/>
          <p:nvPr/>
        </p:nvSpPr>
        <p:spPr>
          <a:xfrm>
            <a:off x="914400" y="4267504"/>
            <a:ext cx="3148279" cy="3118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CJK SC"/>
              </a:rPr>
              <a:t>开放前门禁：选 License · 清点第三方许可 · 完成脱敏与复现</a:t>
            </a:r>
          </a:p>
        </p:txBody>
      </p:sp>
      <p:sp>
        <p:nvSpPr>
          <p:cNvPr id="14" name="h2p-17-box-13"/>
          <p:cNvSpPr/>
          <p:nvPr/>
        </p:nvSpPr>
        <p:spPr>
          <a:xfrm>
            <a:off x="4343400" y="1962302"/>
            <a:ext cx="3504895" cy="3143707"/>
          </a:xfrm>
          <a:prstGeom prst="roundRect">
            <a:avLst>
              <a:gd name="adj" fmla="val 545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2p-17-text-14"/>
          <p:cNvSpPr txBox="1"/>
          <p:nvPr/>
        </p:nvSpPr>
        <p:spPr>
          <a:xfrm>
            <a:off x="4572000" y="2114092"/>
            <a:ext cx="1768449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Mono CJK SC"/>
              </a:rPr>
              <a:t>依赖与既有基础 · 必须披露</a:t>
            </a:r>
          </a:p>
        </p:txBody>
      </p:sp>
      <p:sp>
        <p:nvSpPr>
          <p:cNvPr id="16" name="h2p-17-text-15"/>
          <p:cNvSpPr txBox="1"/>
          <p:nvPr/>
        </p:nvSpPr>
        <p:spPr>
          <a:xfrm>
            <a:off x="4572000" y="2438704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AgentTeams：运行底座（官方 baseline 亦基于它）</a:t>
            </a:r>
          </a:p>
        </p:txBody>
      </p:sp>
      <p:sp>
        <p:nvSpPr>
          <p:cNvPr id="17" name="h2p-17-text-16"/>
          <p:cNvSpPr txBox="1"/>
          <p:nvPr/>
        </p:nvSpPr>
        <p:spPr>
          <a:xfrm>
            <a:off x="4572000" y="2819095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商业 LLM API：闭源模型依赖</a:t>
            </a:r>
          </a:p>
        </p:txBody>
      </p:sp>
      <p:sp>
        <p:nvSpPr>
          <p:cNvPr id="18" name="h2p-17-text-17"/>
          <p:cNvSpPr txBox="1"/>
          <p:nvPr/>
        </p:nvSpPr>
        <p:spPr>
          <a:xfrm>
            <a:off x="4572000" y="3200400"/>
            <a:ext cx="3148279" cy="3712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OpsPilot Zero：官方发布示例，作 baseline 与首个 ProjectCase 参考</a:t>
            </a:r>
          </a:p>
        </p:txBody>
      </p:sp>
      <p:sp>
        <p:nvSpPr>
          <p:cNvPr id="19" name="h2p-17-text-18"/>
          <p:cNvSpPr txBox="1"/>
          <p:nvPr/>
        </p:nvSpPr>
        <p:spPr>
          <a:xfrm>
            <a:off x="4572000" y="3733495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官方 Skills / MCP：按需复用</a:t>
            </a:r>
          </a:p>
        </p:txBody>
      </p:sp>
      <p:sp>
        <p:nvSpPr>
          <p:cNvPr id="20" name="h2p-17-text-19"/>
          <p:cNvSpPr txBox="1"/>
          <p:nvPr/>
        </p:nvSpPr>
        <p:spPr>
          <a:xfrm>
            <a:off x="4572000" y="4114800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第三方库：固定版本与许可证</a:t>
            </a:r>
          </a:p>
        </p:txBody>
      </p:sp>
      <p:sp>
        <p:nvSpPr>
          <p:cNvPr id="21" name="h2p-17-text-20"/>
          <p:cNvSpPr txBox="1"/>
          <p:nvPr/>
        </p:nvSpPr>
        <p:spPr>
          <a:xfrm>
            <a:off x="4572000" y="4647895"/>
            <a:ext cx="3148279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D6A43B"/>
                </a:solidFill>
                <a:latin typeface="Noto Sans CJK SC"/>
              </a:rPr>
              <a:t>密钥由基础设施持有，不进 Agent 上下文</a:t>
            </a:r>
          </a:p>
        </p:txBody>
      </p:sp>
      <p:sp>
        <p:nvSpPr>
          <p:cNvPr id="22" name="h2p-17-box-21"/>
          <p:cNvSpPr/>
          <p:nvPr/>
        </p:nvSpPr>
        <p:spPr>
          <a:xfrm>
            <a:off x="8001000" y="1962302"/>
            <a:ext cx="3504895" cy="3143707"/>
          </a:xfrm>
          <a:prstGeom prst="roundRect">
            <a:avLst>
              <a:gd name="adj" fmla="val 5450"/>
            </a:avLst>
          </a:prstGeom>
          <a:solidFill>
            <a:srgbClr val="F8DDD4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2p-17-text-22"/>
          <p:cNvSpPr txBox="1"/>
          <p:nvPr/>
        </p:nvSpPr>
        <p:spPr>
          <a:xfrm>
            <a:off x="8229600" y="2114092"/>
            <a:ext cx="1904695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26B4B"/>
                </a:solidFill>
                <a:latin typeface="Noto Sans Mono CJK SC"/>
              </a:rPr>
              <a:t>当前未实现 · 不包装成完成态</a:t>
            </a:r>
          </a:p>
        </p:txBody>
      </p:sp>
      <p:sp>
        <p:nvSpPr>
          <p:cNvPr id="24" name="h2p-17-text-23"/>
          <p:cNvSpPr txBox="1"/>
          <p:nvPr/>
        </p:nvSpPr>
        <p:spPr>
          <a:xfrm>
            <a:off x="8229600" y="2438704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机器可执行 Schema 与自动候选搜索</a:t>
            </a:r>
          </a:p>
        </p:txBody>
      </p:sp>
      <p:sp>
        <p:nvSpPr>
          <p:cNvPr id="25" name="h2p-17-text-24"/>
          <p:cNvSpPr txBox="1"/>
          <p:nvPr/>
        </p:nvSpPr>
        <p:spPr>
          <a:xfrm>
            <a:off x="8229600" y="2819095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真实 ProjectCase 与冻结 manifest</a:t>
            </a:r>
          </a:p>
        </p:txBody>
      </p:sp>
      <p:sp>
        <p:nvSpPr>
          <p:cNvPr id="26" name="h2p-17-text-25"/>
          <p:cNvSpPr txBox="1"/>
          <p:nvPr/>
        </p:nvSpPr>
        <p:spPr>
          <a:xfrm>
            <a:off x="8229600" y="3200400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AgentFit × AgentTeams 端到端集成</a:t>
            </a:r>
          </a:p>
        </p:txBody>
      </p:sp>
      <p:sp>
        <p:nvSpPr>
          <p:cNvPr id="27" name="h2p-17-text-26"/>
          <p:cNvSpPr txBox="1"/>
          <p:nvPr/>
        </p:nvSpPr>
        <p:spPr>
          <a:xfrm>
            <a:off x="8229600" y="3581704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统一预算下的 C0/C1/C2/C3 对照</a:t>
            </a:r>
          </a:p>
        </p:txBody>
      </p:sp>
      <p:sp>
        <p:nvSpPr>
          <p:cNvPr id="28" name="h2p-17-text-27"/>
          <p:cNvSpPr txBox="1"/>
          <p:nvPr/>
        </p:nvSpPr>
        <p:spPr>
          <a:xfrm>
            <a:off x="8229600" y="3962095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真实 Episode、Trace 与 ROI</a:t>
            </a:r>
          </a:p>
        </p:txBody>
      </p:sp>
      <p:sp>
        <p:nvSpPr>
          <p:cNvPr id="29" name="h2p-17-text-28"/>
          <p:cNvSpPr txBox="1"/>
          <p:nvPr/>
        </p:nvSpPr>
        <p:spPr>
          <a:xfrm>
            <a:off x="8229600" y="4343400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跨项目 Meta-learning</a:t>
            </a:r>
          </a:p>
        </p:txBody>
      </p:sp>
      <p:sp>
        <p:nvSpPr>
          <p:cNvPr id="30" name="h2p-17-text-29"/>
          <p:cNvSpPr txBox="1"/>
          <p:nvPr/>
        </p:nvSpPr>
        <p:spPr>
          <a:xfrm>
            <a:off x="8229600" y="4724704"/>
            <a:ext cx="3148279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F26B4B"/>
                </a:solidFill>
                <a:latin typeface="Noto Sans CJK SC"/>
              </a:rPr>
              <a:t>未达可复现门禁时不提交代码包</a:t>
            </a:r>
          </a:p>
        </p:txBody>
      </p:sp>
      <p:sp>
        <p:nvSpPr>
          <p:cNvPr id="31" name="h2p-17-box-30"/>
          <p:cNvSpPr/>
          <p:nvPr/>
        </p:nvSpPr>
        <p:spPr>
          <a:xfrm>
            <a:off x="685800" y="5277002"/>
            <a:ext cx="10820095" cy="875995"/>
          </a:xfrm>
          <a:prstGeom prst="roundRect">
            <a:avLst>
              <a:gd name="adj" fmla="val 19570"/>
            </a:avLst>
          </a:prstGeom>
          <a:solidFill>
            <a:srgbClr val="EEF1F5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2p-17-text-31"/>
          <p:cNvSpPr txBox="1"/>
          <p:nvPr/>
        </p:nvSpPr>
        <p:spPr>
          <a:xfrm>
            <a:off x="914400" y="5410504"/>
            <a:ext cx="1292047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baseline 引用与核验</a:t>
            </a:r>
          </a:p>
        </p:txBody>
      </p:sp>
      <p:sp>
        <p:nvSpPr>
          <p:cNvPr id="33" name="h2p-17-text-32"/>
          <p:cNvSpPr txBox="1"/>
          <p:nvPr/>
        </p:nvSpPr>
        <p:spPr>
          <a:xfrm>
            <a:off x="914400" y="5676595"/>
            <a:ext cx="10589666" cy="1792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OpsPilot Zero（官方示例 DEMO，代码级审计）· GOAI Agent Infra 赛道官网参考方向（核验 2026-08-10，仅场景启发）</a:t>
            </a:r>
          </a:p>
        </p:txBody>
      </p:sp>
      <p:sp>
        <p:nvSpPr>
          <p:cNvPr id="34" name="h2p-17-text-33"/>
          <p:cNvSpPr txBox="1"/>
          <p:nvPr/>
        </p:nvSpPr>
        <p:spPr>
          <a:xfrm>
            <a:off x="914400" y="5982004"/>
            <a:ext cx="10589666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718190"/>
                </a:solidFill>
                <a:latin typeface="Noto Sans CJK SC"/>
              </a:rPr>
              <a:t>官网参考案例与 baseline 均非 AgentFit 运行证据；设计契约，非运行证据。</a:t>
            </a:r>
          </a:p>
        </p:txBody>
      </p:sp>
      <p:sp>
        <p:nvSpPr>
          <p:cNvPr id="35" name="h2p-17-text-34"/>
          <p:cNvSpPr txBox="1"/>
          <p:nvPr/>
        </p:nvSpPr>
        <p:spPr>
          <a:xfrm>
            <a:off x="685800" y="6543446"/>
            <a:ext cx="106893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当前事实</a:t>
            </a:r>
          </a:p>
        </p:txBody>
      </p:sp>
      <p:sp>
        <p:nvSpPr>
          <p:cNvPr id="36" name="h2p-17-text-35"/>
          <p:cNvSpPr txBox="1"/>
          <p:nvPr/>
        </p:nvSpPr>
        <p:spPr>
          <a:xfrm>
            <a:off x="10815523" y="6543446"/>
            <a:ext cx="747979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技术附录 · A5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AgentFit 评分主线版（scoreline-v2）</dc:title>
  <dc:subject>OpsPilot baseline 作首个 ProjectCase 的方案选择路演</dc:subject>
  <dc:creator>AgentFit Team</dc:creator>
  <cp:keywords>AgentFit, AgentTeams, OpsPilot, scoreline-v2, HTML-first</cp:keywords>
  <dc:description>Alternative comparison deck. OpsPilot baseline is a code-level audited reference and first ProjectCase input, not AgentFit runtime evidence.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