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01 / 12 · AGENTFIT · 方案建筑师</a:t>
            </a:r>
          </a:p>
        </p:txBody>
      </p:sp>
      <p:sp>
        <p:nvSpPr>
          <p:cNvPr id="4" name="h2p-1-text-3"/>
          <p:cNvSpPr txBox="1"/>
          <p:nvPr/>
        </p:nvSpPr>
        <p:spPr>
          <a:xfrm>
            <a:off x="685800" y="800100"/>
            <a:ext cx="6801307" cy="1131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FFF"/>
                </a:solidFill>
                <a:latin typeface="Noto Sans CJK SC"/>
              </a:rPr>
              <a:t>企业真正缺少的，</a:t>
            </a:r>
          </a:p>
          <a:p>
            <a:pPr marL="0" indent="0" algn="l">
              <a:lnSpc>
                <a:spcPts val="44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050">
                <a:solidFill>
                  <a:srgbClr val="FFFFFF"/>
                </a:solidFill>
                <a:latin typeface="Noto Sans CJK SC"/>
              </a:rPr>
              <a:t>是选对 Agent 方案。</a:t>
            </a:r>
          </a:p>
        </p:txBody>
      </p:sp>
      <p:sp>
        <p:nvSpPr>
          <p:cNvPr id="5" name="h2p-1-text-4"/>
          <p:cNvSpPr txBox="1"/>
          <p:nvPr/>
        </p:nvSpPr>
        <p:spPr>
          <a:xfrm>
            <a:off x="705002" y="2361895"/>
            <a:ext cx="6606540" cy="49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模型、框架、案例都在变多；没人回答“这件事到底该用 0 个、1 个、多个 Agent，还是保留人工”。</a:t>
            </a:r>
          </a:p>
        </p:txBody>
      </p:sp>
      <p:sp>
        <p:nvSpPr>
          <p:cNvPr id="6" name="h2p-1-box-5"/>
          <p:cNvSpPr/>
          <p:nvPr/>
        </p:nvSpPr>
        <p:spPr>
          <a:xfrm>
            <a:off x="685800" y="2971800"/>
            <a:ext cx="6286500" cy="1790395"/>
          </a:xfrm>
          <a:prstGeom prst="roundRect">
            <a:avLst>
              <a:gd name="adj" fmla="val 9570"/>
            </a:avLst>
          </a:prstGeom>
          <a:solidFill>
            <a:srgbClr val="132F47"/>
          </a:solidFill>
          <a:ln w="19050">
            <a:solidFill>
              <a:srgbClr val="2851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-text-6"/>
          <p:cNvSpPr txBox="1"/>
          <p:nvPr/>
        </p:nvSpPr>
        <p:spPr>
          <a:xfrm>
            <a:off x="952804" y="3200400"/>
            <a:ext cx="291510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AGENTFIT · AGENT 方案建筑师</a:t>
            </a:r>
          </a:p>
        </p:txBody>
      </p:sp>
      <p:sp>
        <p:nvSpPr>
          <p:cNvPr id="8" name="h2p-1-text-7"/>
          <p:cNvSpPr txBox="1"/>
          <p:nvPr/>
        </p:nvSpPr>
        <p:spPr>
          <a:xfrm>
            <a:off x="952804" y="3543300"/>
            <a:ext cx="5907024" cy="5431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>
                <a:solidFill>
                  <a:srgbClr val="FFFFFF"/>
                </a:solidFill>
                <a:latin typeface="Noto Sans CJK SC"/>
              </a:rPr>
              <a:t>把业务任务与可用能力编译成可比较的方案空间，</a:t>
            </a:r>
          </a:p>
          <a:p>
            <a:pPr marL="0" indent="0" algn="l">
              <a:lnSpc>
                <a:spcPts val="2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>
                <a:solidFill>
                  <a:srgbClr val="FFFFFF"/>
                </a:solidFill>
                <a:latin typeface="Noto Sans CJK SC"/>
              </a:rPr>
              <a:t>通过统一评测选出最小充分方案。</a:t>
            </a:r>
          </a:p>
        </p:txBody>
      </p:sp>
      <p:sp>
        <p:nvSpPr>
          <p:cNvPr id="9" name="h2p-1-text-8"/>
          <p:cNvSpPr txBox="1"/>
          <p:nvPr/>
        </p:nvSpPr>
        <p:spPr>
          <a:xfrm>
            <a:off x="952804" y="4304995"/>
            <a:ext cx="5907024" cy="3575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D6A43B"/>
                </a:solidFill>
                <a:latin typeface="Noto Sans CJK SC"/>
              </a:rPr>
              <a:t>运行在 AgentTeams 上 · 负责方案选择，不重造运行底座 · 合法答案也可以是保留人工或拒绝自动化</a:t>
            </a:r>
          </a:p>
        </p:txBody>
      </p:sp>
      <p:sp>
        <p:nvSpPr>
          <p:cNvPr id="10" name="h2p-1-box-9"/>
          <p:cNvSpPr/>
          <p:nvPr/>
        </p:nvSpPr>
        <p:spPr>
          <a:xfrm>
            <a:off x="7239304" y="1181404"/>
            <a:ext cx="4267504" cy="4533595"/>
          </a:xfrm>
          <a:prstGeom prst="roundRect">
            <a:avLst>
              <a:gd name="adj" fmla="val 580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1-text-10"/>
          <p:cNvSpPr txBox="1"/>
          <p:nvPr/>
        </p:nvSpPr>
        <p:spPr>
          <a:xfrm>
            <a:off x="7563002" y="1466697"/>
            <a:ext cx="136062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同一任务 · 四类候选</a:t>
            </a:r>
          </a:p>
        </p:txBody>
      </p:sp>
      <p:sp>
        <p:nvSpPr>
          <p:cNvPr id="12" name="h2p-1-box-11"/>
          <p:cNvSpPr/>
          <p:nvPr/>
        </p:nvSpPr>
        <p:spPr>
          <a:xfrm>
            <a:off x="7563002" y="1885492"/>
            <a:ext cx="169529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-text-12"/>
          <p:cNvSpPr txBox="1"/>
          <p:nvPr/>
        </p:nvSpPr>
        <p:spPr>
          <a:xfrm>
            <a:off x="7681874" y="1971446"/>
            <a:ext cx="145755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D3DD"/>
                </a:solidFill>
                <a:latin typeface="Noto Sans Mono CJK SC"/>
              </a:rPr>
              <a:t>C0 · 0 Agent</a:t>
            </a:r>
          </a:p>
        </p:txBody>
      </p:sp>
      <p:sp>
        <p:nvSpPr>
          <p:cNvPr id="14" name="h2p-1-box-13"/>
          <p:cNvSpPr/>
          <p:nvPr/>
        </p:nvSpPr>
        <p:spPr>
          <a:xfrm>
            <a:off x="9486900" y="1885492"/>
            <a:ext cx="169529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-text-14"/>
          <p:cNvSpPr txBox="1"/>
          <p:nvPr/>
        </p:nvSpPr>
        <p:spPr>
          <a:xfrm>
            <a:off x="9605772" y="1971446"/>
            <a:ext cx="145755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D3DD"/>
                </a:solidFill>
                <a:latin typeface="Noto Sans Mono CJK SC"/>
              </a:rPr>
              <a:t>C1 · 1 Agent</a:t>
            </a:r>
          </a:p>
        </p:txBody>
      </p:sp>
      <p:sp>
        <p:nvSpPr>
          <p:cNvPr id="16" name="h2p-1-box-15"/>
          <p:cNvSpPr/>
          <p:nvPr/>
        </p:nvSpPr>
        <p:spPr>
          <a:xfrm>
            <a:off x="7563002" y="2514600"/>
            <a:ext cx="169529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1-text-16"/>
          <p:cNvSpPr txBox="1"/>
          <p:nvPr/>
        </p:nvSpPr>
        <p:spPr>
          <a:xfrm>
            <a:off x="7681874" y="2600553"/>
            <a:ext cx="145755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C2 · N 业务 Agent</a:t>
            </a:r>
          </a:p>
        </p:txBody>
      </p:sp>
      <p:sp>
        <p:nvSpPr>
          <p:cNvPr id="18" name="h2p-1-box-17"/>
          <p:cNvSpPr/>
          <p:nvPr/>
        </p:nvSpPr>
        <p:spPr>
          <a:xfrm>
            <a:off x="9486900" y="2514600"/>
            <a:ext cx="1695297" cy="381304"/>
          </a:xfrm>
          <a:prstGeom prst="roundRect">
            <a:avLst>
              <a:gd name="adj" fmla="val 5000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1-text-18"/>
          <p:cNvSpPr txBox="1"/>
          <p:nvPr/>
        </p:nvSpPr>
        <p:spPr>
          <a:xfrm>
            <a:off x="9605772" y="2600553"/>
            <a:ext cx="145755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C3 · Human</a:t>
            </a:r>
          </a:p>
        </p:txBody>
      </p:sp>
      <p:sp>
        <p:nvSpPr>
          <p:cNvPr id="20" name="h2p-1-text-19"/>
          <p:cNvSpPr txBox="1"/>
          <p:nvPr/>
        </p:nvSpPr>
        <p:spPr>
          <a:xfrm>
            <a:off x="7563002" y="3124504"/>
            <a:ext cx="1632204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首个具体案例 · 证据锚点</a:t>
            </a:r>
          </a:p>
        </p:txBody>
      </p:sp>
      <p:sp>
        <p:nvSpPr>
          <p:cNvPr id="21" name="h2p-1-box-20"/>
          <p:cNvSpPr/>
          <p:nvPr/>
        </p:nvSpPr>
        <p:spPr>
          <a:xfrm>
            <a:off x="7563002" y="3448202"/>
            <a:ext cx="3619195" cy="914400"/>
          </a:xfrm>
          <a:prstGeom prst="roundRect">
            <a:avLst>
              <a:gd name="adj" fmla="val 12500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1-text-21"/>
          <p:cNvSpPr txBox="1"/>
          <p:nvPr/>
        </p:nvSpPr>
        <p:spPr>
          <a:xfrm>
            <a:off x="7715707" y="3581704"/>
            <a:ext cx="138988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A9C3D5"/>
                </a:solidFill>
                <a:latin typeface="Noto Sans Mono CJK SC"/>
              </a:rPr>
              <a:t>OpsPilot 官方 baseline</a:t>
            </a:r>
          </a:p>
        </p:txBody>
      </p:sp>
      <p:sp>
        <p:nvSpPr>
          <p:cNvPr id="23" name="h2p-1-text-22"/>
          <p:cNvSpPr txBox="1"/>
          <p:nvPr/>
        </p:nvSpPr>
        <p:spPr>
          <a:xfrm>
            <a:off x="7715707" y="3829507"/>
            <a:ext cx="3380536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D3DD"/>
                </a:solidFill>
                <a:latin typeface="Noto Sans CJK SC"/>
              </a:rPr>
              <a:t>作首个 ProjectCase 参考 · 非运行证据</a:t>
            </a:r>
          </a:p>
        </p:txBody>
      </p:sp>
      <p:sp>
        <p:nvSpPr>
          <p:cNvPr id="24" name="h2p-1-box-23"/>
          <p:cNvSpPr/>
          <p:nvPr/>
        </p:nvSpPr>
        <p:spPr>
          <a:xfrm>
            <a:off x="8191195" y="4552797"/>
            <a:ext cx="2286000" cy="800100"/>
          </a:xfrm>
          <a:prstGeom prst="roundRect">
            <a:avLst>
              <a:gd name="adj" fmla="val 19050"/>
            </a:avLst>
          </a:prstGeom>
          <a:solidFill>
            <a:srgbClr val="132F47"/>
          </a:solidFill>
          <a:ln w="3810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1-text-24"/>
          <p:cNvSpPr txBox="1"/>
          <p:nvPr/>
        </p:nvSpPr>
        <p:spPr>
          <a:xfrm>
            <a:off x="8323783" y="4800600"/>
            <a:ext cx="2020824" cy="267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100">
                <a:solidFill>
                  <a:srgbClr val="74D0C7"/>
                </a:solidFill>
                <a:latin typeface="Noto Sans Mono CJK SC"/>
              </a:rPr>
              <a:t>FIT</a:t>
            </a:r>
          </a:p>
        </p:txBody>
      </p:sp>
      <p:sp>
        <p:nvSpPr>
          <p:cNvPr id="26" name="h2p-1-text-25"/>
          <p:cNvSpPr txBox="1"/>
          <p:nvPr/>
        </p:nvSpPr>
        <p:spPr>
          <a:xfrm>
            <a:off x="7526426" y="5486400"/>
            <a:ext cx="369234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6D3DD"/>
                </a:solidFill>
                <a:latin typeface="Noto Sans CJK SC"/>
              </a:rPr>
              <a:t>统一验收 · 最小复杂度 · 可审计</a:t>
            </a:r>
          </a:p>
        </p:txBody>
      </p:sp>
      <p:sp>
        <p:nvSpPr>
          <p:cNvPr id="27" name="h2p-1-text-26"/>
          <p:cNvSpPr txBox="1"/>
          <p:nvPr/>
        </p:nvSpPr>
        <p:spPr>
          <a:xfrm>
            <a:off x="685800" y="5296204"/>
            <a:ext cx="6412687" cy="256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FFFFFF"/>
                </a:solidFill>
                <a:latin typeface="Noto Sans CJK SC"/>
              </a:rPr>
              <a:t>不是更多 Agent，而是有证据地选对方案。</a:t>
            </a:r>
          </a:p>
        </p:txBody>
      </p:sp>
      <p:sp>
        <p:nvSpPr>
          <p:cNvPr id="28" name="h2p-1-text-27"/>
          <p:cNvSpPr txBox="1"/>
          <p:nvPr/>
        </p:nvSpPr>
        <p:spPr>
          <a:xfrm>
            <a:off x="685800" y="6543446"/>
            <a:ext cx="149595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AGENTFIT · 融合版 FUSION-V3</a:t>
            </a:r>
          </a:p>
        </p:txBody>
      </p:sp>
      <p:sp>
        <p:nvSpPr>
          <p:cNvPr id="29" name="h2p-1-text-28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方案路演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2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2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02 / 12 · 官方示例 · 证据锚点</a:t>
            </a:r>
          </a:p>
        </p:txBody>
      </p:sp>
      <p:sp>
        <p:nvSpPr>
          <p:cNvPr id="4" name="h2p-2-text-3"/>
          <p:cNvSpPr txBox="1"/>
          <p:nvPr/>
        </p:nvSpPr>
        <p:spPr>
          <a:xfrm>
            <a:off x="685800" y="724204"/>
            <a:ext cx="11036808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102A43"/>
                </a:solidFill>
                <a:latin typeface="Noto Sans CJK SC"/>
              </a:rPr>
              <a:t>OpsPilot 官方示例：4 个 Worker 加 1 个 Leader，仍未回答该用哪种。</a:t>
            </a:r>
          </a:p>
        </p:txBody>
      </p:sp>
      <p:sp>
        <p:nvSpPr>
          <p:cNvPr id="5" name="h2p-2-text-4"/>
          <p:cNvSpPr txBox="1"/>
          <p:nvPr/>
        </p:nvSpPr>
        <p:spPr>
          <a:xfrm>
            <a:off x="705002" y="1619402"/>
            <a:ext cx="10492740" cy="49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官方发布的可运行 baseline 是 AgentFit 第一个 ProjectCase 的输入；它证明这类故障值得做，却没回答“该用哪种方案”。</a:t>
            </a:r>
          </a:p>
        </p:txBody>
      </p:sp>
      <p:sp>
        <p:nvSpPr>
          <p:cNvPr id="6" name="h2p-2-box-5"/>
          <p:cNvSpPr/>
          <p:nvPr/>
        </p:nvSpPr>
        <p:spPr>
          <a:xfrm>
            <a:off x="685800" y="2018995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2-box-6"/>
          <p:cNvSpPr/>
          <p:nvPr/>
        </p:nvSpPr>
        <p:spPr>
          <a:xfrm>
            <a:off x="685800" y="2229307"/>
            <a:ext cx="5333695" cy="3504895"/>
          </a:xfrm>
          <a:prstGeom prst="roundRect">
            <a:avLst>
              <a:gd name="adj" fmla="val 4890"/>
            </a:avLst>
          </a:prstGeom>
          <a:solidFill>
            <a:srgbClr val="EEF1F5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2-text-7"/>
          <p:cNvSpPr txBox="1"/>
          <p:nvPr/>
        </p:nvSpPr>
        <p:spPr>
          <a:xfrm>
            <a:off x="914400" y="2457907"/>
            <a:ext cx="204002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官方 BASELINE · OpsPilot Zero</a:t>
            </a:r>
          </a:p>
        </p:txBody>
      </p:sp>
      <p:sp>
        <p:nvSpPr>
          <p:cNvPr id="9" name="h2p-2-text-8"/>
          <p:cNvSpPr txBox="1"/>
          <p:nvPr/>
        </p:nvSpPr>
        <p:spPr>
          <a:xfrm>
            <a:off x="914400" y="2781604"/>
            <a:ext cx="4974336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零人工运维多 Agent 排查与自愈</a:t>
            </a:r>
          </a:p>
        </p:txBody>
      </p:sp>
      <p:sp>
        <p:nvSpPr>
          <p:cNvPr id="10" name="h2p-2-text-9"/>
          <p:cNvSpPr txBox="1"/>
          <p:nvPr/>
        </p:nvSpPr>
        <p:spPr>
          <a:xfrm>
            <a:off x="914400" y="3105302"/>
            <a:ext cx="49743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面向云上与自建 IDC 业务故障，把人工排障链拆成可并行、可回放的协作单元。</a:t>
            </a:r>
          </a:p>
        </p:txBody>
      </p:sp>
      <p:sp>
        <p:nvSpPr>
          <p:cNvPr id="11" name="h2p-2-text-10"/>
          <p:cNvSpPr txBox="1"/>
          <p:nvPr/>
        </p:nvSpPr>
        <p:spPr>
          <a:xfrm>
            <a:off x="914400" y="3714292"/>
            <a:ext cx="4974336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baseline 自带的业务执行 Agent（非 AgentFit 元团队）</a:t>
            </a:r>
          </a:p>
        </p:txBody>
      </p:sp>
      <p:sp>
        <p:nvSpPr>
          <p:cNvPr id="12" name="h2p-2-text-11"/>
          <p:cNvSpPr txBox="1"/>
          <p:nvPr/>
        </p:nvSpPr>
        <p:spPr>
          <a:xfrm>
            <a:off x="914400" y="3981297"/>
            <a:ext cx="5052060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Alert Intake · Commander（Leader）· RCA Analyst · Data Advisor · Planner · Executor · Verifier</a:t>
            </a:r>
          </a:p>
        </p:txBody>
      </p:sp>
      <p:sp>
        <p:nvSpPr>
          <p:cNvPr id="13" name="h2p-2-box-12"/>
          <p:cNvSpPr/>
          <p:nvPr/>
        </p:nvSpPr>
        <p:spPr>
          <a:xfrm>
            <a:off x="914400" y="4724704"/>
            <a:ext cx="4876495" cy="724204"/>
          </a:xfrm>
          <a:prstGeom prst="roundRect">
            <a:avLst>
              <a:gd name="adj" fmla="val 23680"/>
            </a:avLst>
          </a:prstGeom>
          <a:solidFill>
            <a:srgbClr val="F6F2E8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2-text-13"/>
          <p:cNvSpPr txBox="1"/>
          <p:nvPr/>
        </p:nvSpPr>
        <p:spPr>
          <a:xfrm>
            <a:off x="1067104" y="4839004"/>
            <a:ext cx="2336292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demo 事故 · db.pool.maxSize: 50 -&gt; 8</a:t>
            </a:r>
          </a:p>
        </p:txBody>
      </p:sp>
      <p:sp>
        <p:nvSpPr>
          <p:cNvPr id="15" name="h2p-2-text-14"/>
          <p:cNvSpPr txBox="1"/>
          <p:nvPr/>
        </p:nvSpPr>
        <p:spPr>
          <a:xfrm>
            <a:off x="1067104" y="5085892"/>
            <a:ext cx="466344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/api/order/create 5xx 升高 · 连接池耗尽 · 5–10 分钟初诊目标</a:t>
            </a:r>
          </a:p>
        </p:txBody>
      </p:sp>
      <p:sp>
        <p:nvSpPr>
          <p:cNvPr id="16" name="h2p-2-box-15"/>
          <p:cNvSpPr/>
          <p:nvPr/>
        </p:nvSpPr>
        <p:spPr>
          <a:xfrm>
            <a:off x="6286500" y="2229307"/>
            <a:ext cx="5219395" cy="3504895"/>
          </a:xfrm>
          <a:prstGeom prst="roundRect">
            <a:avLst>
              <a:gd name="adj" fmla="val 489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2-text-16"/>
          <p:cNvSpPr txBox="1"/>
          <p:nvPr/>
        </p:nvSpPr>
        <p:spPr>
          <a:xfrm>
            <a:off x="6515100" y="2457907"/>
            <a:ext cx="129204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AGENTFIT 拿它做什么</a:t>
            </a:r>
          </a:p>
        </p:txBody>
      </p:sp>
      <p:sp>
        <p:nvSpPr>
          <p:cNvPr id="18" name="h2p-2-text-17"/>
          <p:cNvSpPr txBox="1"/>
          <p:nvPr/>
        </p:nvSpPr>
        <p:spPr>
          <a:xfrm>
            <a:off x="6515100" y="2781604"/>
            <a:ext cx="4857292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首个 ProjectCase 与证据锚点</a:t>
            </a:r>
          </a:p>
        </p:txBody>
      </p:sp>
      <p:sp>
        <p:nvSpPr>
          <p:cNvPr id="19" name="h2p-2-box-18"/>
          <p:cNvSpPr/>
          <p:nvPr/>
        </p:nvSpPr>
        <p:spPr>
          <a:xfrm>
            <a:off x="6515100" y="3238804"/>
            <a:ext cx="4762195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2-text-19"/>
          <p:cNvSpPr txBox="1"/>
          <p:nvPr/>
        </p:nvSpPr>
        <p:spPr>
          <a:xfrm>
            <a:off x="6667804" y="3353104"/>
            <a:ext cx="454731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不是：把 OpsPilot 当成 AgentFit 已跑通</a:t>
            </a:r>
          </a:p>
        </p:txBody>
      </p:sp>
      <p:sp>
        <p:nvSpPr>
          <p:cNvPr id="21" name="h2p-2-text-20"/>
          <p:cNvSpPr txBox="1"/>
          <p:nvPr/>
        </p:nvSpPr>
        <p:spPr>
          <a:xfrm>
            <a:off x="6667804" y="3600907"/>
            <a:ext cx="454731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而是：拿它的 Agent、事故、工具契约做输入</a:t>
            </a:r>
          </a:p>
        </p:txBody>
      </p:sp>
      <p:sp>
        <p:nvSpPr>
          <p:cNvPr id="22" name="h2p-2-text-21"/>
          <p:cNvSpPr txBox="1"/>
          <p:nvPr/>
        </p:nvSpPr>
        <p:spPr>
          <a:xfrm>
            <a:off x="6515100" y="4134002"/>
            <a:ext cx="48572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baseline 给出一种现成的多 Agent 结构；AgentFit 要回答的是——同一任务下 C0 / C1 / C2 / C3 哪个方案更合适。</a:t>
            </a:r>
          </a:p>
        </p:txBody>
      </p:sp>
      <p:sp>
        <p:nvSpPr>
          <p:cNvPr id="23" name="h2p-2-text-22"/>
          <p:cNvSpPr txBox="1"/>
          <p:nvPr/>
        </p:nvSpPr>
        <p:spPr>
          <a:xfrm>
            <a:off x="6515100" y="5181904"/>
            <a:ext cx="4857292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边界：设计契约，非运行证据</a:t>
            </a:r>
          </a:p>
        </p:txBody>
      </p:sp>
      <p:sp>
        <p:nvSpPr>
          <p:cNvPr id="24" name="h2p-2-text-23"/>
          <p:cNvSpPr txBox="1"/>
          <p:nvPr/>
        </p:nvSpPr>
        <p:spPr>
          <a:xfrm>
            <a:off x="577900" y="5924397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OpsPilot 证明这类故障值得做；AgentFit 证明的是“该用哪种方案做”。</a:t>
            </a:r>
          </a:p>
        </p:txBody>
      </p:sp>
      <p:sp>
        <p:nvSpPr>
          <p:cNvPr id="25" name="h2p-2-text-24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证据锚点</a:t>
            </a:r>
          </a:p>
        </p:txBody>
      </p:sp>
      <p:sp>
        <p:nvSpPr>
          <p:cNvPr id="26" name="h2p-2-text-25"/>
          <p:cNvSpPr txBox="1"/>
          <p:nvPr/>
        </p:nvSpPr>
        <p:spPr>
          <a:xfrm>
            <a:off x="10120579" y="6543446"/>
            <a:ext cx="144292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首个 ProjectCase 参考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3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3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03 / 12 · 从材料到可验收档案</a:t>
            </a:r>
          </a:p>
        </p:txBody>
      </p:sp>
      <p:sp>
        <p:nvSpPr>
          <p:cNvPr id="4" name="h2p-3-text-3"/>
          <p:cNvSpPr txBox="1"/>
          <p:nvPr/>
        </p:nvSpPr>
        <p:spPr>
          <a:xfrm>
            <a:off x="685800" y="724204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AgentFit 把 baseline 材料编译成首个 ProjectCase。</a:t>
            </a:r>
          </a:p>
        </p:txBody>
      </p:sp>
      <p:sp>
        <p:nvSpPr>
          <p:cNvPr id="5" name="h2p-3-text-4"/>
          <p:cNvSpPr txBox="1"/>
          <p:nvPr/>
        </p:nvSpPr>
        <p:spPr>
          <a:xfrm>
            <a:off x="705002" y="1580997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企业带来的不是干净任务，而是散落材料；AgentFit 先把它变成可验收、可重放的项目档案。</a:t>
            </a:r>
          </a:p>
        </p:txBody>
      </p:sp>
      <p:sp>
        <p:nvSpPr>
          <p:cNvPr id="6" name="h2p-3-box-5"/>
          <p:cNvSpPr/>
          <p:nvPr/>
        </p:nvSpPr>
        <p:spPr>
          <a:xfrm>
            <a:off x="685800" y="1981504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3-box-6"/>
          <p:cNvSpPr/>
          <p:nvPr/>
        </p:nvSpPr>
        <p:spPr>
          <a:xfrm>
            <a:off x="685800" y="2190902"/>
            <a:ext cx="4095597" cy="3657600"/>
          </a:xfrm>
          <a:prstGeom prst="roundRect">
            <a:avLst>
              <a:gd name="adj" fmla="val 469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3-text-7"/>
          <p:cNvSpPr txBox="1"/>
          <p:nvPr/>
        </p:nvSpPr>
        <p:spPr>
          <a:xfrm>
            <a:off x="914400" y="2419502"/>
            <a:ext cx="129204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AgentFit 接收的材料</a:t>
            </a:r>
          </a:p>
        </p:txBody>
      </p:sp>
      <p:sp>
        <p:nvSpPr>
          <p:cNvPr id="9" name="h2p-3-box-8"/>
          <p:cNvSpPr/>
          <p:nvPr/>
        </p:nvSpPr>
        <p:spPr>
          <a:xfrm>
            <a:off x="914400" y="2762402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3-text-9"/>
          <p:cNvSpPr txBox="1"/>
          <p:nvPr/>
        </p:nvSpPr>
        <p:spPr>
          <a:xfrm>
            <a:off x="1000353" y="2809951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客诉 / 告警</a:t>
            </a:r>
          </a:p>
        </p:txBody>
      </p:sp>
      <p:sp>
        <p:nvSpPr>
          <p:cNvPr id="11" name="h2p-3-box-10"/>
          <p:cNvSpPr/>
          <p:nvPr/>
        </p:nvSpPr>
        <p:spPr>
          <a:xfrm>
            <a:off x="2781604" y="2762402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3-text-11"/>
          <p:cNvSpPr txBox="1"/>
          <p:nvPr/>
        </p:nvSpPr>
        <p:spPr>
          <a:xfrm>
            <a:off x="2866644" y="2809951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日志 / Trace</a:t>
            </a:r>
          </a:p>
        </p:txBody>
      </p:sp>
      <p:sp>
        <p:nvSpPr>
          <p:cNvPr id="13" name="h2p-3-box-12"/>
          <p:cNvSpPr/>
          <p:nvPr/>
        </p:nvSpPr>
        <p:spPr>
          <a:xfrm>
            <a:off x="914400" y="3181197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3-text-13"/>
          <p:cNvSpPr txBox="1"/>
          <p:nvPr/>
        </p:nvSpPr>
        <p:spPr>
          <a:xfrm>
            <a:off x="1000353" y="3228746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指标 / 变更</a:t>
            </a:r>
          </a:p>
        </p:txBody>
      </p:sp>
      <p:sp>
        <p:nvSpPr>
          <p:cNvPr id="15" name="h2p-3-box-14"/>
          <p:cNvSpPr/>
          <p:nvPr/>
        </p:nvSpPr>
        <p:spPr>
          <a:xfrm>
            <a:off x="2781604" y="3181197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3-text-15"/>
          <p:cNvSpPr txBox="1"/>
          <p:nvPr/>
        </p:nvSpPr>
        <p:spPr>
          <a:xfrm>
            <a:off x="2866644" y="3228746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Runbook / 知识库</a:t>
            </a:r>
          </a:p>
        </p:txBody>
      </p:sp>
      <p:sp>
        <p:nvSpPr>
          <p:cNvPr id="17" name="h2p-3-box-16"/>
          <p:cNvSpPr/>
          <p:nvPr/>
        </p:nvSpPr>
        <p:spPr>
          <a:xfrm>
            <a:off x="914400" y="3600907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3-text-17"/>
          <p:cNvSpPr txBox="1"/>
          <p:nvPr/>
        </p:nvSpPr>
        <p:spPr>
          <a:xfrm>
            <a:off x="1000353" y="3648456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历史事故</a:t>
            </a:r>
          </a:p>
        </p:txBody>
      </p:sp>
      <p:sp>
        <p:nvSpPr>
          <p:cNvPr id="19" name="h2p-3-box-18"/>
          <p:cNvSpPr/>
          <p:nvPr/>
        </p:nvSpPr>
        <p:spPr>
          <a:xfrm>
            <a:off x="2781604" y="3600907"/>
            <a:ext cx="17529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3-text-19"/>
          <p:cNvSpPr txBox="1"/>
          <p:nvPr/>
        </p:nvSpPr>
        <p:spPr>
          <a:xfrm>
            <a:off x="2866644" y="3648456"/>
            <a:ext cx="1613001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OpsPilot baseline</a:t>
            </a:r>
          </a:p>
        </p:txBody>
      </p:sp>
      <p:sp>
        <p:nvSpPr>
          <p:cNvPr id="21" name="h2p-3-text-20"/>
          <p:cNvSpPr txBox="1"/>
          <p:nvPr/>
        </p:nvSpPr>
        <p:spPr>
          <a:xfrm>
            <a:off x="914400" y="4095597"/>
            <a:ext cx="374995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材料保留来源与时间边界；它们是 SourceObservation，还不是可评价的样本。</a:t>
            </a:r>
          </a:p>
        </p:txBody>
      </p:sp>
      <p:sp>
        <p:nvSpPr>
          <p:cNvPr id="22" name="h2p-3-text-21"/>
          <p:cNvSpPr txBox="1"/>
          <p:nvPr/>
        </p:nvSpPr>
        <p:spPr>
          <a:xfrm>
            <a:off x="914400" y="5143500"/>
            <a:ext cx="374995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CJK SC"/>
              </a:rPr>
              <a:t>Human 提供材料并确认任务契约</a:t>
            </a:r>
          </a:p>
        </p:txBody>
      </p:sp>
      <p:sp>
        <p:nvSpPr>
          <p:cNvPr id="23" name="h2p-3-text-22"/>
          <p:cNvSpPr txBox="1"/>
          <p:nvPr/>
        </p:nvSpPr>
        <p:spPr>
          <a:xfrm>
            <a:off x="4895697" y="3733495"/>
            <a:ext cx="350215" cy="4956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>
                <a:solidFill>
                  <a:srgbClr val="1A8D85"/>
                </a:solidFill>
                <a:latin typeface="Noto Sans CJK SC"/>
              </a:rPr>
              <a:t>→</a:t>
            </a:r>
          </a:p>
        </p:txBody>
      </p:sp>
      <p:sp>
        <p:nvSpPr>
          <p:cNvPr id="24" name="h2p-3-box-23"/>
          <p:cNvSpPr/>
          <p:nvPr/>
        </p:nvSpPr>
        <p:spPr>
          <a:xfrm>
            <a:off x="5333695" y="2190902"/>
            <a:ext cx="6172200" cy="3657600"/>
          </a:xfrm>
          <a:prstGeom prst="roundRect">
            <a:avLst>
              <a:gd name="adj" fmla="val 469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3-text-24"/>
          <p:cNvSpPr txBox="1"/>
          <p:nvPr/>
        </p:nvSpPr>
        <p:spPr>
          <a:xfrm>
            <a:off x="5562295" y="2419502"/>
            <a:ext cx="231251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编译后的 ProjectCase（版本化档案）</a:t>
            </a:r>
          </a:p>
        </p:txBody>
      </p:sp>
      <p:sp>
        <p:nvSpPr>
          <p:cNvPr id="26" name="h2p-3-box-25"/>
          <p:cNvSpPr/>
          <p:nvPr/>
        </p:nvSpPr>
        <p:spPr>
          <a:xfrm>
            <a:off x="5562295" y="2762402"/>
            <a:ext cx="2838297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3-text-26"/>
          <p:cNvSpPr txBox="1"/>
          <p:nvPr/>
        </p:nvSpPr>
        <p:spPr>
          <a:xfrm>
            <a:off x="5715000" y="2857500"/>
            <a:ext cx="505663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样本语义</a:t>
            </a:r>
          </a:p>
        </p:txBody>
      </p:sp>
      <p:sp>
        <p:nvSpPr>
          <p:cNvPr id="28" name="h2p-3-text-27"/>
          <p:cNvSpPr txBox="1"/>
          <p:nvPr/>
        </p:nvSpPr>
        <p:spPr>
          <a:xfrm>
            <a:off x="5715000" y="3105302"/>
            <a:ext cx="258409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事故级单位、边界、重放与标注契约</a:t>
            </a:r>
          </a:p>
        </p:txBody>
      </p:sp>
      <p:sp>
        <p:nvSpPr>
          <p:cNvPr id="29" name="h2p-3-box-28"/>
          <p:cNvSpPr/>
          <p:nvPr/>
        </p:nvSpPr>
        <p:spPr>
          <a:xfrm>
            <a:off x="8534095" y="2762402"/>
            <a:ext cx="2838297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3-text-29"/>
          <p:cNvSpPr txBox="1"/>
          <p:nvPr/>
        </p:nvSpPr>
        <p:spPr>
          <a:xfrm>
            <a:off x="8686800" y="2857500"/>
            <a:ext cx="505663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任务语义</a:t>
            </a:r>
          </a:p>
        </p:txBody>
      </p:sp>
      <p:sp>
        <p:nvSpPr>
          <p:cNvPr id="31" name="h2p-3-text-30"/>
          <p:cNvSpPr txBox="1"/>
          <p:nvPr/>
        </p:nvSpPr>
        <p:spPr>
          <a:xfrm>
            <a:off x="8686800" y="3105302"/>
            <a:ext cx="258409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输入、输出、指标、预算、验收</a:t>
            </a:r>
          </a:p>
        </p:txBody>
      </p:sp>
      <p:sp>
        <p:nvSpPr>
          <p:cNvPr id="32" name="h2p-3-box-31"/>
          <p:cNvSpPr/>
          <p:nvPr/>
        </p:nvSpPr>
        <p:spPr>
          <a:xfrm>
            <a:off x="5562295" y="3600907"/>
            <a:ext cx="2838297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3-text-32"/>
          <p:cNvSpPr txBox="1"/>
          <p:nvPr/>
        </p:nvSpPr>
        <p:spPr>
          <a:xfrm>
            <a:off x="5715000" y="3696004"/>
            <a:ext cx="505663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能力语义</a:t>
            </a:r>
          </a:p>
        </p:txBody>
      </p:sp>
      <p:sp>
        <p:nvSpPr>
          <p:cNvPr id="34" name="h2p-3-text-33"/>
          <p:cNvSpPr txBox="1"/>
          <p:nvPr/>
        </p:nvSpPr>
        <p:spPr>
          <a:xfrm>
            <a:off x="5715000" y="3942892"/>
            <a:ext cx="258409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算子、契约、权限、成本、适用域</a:t>
            </a:r>
          </a:p>
        </p:txBody>
      </p:sp>
      <p:sp>
        <p:nvSpPr>
          <p:cNvPr id="35" name="h2p-3-box-34"/>
          <p:cNvSpPr/>
          <p:nvPr/>
        </p:nvSpPr>
        <p:spPr>
          <a:xfrm>
            <a:off x="8534095" y="3600907"/>
            <a:ext cx="2838297" cy="705002"/>
          </a:xfrm>
          <a:prstGeom prst="roundRect">
            <a:avLst>
              <a:gd name="adj" fmla="val 243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3-text-35"/>
          <p:cNvSpPr txBox="1"/>
          <p:nvPr/>
        </p:nvSpPr>
        <p:spPr>
          <a:xfrm>
            <a:off x="8686800" y="3696004"/>
            <a:ext cx="1199692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候选空间 + 评测协议</a:t>
            </a:r>
          </a:p>
        </p:txBody>
      </p:sp>
      <p:sp>
        <p:nvSpPr>
          <p:cNvPr id="37" name="h2p-3-text-36"/>
          <p:cNvSpPr txBox="1"/>
          <p:nvPr/>
        </p:nvSpPr>
        <p:spPr>
          <a:xfrm>
            <a:off x="8686800" y="3942892"/>
            <a:ext cx="2584094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公平预算、安全门禁、责任边界</a:t>
            </a:r>
          </a:p>
        </p:txBody>
      </p:sp>
      <p:sp>
        <p:nvSpPr>
          <p:cNvPr id="38" name="h2p-3-text-37"/>
          <p:cNvSpPr txBox="1"/>
          <p:nvPr/>
        </p:nvSpPr>
        <p:spPr>
          <a:xfrm>
            <a:off x="5562295" y="4476902"/>
            <a:ext cx="58293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ProjectCase 描述整个任务分布与候选空间；它不是单条样本，也不等于某次运行。</a:t>
            </a:r>
          </a:p>
        </p:txBody>
      </p:sp>
      <p:sp>
        <p:nvSpPr>
          <p:cNvPr id="39" name="h2p-3-text-38"/>
          <p:cNvSpPr txBox="1"/>
          <p:nvPr/>
        </p:nvSpPr>
        <p:spPr>
          <a:xfrm>
            <a:off x="5562295" y="5296204"/>
            <a:ext cx="582930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设计契约，非运行证据</a:t>
            </a:r>
          </a:p>
        </p:txBody>
      </p:sp>
      <p:sp>
        <p:nvSpPr>
          <p:cNvPr id="40" name="h2p-3-text-39"/>
          <p:cNvSpPr txBox="1"/>
          <p:nvPr/>
        </p:nvSpPr>
        <p:spPr>
          <a:xfrm>
            <a:off x="577900" y="6057900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先有可验收的项目档案，才有资格讨论“用几个 Agent”。</a:t>
            </a:r>
          </a:p>
        </p:txBody>
      </p:sp>
      <p:sp>
        <p:nvSpPr>
          <p:cNvPr id="41" name="h2p-3-text-40"/>
          <p:cNvSpPr txBox="1"/>
          <p:nvPr/>
        </p:nvSpPr>
        <p:spPr>
          <a:xfrm>
            <a:off x="685800" y="6543446"/>
            <a:ext cx="122895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ProjectCase</a:t>
            </a:r>
          </a:p>
        </p:txBody>
      </p:sp>
      <p:sp>
        <p:nvSpPr>
          <p:cNvPr id="42" name="h2p-3-text-41"/>
          <p:cNvSpPr txBox="1"/>
          <p:nvPr/>
        </p:nvSpPr>
        <p:spPr>
          <a:xfrm>
            <a:off x="10601553" y="6543446"/>
            <a:ext cx="96194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材料 → 档案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4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4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04 / 12 · 一个样本长什么样</a:t>
            </a:r>
          </a:p>
        </p:txBody>
      </p:sp>
      <p:sp>
        <p:nvSpPr>
          <p:cNvPr id="4" name="h2p-4-text-3"/>
          <p:cNvSpPr txBox="1"/>
          <p:nvPr/>
        </p:nvSpPr>
        <p:spPr>
          <a:xfrm>
            <a:off x="685800" y="724204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两个事故变成 TaskSample：输入、输出与验收。</a:t>
            </a:r>
          </a:p>
        </p:txBody>
      </p:sp>
      <p:sp>
        <p:nvSpPr>
          <p:cNvPr id="5" name="h2p-4-text-4"/>
          <p:cNvSpPr txBox="1"/>
          <p:nvPr/>
        </p:nvSpPr>
        <p:spPr>
          <a:xfrm>
            <a:off x="705002" y="1580997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用 OpsPilot baseline 的两个事故，说明什么能被冻结、重放和评价。</a:t>
            </a:r>
          </a:p>
        </p:txBody>
      </p:sp>
      <p:sp>
        <p:nvSpPr>
          <p:cNvPr id="6" name="h2p-4-box-5"/>
          <p:cNvSpPr/>
          <p:nvPr/>
        </p:nvSpPr>
        <p:spPr>
          <a:xfrm>
            <a:off x="685800" y="1981504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4-box-6"/>
          <p:cNvSpPr/>
          <p:nvPr/>
        </p:nvSpPr>
        <p:spPr>
          <a:xfrm>
            <a:off x="685800" y="2152497"/>
            <a:ext cx="5296204" cy="3238804"/>
          </a:xfrm>
          <a:prstGeom prst="roundRect">
            <a:avLst>
              <a:gd name="adj" fmla="val 529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4-text-7"/>
          <p:cNvSpPr txBox="1"/>
          <p:nvPr/>
        </p:nvSpPr>
        <p:spPr>
          <a:xfrm>
            <a:off x="914400" y="2361895"/>
            <a:ext cx="108813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TaskSample · 01</a:t>
            </a:r>
          </a:p>
        </p:txBody>
      </p:sp>
      <p:sp>
        <p:nvSpPr>
          <p:cNvPr id="9" name="h2p-4-text-8"/>
          <p:cNvSpPr txBox="1"/>
          <p:nvPr/>
        </p:nvSpPr>
        <p:spPr>
          <a:xfrm>
            <a:off x="914400" y="2648102"/>
            <a:ext cx="4955133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F26B4B"/>
                </a:solidFill>
                <a:latin typeface="Noto Sans CJK SC"/>
              </a:rPr>
              <a:t>db_pool_exhausted</a:t>
            </a:r>
          </a:p>
        </p:txBody>
      </p:sp>
      <p:sp>
        <p:nvSpPr>
          <p:cNvPr id="10" name="h2p-4-text-9"/>
          <p:cNvSpPr txBox="1"/>
          <p:nvPr/>
        </p:nvSpPr>
        <p:spPr>
          <a:xfrm>
            <a:off x="914400" y="2971800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订单 5xx 升高 · 数据库连接池耗尽</a:t>
            </a:r>
          </a:p>
        </p:txBody>
      </p:sp>
      <p:sp>
        <p:nvSpPr>
          <p:cNvPr id="11" name="h2p-4-text-10"/>
          <p:cNvSpPr txBox="1"/>
          <p:nvPr/>
        </p:nvSpPr>
        <p:spPr>
          <a:xfrm>
            <a:off x="914400" y="3295497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输入</a:t>
            </a:r>
          </a:p>
        </p:txBody>
      </p:sp>
      <p:sp>
        <p:nvSpPr>
          <p:cNvPr id="12" name="h2p-4-text-11"/>
          <p:cNvSpPr txBox="1"/>
          <p:nvPr/>
        </p:nvSpPr>
        <p:spPr>
          <a:xfrm>
            <a:off x="914400" y="3504895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告警、/api/order/create 5xx、Trace、变更 db.pool.maxSize 50→8</a:t>
            </a:r>
          </a:p>
        </p:txBody>
      </p:sp>
      <p:sp>
        <p:nvSpPr>
          <p:cNvPr id="13" name="h2p-4-text-12"/>
          <p:cNvSpPr txBox="1"/>
          <p:nvPr/>
        </p:nvSpPr>
        <p:spPr>
          <a:xfrm>
            <a:off x="914400" y="3924604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输出</a:t>
            </a:r>
          </a:p>
        </p:txBody>
      </p:sp>
      <p:sp>
        <p:nvSpPr>
          <p:cNvPr id="14" name="h2p-4-text-13"/>
          <p:cNvSpPr txBox="1"/>
          <p:nvPr/>
        </p:nvSpPr>
        <p:spPr>
          <a:xfrm>
            <a:off x="914400" y="4134002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根因（变更导致池容量不足）、回滚计划、恢复验证</a:t>
            </a:r>
          </a:p>
        </p:txBody>
      </p:sp>
      <p:sp>
        <p:nvSpPr>
          <p:cNvPr id="15" name="h2p-4-text-14"/>
          <p:cNvSpPr txBox="1"/>
          <p:nvPr/>
        </p:nvSpPr>
        <p:spPr>
          <a:xfrm>
            <a:off x="914400" y="4552797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验收</a:t>
            </a:r>
          </a:p>
        </p:txBody>
      </p:sp>
      <p:sp>
        <p:nvSpPr>
          <p:cNvPr id="16" name="h2p-4-text-15"/>
          <p:cNvSpPr txBox="1"/>
          <p:nvPr/>
        </p:nvSpPr>
        <p:spPr>
          <a:xfrm>
            <a:off x="914400" y="4762195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定位可追溯 · 回滚可验证 · 无未批准写入</a:t>
            </a:r>
          </a:p>
        </p:txBody>
      </p:sp>
      <p:sp>
        <p:nvSpPr>
          <p:cNvPr id="17" name="h2p-4-box-16"/>
          <p:cNvSpPr/>
          <p:nvPr/>
        </p:nvSpPr>
        <p:spPr>
          <a:xfrm>
            <a:off x="6210604" y="2152497"/>
            <a:ext cx="5296204" cy="3238804"/>
          </a:xfrm>
          <a:prstGeom prst="roundRect">
            <a:avLst>
              <a:gd name="adj" fmla="val 529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4-text-17"/>
          <p:cNvSpPr txBox="1"/>
          <p:nvPr/>
        </p:nvSpPr>
        <p:spPr>
          <a:xfrm>
            <a:off x="6439204" y="2361895"/>
            <a:ext cx="108813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TaskSample · 02</a:t>
            </a:r>
          </a:p>
        </p:txBody>
      </p:sp>
      <p:sp>
        <p:nvSpPr>
          <p:cNvPr id="19" name="h2p-4-text-18"/>
          <p:cNvSpPr txBox="1"/>
          <p:nvPr/>
        </p:nvSpPr>
        <p:spPr>
          <a:xfrm>
            <a:off x="6439204" y="2648102"/>
            <a:ext cx="4955133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D6A43B"/>
                </a:solidFill>
                <a:latin typeface="Noto Sans CJK SC"/>
              </a:rPr>
              <a:t>slow_sql_degradation</a:t>
            </a:r>
          </a:p>
        </p:txBody>
      </p:sp>
      <p:sp>
        <p:nvSpPr>
          <p:cNvPr id="20" name="h2p-4-text-19"/>
          <p:cNvSpPr txBox="1"/>
          <p:nvPr/>
        </p:nvSpPr>
        <p:spPr>
          <a:xfrm>
            <a:off x="6439204" y="2971800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P99 延迟爬升 · 慢 SQL 逐步劣化</a:t>
            </a:r>
          </a:p>
        </p:txBody>
      </p:sp>
      <p:sp>
        <p:nvSpPr>
          <p:cNvPr id="21" name="h2p-4-text-20"/>
          <p:cNvSpPr txBox="1"/>
          <p:nvPr/>
        </p:nvSpPr>
        <p:spPr>
          <a:xfrm>
            <a:off x="6439204" y="3295497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输入</a:t>
            </a:r>
          </a:p>
        </p:txBody>
      </p:sp>
      <p:sp>
        <p:nvSpPr>
          <p:cNvPr id="22" name="h2p-4-text-21"/>
          <p:cNvSpPr txBox="1"/>
          <p:nvPr/>
        </p:nvSpPr>
        <p:spPr>
          <a:xfrm>
            <a:off x="6439204" y="3504895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延迟指标、慢日志、采样 Trace、近 24h 变更</a:t>
            </a:r>
          </a:p>
        </p:txBody>
      </p:sp>
      <p:sp>
        <p:nvSpPr>
          <p:cNvPr id="23" name="h2p-4-text-22"/>
          <p:cNvSpPr txBox="1"/>
          <p:nvPr/>
        </p:nvSpPr>
        <p:spPr>
          <a:xfrm>
            <a:off x="6439204" y="3924604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输出</a:t>
            </a:r>
          </a:p>
        </p:txBody>
      </p:sp>
      <p:sp>
        <p:nvSpPr>
          <p:cNvPr id="24" name="h2p-4-text-23"/>
          <p:cNvSpPr txBox="1"/>
          <p:nvPr/>
        </p:nvSpPr>
        <p:spPr>
          <a:xfrm>
            <a:off x="6439204" y="4134002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慢 SQL 候选、索引/限流建议、影响面评估</a:t>
            </a:r>
          </a:p>
        </p:txBody>
      </p:sp>
      <p:sp>
        <p:nvSpPr>
          <p:cNvPr id="25" name="h2p-4-text-24"/>
          <p:cNvSpPr txBox="1"/>
          <p:nvPr/>
        </p:nvSpPr>
        <p:spPr>
          <a:xfrm>
            <a:off x="6439204" y="4552797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验收</a:t>
            </a:r>
          </a:p>
        </p:txBody>
      </p:sp>
      <p:sp>
        <p:nvSpPr>
          <p:cNvPr id="26" name="h2p-4-text-25"/>
          <p:cNvSpPr txBox="1"/>
          <p:nvPr/>
        </p:nvSpPr>
        <p:spPr>
          <a:xfrm>
            <a:off x="6439204" y="4762195"/>
            <a:ext cx="495513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建议可复核 · 范围受限 · 采集缺口被标出</a:t>
            </a:r>
          </a:p>
        </p:txBody>
      </p:sp>
      <p:sp>
        <p:nvSpPr>
          <p:cNvPr id="27" name="h2p-4-box-26"/>
          <p:cNvSpPr/>
          <p:nvPr/>
        </p:nvSpPr>
        <p:spPr>
          <a:xfrm>
            <a:off x="685800" y="5581497"/>
            <a:ext cx="10820095" cy="609904"/>
          </a:xfrm>
          <a:prstGeom prst="roundRect">
            <a:avLst>
              <a:gd name="adj" fmla="val 2812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4-text-27"/>
          <p:cNvSpPr txBox="1"/>
          <p:nvPr/>
        </p:nvSpPr>
        <p:spPr>
          <a:xfrm>
            <a:off x="914400" y="5715000"/>
            <a:ext cx="10589666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02A43"/>
                </a:solidFill>
                <a:latin typeface="Noto Sans CJK SC"/>
              </a:rPr>
              <a:t>TaskSample = 当前任务契约下可独立冻结、重放、执行和评价的最小单位；告警只是 SourceObservation，还不等于样本。</a:t>
            </a:r>
          </a:p>
        </p:txBody>
      </p:sp>
      <p:sp>
        <p:nvSpPr>
          <p:cNvPr id="29" name="h2p-4-text-28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TaskSample</a:t>
            </a:r>
          </a:p>
        </p:txBody>
      </p:sp>
      <p:sp>
        <p:nvSpPr>
          <p:cNvPr id="30" name="h2p-4-text-29"/>
          <p:cNvSpPr txBox="1"/>
          <p:nvPr/>
        </p:nvSpPr>
        <p:spPr>
          <a:xfrm>
            <a:off x="10173614" y="6543446"/>
            <a:ext cx="138897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设计契约，非运行证据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5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5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05 / 12 · 统一搜索空间</a:t>
            </a:r>
          </a:p>
        </p:txBody>
      </p:sp>
      <p:sp>
        <p:nvSpPr>
          <p:cNvPr id="4" name="h2p-5-text-3"/>
          <p:cNvSpPr txBox="1"/>
          <p:nvPr/>
        </p:nvSpPr>
        <p:spPr>
          <a:xfrm>
            <a:off x="685800" y="724204"/>
            <a:ext cx="11036808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102A43"/>
                </a:solidFill>
                <a:latin typeface="Noto Sans CJK SC"/>
              </a:rPr>
              <a:t>Agentless、单 Agent、多 Agent 与 Human 混合是同一搜索空间。</a:t>
            </a:r>
          </a:p>
        </p:txBody>
      </p:sp>
      <p:sp>
        <p:nvSpPr>
          <p:cNvPr id="5" name="h2p-5-text-4"/>
          <p:cNvSpPr txBox="1"/>
          <p:nvPr/>
        </p:nvSpPr>
        <p:spPr>
          <a:xfrm>
            <a:off x="705002" y="1619402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把“用几个 Agent”当成搜索变量：四类候选共享同一任务，多一个 Agent 都要证明边际价值，不预设多 Agent 更好。</a:t>
            </a:r>
          </a:p>
        </p:txBody>
      </p:sp>
      <p:sp>
        <p:nvSpPr>
          <p:cNvPr id="6" name="h2p-5-box-5"/>
          <p:cNvSpPr/>
          <p:nvPr/>
        </p:nvSpPr>
        <p:spPr>
          <a:xfrm>
            <a:off x="685800" y="2018995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5-box-6"/>
          <p:cNvSpPr/>
          <p:nvPr/>
        </p:nvSpPr>
        <p:spPr>
          <a:xfrm>
            <a:off x="685800" y="2229307"/>
            <a:ext cx="2571292" cy="3314700"/>
          </a:xfrm>
          <a:prstGeom prst="roundRect">
            <a:avLst>
              <a:gd name="adj" fmla="val 6669"/>
            </a:avLst>
          </a:prstGeom>
          <a:solidFill>
            <a:srgbClr val="EEF1F5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5-text-7"/>
          <p:cNvSpPr txBox="1"/>
          <p:nvPr/>
        </p:nvSpPr>
        <p:spPr>
          <a:xfrm>
            <a:off x="875995" y="2361895"/>
            <a:ext cx="94731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53697C"/>
                </a:solidFill>
                <a:latin typeface="Noto Sans Mono CJK SC"/>
              </a:rPr>
              <a:t>C0 · AGENTLESS</a:t>
            </a:r>
          </a:p>
        </p:txBody>
      </p:sp>
      <p:sp>
        <p:nvSpPr>
          <p:cNvPr id="9" name="h2p-5-text-8"/>
          <p:cNvSpPr txBox="1"/>
          <p:nvPr/>
        </p:nvSpPr>
        <p:spPr>
          <a:xfrm>
            <a:off x="875995" y="2628900"/>
            <a:ext cx="223479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固定流程基线</a:t>
            </a:r>
          </a:p>
        </p:txBody>
      </p:sp>
      <p:sp>
        <p:nvSpPr>
          <p:cNvPr id="10" name="h2p-5-text-9"/>
          <p:cNvSpPr txBox="1"/>
          <p:nvPr/>
        </p:nvSpPr>
        <p:spPr>
          <a:xfrm>
            <a:off x="875995" y="3010204"/>
            <a:ext cx="2292400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线索去重 → 规则筛选 → 配置/仓库检索 → 冻结验证。</a:t>
            </a:r>
          </a:p>
        </p:txBody>
      </p:sp>
      <p:sp>
        <p:nvSpPr>
          <p:cNvPr id="11" name="h2p-5-text-10"/>
          <p:cNvSpPr txBox="1"/>
          <p:nvPr/>
        </p:nvSpPr>
        <p:spPr>
          <a:xfrm>
            <a:off x="875995" y="3752697"/>
            <a:ext cx="229240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CJK SC"/>
              </a:rPr>
              <a:t>强基线 · 低复杂度</a:t>
            </a:r>
          </a:p>
        </p:txBody>
      </p:sp>
      <p:sp>
        <p:nvSpPr>
          <p:cNvPr id="12" name="h2p-5-text-11"/>
          <p:cNvSpPr txBox="1"/>
          <p:nvPr/>
        </p:nvSpPr>
        <p:spPr>
          <a:xfrm>
            <a:off x="875995" y="4171492"/>
            <a:ext cx="2292400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输入稳定、变更模式已知时够用；跨文件不确定定位能力有限。</a:t>
            </a:r>
          </a:p>
        </p:txBody>
      </p:sp>
      <p:sp>
        <p:nvSpPr>
          <p:cNvPr id="13" name="h2p-5-box-12"/>
          <p:cNvSpPr/>
          <p:nvPr/>
        </p:nvSpPr>
        <p:spPr>
          <a:xfrm>
            <a:off x="3390595" y="2229307"/>
            <a:ext cx="2571292" cy="3314700"/>
          </a:xfrm>
          <a:prstGeom prst="roundRect">
            <a:avLst>
              <a:gd name="adj" fmla="val 6669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5-text-13"/>
          <p:cNvSpPr txBox="1"/>
          <p:nvPr/>
        </p:nvSpPr>
        <p:spPr>
          <a:xfrm>
            <a:off x="3581704" y="2361895"/>
            <a:ext cx="88422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C1 · 单 AGENT</a:t>
            </a:r>
          </a:p>
        </p:txBody>
      </p:sp>
      <p:sp>
        <p:nvSpPr>
          <p:cNvPr id="15" name="h2p-5-text-14"/>
          <p:cNvSpPr txBox="1"/>
          <p:nvPr/>
        </p:nvSpPr>
        <p:spPr>
          <a:xfrm>
            <a:off x="3581704" y="2628900"/>
            <a:ext cx="223479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一个责任主体</a:t>
            </a:r>
          </a:p>
        </p:txBody>
      </p:sp>
      <p:sp>
        <p:nvSpPr>
          <p:cNvPr id="16" name="h2p-5-text-15"/>
          <p:cNvSpPr txBox="1"/>
          <p:nvPr/>
        </p:nvSpPr>
        <p:spPr>
          <a:xfrm>
            <a:off x="3581704" y="3010204"/>
            <a:ext cx="2292400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定位 + 影响分析 + 修复 + 测试重试，统一上下文与决策。</a:t>
            </a:r>
          </a:p>
        </p:txBody>
      </p:sp>
      <p:sp>
        <p:nvSpPr>
          <p:cNvPr id="17" name="h2p-5-text-16"/>
          <p:cNvSpPr txBox="1"/>
          <p:nvPr/>
        </p:nvSpPr>
        <p:spPr>
          <a:xfrm>
            <a:off x="3581704" y="3810304"/>
            <a:ext cx="229240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CJK SC"/>
              </a:rPr>
              <a:t>少通信 · 长上下文</a:t>
            </a:r>
          </a:p>
        </p:txBody>
      </p:sp>
      <p:sp>
        <p:nvSpPr>
          <p:cNvPr id="18" name="h2p-5-text-17"/>
          <p:cNvSpPr txBox="1"/>
          <p:nvPr/>
        </p:nvSpPr>
        <p:spPr>
          <a:xfrm>
            <a:off x="3581704" y="4229100"/>
            <a:ext cx="2292400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需检查权限集中、长上下文与自验偏差。</a:t>
            </a:r>
          </a:p>
        </p:txBody>
      </p:sp>
      <p:sp>
        <p:nvSpPr>
          <p:cNvPr id="19" name="h2p-5-box-18"/>
          <p:cNvSpPr/>
          <p:nvPr/>
        </p:nvSpPr>
        <p:spPr>
          <a:xfrm>
            <a:off x="6096304" y="2229307"/>
            <a:ext cx="2571292" cy="3314700"/>
          </a:xfrm>
          <a:prstGeom prst="roundRect">
            <a:avLst>
              <a:gd name="adj" fmla="val 6669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5-text-19"/>
          <p:cNvSpPr txBox="1"/>
          <p:nvPr/>
        </p:nvSpPr>
        <p:spPr>
          <a:xfrm>
            <a:off x="6286500" y="2361895"/>
            <a:ext cx="884224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C2 · 多 AGENT</a:t>
            </a:r>
          </a:p>
        </p:txBody>
      </p:sp>
      <p:sp>
        <p:nvSpPr>
          <p:cNvPr id="21" name="h2p-5-text-20"/>
          <p:cNvSpPr txBox="1"/>
          <p:nvPr/>
        </p:nvSpPr>
        <p:spPr>
          <a:xfrm>
            <a:off x="6286500" y="2628900"/>
            <a:ext cx="2234793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分责并独立验证</a:t>
            </a:r>
          </a:p>
        </p:txBody>
      </p:sp>
      <p:sp>
        <p:nvSpPr>
          <p:cNvPr id="22" name="h2p-5-text-21"/>
          <p:cNvSpPr txBox="1"/>
          <p:nvPr/>
        </p:nvSpPr>
        <p:spPr>
          <a:xfrm>
            <a:off x="6286500" y="3010204"/>
            <a:ext cx="2292400" cy="5797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定位 / 修复 / 验证由不同主体承担；这里才可能生成 OpsPilot 式执行 Agent。</a:t>
            </a:r>
          </a:p>
        </p:txBody>
      </p:sp>
      <p:sp>
        <p:nvSpPr>
          <p:cNvPr id="23" name="h2p-5-text-22"/>
          <p:cNvSpPr txBox="1"/>
          <p:nvPr/>
        </p:nvSpPr>
        <p:spPr>
          <a:xfrm>
            <a:off x="6286500" y="3886200"/>
            <a:ext cx="229240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CJK SC"/>
              </a:rPr>
              <a:t>必须证明边际价值</a:t>
            </a:r>
          </a:p>
        </p:txBody>
      </p:sp>
      <p:sp>
        <p:nvSpPr>
          <p:cNvPr id="24" name="h2p-5-text-23"/>
          <p:cNvSpPr txBox="1"/>
          <p:nvPr/>
        </p:nvSpPr>
        <p:spPr>
          <a:xfrm>
            <a:off x="6286500" y="4304995"/>
            <a:ext cx="2292400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新增通信、状态同步与错误归因成本。</a:t>
            </a:r>
          </a:p>
        </p:txBody>
      </p:sp>
      <p:sp>
        <p:nvSpPr>
          <p:cNvPr id="25" name="h2p-5-box-24"/>
          <p:cNvSpPr/>
          <p:nvPr/>
        </p:nvSpPr>
        <p:spPr>
          <a:xfrm>
            <a:off x="8801100" y="2229307"/>
            <a:ext cx="2704795" cy="3314700"/>
          </a:xfrm>
          <a:prstGeom prst="roundRect">
            <a:avLst>
              <a:gd name="adj" fmla="val 634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5-text-25"/>
          <p:cNvSpPr txBox="1"/>
          <p:nvPr/>
        </p:nvSpPr>
        <p:spPr>
          <a:xfrm>
            <a:off x="8991295" y="2361895"/>
            <a:ext cx="1010412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D6A43B"/>
                </a:solidFill>
                <a:latin typeface="Noto Sans Mono CJK SC"/>
              </a:rPr>
              <a:t>C3 · HUMAN 混合</a:t>
            </a:r>
          </a:p>
        </p:txBody>
      </p:sp>
      <p:sp>
        <p:nvSpPr>
          <p:cNvPr id="27" name="h2p-5-text-26"/>
          <p:cNvSpPr txBox="1"/>
          <p:nvPr/>
        </p:nvSpPr>
        <p:spPr>
          <a:xfrm>
            <a:off x="8991295" y="2628900"/>
            <a:ext cx="2370124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高风险交给人工</a:t>
            </a:r>
          </a:p>
        </p:txBody>
      </p:sp>
      <p:sp>
        <p:nvSpPr>
          <p:cNvPr id="28" name="h2p-5-text-27"/>
          <p:cNvSpPr txBox="1"/>
          <p:nvPr/>
        </p:nvSpPr>
        <p:spPr>
          <a:xfrm>
            <a:off x="8991295" y="3010204"/>
            <a:ext cx="2428646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外部写入、真实发布、责任转移由 Human 批准并留痕。</a:t>
            </a:r>
          </a:p>
        </p:txBody>
      </p:sp>
      <p:sp>
        <p:nvSpPr>
          <p:cNvPr id="29" name="h2p-5-text-28"/>
          <p:cNvSpPr txBox="1"/>
          <p:nvPr/>
        </p:nvSpPr>
        <p:spPr>
          <a:xfrm>
            <a:off x="8991295" y="3810304"/>
            <a:ext cx="2428646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CJK SC"/>
              </a:rPr>
              <a:t>Human 是正式能力</a:t>
            </a:r>
          </a:p>
        </p:txBody>
      </p:sp>
      <p:sp>
        <p:nvSpPr>
          <p:cNvPr id="30" name="h2p-5-text-29"/>
          <p:cNvSpPr txBox="1"/>
          <p:nvPr/>
        </p:nvSpPr>
        <p:spPr>
          <a:xfrm>
            <a:off x="8991295" y="4229100"/>
            <a:ext cx="2428646" cy="38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不是兜底文案，有触发、审批、回滚与 Trace。</a:t>
            </a:r>
          </a:p>
        </p:txBody>
      </p:sp>
      <p:sp>
        <p:nvSpPr>
          <p:cNvPr id="31" name="h2p-5-box-30"/>
          <p:cNvSpPr/>
          <p:nvPr/>
        </p:nvSpPr>
        <p:spPr>
          <a:xfrm>
            <a:off x="685800" y="5715000"/>
            <a:ext cx="10820095" cy="495604"/>
          </a:xfrm>
          <a:prstGeom prst="roundRect">
            <a:avLst>
              <a:gd name="adj" fmla="val 3462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5-text-31"/>
          <p:cNvSpPr txBox="1"/>
          <p:nvPr/>
        </p:nvSpPr>
        <p:spPr>
          <a:xfrm>
            <a:off x="914400" y="5829300"/>
            <a:ext cx="10589666" cy="21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Agent 数量是同一搜索空间里的变量，不是项目目标；OpsPilot 的 4 Worker + 1 Leader 只是 C2 的一种实例。</a:t>
            </a:r>
          </a:p>
        </p:txBody>
      </p:sp>
      <p:sp>
        <p:nvSpPr>
          <p:cNvPr id="33" name="h2p-5-text-32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候选空间</a:t>
            </a:r>
          </a:p>
        </p:txBody>
      </p:sp>
      <p:sp>
        <p:nvSpPr>
          <p:cNvPr id="34" name="h2p-5-text-33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四类候选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6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6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06 / 12 · 选择规则</a:t>
            </a:r>
          </a:p>
        </p:txBody>
      </p:sp>
      <p:sp>
        <p:nvSpPr>
          <p:cNvPr id="4" name="h2p-6-text-3"/>
          <p:cNvSpPr txBox="1"/>
          <p:nvPr/>
        </p:nvSpPr>
        <p:spPr>
          <a:xfrm>
            <a:off x="685800" y="724204"/>
            <a:ext cx="11036808" cy="335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102A43"/>
                </a:solidFill>
                <a:latin typeface="Noto Sans CJK SC"/>
              </a:rPr>
              <a:t>同一冻结样本、预算与门禁下，最简合格候选胜出。</a:t>
            </a:r>
          </a:p>
        </p:txBody>
      </p:sp>
      <p:sp>
        <p:nvSpPr>
          <p:cNvPr id="5" name="h2p-6-text-4"/>
          <p:cNvSpPr txBox="1"/>
          <p:nvPr/>
        </p:nvSpPr>
        <p:spPr>
          <a:xfrm>
            <a:off x="705002" y="1619402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公平比较的规则写在候选生成之前；不预设多 Agent 胜出，不预设保留人工。</a:t>
            </a:r>
          </a:p>
        </p:txBody>
      </p:sp>
      <p:sp>
        <p:nvSpPr>
          <p:cNvPr id="6" name="h2p-6-box-5"/>
          <p:cNvSpPr/>
          <p:nvPr/>
        </p:nvSpPr>
        <p:spPr>
          <a:xfrm>
            <a:off x="685800" y="2018995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6-box-6"/>
          <p:cNvSpPr/>
          <p:nvPr/>
        </p:nvSpPr>
        <p:spPr>
          <a:xfrm>
            <a:off x="685800" y="2229307"/>
            <a:ext cx="5296204" cy="2704795"/>
          </a:xfrm>
          <a:prstGeom prst="roundRect">
            <a:avLst>
              <a:gd name="adj" fmla="val 634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6-text-7"/>
          <p:cNvSpPr txBox="1"/>
          <p:nvPr/>
        </p:nvSpPr>
        <p:spPr>
          <a:xfrm>
            <a:off x="914400" y="2361895"/>
            <a:ext cx="204002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公平比较 · 冻结在候选生成之前</a:t>
            </a:r>
          </a:p>
        </p:txBody>
      </p:sp>
      <p:sp>
        <p:nvSpPr>
          <p:cNvPr id="9" name="h2p-6-text-8"/>
          <p:cNvSpPr txBox="1"/>
          <p:nvPr/>
        </p:nvSpPr>
        <p:spPr>
          <a:xfrm>
            <a:off x="914400" y="2628900"/>
            <a:ext cx="4955133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同一冻结样本集</a:t>
            </a:r>
          </a:p>
        </p:txBody>
      </p:sp>
      <p:sp>
        <p:nvSpPr>
          <p:cNvPr id="10" name="h2p-6-text-9"/>
          <p:cNvSpPr txBox="1"/>
          <p:nvPr/>
        </p:nvSpPr>
        <p:spPr>
          <a:xfrm>
            <a:off x="914400" y="2876702"/>
            <a:ext cx="4955133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同一版本化 TaskSample，候选生成后不得再调整样本。</a:t>
            </a:r>
          </a:p>
        </p:txBody>
      </p:sp>
      <p:sp>
        <p:nvSpPr>
          <p:cNvPr id="11" name="h2p-6-text-10"/>
          <p:cNvSpPr txBox="1"/>
          <p:nvPr/>
        </p:nvSpPr>
        <p:spPr>
          <a:xfrm>
            <a:off x="914400" y="3238804"/>
            <a:ext cx="4955133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同一模型与工具边界</a:t>
            </a:r>
          </a:p>
        </p:txBody>
      </p:sp>
      <p:sp>
        <p:nvSpPr>
          <p:cNvPr id="12" name="h2p-6-text-11"/>
          <p:cNvSpPr txBox="1"/>
          <p:nvPr/>
        </p:nvSpPr>
        <p:spPr>
          <a:xfrm>
            <a:off x="914400" y="3485692"/>
            <a:ext cx="4955133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Skill 必选、HTTP/MCP 工具可选，所有候选使用同一契约。</a:t>
            </a:r>
          </a:p>
        </p:txBody>
      </p:sp>
      <p:sp>
        <p:nvSpPr>
          <p:cNvPr id="13" name="h2p-6-text-12"/>
          <p:cNvSpPr txBox="1"/>
          <p:nvPr/>
        </p:nvSpPr>
        <p:spPr>
          <a:xfrm>
            <a:off x="914400" y="3847795"/>
            <a:ext cx="4955133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同一预算 · 指标 · 安全门禁</a:t>
            </a:r>
          </a:p>
        </p:txBody>
      </p:sp>
      <p:sp>
        <p:nvSpPr>
          <p:cNvPr id="14" name="h2p-6-text-13"/>
          <p:cNvSpPr txBox="1"/>
          <p:nvPr/>
        </p:nvSpPr>
        <p:spPr>
          <a:xfrm>
            <a:off x="914400" y="4095597"/>
            <a:ext cx="4955133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调用次数、时延、成本上限一致；Human 门禁触发条件一致。</a:t>
            </a:r>
          </a:p>
        </p:txBody>
      </p:sp>
      <p:sp>
        <p:nvSpPr>
          <p:cNvPr id="15" name="h2p-6-text-14"/>
          <p:cNvSpPr txBox="1"/>
          <p:nvPr/>
        </p:nvSpPr>
        <p:spPr>
          <a:xfrm>
            <a:off x="914400" y="4552797"/>
            <a:ext cx="4955133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F26B4B"/>
                </a:solidFill>
                <a:latin typeface="Noto Sans CJK SC"/>
              </a:rPr>
              <a:t>sealed holdout 仅 GovernanceAuditor 在候选冻结后读取。</a:t>
            </a:r>
          </a:p>
        </p:txBody>
      </p:sp>
      <p:sp>
        <p:nvSpPr>
          <p:cNvPr id="16" name="h2p-6-box-15"/>
          <p:cNvSpPr/>
          <p:nvPr/>
        </p:nvSpPr>
        <p:spPr>
          <a:xfrm>
            <a:off x="6210604" y="2229307"/>
            <a:ext cx="5296204" cy="2704795"/>
          </a:xfrm>
          <a:prstGeom prst="roundRect">
            <a:avLst>
              <a:gd name="adj" fmla="val 634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6-text-16"/>
          <p:cNvSpPr txBox="1"/>
          <p:nvPr/>
        </p:nvSpPr>
        <p:spPr>
          <a:xfrm>
            <a:off x="6439204" y="2361895"/>
            <a:ext cx="495513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最简合格者（JUST ENOUGH）</a:t>
            </a:r>
          </a:p>
        </p:txBody>
      </p:sp>
      <p:sp>
        <p:nvSpPr>
          <p:cNvPr id="18" name="h2p-6-text-17"/>
          <p:cNvSpPr txBox="1"/>
          <p:nvPr/>
        </p:nvSpPr>
        <p:spPr>
          <a:xfrm>
            <a:off x="6439204" y="2628900"/>
            <a:ext cx="4955133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从最简候选开始</a:t>
            </a:r>
          </a:p>
        </p:txBody>
      </p:sp>
      <p:sp>
        <p:nvSpPr>
          <p:cNvPr id="19" name="h2p-6-text-18"/>
          <p:cNvSpPr txBox="1"/>
          <p:nvPr/>
        </p:nvSpPr>
        <p:spPr>
          <a:xfrm>
            <a:off x="6439204" y="2876702"/>
            <a:ext cx="4955133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先让 Agentless / 单 Agent 覆盖核心契约。</a:t>
            </a:r>
          </a:p>
        </p:txBody>
      </p:sp>
      <p:sp>
        <p:nvSpPr>
          <p:cNvPr id="20" name="h2p-6-text-19"/>
          <p:cNvSpPr txBox="1"/>
          <p:nvPr/>
        </p:nvSpPr>
        <p:spPr>
          <a:xfrm>
            <a:off x="6439204" y="3238804"/>
            <a:ext cx="4955133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局部不足才加反馈循环</a:t>
            </a:r>
          </a:p>
        </p:txBody>
      </p:sp>
      <p:sp>
        <p:nvSpPr>
          <p:cNvPr id="21" name="h2p-6-text-20"/>
          <p:cNvSpPr txBox="1"/>
          <p:nvPr/>
        </p:nvSpPr>
        <p:spPr>
          <a:xfrm>
            <a:off x="6439204" y="3485692"/>
            <a:ext cx="4955133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只有出现独立决策或边界需求才 Agentize。</a:t>
            </a:r>
          </a:p>
        </p:txBody>
      </p:sp>
      <p:sp>
        <p:nvSpPr>
          <p:cNvPr id="22" name="h2p-6-text-21"/>
          <p:cNvSpPr txBox="1"/>
          <p:nvPr/>
        </p:nvSpPr>
        <p:spPr>
          <a:xfrm>
            <a:off x="6439204" y="3847795"/>
            <a:ext cx="4955133" cy="2020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过门槛者中取最小复杂度</a:t>
            </a:r>
          </a:p>
        </p:txBody>
      </p:sp>
      <p:sp>
        <p:nvSpPr>
          <p:cNvPr id="23" name="h2p-6-text-22"/>
          <p:cNvSpPr txBox="1"/>
          <p:nvPr/>
        </p:nvSpPr>
        <p:spPr>
          <a:xfrm>
            <a:off x="6439204" y="4095597"/>
            <a:ext cx="4955133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满足验收、成本、安全与责任边界的最小充分候选胜出。</a:t>
            </a:r>
          </a:p>
        </p:txBody>
      </p:sp>
      <p:sp>
        <p:nvSpPr>
          <p:cNvPr id="24" name="h2p-6-text-23"/>
          <p:cNvSpPr txBox="1"/>
          <p:nvPr/>
        </p:nvSpPr>
        <p:spPr>
          <a:xfrm>
            <a:off x="6439204" y="4552797"/>
            <a:ext cx="4955133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CJK SC"/>
              </a:rPr>
              <a:t>诚实拒绝 / 保留人工也是合法结论。</a:t>
            </a:r>
          </a:p>
        </p:txBody>
      </p:sp>
      <p:sp>
        <p:nvSpPr>
          <p:cNvPr id="25" name="h2p-6-box-24"/>
          <p:cNvSpPr/>
          <p:nvPr/>
        </p:nvSpPr>
        <p:spPr>
          <a:xfrm>
            <a:off x="685800" y="5048402"/>
            <a:ext cx="10820095" cy="933602"/>
          </a:xfrm>
          <a:prstGeom prst="roundRect">
            <a:avLst>
              <a:gd name="adj" fmla="val 1837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6-text-25"/>
          <p:cNvSpPr txBox="1"/>
          <p:nvPr/>
        </p:nvSpPr>
        <p:spPr>
          <a:xfrm>
            <a:off x="914400" y="5162702"/>
            <a:ext cx="505206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候选搜索顺序 · 设计契约（非运行结果）</a:t>
            </a:r>
          </a:p>
        </p:txBody>
      </p:sp>
      <p:sp>
        <p:nvSpPr>
          <p:cNvPr id="27" name="h2p-6-box-26"/>
          <p:cNvSpPr/>
          <p:nvPr/>
        </p:nvSpPr>
        <p:spPr>
          <a:xfrm>
            <a:off x="914400" y="5429707"/>
            <a:ext cx="2400300" cy="342900"/>
          </a:xfrm>
          <a:prstGeom prst="roundRect">
            <a:avLst>
              <a:gd name="adj" fmla="val 22220"/>
            </a:avLst>
          </a:prstGeom>
          <a:solidFill>
            <a:srgbClr val="DFEAF2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6-text-27"/>
          <p:cNvSpPr txBox="1"/>
          <p:nvPr/>
        </p:nvSpPr>
        <p:spPr>
          <a:xfrm>
            <a:off x="1000353" y="5505602"/>
            <a:ext cx="227319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C0 · Agentless · 待真实试验</a:t>
            </a:r>
          </a:p>
        </p:txBody>
      </p:sp>
      <p:sp>
        <p:nvSpPr>
          <p:cNvPr id="29" name="h2p-6-box-28"/>
          <p:cNvSpPr/>
          <p:nvPr/>
        </p:nvSpPr>
        <p:spPr>
          <a:xfrm>
            <a:off x="3429000" y="5429707"/>
            <a:ext cx="2400300" cy="342900"/>
          </a:xfrm>
          <a:prstGeom prst="roundRect">
            <a:avLst>
              <a:gd name="adj" fmla="val 22220"/>
            </a:avLst>
          </a:prstGeom>
          <a:solidFill>
            <a:srgbClr val="DCEEEA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6-text-29"/>
          <p:cNvSpPr txBox="1"/>
          <p:nvPr/>
        </p:nvSpPr>
        <p:spPr>
          <a:xfrm>
            <a:off x="3514953" y="5505602"/>
            <a:ext cx="227319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C1 · 单 Agent · 待真实试验</a:t>
            </a:r>
          </a:p>
        </p:txBody>
      </p:sp>
      <p:sp>
        <p:nvSpPr>
          <p:cNvPr id="31" name="h2p-6-box-30"/>
          <p:cNvSpPr/>
          <p:nvPr/>
        </p:nvSpPr>
        <p:spPr>
          <a:xfrm>
            <a:off x="5943600" y="5429707"/>
            <a:ext cx="2400300" cy="342900"/>
          </a:xfrm>
          <a:prstGeom prst="roundRect">
            <a:avLst>
              <a:gd name="adj" fmla="val 22220"/>
            </a:avLst>
          </a:prstGeom>
          <a:solidFill>
            <a:srgbClr val="F8DDD4"/>
          </a:solidFill>
          <a:ln w="1016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6-text-31"/>
          <p:cNvSpPr txBox="1"/>
          <p:nvPr/>
        </p:nvSpPr>
        <p:spPr>
          <a:xfrm>
            <a:off x="6029553" y="5505602"/>
            <a:ext cx="227319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C64C32"/>
                </a:solidFill>
                <a:latin typeface="Noto Sans Mono CJK SC"/>
              </a:rPr>
              <a:t>C2 · 多 Agent · 待真实试验</a:t>
            </a:r>
          </a:p>
        </p:txBody>
      </p:sp>
      <p:sp>
        <p:nvSpPr>
          <p:cNvPr id="33" name="h2p-6-box-32"/>
          <p:cNvSpPr/>
          <p:nvPr/>
        </p:nvSpPr>
        <p:spPr>
          <a:xfrm>
            <a:off x="8458200" y="5429707"/>
            <a:ext cx="2400300" cy="342900"/>
          </a:xfrm>
          <a:prstGeom prst="roundRect">
            <a:avLst>
              <a:gd name="adj" fmla="val 22220"/>
            </a:avLst>
          </a:prstGeom>
          <a:solidFill>
            <a:srgbClr val="F3E5B8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6-text-33"/>
          <p:cNvSpPr txBox="1"/>
          <p:nvPr/>
        </p:nvSpPr>
        <p:spPr>
          <a:xfrm>
            <a:off x="8544153" y="5505602"/>
            <a:ext cx="227319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A5781C"/>
                </a:solidFill>
                <a:latin typeface="Noto Sans Mono CJK SC"/>
              </a:rPr>
              <a:t>C3 · Human 混合 · 待真实试验</a:t>
            </a:r>
          </a:p>
        </p:txBody>
      </p:sp>
      <p:sp>
        <p:nvSpPr>
          <p:cNvPr id="35" name="h2p-6-text-34"/>
          <p:cNvSpPr txBox="1"/>
          <p:nvPr/>
        </p:nvSpPr>
        <p:spPr>
          <a:xfrm>
            <a:off x="577900" y="6096304"/>
            <a:ext cx="11036808" cy="216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02A43"/>
                </a:solidFill>
                <a:latin typeface="Noto Sans CJK SC"/>
              </a:rPr>
              <a:t>规则写在候选生成之前；当前候选对照仍待真实运行，本轮结论 requires_runtime_trial（需进入真实受控试验）。</a:t>
            </a:r>
          </a:p>
        </p:txBody>
      </p:sp>
      <p:sp>
        <p:nvSpPr>
          <p:cNvPr id="36" name="h2p-6-text-35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选择规则</a:t>
            </a:r>
          </a:p>
        </p:txBody>
      </p:sp>
      <p:sp>
        <p:nvSpPr>
          <p:cNvPr id="37" name="h2p-6-text-36"/>
          <p:cNvSpPr txBox="1"/>
          <p:nvPr/>
        </p:nvSpPr>
        <p:spPr>
          <a:xfrm>
            <a:off x="10708538" y="6543446"/>
            <a:ext cx="85496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最简合格者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7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7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07 / 12 · 元团队 · 两层 Agent</a:t>
            </a:r>
          </a:p>
        </p:txBody>
      </p:sp>
      <p:sp>
        <p:nvSpPr>
          <p:cNvPr id="4" name="h2p-7-text-3"/>
          <p:cNvSpPr txBox="1"/>
          <p:nvPr/>
        </p:nvSpPr>
        <p:spPr>
          <a:xfrm>
            <a:off x="685800" y="724204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五个元 Agent 完成方案闭环，区别于候选业务执行 Agent。</a:t>
            </a:r>
          </a:p>
        </p:txBody>
      </p:sp>
      <p:sp>
        <p:nvSpPr>
          <p:cNvPr id="5" name="h2p-7-text-4"/>
          <p:cNvSpPr txBox="1"/>
          <p:nvPr/>
        </p:nvSpPr>
        <p:spPr>
          <a:xfrm>
            <a:off x="705002" y="1600200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元 Agent 设计并评测方案；候选 C2 里才可能出现 OpsPilot 式的业务执行 Agent——两者不要混为一谈。</a:t>
            </a:r>
          </a:p>
        </p:txBody>
      </p:sp>
      <p:sp>
        <p:nvSpPr>
          <p:cNvPr id="6" name="h2p-7-box-5"/>
          <p:cNvSpPr/>
          <p:nvPr/>
        </p:nvSpPr>
        <p:spPr>
          <a:xfrm>
            <a:off x="685800" y="200070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7-box-6"/>
          <p:cNvSpPr/>
          <p:nvPr/>
        </p:nvSpPr>
        <p:spPr>
          <a:xfrm>
            <a:off x="685800" y="2190902"/>
            <a:ext cx="10820095" cy="437997"/>
          </a:xfrm>
          <a:prstGeom prst="roundRect">
            <a:avLst>
              <a:gd name="adj" fmla="val 3913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7-text-7"/>
          <p:cNvSpPr txBox="1"/>
          <p:nvPr/>
        </p:nvSpPr>
        <p:spPr>
          <a:xfrm>
            <a:off x="914400" y="2286000"/>
            <a:ext cx="1651406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两层 Agent · 不要混淆</a:t>
            </a:r>
          </a:p>
        </p:txBody>
      </p:sp>
      <p:sp>
        <p:nvSpPr>
          <p:cNvPr id="9" name="h2p-7-text-8"/>
          <p:cNvSpPr txBox="1"/>
          <p:nvPr/>
        </p:nvSpPr>
        <p:spPr>
          <a:xfrm>
            <a:off x="2648102" y="2286000"/>
            <a:ext cx="456651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CJK SC"/>
              </a:rPr>
              <a:t>上层 · 元 Agent：设计 / 评测 / 审计 AgentFit 方案</a:t>
            </a:r>
          </a:p>
        </p:txBody>
      </p:sp>
      <p:sp>
        <p:nvSpPr>
          <p:cNvPr id="10" name="h2p-7-text-9"/>
          <p:cNvSpPr txBox="1"/>
          <p:nvPr/>
        </p:nvSpPr>
        <p:spPr>
          <a:xfrm>
            <a:off x="7220102" y="2286000"/>
            <a:ext cx="433334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CJK SC"/>
              </a:rPr>
              <a:t>下层 · 业务执行 Agent：候选方案内部的执行体</a:t>
            </a:r>
          </a:p>
        </p:txBody>
      </p:sp>
      <p:sp>
        <p:nvSpPr>
          <p:cNvPr id="11" name="h2p-7-box-10"/>
          <p:cNvSpPr/>
          <p:nvPr/>
        </p:nvSpPr>
        <p:spPr>
          <a:xfrm>
            <a:off x="685800" y="2762402"/>
            <a:ext cx="10820095" cy="1600200"/>
          </a:xfrm>
          <a:prstGeom prst="roundRect">
            <a:avLst>
              <a:gd name="adj" fmla="val 1071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7-text-11"/>
          <p:cNvSpPr txBox="1"/>
          <p:nvPr/>
        </p:nvSpPr>
        <p:spPr>
          <a:xfrm>
            <a:off x="914400" y="2895904"/>
            <a:ext cx="340065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五个元 Agent · 各自拥有判断权、状态边界与责任产物</a:t>
            </a:r>
          </a:p>
        </p:txBody>
      </p:sp>
      <p:sp>
        <p:nvSpPr>
          <p:cNvPr id="13" name="h2p-7-box-12"/>
          <p:cNvSpPr/>
          <p:nvPr/>
        </p:nvSpPr>
        <p:spPr>
          <a:xfrm>
            <a:off x="914400" y="3200400"/>
            <a:ext cx="1981504" cy="1047902"/>
          </a:xfrm>
          <a:prstGeom prst="roundRect">
            <a:avLst>
              <a:gd name="adj" fmla="val 1636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7-text-13"/>
          <p:cNvSpPr txBox="1"/>
          <p:nvPr/>
        </p:nvSpPr>
        <p:spPr>
          <a:xfrm>
            <a:off x="1028700" y="3295497"/>
            <a:ext cx="178765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426B86"/>
                </a:solidFill>
                <a:latin typeface="Noto Sans Mono CJK SC"/>
              </a:rPr>
              <a:t>01 交付官</a:t>
            </a:r>
          </a:p>
        </p:txBody>
      </p:sp>
      <p:sp>
        <p:nvSpPr>
          <p:cNvPr id="15" name="h2p-7-text-14"/>
          <p:cNvSpPr txBox="1"/>
          <p:nvPr/>
        </p:nvSpPr>
        <p:spPr>
          <a:xfrm>
            <a:off x="1028700" y="3504895"/>
            <a:ext cx="1787652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02A43"/>
                </a:solidFill>
                <a:latin typeface="Noto Sans CJK SC"/>
              </a:rPr>
              <a:t>EngagementLead</a:t>
            </a:r>
          </a:p>
        </p:txBody>
      </p:sp>
      <p:sp>
        <p:nvSpPr>
          <p:cNvPr id="16" name="h2p-7-text-15"/>
          <p:cNvSpPr txBox="1"/>
          <p:nvPr/>
        </p:nvSpPr>
        <p:spPr>
          <a:xfrm>
            <a:off x="1028700" y="3791102"/>
            <a:ext cx="1787652" cy="297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3697C"/>
                </a:solidFill>
                <a:latin typeface="Noto Sans CJK SC"/>
              </a:rPr>
              <a:t>控制阶段、组织审批、作出交付决定</a:t>
            </a:r>
          </a:p>
        </p:txBody>
      </p:sp>
      <p:sp>
        <p:nvSpPr>
          <p:cNvPr id="17" name="h2p-7-box-16"/>
          <p:cNvSpPr/>
          <p:nvPr/>
        </p:nvSpPr>
        <p:spPr>
          <a:xfrm>
            <a:off x="3047695" y="3200400"/>
            <a:ext cx="1981504" cy="1047902"/>
          </a:xfrm>
          <a:prstGeom prst="roundRect">
            <a:avLst>
              <a:gd name="adj" fmla="val 163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7-text-17"/>
          <p:cNvSpPr txBox="1"/>
          <p:nvPr/>
        </p:nvSpPr>
        <p:spPr>
          <a:xfrm>
            <a:off x="3161995" y="3295497"/>
            <a:ext cx="178765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02 业务架构师</a:t>
            </a:r>
          </a:p>
        </p:txBody>
      </p:sp>
      <p:sp>
        <p:nvSpPr>
          <p:cNvPr id="19" name="h2p-7-text-18"/>
          <p:cNvSpPr txBox="1"/>
          <p:nvPr/>
        </p:nvSpPr>
        <p:spPr>
          <a:xfrm>
            <a:off x="3161995" y="3504895"/>
            <a:ext cx="1787652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02A43"/>
                </a:solidFill>
                <a:latin typeface="Noto Sans CJK SC"/>
              </a:rPr>
              <a:t>BusinessEngineer</a:t>
            </a:r>
          </a:p>
        </p:txBody>
      </p:sp>
      <p:sp>
        <p:nvSpPr>
          <p:cNvPr id="20" name="h2p-7-text-19"/>
          <p:cNvSpPr txBox="1"/>
          <p:nvPr/>
        </p:nvSpPr>
        <p:spPr>
          <a:xfrm>
            <a:off x="3161995" y="3791102"/>
            <a:ext cx="1787652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3697C"/>
                </a:solidFill>
                <a:latin typeface="Noto Sans CJK SC"/>
              </a:rPr>
              <a:t>定义样本与任务、冻结指标预算</a:t>
            </a:r>
          </a:p>
        </p:txBody>
      </p:sp>
      <p:sp>
        <p:nvSpPr>
          <p:cNvPr id="21" name="h2p-7-box-20"/>
          <p:cNvSpPr/>
          <p:nvPr/>
        </p:nvSpPr>
        <p:spPr>
          <a:xfrm>
            <a:off x="5181904" y="3200400"/>
            <a:ext cx="1981504" cy="1047902"/>
          </a:xfrm>
          <a:prstGeom prst="roundRect">
            <a:avLst>
              <a:gd name="adj" fmla="val 163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7-text-21"/>
          <p:cNvSpPr txBox="1"/>
          <p:nvPr/>
        </p:nvSpPr>
        <p:spPr>
          <a:xfrm>
            <a:off x="5296204" y="3295497"/>
            <a:ext cx="178765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03 方案架构师</a:t>
            </a:r>
          </a:p>
        </p:txBody>
      </p:sp>
      <p:sp>
        <p:nvSpPr>
          <p:cNvPr id="23" name="h2p-7-text-22"/>
          <p:cNvSpPr txBox="1"/>
          <p:nvPr/>
        </p:nvSpPr>
        <p:spPr>
          <a:xfrm>
            <a:off x="5296204" y="3504895"/>
            <a:ext cx="1787652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02A43"/>
                </a:solidFill>
                <a:latin typeface="Noto Sans CJK SC"/>
              </a:rPr>
              <a:t>AgentArchitect</a:t>
            </a:r>
          </a:p>
        </p:txBody>
      </p:sp>
      <p:sp>
        <p:nvSpPr>
          <p:cNvPr id="24" name="h2p-7-text-23"/>
          <p:cNvSpPr txBox="1"/>
          <p:nvPr/>
        </p:nvSpPr>
        <p:spPr>
          <a:xfrm>
            <a:off x="5296204" y="3791102"/>
            <a:ext cx="1787652" cy="297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3697C"/>
                </a:solidFill>
                <a:latin typeface="Noto Sans CJK SC"/>
              </a:rPr>
              <a:t>盘点能力、生成并列候选、解释 Agentize</a:t>
            </a:r>
          </a:p>
        </p:txBody>
      </p:sp>
      <p:sp>
        <p:nvSpPr>
          <p:cNvPr id="25" name="h2p-7-box-24"/>
          <p:cNvSpPr/>
          <p:nvPr/>
        </p:nvSpPr>
        <p:spPr>
          <a:xfrm>
            <a:off x="7315200" y="3200400"/>
            <a:ext cx="1981504" cy="1047902"/>
          </a:xfrm>
          <a:prstGeom prst="roundRect">
            <a:avLst>
              <a:gd name="adj" fmla="val 163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7-text-25"/>
          <p:cNvSpPr txBox="1"/>
          <p:nvPr/>
        </p:nvSpPr>
        <p:spPr>
          <a:xfrm>
            <a:off x="7429500" y="3295497"/>
            <a:ext cx="178765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04 验证工程师</a:t>
            </a:r>
          </a:p>
        </p:txBody>
      </p:sp>
      <p:sp>
        <p:nvSpPr>
          <p:cNvPr id="27" name="h2p-7-text-26"/>
          <p:cNvSpPr txBox="1"/>
          <p:nvPr/>
        </p:nvSpPr>
        <p:spPr>
          <a:xfrm>
            <a:off x="7429500" y="3504895"/>
            <a:ext cx="1787652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02A43"/>
                </a:solidFill>
                <a:latin typeface="Noto Sans CJK SC"/>
              </a:rPr>
              <a:t>ValidationEngineer</a:t>
            </a:r>
          </a:p>
        </p:txBody>
      </p:sp>
      <p:sp>
        <p:nvSpPr>
          <p:cNvPr id="28" name="h2p-7-text-27"/>
          <p:cNvSpPr txBox="1"/>
          <p:nvPr/>
        </p:nvSpPr>
        <p:spPr>
          <a:xfrm>
            <a:off x="7429500" y="3791102"/>
            <a:ext cx="1787652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3697C"/>
                </a:solidFill>
                <a:latin typeface="Noto Sans CJK SC"/>
              </a:rPr>
              <a:t>隔离运行候选、收集失败证据</a:t>
            </a:r>
          </a:p>
        </p:txBody>
      </p:sp>
      <p:sp>
        <p:nvSpPr>
          <p:cNvPr id="29" name="h2p-7-box-28"/>
          <p:cNvSpPr/>
          <p:nvPr/>
        </p:nvSpPr>
        <p:spPr>
          <a:xfrm>
            <a:off x="9448495" y="3200400"/>
            <a:ext cx="1981504" cy="1047902"/>
          </a:xfrm>
          <a:prstGeom prst="roundRect">
            <a:avLst>
              <a:gd name="adj" fmla="val 1636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7-text-29"/>
          <p:cNvSpPr txBox="1"/>
          <p:nvPr/>
        </p:nvSpPr>
        <p:spPr>
          <a:xfrm>
            <a:off x="9562795" y="3295497"/>
            <a:ext cx="178765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05 审计官</a:t>
            </a:r>
          </a:p>
        </p:txBody>
      </p:sp>
      <p:sp>
        <p:nvSpPr>
          <p:cNvPr id="31" name="h2p-7-text-30"/>
          <p:cNvSpPr txBox="1"/>
          <p:nvPr/>
        </p:nvSpPr>
        <p:spPr>
          <a:xfrm>
            <a:off x="9562795" y="3504895"/>
            <a:ext cx="1787652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02A43"/>
                </a:solidFill>
                <a:latin typeface="Noto Sans CJK SC"/>
              </a:rPr>
              <a:t>GovernanceAuditor</a:t>
            </a:r>
          </a:p>
        </p:txBody>
      </p:sp>
      <p:sp>
        <p:nvSpPr>
          <p:cNvPr id="32" name="h2p-7-text-31"/>
          <p:cNvSpPr txBox="1"/>
          <p:nvPr/>
        </p:nvSpPr>
        <p:spPr>
          <a:xfrm>
            <a:off x="9562795" y="3791102"/>
            <a:ext cx="1787652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53697C"/>
                </a:solidFill>
                <a:latin typeface="Noto Sans CJK SC"/>
              </a:rPr>
              <a:t>独立检查证据、选择 / 否决 / 降级</a:t>
            </a:r>
          </a:p>
        </p:txBody>
      </p:sp>
      <p:sp>
        <p:nvSpPr>
          <p:cNvPr id="33" name="h2p-7-box-32"/>
          <p:cNvSpPr/>
          <p:nvPr/>
        </p:nvSpPr>
        <p:spPr>
          <a:xfrm>
            <a:off x="685800" y="4515307"/>
            <a:ext cx="10820095" cy="1028700"/>
          </a:xfrm>
          <a:prstGeom prst="roundRect">
            <a:avLst>
              <a:gd name="adj" fmla="val 1667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7-text-33"/>
          <p:cNvSpPr txBox="1"/>
          <p:nvPr/>
        </p:nvSpPr>
        <p:spPr>
          <a:xfrm>
            <a:off x="914400" y="4628692"/>
            <a:ext cx="2856585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下层 · 候选业务执行 Agent（被设计的对象）</a:t>
            </a:r>
          </a:p>
        </p:txBody>
      </p:sp>
      <p:sp>
        <p:nvSpPr>
          <p:cNvPr id="35" name="h2p-7-text-34"/>
          <p:cNvSpPr txBox="1"/>
          <p:nvPr/>
        </p:nvSpPr>
        <p:spPr>
          <a:xfrm>
            <a:off x="914400" y="4914900"/>
            <a:ext cx="10589666" cy="1929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C0 无；C1 一个；C2 多个，OpsPilot 的 Alert Intake / Commander / RCA Analyst / Data Advisor / Planner / Executor / Verifier 属于这一层；C3 由 Human 承担高风险动作。</a:t>
            </a:r>
          </a:p>
        </p:txBody>
      </p:sp>
      <p:sp>
        <p:nvSpPr>
          <p:cNvPr id="36" name="h2p-7-text-35"/>
          <p:cNvSpPr txBox="1"/>
          <p:nvPr/>
        </p:nvSpPr>
        <p:spPr>
          <a:xfrm>
            <a:off x="914400" y="5314492"/>
            <a:ext cx="10589666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五个元 Agent 不是 OpsPilot 的执行 Agent；它们负责选出“该不该有执行 Agent、有几个”。</a:t>
            </a:r>
          </a:p>
        </p:txBody>
      </p:sp>
      <p:sp>
        <p:nvSpPr>
          <p:cNvPr id="37" name="h2p-7-text-36"/>
          <p:cNvSpPr txBox="1"/>
          <p:nvPr/>
        </p:nvSpPr>
        <p:spPr>
          <a:xfrm>
            <a:off x="577900" y="5715000"/>
            <a:ext cx="11036808" cy="2295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一个元 Agent 不可用时阶段保持未完成，其他 Agent 不得冒充它的责任产物。</a:t>
            </a:r>
          </a:p>
        </p:txBody>
      </p:sp>
      <p:sp>
        <p:nvSpPr>
          <p:cNvPr id="38" name="h2p-7-text-37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五元责任链</a:t>
            </a:r>
          </a:p>
        </p:txBody>
      </p:sp>
      <p:sp>
        <p:nvSpPr>
          <p:cNvPr id="39" name="h2p-7-text-38"/>
          <p:cNvSpPr txBox="1"/>
          <p:nvPr/>
        </p:nvSpPr>
        <p:spPr>
          <a:xfrm>
            <a:off x="10548518" y="6543446"/>
            <a:ext cx="101498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 Identity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8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8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08 / 12 · 落地映射</a:t>
            </a:r>
          </a:p>
        </p:txBody>
      </p:sp>
      <p:sp>
        <p:nvSpPr>
          <p:cNvPr id="4" name="h2p-8-text-3"/>
          <p:cNvSpPr txBox="1"/>
          <p:nvPr/>
        </p:nvSpPr>
        <p:spPr>
          <a:xfrm>
            <a:off x="685800" y="724204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AgentTeams 提供 Worker、Team、Room、Human、Dossier 与 Trace。</a:t>
            </a:r>
          </a:p>
        </p:txBody>
      </p:sp>
      <p:sp>
        <p:nvSpPr>
          <p:cNvPr id="5" name="h2p-8-text-4"/>
          <p:cNvSpPr txBox="1"/>
          <p:nvPr/>
        </p:nvSpPr>
        <p:spPr>
          <a:xfrm>
            <a:off x="705002" y="1600200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AgentTeams 提供原生底座，AgentFit 只补方案工程层；不改核心、不建新前端。</a:t>
            </a:r>
          </a:p>
        </p:txBody>
      </p:sp>
      <p:sp>
        <p:nvSpPr>
          <p:cNvPr id="6" name="h2p-8-box-5"/>
          <p:cNvSpPr/>
          <p:nvPr/>
        </p:nvSpPr>
        <p:spPr>
          <a:xfrm>
            <a:off x="685800" y="200070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8-box-6"/>
          <p:cNvSpPr/>
          <p:nvPr/>
        </p:nvSpPr>
        <p:spPr>
          <a:xfrm>
            <a:off x="685800" y="2190902"/>
            <a:ext cx="10820095" cy="3638397"/>
          </a:xfrm>
          <a:prstGeom prst="roundRect">
            <a:avLst>
              <a:gd name="adj" fmla="val 471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8-text-7"/>
          <p:cNvSpPr txBox="1"/>
          <p:nvPr/>
        </p:nvSpPr>
        <p:spPr>
          <a:xfrm>
            <a:off x="914400" y="2324404"/>
            <a:ext cx="194310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AgentFit 对象</a:t>
            </a:r>
          </a:p>
        </p:txBody>
      </p:sp>
      <p:sp>
        <p:nvSpPr>
          <p:cNvPr id="9" name="h2p-8-text-8"/>
          <p:cNvSpPr txBox="1"/>
          <p:nvPr/>
        </p:nvSpPr>
        <p:spPr>
          <a:xfrm>
            <a:off x="5219395" y="2324404"/>
            <a:ext cx="21369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AgentTeams 落点</a:t>
            </a:r>
          </a:p>
        </p:txBody>
      </p:sp>
      <p:sp>
        <p:nvSpPr>
          <p:cNvPr id="10" name="h2p-8-text-9"/>
          <p:cNvSpPr txBox="1"/>
          <p:nvPr/>
        </p:nvSpPr>
        <p:spPr>
          <a:xfrm>
            <a:off x="8648395" y="2324404"/>
            <a:ext cx="194310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第一阶段实现</a:t>
            </a:r>
          </a:p>
        </p:txBody>
      </p:sp>
      <p:sp>
        <p:nvSpPr>
          <p:cNvPr id="11" name="h2p-8-box-10"/>
          <p:cNvSpPr/>
          <p:nvPr/>
        </p:nvSpPr>
        <p:spPr>
          <a:xfrm>
            <a:off x="914400" y="2590495"/>
            <a:ext cx="10362895" cy="19202"/>
          </a:xfrm>
          <a:prstGeom prst="rect">
            <a:avLst/>
          </a:prstGeom>
          <a:solidFill>
            <a:srgbClr val="E3E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8-text-11"/>
          <p:cNvSpPr txBox="1"/>
          <p:nvPr/>
        </p:nvSpPr>
        <p:spPr>
          <a:xfrm>
            <a:off x="914400" y="2723997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EngagementLead 交付官</a:t>
            </a:r>
          </a:p>
        </p:txBody>
      </p:sp>
      <p:sp>
        <p:nvSpPr>
          <p:cNvPr id="13" name="h2p-8-text-12"/>
          <p:cNvSpPr txBox="1"/>
          <p:nvPr/>
        </p:nvSpPr>
        <p:spPr>
          <a:xfrm>
            <a:off x="5219395" y="2723997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Manager / Team Leader（Team）</a:t>
            </a:r>
          </a:p>
        </p:txBody>
      </p:sp>
      <p:sp>
        <p:nvSpPr>
          <p:cNvPr id="14" name="h2p-8-text-13"/>
          <p:cNvSpPr txBox="1"/>
          <p:nvPr/>
        </p:nvSpPr>
        <p:spPr>
          <a:xfrm>
            <a:off x="8648395" y="2723997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阶段控制 Skill + 项目状态文件</a:t>
            </a:r>
          </a:p>
        </p:txBody>
      </p:sp>
      <p:sp>
        <p:nvSpPr>
          <p:cNvPr id="15" name="h2p-8-box-14"/>
          <p:cNvSpPr/>
          <p:nvPr/>
        </p:nvSpPr>
        <p:spPr>
          <a:xfrm>
            <a:off x="914400" y="3028492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8-text-15"/>
          <p:cNvSpPr txBox="1"/>
          <p:nvPr/>
        </p:nvSpPr>
        <p:spPr>
          <a:xfrm>
            <a:off x="914400" y="3161995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BusinessEngineer 业务架构师</a:t>
            </a:r>
          </a:p>
        </p:txBody>
      </p:sp>
      <p:sp>
        <p:nvSpPr>
          <p:cNvPr id="17" name="h2p-8-text-16"/>
          <p:cNvSpPr txBox="1"/>
          <p:nvPr/>
        </p:nvSpPr>
        <p:spPr>
          <a:xfrm>
            <a:off x="5219395" y="3161995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</a:t>
            </a:r>
          </a:p>
        </p:txBody>
      </p:sp>
      <p:sp>
        <p:nvSpPr>
          <p:cNvPr id="18" name="h2p-8-text-17"/>
          <p:cNvSpPr txBox="1"/>
          <p:nvPr/>
        </p:nvSpPr>
        <p:spPr>
          <a:xfrm>
            <a:off x="8648395" y="3161995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Sample/Task 编译 Skill</a:t>
            </a:r>
          </a:p>
        </p:txBody>
      </p:sp>
      <p:sp>
        <p:nvSpPr>
          <p:cNvPr id="19" name="h2p-8-box-18"/>
          <p:cNvSpPr/>
          <p:nvPr/>
        </p:nvSpPr>
        <p:spPr>
          <a:xfrm>
            <a:off x="914400" y="3467404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8-text-19"/>
          <p:cNvSpPr txBox="1"/>
          <p:nvPr/>
        </p:nvSpPr>
        <p:spPr>
          <a:xfrm>
            <a:off x="914400" y="3600907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AgentArchitect 方案架构师</a:t>
            </a:r>
          </a:p>
        </p:txBody>
      </p:sp>
      <p:sp>
        <p:nvSpPr>
          <p:cNvPr id="21" name="h2p-8-text-20"/>
          <p:cNvSpPr txBox="1"/>
          <p:nvPr/>
        </p:nvSpPr>
        <p:spPr>
          <a:xfrm>
            <a:off x="5219395" y="3600907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</a:t>
            </a:r>
          </a:p>
        </p:txBody>
      </p:sp>
      <p:sp>
        <p:nvSpPr>
          <p:cNvPr id="22" name="h2p-8-text-21"/>
          <p:cNvSpPr txBox="1"/>
          <p:nvPr/>
        </p:nvSpPr>
        <p:spPr>
          <a:xfrm>
            <a:off x="8648395" y="3600907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能力对齐 + 候选设计 Skill</a:t>
            </a:r>
          </a:p>
        </p:txBody>
      </p:sp>
      <p:sp>
        <p:nvSpPr>
          <p:cNvPr id="23" name="h2p-8-box-22"/>
          <p:cNvSpPr/>
          <p:nvPr/>
        </p:nvSpPr>
        <p:spPr>
          <a:xfrm>
            <a:off x="914400" y="3905402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8-text-23"/>
          <p:cNvSpPr txBox="1"/>
          <p:nvPr/>
        </p:nvSpPr>
        <p:spPr>
          <a:xfrm>
            <a:off x="914400" y="4038904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ValidationEngineer 验证工程师</a:t>
            </a:r>
          </a:p>
        </p:txBody>
      </p:sp>
      <p:sp>
        <p:nvSpPr>
          <p:cNvPr id="25" name="h2p-8-text-24"/>
          <p:cNvSpPr txBox="1"/>
          <p:nvPr/>
        </p:nvSpPr>
        <p:spPr>
          <a:xfrm>
            <a:off x="5219395" y="4038904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 + 沙箱</a:t>
            </a:r>
          </a:p>
        </p:txBody>
      </p:sp>
      <p:sp>
        <p:nvSpPr>
          <p:cNvPr id="26" name="h2p-8-text-25"/>
          <p:cNvSpPr txBox="1"/>
          <p:nvPr/>
        </p:nvSpPr>
        <p:spPr>
          <a:xfrm>
            <a:off x="8648395" y="4038904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统一预算评测工具</a:t>
            </a:r>
          </a:p>
        </p:txBody>
      </p:sp>
      <p:sp>
        <p:nvSpPr>
          <p:cNvPr id="27" name="h2p-8-box-26"/>
          <p:cNvSpPr/>
          <p:nvPr/>
        </p:nvSpPr>
        <p:spPr>
          <a:xfrm>
            <a:off x="914400" y="4343400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8-text-27"/>
          <p:cNvSpPr txBox="1"/>
          <p:nvPr/>
        </p:nvSpPr>
        <p:spPr>
          <a:xfrm>
            <a:off x="914400" y="4476902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GovernanceAuditor 审计官</a:t>
            </a:r>
          </a:p>
        </p:txBody>
      </p:sp>
      <p:sp>
        <p:nvSpPr>
          <p:cNvPr id="29" name="h2p-8-text-28"/>
          <p:cNvSpPr txBox="1"/>
          <p:nvPr/>
        </p:nvSpPr>
        <p:spPr>
          <a:xfrm>
            <a:off x="5219395" y="4476902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独立 Worker + 独立权限</a:t>
            </a:r>
          </a:p>
        </p:txBody>
      </p:sp>
      <p:sp>
        <p:nvSpPr>
          <p:cNvPr id="30" name="h2p-8-text-29"/>
          <p:cNvSpPr txBox="1"/>
          <p:nvPr/>
        </p:nvSpPr>
        <p:spPr>
          <a:xfrm>
            <a:off x="8648395" y="4476902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只读证据 + 审计 Skill</a:t>
            </a:r>
          </a:p>
        </p:txBody>
      </p:sp>
      <p:sp>
        <p:nvSpPr>
          <p:cNvPr id="31" name="h2p-8-box-30"/>
          <p:cNvSpPr/>
          <p:nvPr/>
        </p:nvSpPr>
        <p:spPr>
          <a:xfrm>
            <a:off x="914400" y="4781397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8-text-31"/>
          <p:cNvSpPr txBox="1"/>
          <p:nvPr/>
        </p:nvSpPr>
        <p:spPr>
          <a:xfrm>
            <a:off x="914400" y="4914900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阶段委派 / Human 审批</a:t>
            </a:r>
          </a:p>
        </p:txBody>
      </p:sp>
      <p:sp>
        <p:nvSpPr>
          <p:cNvPr id="33" name="h2p-8-text-32"/>
          <p:cNvSpPr txBox="1"/>
          <p:nvPr/>
        </p:nvSpPr>
        <p:spPr>
          <a:xfrm>
            <a:off x="5219395" y="4914900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Room（房间通信）+ Human</a:t>
            </a:r>
          </a:p>
        </p:txBody>
      </p:sp>
      <p:sp>
        <p:nvSpPr>
          <p:cNvPr id="34" name="h2p-8-text-33"/>
          <p:cNvSpPr txBox="1"/>
          <p:nvPr/>
        </p:nvSpPr>
        <p:spPr>
          <a:xfrm>
            <a:off x="8648395" y="4914900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结构化 Task + 批准/拒绝留痕</a:t>
            </a:r>
          </a:p>
        </p:txBody>
      </p:sp>
      <p:sp>
        <p:nvSpPr>
          <p:cNvPr id="35" name="h2p-8-box-34"/>
          <p:cNvSpPr/>
          <p:nvPr/>
        </p:nvSpPr>
        <p:spPr>
          <a:xfrm>
            <a:off x="914400" y="5219395"/>
            <a:ext cx="10362895" cy="19202"/>
          </a:xfrm>
          <a:prstGeom prst="rect">
            <a:avLst/>
          </a:prstGeom>
          <a:solidFill>
            <a:srgbClr val="F0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8-text-35"/>
          <p:cNvSpPr txBox="1"/>
          <p:nvPr/>
        </p:nvSpPr>
        <p:spPr>
          <a:xfrm>
            <a:off x="914400" y="5352897"/>
            <a:ext cx="4177893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事实源 / 执行留痕</a:t>
            </a:r>
          </a:p>
        </p:txBody>
      </p:sp>
      <p:sp>
        <p:nvSpPr>
          <p:cNvPr id="37" name="h2p-8-text-36"/>
          <p:cNvSpPr txBox="1"/>
          <p:nvPr/>
        </p:nvSpPr>
        <p:spPr>
          <a:xfrm>
            <a:off x="5219395" y="5352897"/>
            <a:ext cx="330372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Project Dossier + 共享 Artifact</a:t>
            </a:r>
          </a:p>
        </p:txBody>
      </p:sp>
      <p:sp>
        <p:nvSpPr>
          <p:cNvPr id="38" name="h2p-8-text-37"/>
          <p:cNvSpPr txBox="1"/>
          <p:nvPr/>
        </p:nvSpPr>
        <p:spPr>
          <a:xfrm>
            <a:off x="8648395" y="5352897"/>
            <a:ext cx="268102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Step / Episode 级 Trace</a:t>
            </a:r>
          </a:p>
        </p:txBody>
      </p:sp>
      <p:sp>
        <p:nvSpPr>
          <p:cNvPr id="39" name="h2p-8-text-38"/>
          <p:cNvSpPr txBox="1"/>
          <p:nvPr/>
        </p:nvSpPr>
        <p:spPr>
          <a:xfrm>
            <a:off x="577900" y="5982004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Project Dossier 落在共享存储；Trace 落在共享 Artifact + 消息引用。设计契约，非运行证据。</a:t>
            </a:r>
          </a:p>
        </p:txBody>
      </p:sp>
      <p:sp>
        <p:nvSpPr>
          <p:cNvPr id="40" name="h2p-8-text-39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× AGENTTEAMS</a:t>
            </a:r>
          </a:p>
        </p:txBody>
      </p:sp>
      <p:sp>
        <p:nvSpPr>
          <p:cNvPr id="41" name="h2p-8-text-40"/>
          <p:cNvSpPr txBox="1"/>
          <p:nvPr/>
        </p:nvSpPr>
        <p:spPr>
          <a:xfrm>
            <a:off x="9746589" y="6543446"/>
            <a:ext cx="1816912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Worker / Team / Room / Human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9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9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09 / 12 · 工程支撑</a:t>
            </a:r>
          </a:p>
        </p:txBody>
      </p:sp>
      <p:sp>
        <p:nvSpPr>
          <p:cNvPr id="4" name="h2p-9-text-3"/>
          <p:cNvSpPr txBox="1"/>
          <p:nvPr/>
        </p:nvSpPr>
        <p:spPr>
          <a:xfrm>
            <a:off x="685800" y="724204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Skill、HTTP/MCP 契约、共享状态与风险门禁支撑闭环。</a:t>
            </a:r>
          </a:p>
        </p:txBody>
      </p:sp>
      <p:sp>
        <p:nvSpPr>
          <p:cNvPr id="5" name="h2p-9-text-4"/>
          <p:cNvSpPr txBox="1"/>
          <p:nvPr/>
        </p:nvSpPr>
        <p:spPr>
          <a:xfrm>
            <a:off x="705002" y="1600200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Skill 承载方法，HTTP 与 MCP 是等价的工具契约，Project Dossier 是事实源，风险门禁守边界。</a:t>
            </a:r>
          </a:p>
        </p:txBody>
      </p:sp>
      <p:sp>
        <p:nvSpPr>
          <p:cNvPr id="6" name="h2p-9-box-5"/>
          <p:cNvSpPr/>
          <p:nvPr/>
        </p:nvSpPr>
        <p:spPr>
          <a:xfrm>
            <a:off x="685800" y="200070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9-box-6"/>
          <p:cNvSpPr/>
          <p:nvPr/>
        </p:nvSpPr>
        <p:spPr>
          <a:xfrm>
            <a:off x="685800" y="2190902"/>
            <a:ext cx="10820095" cy="1333195"/>
          </a:xfrm>
          <a:prstGeom prst="roundRect">
            <a:avLst>
              <a:gd name="adj" fmla="val 1286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9-text-7"/>
          <p:cNvSpPr txBox="1"/>
          <p:nvPr/>
        </p:nvSpPr>
        <p:spPr>
          <a:xfrm>
            <a:off x="914400" y="2361895"/>
            <a:ext cx="176844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SEVEN SKILLS · 可复用方法</a:t>
            </a:r>
          </a:p>
        </p:txBody>
      </p:sp>
      <p:sp>
        <p:nvSpPr>
          <p:cNvPr id="9" name="h2p-9-box-8"/>
          <p:cNvSpPr/>
          <p:nvPr/>
        </p:nvSpPr>
        <p:spPr>
          <a:xfrm>
            <a:off x="914400" y="2686507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9-text-9"/>
          <p:cNvSpPr txBox="1"/>
          <p:nvPr/>
        </p:nvSpPr>
        <p:spPr>
          <a:xfrm>
            <a:off x="1000353" y="2734056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1 任务编译</a:t>
            </a:r>
          </a:p>
        </p:txBody>
      </p:sp>
      <p:sp>
        <p:nvSpPr>
          <p:cNvPr id="11" name="h2p-9-box-10"/>
          <p:cNvSpPr/>
          <p:nvPr/>
        </p:nvSpPr>
        <p:spPr>
          <a:xfrm>
            <a:off x="2342692" y="2686507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9-text-11"/>
          <p:cNvSpPr txBox="1"/>
          <p:nvPr/>
        </p:nvSpPr>
        <p:spPr>
          <a:xfrm>
            <a:off x="2428646" y="2734056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2 能力对齐</a:t>
            </a:r>
          </a:p>
        </p:txBody>
      </p:sp>
      <p:sp>
        <p:nvSpPr>
          <p:cNvPr id="13" name="h2p-9-box-12"/>
          <p:cNvSpPr/>
          <p:nvPr/>
        </p:nvSpPr>
        <p:spPr>
          <a:xfrm>
            <a:off x="3771900" y="2686507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9-text-13"/>
          <p:cNvSpPr txBox="1"/>
          <p:nvPr/>
        </p:nvSpPr>
        <p:spPr>
          <a:xfrm>
            <a:off x="3857853" y="2734056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3 候选建图</a:t>
            </a:r>
          </a:p>
        </p:txBody>
      </p:sp>
      <p:sp>
        <p:nvSpPr>
          <p:cNvPr id="15" name="h2p-9-box-14"/>
          <p:cNvSpPr/>
          <p:nvPr/>
        </p:nvSpPr>
        <p:spPr>
          <a:xfrm>
            <a:off x="5201107" y="2686507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9-text-15"/>
          <p:cNvSpPr txBox="1"/>
          <p:nvPr/>
        </p:nvSpPr>
        <p:spPr>
          <a:xfrm>
            <a:off x="5286146" y="2734056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4 统一试验</a:t>
            </a:r>
          </a:p>
        </p:txBody>
      </p:sp>
      <p:sp>
        <p:nvSpPr>
          <p:cNvPr id="17" name="h2p-9-box-16"/>
          <p:cNvSpPr/>
          <p:nvPr/>
        </p:nvSpPr>
        <p:spPr>
          <a:xfrm>
            <a:off x="6629400" y="2686507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9-text-17"/>
          <p:cNvSpPr txBox="1"/>
          <p:nvPr/>
        </p:nvSpPr>
        <p:spPr>
          <a:xfrm>
            <a:off x="6715353" y="2734056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5 独立审计</a:t>
            </a:r>
          </a:p>
        </p:txBody>
      </p:sp>
      <p:sp>
        <p:nvSpPr>
          <p:cNvPr id="19" name="h2p-9-box-18"/>
          <p:cNvSpPr/>
          <p:nvPr/>
        </p:nvSpPr>
        <p:spPr>
          <a:xfrm>
            <a:off x="8057692" y="2686507"/>
            <a:ext cx="1333195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9-text-19"/>
          <p:cNvSpPr txBox="1"/>
          <p:nvPr/>
        </p:nvSpPr>
        <p:spPr>
          <a:xfrm>
            <a:off x="8143646" y="2734056"/>
            <a:ext cx="118506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6 人工门禁</a:t>
            </a:r>
          </a:p>
        </p:txBody>
      </p:sp>
      <p:sp>
        <p:nvSpPr>
          <p:cNvPr id="21" name="h2p-9-box-20"/>
          <p:cNvSpPr/>
          <p:nvPr/>
        </p:nvSpPr>
        <p:spPr>
          <a:xfrm>
            <a:off x="9486900" y="2686507"/>
            <a:ext cx="1714500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9-text-21"/>
          <p:cNvSpPr txBox="1"/>
          <p:nvPr/>
        </p:nvSpPr>
        <p:spPr>
          <a:xfrm>
            <a:off x="9572853" y="2734056"/>
            <a:ext cx="1573682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7 经验沉淀</a:t>
            </a:r>
          </a:p>
        </p:txBody>
      </p:sp>
      <p:sp>
        <p:nvSpPr>
          <p:cNvPr id="23" name="h2p-9-text-22"/>
          <p:cNvSpPr txBox="1"/>
          <p:nvPr/>
        </p:nvSpPr>
        <p:spPr>
          <a:xfrm>
            <a:off x="914400" y="3124504"/>
            <a:ext cx="1055126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每项含输入、输出、触发、失败处理、安全边界与复用契约；真实 MCP 绑定当前未实现。</a:t>
            </a:r>
          </a:p>
        </p:txBody>
      </p:sp>
      <p:sp>
        <p:nvSpPr>
          <p:cNvPr id="24" name="h2p-9-box-23"/>
          <p:cNvSpPr/>
          <p:nvPr/>
        </p:nvSpPr>
        <p:spPr>
          <a:xfrm>
            <a:off x="685800" y="3676802"/>
            <a:ext cx="3504895" cy="2095804"/>
          </a:xfrm>
          <a:prstGeom prst="roundRect">
            <a:avLst>
              <a:gd name="adj" fmla="val 818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9-text-24"/>
          <p:cNvSpPr txBox="1"/>
          <p:nvPr/>
        </p:nvSpPr>
        <p:spPr>
          <a:xfrm>
            <a:off x="914400" y="3847795"/>
            <a:ext cx="314827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工具契约 · HTTP / MCP 等价</a:t>
            </a:r>
          </a:p>
        </p:txBody>
      </p:sp>
      <p:sp>
        <p:nvSpPr>
          <p:cNvPr id="26" name="h2p-9-text-25"/>
          <p:cNvSpPr txBox="1"/>
          <p:nvPr/>
        </p:nvSpPr>
        <p:spPr>
          <a:xfrm>
            <a:off x="914400" y="4153204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同一 Schema 描述入参、出参、鉴权、幂等键、错误码与审计字段。</a:t>
            </a:r>
          </a:p>
        </p:txBody>
      </p:sp>
      <p:sp>
        <p:nvSpPr>
          <p:cNvPr id="27" name="h2p-9-text-26"/>
          <p:cNvSpPr txBox="1"/>
          <p:nvPr/>
        </p:nvSpPr>
        <p:spPr>
          <a:xfrm>
            <a:off x="914400" y="4800600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MCP、REST、内部适配器都走同一契约；契约即上下文。</a:t>
            </a:r>
          </a:p>
        </p:txBody>
      </p:sp>
      <p:sp>
        <p:nvSpPr>
          <p:cNvPr id="28" name="h2p-9-text-27"/>
          <p:cNvSpPr txBox="1"/>
          <p:nvPr/>
        </p:nvSpPr>
        <p:spPr>
          <a:xfrm>
            <a:off x="914400" y="5447995"/>
            <a:ext cx="3148279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示例：读配置 · 列变更 · 写回滚</a:t>
            </a:r>
          </a:p>
        </p:txBody>
      </p:sp>
      <p:sp>
        <p:nvSpPr>
          <p:cNvPr id="29" name="h2p-9-box-28"/>
          <p:cNvSpPr/>
          <p:nvPr/>
        </p:nvSpPr>
        <p:spPr>
          <a:xfrm>
            <a:off x="4343400" y="3676802"/>
            <a:ext cx="3504895" cy="2095804"/>
          </a:xfrm>
          <a:prstGeom prst="roundRect">
            <a:avLst>
              <a:gd name="adj" fmla="val 818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9-text-29"/>
          <p:cNvSpPr txBox="1"/>
          <p:nvPr/>
        </p:nvSpPr>
        <p:spPr>
          <a:xfrm>
            <a:off x="4572000" y="3847795"/>
            <a:ext cx="314827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共享状态 · 上下文 4 选 2</a:t>
            </a:r>
          </a:p>
        </p:txBody>
      </p:sp>
      <p:sp>
        <p:nvSpPr>
          <p:cNvPr id="31" name="h2p-9-text-30"/>
          <p:cNvSpPr txBox="1"/>
          <p:nvPr/>
        </p:nvSpPr>
        <p:spPr>
          <a:xfrm>
            <a:off x="4572000" y="4153204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选择 1 · 共享状态</a:t>
            </a:r>
          </a:p>
        </p:txBody>
      </p:sp>
      <p:sp>
        <p:nvSpPr>
          <p:cNvPr id="32" name="h2p-9-text-31"/>
          <p:cNvSpPr txBox="1"/>
          <p:nvPr/>
        </p:nvSpPr>
        <p:spPr>
          <a:xfrm>
            <a:off x="4572000" y="4381804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Project Dossier 作事实源，含样本、候选、Trace、审批。</a:t>
            </a:r>
          </a:p>
        </p:txBody>
      </p:sp>
      <p:sp>
        <p:nvSpPr>
          <p:cNvPr id="33" name="h2p-9-text-32"/>
          <p:cNvSpPr txBox="1"/>
          <p:nvPr/>
        </p:nvSpPr>
        <p:spPr>
          <a:xfrm>
            <a:off x="4572000" y="4839004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选择 2 · 轨迹可观测</a:t>
            </a:r>
          </a:p>
        </p:txBody>
      </p:sp>
      <p:sp>
        <p:nvSpPr>
          <p:cNvPr id="34" name="h2p-9-text-33"/>
          <p:cNvSpPr txBox="1"/>
          <p:nvPr/>
        </p:nvSpPr>
        <p:spPr>
          <a:xfrm>
            <a:off x="4572000" y="5067604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Step / Episode 级 Trace 可回放，保留来源与版本。</a:t>
            </a:r>
          </a:p>
        </p:txBody>
      </p:sp>
      <p:sp>
        <p:nvSpPr>
          <p:cNvPr id="35" name="h2p-9-box-34"/>
          <p:cNvSpPr/>
          <p:nvPr/>
        </p:nvSpPr>
        <p:spPr>
          <a:xfrm>
            <a:off x="8001000" y="3676802"/>
            <a:ext cx="3504895" cy="2095804"/>
          </a:xfrm>
          <a:prstGeom prst="roundRect">
            <a:avLst>
              <a:gd name="adj" fmla="val 818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9-text-35"/>
          <p:cNvSpPr txBox="1"/>
          <p:nvPr/>
        </p:nvSpPr>
        <p:spPr>
          <a:xfrm>
            <a:off x="8229600" y="3847795"/>
            <a:ext cx="314827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风险门禁</a:t>
            </a:r>
          </a:p>
        </p:txBody>
      </p:sp>
      <p:sp>
        <p:nvSpPr>
          <p:cNvPr id="37" name="h2p-9-text-36"/>
          <p:cNvSpPr txBox="1"/>
          <p:nvPr/>
        </p:nvSpPr>
        <p:spPr>
          <a:xfrm>
            <a:off x="8229600" y="4153204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外部写入、真实发布、责任转移必须 Human 批准。</a:t>
            </a:r>
          </a:p>
        </p:txBody>
      </p:sp>
      <p:sp>
        <p:nvSpPr>
          <p:cNvPr id="38" name="h2p-9-text-37"/>
          <p:cNvSpPr txBox="1"/>
          <p:nvPr/>
        </p:nvSpPr>
        <p:spPr>
          <a:xfrm>
            <a:off x="8229600" y="4724704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无批准 = 拒绝执行 + 保留证据；不可逆操作默认拒绝。</a:t>
            </a:r>
          </a:p>
        </p:txBody>
      </p:sp>
      <p:sp>
        <p:nvSpPr>
          <p:cNvPr id="39" name="h2p-9-text-38"/>
          <p:cNvSpPr txBox="1"/>
          <p:nvPr/>
        </p:nvSpPr>
        <p:spPr>
          <a:xfrm>
            <a:off x="8229600" y="5296204"/>
            <a:ext cx="3148279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成功与失败使用同一 Trace 语义</a:t>
            </a:r>
          </a:p>
        </p:txBody>
      </p:sp>
      <p:sp>
        <p:nvSpPr>
          <p:cNvPr id="40" name="h2p-9-text-39"/>
          <p:cNvSpPr txBox="1"/>
          <p:nvPr/>
        </p:nvSpPr>
        <p:spPr>
          <a:xfrm>
            <a:off x="577900" y="5924397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契约先行：Skill 必选、HTTP/MCP 工具可选、共享状态与 Trace 必在。</a:t>
            </a:r>
          </a:p>
        </p:txBody>
      </p:sp>
      <p:sp>
        <p:nvSpPr>
          <p:cNvPr id="41" name="h2p-9-text-40"/>
          <p:cNvSpPr txBox="1"/>
          <p:nvPr/>
        </p:nvSpPr>
        <p:spPr>
          <a:xfrm>
            <a:off x="685800" y="6543446"/>
            <a:ext cx="176296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Skill / 工具 / 上下文</a:t>
            </a:r>
          </a:p>
        </p:txBody>
      </p:sp>
      <p:sp>
        <p:nvSpPr>
          <p:cNvPr id="42" name="h2p-9-text-41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设计契约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0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0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10 / 12 · 交付物</a:t>
            </a:r>
          </a:p>
        </p:txBody>
      </p:sp>
      <p:sp>
        <p:nvSpPr>
          <p:cNvPr id="4" name="h2p-10-text-3"/>
          <p:cNvSpPr txBox="1"/>
          <p:nvPr/>
        </p:nvSpPr>
        <p:spPr>
          <a:xfrm>
            <a:off x="685800" y="724204"/>
            <a:ext cx="11036808" cy="439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150">
                <a:solidFill>
                  <a:srgbClr val="102A43"/>
                </a:solidFill>
                <a:latin typeface="Noto Sans CJK SC"/>
              </a:rPr>
              <a:t>交付 AgentSolutionPackage 与五种合法结果。</a:t>
            </a:r>
          </a:p>
        </p:txBody>
      </p:sp>
      <p:sp>
        <p:nvSpPr>
          <p:cNvPr id="5" name="h2p-10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交付的不是 Prompt，而是可验收方案包；诚实拒绝也是合法交付。</a:t>
            </a:r>
          </a:p>
        </p:txBody>
      </p:sp>
      <p:sp>
        <p:nvSpPr>
          <p:cNvPr id="6" name="h2p-10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0-box-6"/>
          <p:cNvSpPr/>
          <p:nvPr/>
        </p:nvSpPr>
        <p:spPr>
          <a:xfrm>
            <a:off x="685800" y="2152497"/>
            <a:ext cx="6476695" cy="3600907"/>
          </a:xfrm>
          <a:prstGeom prst="roundRect">
            <a:avLst>
              <a:gd name="adj" fmla="val 47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0-text-7"/>
          <p:cNvSpPr txBox="1"/>
          <p:nvPr/>
        </p:nvSpPr>
        <p:spPr>
          <a:xfrm>
            <a:off x="914400" y="2324404"/>
            <a:ext cx="149595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AGENT SOLUTION PACKAGE</a:t>
            </a:r>
          </a:p>
        </p:txBody>
      </p:sp>
      <p:sp>
        <p:nvSpPr>
          <p:cNvPr id="9" name="h2p-10-text-8"/>
          <p:cNvSpPr txBox="1"/>
          <p:nvPr/>
        </p:nvSpPr>
        <p:spPr>
          <a:xfrm>
            <a:off x="914400" y="2628900"/>
            <a:ext cx="6179515" cy="235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80">
                <a:solidFill>
                  <a:srgbClr val="102A43"/>
                </a:solidFill>
                <a:latin typeface="Noto Sans CJK SC"/>
              </a:rPr>
              <a:t>方案包包含什么</a:t>
            </a:r>
          </a:p>
        </p:txBody>
      </p:sp>
      <p:sp>
        <p:nvSpPr>
          <p:cNvPr id="10" name="h2p-10-text-9"/>
          <p:cNvSpPr txBox="1"/>
          <p:nvPr/>
        </p:nvSpPr>
        <p:spPr>
          <a:xfrm>
            <a:off x="914400" y="30102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01 架构图</a:t>
            </a:r>
          </a:p>
        </p:txBody>
      </p:sp>
      <p:sp>
        <p:nvSpPr>
          <p:cNvPr id="11" name="h2p-10-text-10"/>
          <p:cNvSpPr txBox="1"/>
          <p:nvPr/>
        </p:nvSpPr>
        <p:spPr>
          <a:xfrm>
            <a:off x="914400" y="32388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能力、Agent、通信、共享范围、Human 门禁</a:t>
            </a:r>
          </a:p>
        </p:txBody>
      </p:sp>
      <p:sp>
        <p:nvSpPr>
          <p:cNvPr id="12" name="h2p-10-text-11"/>
          <p:cNvSpPr txBox="1"/>
          <p:nvPr/>
        </p:nvSpPr>
        <p:spPr>
          <a:xfrm>
            <a:off x="914400" y="35817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02 决策说明</a:t>
            </a:r>
          </a:p>
        </p:txBody>
      </p:sp>
      <p:sp>
        <p:nvSpPr>
          <p:cNvPr id="13" name="h2p-10-text-12"/>
          <p:cNvSpPr txBox="1"/>
          <p:nvPr/>
        </p:nvSpPr>
        <p:spPr>
          <a:xfrm>
            <a:off x="914400" y="38103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为什么这样拆、为什么不用更复杂方案</a:t>
            </a:r>
          </a:p>
        </p:txBody>
      </p:sp>
      <p:sp>
        <p:nvSpPr>
          <p:cNvPr id="14" name="h2p-10-text-13"/>
          <p:cNvSpPr txBox="1"/>
          <p:nvPr/>
        </p:nvSpPr>
        <p:spPr>
          <a:xfrm>
            <a:off x="914400" y="41532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03 证据包</a:t>
            </a:r>
          </a:p>
        </p:txBody>
      </p:sp>
      <p:sp>
        <p:nvSpPr>
          <p:cNvPr id="15" name="h2p-10-text-14"/>
          <p:cNvSpPr txBox="1"/>
          <p:nvPr/>
        </p:nvSpPr>
        <p:spPr>
          <a:xfrm>
            <a:off x="914400" y="43818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统一试验、Trace、失败与成本记录</a:t>
            </a:r>
          </a:p>
        </p:txBody>
      </p:sp>
      <p:sp>
        <p:nvSpPr>
          <p:cNvPr id="16" name="h2p-10-text-15"/>
          <p:cNvSpPr txBox="1"/>
          <p:nvPr/>
        </p:nvSpPr>
        <p:spPr>
          <a:xfrm>
            <a:off x="914400" y="47247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04 运行护栏</a:t>
            </a:r>
          </a:p>
        </p:txBody>
      </p:sp>
      <p:sp>
        <p:nvSpPr>
          <p:cNvPr id="17" name="h2p-10-text-16"/>
          <p:cNvSpPr txBox="1"/>
          <p:nvPr/>
        </p:nvSpPr>
        <p:spPr>
          <a:xfrm>
            <a:off x="914400" y="4953304"/>
            <a:ext cx="2915107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权限、审批、预算、异常、回滚、责任边界</a:t>
            </a:r>
          </a:p>
        </p:txBody>
      </p:sp>
      <p:sp>
        <p:nvSpPr>
          <p:cNvPr id="18" name="h2p-10-text-17"/>
          <p:cNvSpPr txBox="1"/>
          <p:nvPr/>
        </p:nvSpPr>
        <p:spPr>
          <a:xfrm>
            <a:off x="4000500" y="3010204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可部署</a:t>
            </a:r>
          </a:p>
        </p:txBody>
      </p:sp>
      <p:sp>
        <p:nvSpPr>
          <p:cNvPr id="19" name="h2p-10-text-18"/>
          <p:cNvSpPr txBox="1"/>
          <p:nvPr/>
        </p:nvSpPr>
        <p:spPr>
          <a:xfrm>
            <a:off x="4000500" y="3295497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可复验</a:t>
            </a:r>
          </a:p>
        </p:txBody>
      </p:sp>
      <p:sp>
        <p:nvSpPr>
          <p:cNvPr id="20" name="h2p-10-text-19"/>
          <p:cNvSpPr txBox="1"/>
          <p:nvPr/>
        </p:nvSpPr>
        <p:spPr>
          <a:xfrm>
            <a:off x="4000500" y="3581704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可审计</a:t>
            </a:r>
          </a:p>
        </p:txBody>
      </p:sp>
      <p:sp>
        <p:nvSpPr>
          <p:cNvPr id="21" name="h2p-10-text-20"/>
          <p:cNvSpPr txBox="1"/>
          <p:nvPr/>
        </p:nvSpPr>
        <p:spPr>
          <a:xfrm>
            <a:off x="4000500" y="3866997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可回滚</a:t>
            </a:r>
          </a:p>
        </p:txBody>
      </p:sp>
      <p:sp>
        <p:nvSpPr>
          <p:cNvPr id="22" name="h2p-10-text-21"/>
          <p:cNvSpPr txBox="1"/>
          <p:nvPr/>
        </p:nvSpPr>
        <p:spPr>
          <a:xfrm>
            <a:off x="4000500" y="4153204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或诚实地说“别自动化”</a:t>
            </a:r>
          </a:p>
        </p:txBody>
      </p:sp>
      <p:sp>
        <p:nvSpPr>
          <p:cNvPr id="23" name="h2p-10-text-22"/>
          <p:cNvSpPr txBox="1"/>
          <p:nvPr/>
        </p:nvSpPr>
        <p:spPr>
          <a:xfrm>
            <a:off x="4000500" y="4724704"/>
            <a:ext cx="2992831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DeliveryDecision 必须有证据和适用边界</a:t>
            </a:r>
          </a:p>
        </p:txBody>
      </p:sp>
      <p:sp>
        <p:nvSpPr>
          <p:cNvPr id="24" name="h2p-10-box-23"/>
          <p:cNvSpPr/>
          <p:nvPr/>
        </p:nvSpPr>
        <p:spPr>
          <a:xfrm>
            <a:off x="7353604" y="2152497"/>
            <a:ext cx="4153204" cy="3600907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10-text-24"/>
          <p:cNvSpPr txBox="1"/>
          <p:nvPr/>
        </p:nvSpPr>
        <p:spPr>
          <a:xfrm>
            <a:off x="7582204" y="2324404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五种合法结果</a:t>
            </a:r>
          </a:p>
        </p:txBody>
      </p:sp>
      <p:sp>
        <p:nvSpPr>
          <p:cNvPr id="26" name="h2p-10-box-25"/>
          <p:cNvSpPr/>
          <p:nvPr/>
        </p:nvSpPr>
        <p:spPr>
          <a:xfrm>
            <a:off x="7582204" y="2686507"/>
            <a:ext cx="3696004" cy="495604"/>
          </a:xfrm>
          <a:prstGeom prst="roundRect">
            <a:avLst>
              <a:gd name="adj" fmla="val 3462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10-text-26"/>
          <p:cNvSpPr txBox="1"/>
          <p:nvPr/>
        </p:nvSpPr>
        <p:spPr>
          <a:xfrm>
            <a:off x="7733995" y="2799892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01 全自动方案</a:t>
            </a:r>
          </a:p>
        </p:txBody>
      </p:sp>
      <p:sp>
        <p:nvSpPr>
          <p:cNvPr id="28" name="h2p-10-box-27"/>
          <p:cNvSpPr/>
          <p:nvPr/>
        </p:nvSpPr>
        <p:spPr>
          <a:xfrm>
            <a:off x="7582204" y="3295497"/>
            <a:ext cx="3696004" cy="495604"/>
          </a:xfrm>
          <a:prstGeom prst="roundRect">
            <a:avLst>
              <a:gd name="adj" fmla="val 3462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10-text-28"/>
          <p:cNvSpPr txBox="1"/>
          <p:nvPr/>
        </p:nvSpPr>
        <p:spPr>
          <a:xfrm>
            <a:off x="7733995" y="3409797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02 部分自动化方案</a:t>
            </a:r>
          </a:p>
        </p:txBody>
      </p:sp>
      <p:sp>
        <p:nvSpPr>
          <p:cNvPr id="30" name="h2p-10-box-29"/>
          <p:cNvSpPr/>
          <p:nvPr/>
        </p:nvSpPr>
        <p:spPr>
          <a:xfrm>
            <a:off x="7582204" y="3905402"/>
            <a:ext cx="3696004" cy="495604"/>
          </a:xfrm>
          <a:prstGeom prst="roundRect">
            <a:avLst>
              <a:gd name="adj" fmla="val 3462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10-text-30"/>
          <p:cNvSpPr txBox="1"/>
          <p:nvPr/>
        </p:nvSpPr>
        <p:spPr>
          <a:xfrm>
            <a:off x="7733995" y="4019702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03 降级方案</a:t>
            </a:r>
          </a:p>
        </p:txBody>
      </p:sp>
      <p:sp>
        <p:nvSpPr>
          <p:cNvPr id="32" name="h2p-10-box-31"/>
          <p:cNvSpPr/>
          <p:nvPr/>
        </p:nvSpPr>
        <p:spPr>
          <a:xfrm>
            <a:off x="7582204" y="4515307"/>
            <a:ext cx="3696004" cy="495604"/>
          </a:xfrm>
          <a:prstGeom prst="roundRect">
            <a:avLst>
              <a:gd name="adj" fmla="val 3462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0-text-32"/>
          <p:cNvSpPr txBox="1"/>
          <p:nvPr/>
        </p:nvSpPr>
        <p:spPr>
          <a:xfrm>
            <a:off x="7733995" y="4628692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04 保留人工</a:t>
            </a:r>
          </a:p>
        </p:txBody>
      </p:sp>
      <p:sp>
        <p:nvSpPr>
          <p:cNvPr id="34" name="h2p-10-box-33"/>
          <p:cNvSpPr/>
          <p:nvPr/>
        </p:nvSpPr>
        <p:spPr>
          <a:xfrm>
            <a:off x="7582204" y="5124297"/>
            <a:ext cx="3696004" cy="495604"/>
          </a:xfrm>
          <a:prstGeom prst="roundRect">
            <a:avLst>
              <a:gd name="adj" fmla="val 3462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10-text-34"/>
          <p:cNvSpPr txBox="1"/>
          <p:nvPr/>
        </p:nvSpPr>
        <p:spPr>
          <a:xfrm>
            <a:off x="7733995" y="5238597"/>
            <a:ext cx="349758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02A43"/>
                </a:solidFill>
                <a:latin typeface="Noto Sans CJK SC"/>
              </a:rPr>
              <a:t>05 拒绝自动化（有证据）</a:t>
            </a:r>
          </a:p>
        </p:txBody>
      </p:sp>
      <p:sp>
        <p:nvSpPr>
          <p:cNvPr id="36" name="h2p-10-text-35"/>
          <p:cNvSpPr txBox="1"/>
          <p:nvPr/>
        </p:nvSpPr>
        <p:spPr>
          <a:xfrm>
            <a:off x="577900" y="5924397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当前证据不足，无法给出 01–04；本轮结论是 requires_runtime_trial。</a:t>
            </a:r>
          </a:p>
        </p:txBody>
      </p:sp>
      <p:sp>
        <p:nvSpPr>
          <p:cNvPr id="37" name="h2p-10-text-36"/>
          <p:cNvSpPr txBox="1"/>
          <p:nvPr/>
        </p:nvSpPr>
        <p:spPr>
          <a:xfrm>
            <a:off x="685800" y="6543446"/>
            <a:ext cx="96194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方案包</a:t>
            </a:r>
          </a:p>
        </p:txBody>
      </p:sp>
      <p:sp>
        <p:nvSpPr>
          <p:cNvPr id="38" name="h2p-10-text-37"/>
          <p:cNvSpPr txBox="1"/>
          <p:nvPr/>
        </p:nvSpPr>
        <p:spPr>
          <a:xfrm>
            <a:off x="10708538" y="6543446"/>
            <a:ext cx="85496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可验收交付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1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1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11 / 12 · 当前进展</a:t>
            </a:r>
          </a:p>
        </p:txBody>
      </p:sp>
      <p:sp>
        <p:nvSpPr>
          <p:cNvPr id="4" name="h2p-11-text-3"/>
          <p:cNvSpPr txBox="1"/>
          <p:nvPr/>
        </p:nvSpPr>
        <p:spPr>
          <a:xfrm>
            <a:off x="685800" y="724204"/>
            <a:ext cx="11036808" cy="439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4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150">
                <a:solidFill>
                  <a:srgbClr val="102A43"/>
                </a:solidFill>
                <a:latin typeface="Noto Sans CJK SC"/>
              </a:rPr>
              <a:t>证据账本：baseline 已代码级审计，候选对照仍待运行。</a:t>
            </a:r>
          </a:p>
        </p:txBody>
      </p:sp>
      <p:sp>
        <p:nvSpPr>
          <p:cNvPr id="5" name="h2p-11-text-4"/>
          <p:cNvSpPr txBox="1"/>
          <p:nvPr/>
        </p:nvSpPr>
        <p:spPr>
          <a:xfrm>
            <a:off x="705002" y="1410004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53697C"/>
                </a:solidFill>
                <a:latin typeface="Noto Sans CJK SC"/>
              </a:rPr>
              <a:t>把已完成、已 smoke 和仍待运行分开；不让设计模拟冒充运行证据。</a:t>
            </a:r>
          </a:p>
        </p:txBody>
      </p:sp>
      <p:sp>
        <p:nvSpPr>
          <p:cNvPr id="6" name="h2p-11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1-box-6"/>
          <p:cNvSpPr/>
          <p:nvPr/>
        </p:nvSpPr>
        <p:spPr>
          <a:xfrm>
            <a:off x="685800" y="2152497"/>
            <a:ext cx="3504895" cy="3504895"/>
          </a:xfrm>
          <a:prstGeom prst="roundRect">
            <a:avLst>
              <a:gd name="adj" fmla="val 489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1-text-7"/>
          <p:cNvSpPr txBox="1"/>
          <p:nvPr/>
        </p:nvSpPr>
        <p:spPr>
          <a:xfrm>
            <a:off x="914400" y="2324404"/>
            <a:ext cx="102047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READY · 已完成</a:t>
            </a:r>
          </a:p>
        </p:txBody>
      </p:sp>
      <p:sp>
        <p:nvSpPr>
          <p:cNvPr id="9" name="h2p-11-text-8"/>
          <p:cNvSpPr txBox="1"/>
          <p:nvPr/>
        </p:nvSpPr>
        <p:spPr>
          <a:xfrm>
            <a:off x="914400" y="2628900"/>
            <a:ext cx="3148279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baseline 已代码级审计</a:t>
            </a:r>
          </a:p>
        </p:txBody>
      </p:sp>
      <p:sp>
        <p:nvSpPr>
          <p:cNvPr id="10" name="h2p-11-text-9"/>
          <p:cNvSpPr txBox="1"/>
          <p:nvPr/>
        </p:nvSpPr>
        <p:spPr>
          <a:xfrm>
            <a:off x="914400" y="3047695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OpsPilot Zero 的结构、业务执行 Agent、事故样本与工具契约已逐项核验。</a:t>
            </a:r>
          </a:p>
        </p:txBody>
      </p:sp>
      <p:sp>
        <p:nvSpPr>
          <p:cNvPr id="11" name="h2p-11-text-10"/>
          <p:cNvSpPr txBox="1"/>
          <p:nvPr/>
        </p:nvSpPr>
        <p:spPr>
          <a:xfrm>
            <a:off x="914400" y="3924604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AgentFit 方法、五元 Identity、七个 Skill、风险门禁契约已收敛。</a:t>
            </a:r>
          </a:p>
        </p:txBody>
      </p:sp>
      <p:sp>
        <p:nvSpPr>
          <p:cNvPr id="12" name="h2p-11-text-11"/>
          <p:cNvSpPr txBox="1"/>
          <p:nvPr/>
        </p:nvSpPr>
        <p:spPr>
          <a:xfrm>
            <a:off x="914400" y="4610404"/>
            <a:ext cx="3148279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CJK SC"/>
              </a:rPr>
              <a:t>证据：仓库文档与本套生成链</a:t>
            </a:r>
          </a:p>
        </p:txBody>
      </p:sp>
      <p:sp>
        <p:nvSpPr>
          <p:cNvPr id="13" name="h2p-11-box-12"/>
          <p:cNvSpPr/>
          <p:nvPr/>
        </p:nvSpPr>
        <p:spPr>
          <a:xfrm>
            <a:off x="4343400" y="2152497"/>
            <a:ext cx="3504895" cy="3504895"/>
          </a:xfrm>
          <a:prstGeom prst="roundRect">
            <a:avLst>
              <a:gd name="adj" fmla="val 489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1-text-13"/>
          <p:cNvSpPr txBox="1"/>
          <p:nvPr/>
        </p:nvSpPr>
        <p:spPr>
          <a:xfrm>
            <a:off x="4572000" y="2324404"/>
            <a:ext cx="156453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SMOKE · 平台已单独试用</a:t>
            </a:r>
          </a:p>
        </p:txBody>
      </p:sp>
      <p:sp>
        <p:nvSpPr>
          <p:cNvPr id="15" name="h2p-11-text-14"/>
          <p:cNvSpPr txBox="1"/>
          <p:nvPr/>
        </p:nvSpPr>
        <p:spPr>
          <a:xfrm>
            <a:off x="4572000" y="2628900"/>
            <a:ext cx="3148279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AgentTeams 底座能力</a:t>
            </a:r>
          </a:p>
        </p:txBody>
      </p:sp>
      <p:sp>
        <p:nvSpPr>
          <p:cNvPr id="16" name="h2p-11-text-15"/>
          <p:cNvSpPr txBox="1"/>
          <p:nvPr/>
        </p:nvSpPr>
        <p:spPr>
          <a:xfrm>
            <a:off x="4572000" y="3047695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Worker、Team、Human、文件同步、定时任务等曾被单独 smoke。</a:t>
            </a:r>
          </a:p>
        </p:txBody>
      </p:sp>
      <p:sp>
        <p:nvSpPr>
          <p:cNvPr id="17" name="h2p-11-text-16"/>
          <p:cNvSpPr txBox="1"/>
          <p:nvPr/>
        </p:nvSpPr>
        <p:spPr>
          <a:xfrm>
            <a:off x="4572000" y="3771900"/>
            <a:ext cx="3148279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只证明平台能力，不等于 AgentFit 已集成或已跑通。</a:t>
            </a:r>
          </a:p>
        </p:txBody>
      </p:sp>
      <p:sp>
        <p:nvSpPr>
          <p:cNvPr id="18" name="h2p-11-text-17"/>
          <p:cNvSpPr txBox="1"/>
          <p:nvPr/>
        </p:nvSpPr>
        <p:spPr>
          <a:xfrm>
            <a:off x="4572000" y="4610404"/>
            <a:ext cx="3148279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CJK SC"/>
              </a:rPr>
              <a:t>非 AgentFit 运行证据</a:t>
            </a:r>
          </a:p>
        </p:txBody>
      </p:sp>
      <p:sp>
        <p:nvSpPr>
          <p:cNvPr id="19" name="h2p-11-box-18"/>
          <p:cNvSpPr/>
          <p:nvPr/>
        </p:nvSpPr>
        <p:spPr>
          <a:xfrm>
            <a:off x="8001000" y="2152497"/>
            <a:ext cx="3504895" cy="3504895"/>
          </a:xfrm>
          <a:prstGeom prst="roundRect">
            <a:avLst>
              <a:gd name="adj" fmla="val 489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11-text-19"/>
          <p:cNvSpPr txBox="1"/>
          <p:nvPr/>
        </p:nvSpPr>
        <p:spPr>
          <a:xfrm>
            <a:off x="8229600" y="2324404"/>
            <a:ext cx="1564538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NOT STARTED · 仍待运行</a:t>
            </a:r>
          </a:p>
        </p:txBody>
      </p:sp>
      <p:sp>
        <p:nvSpPr>
          <p:cNvPr id="21" name="h2p-11-text-20"/>
          <p:cNvSpPr txBox="1"/>
          <p:nvPr/>
        </p:nvSpPr>
        <p:spPr>
          <a:xfrm>
            <a:off x="8229600" y="2628900"/>
            <a:ext cx="3148279" cy="213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102A43"/>
                </a:solidFill>
                <a:latin typeface="Noto Sans CJK SC"/>
              </a:rPr>
              <a:t>AgentFit 运行闭环</a:t>
            </a:r>
          </a:p>
        </p:txBody>
      </p:sp>
      <p:sp>
        <p:nvSpPr>
          <p:cNvPr id="22" name="h2p-11-text-21"/>
          <p:cNvSpPr txBox="1"/>
          <p:nvPr/>
        </p:nvSpPr>
        <p:spPr>
          <a:xfrm>
            <a:off x="8229600" y="3047695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冻结首个 ProjectCase。</a:t>
            </a:r>
          </a:p>
        </p:txBody>
      </p:sp>
      <p:sp>
        <p:nvSpPr>
          <p:cNvPr id="23" name="h2p-11-text-22"/>
          <p:cNvSpPr txBox="1"/>
          <p:nvPr/>
        </p:nvSpPr>
        <p:spPr>
          <a:xfrm>
            <a:off x="8229600" y="3353104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五元 Agent 在 AgentTeams 实例化。</a:t>
            </a:r>
          </a:p>
        </p:txBody>
      </p:sp>
      <p:sp>
        <p:nvSpPr>
          <p:cNvPr id="24" name="h2p-11-text-23"/>
          <p:cNvSpPr txBox="1"/>
          <p:nvPr/>
        </p:nvSpPr>
        <p:spPr>
          <a:xfrm>
            <a:off x="8229600" y="3657600"/>
            <a:ext cx="314827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统一预算下的 C0/C1/C2/C3 对照。</a:t>
            </a:r>
          </a:p>
        </p:txBody>
      </p:sp>
      <p:sp>
        <p:nvSpPr>
          <p:cNvPr id="25" name="h2p-11-text-24"/>
          <p:cNvSpPr txBox="1"/>
          <p:nvPr/>
        </p:nvSpPr>
        <p:spPr>
          <a:xfrm>
            <a:off x="8229600" y="3962095"/>
            <a:ext cx="3148279" cy="5998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真实 Episode（CandidateVersion × SampleVersion × RunIndex）、Trace 与失败/降级证据。</a:t>
            </a:r>
          </a:p>
        </p:txBody>
      </p:sp>
      <p:sp>
        <p:nvSpPr>
          <p:cNvPr id="26" name="h2p-11-text-25"/>
          <p:cNvSpPr txBox="1"/>
          <p:nvPr/>
        </p:nvSpPr>
        <p:spPr>
          <a:xfrm>
            <a:off x="8229600" y="4610404"/>
            <a:ext cx="3148279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CJK SC"/>
              </a:rPr>
              <a:t>证据待补 · 不伪装完成</a:t>
            </a:r>
          </a:p>
        </p:txBody>
      </p:sp>
      <p:sp>
        <p:nvSpPr>
          <p:cNvPr id="27" name="h2p-11-text-26"/>
          <p:cNvSpPr txBox="1"/>
          <p:nvPr/>
        </p:nvSpPr>
        <p:spPr>
          <a:xfrm>
            <a:off x="577900" y="5867704"/>
            <a:ext cx="11036808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02A43"/>
                </a:solidFill>
                <a:latin typeface="Noto Sans CJK SC"/>
              </a:rPr>
              <a:t>下一门禁：冻结首个 ProjectCase → 在 AgentTeams 跑真实候选 → 审计并替换本页。</a:t>
            </a:r>
          </a:p>
        </p:txBody>
      </p:sp>
      <p:sp>
        <p:nvSpPr>
          <p:cNvPr id="28" name="h2p-11-text-27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证据账本</a:t>
            </a:r>
          </a:p>
        </p:txBody>
      </p:sp>
      <p:sp>
        <p:nvSpPr>
          <p:cNvPr id="29" name="h2p-11-text-28"/>
          <p:cNvSpPr txBox="1"/>
          <p:nvPr/>
        </p:nvSpPr>
        <p:spPr>
          <a:xfrm>
            <a:off x="10387584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候选对照仍待运行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2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2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12 / 12 · 从案例回到通用</a:t>
            </a:r>
          </a:p>
        </p:txBody>
      </p:sp>
      <p:sp>
        <p:nvSpPr>
          <p:cNvPr id="4" name="h2p-12-text-3"/>
          <p:cNvSpPr txBox="1"/>
          <p:nvPr/>
        </p:nvSpPr>
        <p:spPr>
          <a:xfrm>
            <a:off x="685800" y="724204"/>
            <a:ext cx="1103680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FFFFFF"/>
                </a:solidFill>
                <a:latin typeface="Noto Sans CJK SC"/>
              </a:rPr>
              <a:t>从 OpsPilot 回到通用：Fit 是有证据选对方案。</a:t>
            </a:r>
          </a:p>
        </p:txBody>
      </p:sp>
      <p:sp>
        <p:nvSpPr>
          <p:cNvPr id="5" name="h2p-12-text-4"/>
          <p:cNvSpPr txBox="1"/>
          <p:nvPr/>
        </p:nvSpPr>
        <p:spPr>
          <a:xfrm>
            <a:off x="705002" y="1505102"/>
            <a:ext cx="10492740" cy="2478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6D3DD"/>
                </a:solidFill>
                <a:latin typeface="Noto Sans CJK SC"/>
              </a:rPr>
              <a:t>OpsPilot 只是首个 ProjectCase；AgentFit 真正的产品是“给任意业务任务量体裁衣的方案工程层”。</a:t>
            </a:r>
          </a:p>
        </p:txBody>
      </p:sp>
      <p:sp>
        <p:nvSpPr>
          <p:cNvPr id="6" name="h2p-12-box-5"/>
          <p:cNvSpPr/>
          <p:nvPr/>
        </p:nvSpPr>
        <p:spPr>
          <a:xfrm>
            <a:off x="685800" y="1848002"/>
            <a:ext cx="10820095" cy="19202"/>
          </a:xfrm>
          <a:prstGeom prst="rect">
            <a:avLst/>
          </a:prstGeom>
          <a:solidFill>
            <a:srgbClr val="2851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2-box-6"/>
          <p:cNvSpPr/>
          <p:nvPr/>
        </p:nvSpPr>
        <p:spPr>
          <a:xfrm>
            <a:off x="685800" y="2171700"/>
            <a:ext cx="3504895" cy="2857500"/>
          </a:xfrm>
          <a:prstGeom prst="roundRect">
            <a:avLst>
              <a:gd name="adj" fmla="val 6000"/>
            </a:avLst>
          </a:prstGeom>
          <a:solidFill>
            <a:srgbClr val="132F47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2-text-7"/>
          <p:cNvSpPr txBox="1"/>
          <p:nvPr/>
        </p:nvSpPr>
        <p:spPr>
          <a:xfrm>
            <a:off x="914400" y="2400300"/>
            <a:ext cx="388620" cy="381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000">
                <a:solidFill>
                  <a:srgbClr val="74D0C7"/>
                </a:solidFill>
                <a:latin typeface="Noto Sans Mono CJK SC"/>
              </a:rPr>
              <a:t>01</a:t>
            </a:r>
          </a:p>
        </p:txBody>
      </p:sp>
      <p:sp>
        <p:nvSpPr>
          <p:cNvPr id="9" name="h2p-12-text-8"/>
          <p:cNvSpPr txBox="1"/>
          <p:nvPr/>
        </p:nvSpPr>
        <p:spPr>
          <a:xfrm>
            <a:off x="914400" y="2971800"/>
            <a:ext cx="170992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一个案例证明形状</a:t>
            </a:r>
          </a:p>
        </p:txBody>
      </p:sp>
      <p:sp>
        <p:nvSpPr>
          <p:cNvPr id="10" name="h2p-12-text-9"/>
          <p:cNvSpPr txBox="1"/>
          <p:nvPr/>
        </p:nvSpPr>
        <p:spPr>
          <a:xfrm>
            <a:off x="914400" y="3353104"/>
            <a:ext cx="3148279" cy="728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C6D3DD"/>
                </a:solidFill>
                <a:latin typeface="Noto Sans CJK SC"/>
              </a:rPr>
              <a:t>OpsPilot baseline 把“该用几个 Agent”变成可比较问题；它验证方法形状，不是唯一适用场景。</a:t>
            </a:r>
          </a:p>
        </p:txBody>
      </p:sp>
      <p:sp>
        <p:nvSpPr>
          <p:cNvPr id="11" name="h2p-12-box-10"/>
          <p:cNvSpPr/>
          <p:nvPr/>
        </p:nvSpPr>
        <p:spPr>
          <a:xfrm>
            <a:off x="4343400" y="2171700"/>
            <a:ext cx="3504895" cy="2857500"/>
          </a:xfrm>
          <a:prstGeom prst="roundRect">
            <a:avLst>
              <a:gd name="adj" fmla="val 6000"/>
            </a:avLst>
          </a:prstGeom>
          <a:solidFill>
            <a:srgbClr val="132F47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12-text-11"/>
          <p:cNvSpPr txBox="1"/>
          <p:nvPr/>
        </p:nvSpPr>
        <p:spPr>
          <a:xfrm>
            <a:off x="4572000" y="2400300"/>
            <a:ext cx="388620" cy="381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000">
                <a:solidFill>
                  <a:srgbClr val="74A8C6"/>
                </a:solidFill>
                <a:latin typeface="Noto Sans Mono CJK SC"/>
              </a:rPr>
              <a:t>02</a:t>
            </a:r>
          </a:p>
        </p:txBody>
      </p:sp>
      <p:sp>
        <p:nvSpPr>
          <p:cNvPr id="13" name="h2p-12-text-12"/>
          <p:cNvSpPr txBox="1"/>
          <p:nvPr/>
        </p:nvSpPr>
        <p:spPr>
          <a:xfrm>
            <a:off x="4572000" y="2971800"/>
            <a:ext cx="170992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未来项目验证迁移</a:t>
            </a:r>
          </a:p>
        </p:txBody>
      </p:sp>
      <p:sp>
        <p:nvSpPr>
          <p:cNvPr id="14" name="h2p-12-text-13"/>
          <p:cNvSpPr txBox="1"/>
          <p:nvPr/>
        </p:nvSpPr>
        <p:spPr>
          <a:xfrm>
            <a:off x="4572000" y="3353104"/>
            <a:ext cx="3148279" cy="728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C6D3DD"/>
                </a:solidFill>
                <a:latin typeface="Noto Sans CJK SC"/>
              </a:rPr>
              <a:t>同一方法可服务研发、客服、数据等任意能定义输入输出与验收的任务；迁移能力要靠后续项目检验。</a:t>
            </a:r>
          </a:p>
        </p:txBody>
      </p:sp>
      <p:sp>
        <p:nvSpPr>
          <p:cNvPr id="15" name="h2p-12-box-14"/>
          <p:cNvSpPr/>
          <p:nvPr/>
        </p:nvSpPr>
        <p:spPr>
          <a:xfrm>
            <a:off x="8001000" y="2171700"/>
            <a:ext cx="3504895" cy="2857500"/>
          </a:xfrm>
          <a:prstGeom prst="roundRect">
            <a:avLst>
              <a:gd name="adj" fmla="val 6000"/>
            </a:avLst>
          </a:prstGeom>
          <a:solidFill>
            <a:srgbClr val="132F47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12-text-15"/>
          <p:cNvSpPr txBox="1"/>
          <p:nvPr/>
        </p:nvSpPr>
        <p:spPr>
          <a:xfrm>
            <a:off x="8229600" y="2400300"/>
            <a:ext cx="388620" cy="381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000">
                <a:solidFill>
                  <a:srgbClr val="D6A43B"/>
                </a:solidFill>
                <a:latin typeface="Noto Sans Mono CJK SC"/>
              </a:rPr>
              <a:t>03</a:t>
            </a:r>
          </a:p>
        </p:txBody>
      </p:sp>
      <p:sp>
        <p:nvSpPr>
          <p:cNvPr id="17" name="h2p-12-text-16"/>
          <p:cNvSpPr txBox="1"/>
          <p:nvPr/>
        </p:nvSpPr>
        <p:spPr>
          <a:xfrm>
            <a:off x="8229600" y="2971800"/>
            <a:ext cx="1590141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FFFFFF"/>
                </a:solidFill>
                <a:latin typeface="Noto Sans CJK SC"/>
              </a:rPr>
              <a:t>Fit = 有证据选对</a:t>
            </a:r>
          </a:p>
        </p:txBody>
      </p:sp>
      <p:sp>
        <p:nvSpPr>
          <p:cNvPr id="18" name="h2p-12-text-17"/>
          <p:cNvSpPr txBox="1"/>
          <p:nvPr/>
        </p:nvSpPr>
        <p:spPr>
          <a:xfrm>
            <a:off x="8229600" y="3353104"/>
            <a:ext cx="3148279" cy="728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C6D3DD"/>
                </a:solidFill>
                <a:latin typeface="Noto Sans CJK SC"/>
              </a:rPr>
              <a:t>不是更多 Agent，而是统一评测下的最小充分方案；五元团队、候选对照与 Trace 仍待真实运行。</a:t>
            </a:r>
          </a:p>
        </p:txBody>
      </p:sp>
      <p:sp>
        <p:nvSpPr>
          <p:cNvPr id="19" name="h2p-12-box-18"/>
          <p:cNvSpPr/>
          <p:nvPr/>
        </p:nvSpPr>
        <p:spPr>
          <a:xfrm>
            <a:off x="4095597" y="5296204"/>
            <a:ext cx="4000500" cy="800100"/>
          </a:xfrm>
          <a:prstGeom prst="roundRect">
            <a:avLst>
              <a:gd name="adj" fmla="val 19050"/>
            </a:avLst>
          </a:prstGeom>
          <a:solidFill>
            <a:srgbClr val="132F47"/>
          </a:solidFill>
          <a:ln w="3810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12-text-19"/>
          <p:cNvSpPr txBox="1"/>
          <p:nvPr/>
        </p:nvSpPr>
        <p:spPr>
          <a:xfrm>
            <a:off x="4210812" y="5543092"/>
            <a:ext cx="3769156" cy="2093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74D0C7"/>
                </a:solidFill>
                <a:latin typeface="Noto Sans Mono CJK SC"/>
              </a:rPr>
              <a:t>JUST ENOUGH · PROVEN</a:t>
            </a:r>
          </a:p>
        </p:txBody>
      </p:sp>
      <p:sp>
        <p:nvSpPr>
          <p:cNvPr id="21" name="h2p-12-text-20"/>
          <p:cNvSpPr txBox="1"/>
          <p:nvPr/>
        </p:nvSpPr>
        <p:spPr>
          <a:xfrm>
            <a:off x="577900" y="6286500"/>
            <a:ext cx="11036808" cy="2569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420">
                <a:solidFill>
                  <a:srgbClr val="FFFFFF"/>
                </a:solidFill>
                <a:latin typeface="Noto Sans CJK SC"/>
              </a:rPr>
              <a:t>下一步：冻结 ProjectCase，在 AgentTeams 上跑出第一份真实证据。本轮结论 requires_runtime_trial。</a:t>
            </a:r>
          </a:p>
        </p:txBody>
      </p:sp>
      <p:sp>
        <p:nvSpPr>
          <p:cNvPr id="22" name="h2p-12-text-21"/>
          <p:cNvSpPr txBox="1"/>
          <p:nvPr/>
        </p:nvSpPr>
        <p:spPr>
          <a:xfrm>
            <a:off x="685800" y="6543446"/>
            <a:ext cx="149595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AGENTFIT · GOAI AGENT INFRA</a:t>
            </a:r>
          </a:p>
        </p:txBody>
      </p:sp>
      <p:sp>
        <p:nvSpPr>
          <p:cNvPr id="23" name="h2p-12-text-22"/>
          <p:cNvSpPr txBox="1"/>
          <p:nvPr/>
        </p:nvSpPr>
        <p:spPr>
          <a:xfrm>
            <a:off x="11082528" y="6543446"/>
            <a:ext cx="48097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8FA6B9"/>
                </a:solidFill>
                <a:latin typeface="Noto Sans Mono CJK SC"/>
              </a:rPr>
              <a:t>Fit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3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3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A1 / 05 · 技术映射</a:t>
            </a:r>
          </a:p>
        </p:txBody>
      </p:sp>
      <p:sp>
        <p:nvSpPr>
          <p:cNvPr id="4" name="h2p-13-text-3"/>
          <p:cNvSpPr txBox="1"/>
          <p:nvPr/>
        </p:nvSpPr>
        <p:spPr>
          <a:xfrm>
            <a:off x="685800" y="666597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七层 ML 映射、候选四元组与内外循环。</a:t>
            </a:r>
          </a:p>
        </p:txBody>
      </p:sp>
      <p:sp>
        <p:nvSpPr>
          <p:cNvPr id="5" name="h2p-13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主线是方案选择；这里的 ML 语义只是后台手段。Meta-learning 是未来方向，当前未实现。</a:t>
            </a:r>
          </a:p>
        </p:txBody>
      </p:sp>
      <p:sp>
        <p:nvSpPr>
          <p:cNvPr id="6" name="h2p-13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3-box-6"/>
          <p:cNvSpPr/>
          <p:nvPr/>
        </p:nvSpPr>
        <p:spPr>
          <a:xfrm>
            <a:off x="685800" y="1962302"/>
            <a:ext cx="5333695" cy="3238804"/>
          </a:xfrm>
          <a:prstGeom prst="roundRect">
            <a:avLst>
              <a:gd name="adj" fmla="val 5290"/>
            </a:avLst>
          </a:prstGeom>
          <a:solidFill>
            <a:srgbClr val="132F47"/>
          </a:solidFill>
          <a:ln w="19050">
            <a:solidFill>
              <a:srgbClr val="0B2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3-text-7"/>
          <p:cNvSpPr txBox="1"/>
          <p:nvPr/>
        </p:nvSpPr>
        <p:spPr>
          <a:xfrm>
            <a:off x="914400" y="2095804"/>
            <a:ext cx="505206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74D0C7"/>
                </a:solidFill>
                <a:latin typeface="Noto Sans Mono CJK SC"/>
              </a:rPr>
              <a:t>SEVEN-LAYER MAPPING · 七层 ML 映射</a:t>
            </a:r>
          </a:p>
        </p:txBody>
      </p:sp>
      <p:sp>
        <p:nvSpPr>
          <p:cNvPr id="9" name="h2p-13-text-8"/>
          <p:cNvSpPr txBox="1"/>
          <p:nvPr/>
        </p:nvSpPr>
        <p:spPr>
          <a:xfrm>
            <a:off x="914400" y="2381097"/>
            <a:ext cx="495513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FFF"/>
                </a:solidFill>
                <a:latin typeface="Noto Sans CJK SC"/>
              </a:rPr>
              <a:t>L1 样本语义 → 样本单位、边界、重放与标注契约</a:t>
            </a:r>
          </a:p>
        </p:txBody>
      </p:sp>
      <p:sp>
        <p:nvSpPr>
          <p:cNvPr id="10" name="h2p-13-text-9"/>
          <p:cNvSpPr txBox="1"/>
          <p:nvPr/>
        </p:nvSpPr>
        <p:spPr>
          <a:xfrm>
            <a:off x="914400" y="2686507"/>
            <a:ext cx="495513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FFF"/>
                </a:solidFill>
                <a:latin typeface="Noto Sans CJK SC"/>
              </a:rPr>
              <a:t>L2 任务语义 → 分布、输出、指标、损失与权衡</a:t>
            </a:r>
          </a:p>
        </p:txBody>
      </p:sp>
      <p:sp>
        <p:nvSpPr>
          <p:cNvPr id="11" name="h2p-13-text-10"/>
          <p:cNvSpPr txBox="1"/>
          <p:nvPr/>
        </p:nvSpPr>
        <p:spPr>
          <a:xfrm>
            <a:off x="914400" y="2991002"/>
            <a:ext cx="495513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FFF"/>
                </a:solidFill>
                <a:latin typeface="Noto Sans CJK SC"/>
              </a:rPr>
              <a:t>L3 能力语义 → 算子集、契约、权限与适用域</a:t>
            </a:r>
          </a:p>
        </p:txBody>
      </p:sp>
      <p:sp>
        <p:nvSpPr>
          <p:cNvPr id="12" name="h2p-13-text-11"/>
          <p:cNvSpPr txBox="1"/>
          <p:nvPr/>
        </p:nvSpPr>
        <p:spPr>
          <a:xfrm>
            <a:off x="914400" y="3295497"/>
            <a:ext cx="495513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FFF"/>
                </a:solidFill>
                <a:latin typeface="Noto Sans CJK SC"/>
              </a:rPr>
              <a:t>L4 候选表示 → 结构、分区、参数与共享范围</a:t>
            </a:r>
          </a:p>
        </p:txBody>
      </p:sp>
      <p:sp>
        <p:nvSpPr>
          <p:cNvPr id="13" name="h2p-13-text-12"/>
          <p:cNvSpPr txBox="1"/>
          <p:nvPr/>
        </p:nvSpPr>
        <p:spPr>
          <a:xfrm>
            <a:off x="914400" y="3600907"/>
            <a:ext cx="495513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FFF"/>
                </a:solidFill>
                <a:latin typeface="Noto Sans CJK SC"/>
              </a:rPr>
              <a:t>L5 内循环（inner loop）→ adaptation samples 上优化局部参数</a:t>
            </a:r>
          </a:p>
        </p:txBody>
      </p:sp>
      <p:sp>
        <p:nvSpPr>
          <p:cNvPr id="14" name="h2p-13-text-13"/>
          <p:cNvSpPr txBox="1"/>
          <p:nvPr/>
        </p:nvSpPr>
        <p:spPr>
          <a:xfrm>
            <a:off x="914400" y="3905402"/>
            <a:ext cx="495513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FFF"/>
                </a:solidFill>
                <a:latin typeface="Noto Sans CJK SC"/>
              </a:rPr>
              <a:t>L6 外循环（outer loop）→ validation samples 上比较候选架构</a:t>
            </a:r>
          </a:p>
        </p:txBody>
      </p:sp>
      <p:sp>
        <p:nvSpPr>
          <p:cNvPr id="15" name="h2p-13-text-14"/>
          <p:cNvSpPr txBox="1"/>
          <p:nvPr/>
        </p:nvSpPr>
        <p:spPr>
          <a:xfrm>
            <a:off x="914400" y="4209897"/>
            <a:ext cx="4955133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FFFFFF"/>
                </a:solidFill>
                <a:latin typeface="Noto Sans CJK SC"/>
              </a:rPr>
              <a:t>L7 跨项目学习 → 未见项目验证后更新搜索先验</a:t>
            </a:r>
          </a:p>
        </p:txBody>
      </p:sp>
      <p:sp>
        <p:nvSpPr>
          <p:cNvPr id="16" name="h2p-13-text-15"/>
          <p:cNvSpPr txBox="1"/>
          <p:nvPr/>
        </p:nvSpPr>
        <p:spPr>
          <a:xfrm>
            <a:off x="914400" y="4686300"/>
            <a:ext cx="4955133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D6A43B"/>
                </a:solidFill>
                <a:latin typeface="Noto Sans CJK SC"/>
              </a:rPr>
              <a:t>L7 是未来方向：单项目样本优化不能证明跨项目学习。</a:t>
            </a:r>
          </a:p>
        </p:txBody>
      </p:sp>
      <p:sp>
        <p:nvSpPr>
          <p:cNvPr id="17" name="h2p-13-box-16"/>
          <p:cNvSpPr/>
          <p:nvPr/>
        </p:nvSpPr>
        <p:spPr>
          <a:xfrm>
            <a:off x="6172200" y="1962302"/>
            <a:ext cx="5333695" cy="2686507"/>
          </a:xfrm>
          <a:prstGeom prst="roundRect">
            <a:avLst>
              <a:gd name="adj" fmla="val 638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3-text-17"/>
          <p:cNvSpPr txBox="1"/>
          <p:nvPr/>
        </p:nvSpPr>
        <p:spPr>
          <a:xfrm>
            <a:off x="6400800" y="2095804"/>
            <a:ext cx="68031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候选四元组</a:t>
            </a:r>
          </a:p>
        </p:txBody>
      </p:sp>
      <p:sp>
        <p:nvSpPr>
          <p:cNvPr id="19" name="h2p-13-text-18"/>
          <p:cNvSpPr txBox="1"/>
          <p:nvPr/>
        </p:nvSpPr>
        <p:spPr>
          <a:xfrm>
            <a:off x="6400800" y="2361895"/>
            <a:ext cx="4955133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50">
                <a:solidFill>
                  <a:srgbClr val="102A43"/>
                </a:solidFill>
                <a:latin typeface="Noto Sans Mono CJK SC"/>
              </a:rPr>
              <a:t>Candidate = (G, Π, θ, ρ)</a:t>
            </a:r>
          </a:p>
        </p:txBody>
      </p:sp>
      <p:sp>
        <p:nvSpPr>
          <p:cNvPr id="20" name="h2p-13-text-19"/>
          <p:cNvSpPr txBox="1"/>
          <p:nvPr/>
        </p:nvSpPr>
        <p:spPr>
          <a:xfrm>
            <a:off x="6400800" y="2667304"/>
            <a:ext cx="4955133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G 能力图 · Π Agent 分区 · θ 局部参数 · ρ 跨分区共享范围</a:t>
            </a:r>
          </a:p>
        </p:txBody>
      </p:sp>
      <p:sp>
        <p:nvSpPr>
          <p:cNvPr id="21" name="h2p-13-text-20"/>
          <p:cNvSpPr txBox="1"/>
          <p:nvPr/>
        </p:nvSpPr>
        <p:spPr>
          <a:xfrm>
            <a:off x="6400800" y="2933395"/>
            <a:ext cx="4955133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CJK SC"/>
              </a:rPr>
              <a:t>G · DAG 主干 + Π 分区中的有界 SCC</a:t>
            </a:r>
          </a:p>
        </p:txBody>
      </p:sp>
      <p:sp>
        <p:nvSpPr>
          <p:cNvPr id="22" name="h2p-13-box-21"/>
          <p:cNvSpPr/>
          <p:nvPr/>
        </p:nvSpPr>
        <p:spPr>
          <a:xfrm>
            <a:off x="6400800" y="3333902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3-text-22"/>
          <p:cNvSpPr txBox="1"/>
          <p:nvPr/>
        </p:nvSpPr>
        <p:spPr>
          <a:xfrm>
            <a:off x="6404457" y="3372307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426B86"/>
                </a:solidFill>
                <a:latin typeface="Noto Sans CJK SC"/>
              </a:rPr>
              <a:t>去重</a:t>
            </a:r>
          </a:p>
        </p:txBody>
      </p:sp>
      <p:sp>
        <p:nvSpPr>
          <p:cNvPr id="24" name="h2p-13-text-23"/>
          <p:cNvSpPr txBox="1"/>
          <p:nvPr/>
        </p:nvSpPr>
        <p:spPr>
          <a:xfrm>
            <a:off x="7029907" y="3353104"/>
            <a:ext cx="15544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→</a:t>
            </a:r>
          </a:p>
        </p:txBody>
      </p:sp>
      <p:sp>
        <p:nvSpPr>
          <p:cNvPr id="25" name="h2p-13-box-24"/>
          <p:cNvSpPr/>
          <p:nvPr/>
        </p:nvSpPr>
        <p:spPr>
          <a:xfrm>
            <a:off x="7220102" y="3333902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13-text-25"/>
          <p:cNvSpPr txBox="1"/>
          <p:nvPr/>
        </p:nvSpPr>
        <p:spPr>
          <a:xfrm>
            <a:off x="7223760" y="3372307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A8D85"/>
                </a:solidFill>
                <a:latin typeface="Noto Sans CJK SC"/>
              </a:rPr>
              <a:t>检索</a:t>
            </a:r>
          </a:p>
        </p:txBody>
      </p:sp>
      <p:sp>
        <p:nvSpPr>
          <p:cNvPr id="27" name="h2p-13-text-26"/>
          <p:cNvSpPr txBox="1"/>
          <p:nvPr/>
        </p:nvSpPr>
        <p:spPr>
          <a:xfrm>
            <a:off x="7848295" y="3353104"/>
            <a:ext cx="15544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→</a:t>
            </a:r>
          </a:p>
        </p:txBody>
      </p:sp>
      <p:sp>
        <p:nvSpPr>
          <p:cNvPr id="28" name="h2p-13-box-27"/>
          <p:cNvSpPr/>
          <p:nvPr/>
        </p:nvSpPr>
        <p:spPr>
          <a:xfrm>
            <a:off x="8039404" y="3105302"/>
            <a:ext cx="1676095" cy="1047902"/>
          </a:xfrm>
          <a:prstGeom prst="roundRect">
            <a:avLst>
              <a:gd name="adj" fmla="val 10910"/>
            </a:avLst>
          </a:prstGeom>
          <a:solidFill>
            <a:srgbClr val="FEF6F4"/>
          </a:solidFill>
          <a:ln w="19050">
            <a:solidFill>
              <a:srgbClr val="F26B4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13-text-28"/>
          <p:cNvSpPr txBox="1"/>
          <p:nvPr/>
        </p:nvSpPr>
        <p:spPr>
          <a:xfrm>
            <a:off x="8134502" y="3161995"/>
            <a:ext cx="1515160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C64C32"/>
                </a:solidFill>
                <a:latin typeface="Noto Sans CJK SC"/>
              </a:rPr>
              <a:t>Π · Agent A₁ 分区</a:t>
            </a:r>
          </a:p>
        </p:txBody>
      </p:sp>
      <p:sp>
        <p:nvSpPr>
          <p:cNvPr id="30" name="h2p-13-box-29"/>
          <p:cNvSpPr/>
          <p:nvPr/>
        </p:nvSpPr>
        <p:spPr>
          <a:xfrm>
            <a:off x="8134502" y="3409797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13-text-30"/>
          <p:cNvSpPr txBox="1"/>
          <p:nvPr/>
        </p:nvSpPr>
        <p:spPr>
          <a:xfrm>
            <a:off x="8138160" y="3448202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F26B4B"/>
                </a:solidFill>
                <a:latin typeface="Noto Sans CJK SC"/>
              </a:rPr>
              <a:t>定位</a:t>
            </a:r>
          </a:p>
        </p:txBody>
      </p:sp>
      <p:sp>
        <p:nvSpPr>
          <p:cNvPr id="32" name="h2p-13-text-31"/>
          <p:cNvSpPr txBox="1"/>
          <p:nvPr/>
        </p:nvSpPr>
        <p:spPr>
          <a:xfrm>
            <a:off x="8762695" y="3429000"/>
            <a:ext cx="15544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→</a:t>
            </a:r>
          </a:p>
        </p:txBody>
      </p:sp>
      <p:sp>
        <p:nvSpPr>
          <p:cNvPr id="33" name="h2p-13-box-32"/>
          <p:cNvSpPr/>
          <p:nvPr/>
        </p:nvSpPr>
        <p:spPr>
          <a:xfrm>
            <a:off x="8953804" y="3409797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13-text-33"/>
          <p:cNvSpPr txBox="1"/>
          <p:nvPr/>
        </p:nvSpPr>
        <p:spPr>
          <a:xfrm>
            <a:off x="8957462" y="3448202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F26B4B"/>
                </a:solidFill>
                <a:latin typeface="Noto Sans CJK SC"/>
              </a:rPr>
              <a:t>生成</a:t>
            </a:r>
          </a:p>
        </p:txBody>
      </p:sp>
      <p:sp>
        <p:nvSpPr>
          <p:cNvPr id="35" name="h2p-13-box-34"/>
          <p:cNvSpPr/>
          <p:nvPr/>
        </p:nvSpPr>
        <p:spPr>
          <a:xfrm>
            <a:off x="8343900" y="3781044"/>
            <a:ext cx="1067104" cy="19202"/>
          </a:xfrm>
          <a:prstGeom prst="rect">
            <a:avLst/>
          </a:prstGeom>
          <a:solidFill>
            <a:srgbClr val="1A8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h2p-13-text-35"/>
          <p:cNvSpPr txBox="1"/>
          <p:nvPr/>
        </p:nvSpPr>
        <p:spPr>
          <a:xfrm>
            <a:off x="8172907" y="3657600"/>
            <a:ext cx="155448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1A8D85"/>
                </a:solidFill>
                <a:latin typeface="Noto Sans CJK SC"/>
              </a:rPr>
              <a:t>←</a:t>
            </a:r>
          </a:p>
        </p:txBody>
      </p:sp>
      <p:sp>
        <p:nvSpPr>
          <p:cNvPr id="37" name="h2p-13-text-36"/>
          <p:cNvSpPr txBox="1"/>
          <p:nvPr/>
        </p:nvSpPr>
        <p:spPr>
          <a:xfrm>
            <a:off x="8134502" y="3886200"/>
            <a:ext cx="1515160" cy="311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生成 → 定位 · 最多 3 次 · 未通过退出</a:t>
            </a:r>
          </a:p>
        </p:txBody>
      </p:sp>
      <p:sp>
        <p:nvSpPr>
          <p:cNvPr id="38" name="h2p-13-text-37"/>
          <p:cNvSpPr txBox="1"/>
          <p:nvPr/>
        </p:nvSpPr>
        <p:spPr>
          <a:xfrm>
            <a:off x="9753904" y="3429000"/>
            <a:ext cx="15544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→</a:t>
            </a:r>
          </a:p>
        </p:txBody>
      </p:sp>
      <p:sp>
        <p:nvSpPr>
          <p:cNvPr id="39" name="h2p-13-box-38"/>
          <p:cNvSpPr/>
          <p:nvPr/>
        </p:nvSpPr>
        <p:spPr>
          <a:xfrm>
            <a:off x="9944100" y="3409797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2p-13-text-39"/>
          <p:cNvSpPr txBox="1"/>
          <p:nvPr/>
        </p:nvSpPr>
        <p:spPr>
          <a:xfrm>
            <a:off x="9947757" y="3448202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A8D85"/>
                </a:solidFill>
                <a:latin typeface="Noto Sans CJK SC"/>
              </a:rPr>
              <a:t>测试</a:t>
            </a:r>
          </a:p>
        </p:txBody>
      </p:sp>
      <p:sp>
        <p:nvSpPr>
          <p:cNvPr id="41" name="h2p-13-text-40"/>
          <p:cNvSpPr txBox="1"/>
          <p:nvPr/>
        </p:nvSpPr>
        <p:spPr>
          <a:xfrm>
            <a:off x="10572292" y="3429000"/>
            <a:ext cx="15544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3697C"/>
                </a:solidFill>
                <a:latin typeface="Noto Sans CJK SC"/>
              </a:rPr>
              <a:t>→</a:t>
            </a:r>
          </a:p>
        </p:txBody>
      </p:sp>
      <p:sp>
        <p:nvSpPr>
          <p:cNvPr id="42" name="h2p-13-box-41"/>
          <p:cNvSpPr/>
          <p:nvPr/>
        </p:nvSpPr>
        <p:spPr>
          <a:xfrm>
            <a:off x="10763402" y="3409797"/>
            <a:ext cx="590702" cy="267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h2p-13-text-42"/>
          <p:cNvSpPr txBox="1"/>
          <p:nvPr/>
        </p:nvSpPr>
        <p:spPr>
          <a:xfrm>
            <a:off x="10767060" y="3448202"/>
            <a:ext cx="58338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A5781C"/>
                </a:solidFill>
                <a:latin typeface="Noto Sans CJK SC"/>
              </a:rPr>
              <a:t>人工</a:t>
            </a:r>
          </a:p>
        </p:txBody>
      </p:sp>
      <p:sp>
        <p:nvSpPr>
          <p:cNvPr id="44" name="h2p-13-text-43"/>
          <p:cNvSpPr txBox="1"/>
          <p:nvPr/>
        </p:nvSpPr>
        <p:spPr>
          <a:xfrm>
            <a:off x="6400800" y="4248302"/>
            <a:ext cx="4955133" cy="172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主干顺序推进；局部返回边形成 SCC，并由重试上限终止。</a:t>
            </a:r>
          </a:p>
        </p:txBody>
      </p:sp>
      <p:sp>
        <p:nvSpPr>
          <p:cNvPr id="45" name="h2p-13-text-44"/>
          <p:cNvSpPr txBox="1"/>
          <p:nvPr/>
        </p:nvSpPr>
        <p:spPr>
          <a:xfrm>
            <a:off x="6400800" y="4457700"/>
            <a:ext cx="4955133" cy="160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θ = Prompt / 阈值 / 重试 · ρ = 仓库 / 记忆 / 通信的共享边界</a:t>
            </a:r>
          </a:p>
        </p:txBody>
      </p:sp>
      <p:sp>
        <p:nvSpPr>
          <p:cNvPr id="46" name="h2p-13-box-45"/>
          <p:cNvSpPr/>
          <p:nvPr/>
        </p:nvSpPr>
        <p:spPr>
          <a:xfrm>
            <a:off x="6172200" y="4781397"/>
            <a:ext cx="2571292" cy="1695297"/>
          </a:xfrm>
          <a:prstGeom prst="roundRect">
            <a:avLst>
              <a:gd name="adj" fmla="val 1011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2p-13-text-46"/>
          <p:cNvSpPr txBox="1"/>
          <p:nvPr/>
        </p:nvSpPr>
        <p:spPr>
          <a:xfrm>
            <a:off x="6400800" y="4914900"/>
            <a:ext cx="2195474" cy="125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1A8D85"/>
                </a:solidFill>
                <a:latin typeface="Noto Sans Mono CJK SC"/>
              </a:rPr>
              <a:t>INNER LOOP · 一个 epoch 内</a:t>
            </a:r>
          </a:p>
        </p:txBody>
      </p:sp>
      <p:sp>
        <p:nvSpPr>
          <p:cNvPr id="48" name="h2p-13-text-47"/>
          <p:cNvSpPr txBox="1"/>
          <p:nvPr/>
        </p:nvSpPr>
        <p:spPr>
          <a:xfrm>
            <a:off x="6400800" y="5143500"/>
            <a:ext cx="2195474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02A43"/>
                </a:solidFill>
                <a:latin typeface="Noto Sans CJK SC"/>
              </a:rPr>
              <a:t>让局部 Agent 变好</a:t>
            </a:r>
          </a:p>
        </p:txBody>
      </p:sp>
      <p:sp>
        <p:nvSpPr>
          <p:cNvPr id="49" name="h2p-13-text-48"/>
          <p:cNvSpPr txBox="1"/>
          <p:nvPr/>
        </p:nvSpPr>
        <p:spPr>
          <a:xfrm>
            <a:off x="6400800" y="5391302"/>
            <a:ext cx="2195474" cy="3602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固定 G / Π / ρ；只更新 θ 与分区内状态；遍历 adaptation samples。</a:t>
            </a:r>
          </a:p>
        </p:txBody>
      </p:sp>
      <p:sp>
        <p:nvSpPr>
          <p:cNvPr id="50" name="h2p-13-text-49"/>
          <p:cNvSpPr txBox="1"/>
          <p:nvPr/>
        </p:nvSpPr>
        <p:spPr>
          <a:xfrm>
            <a:off x="6400800" y="6077102"/>
            <a:ext cx="2195474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inner loop 服务于方案选择</a:t>
            </a:r>
          </a:p>
        </p:txBody>
      </p:sp>
      <p:sp>
        <p:nvSpPr>
          <p:cNvPr id="51" name="h2p-13-box-50"/>
          <p:cNvSpPr/>
          <p:nvPr/>
        </p:nvSpPr>
        <p:spPr>
          <a:xfrm>
            <a:off x="8934602" y="4781397"/>
            <a:ext cx="2571292" cy="1695297"/>
          </a:xfrm>
          <a:prstGeom prst="roundRect">
            <a:avLst>
              <a:gd name="adj" fmla="val 1011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2p-13-text-51"/>
          <p:cNvSpPr txBox="1"/>
          <p:nvPr/>
        </p:nvSpPr>
        <p:spPr>
          <a:xfrm>
            <a:off x="9163202" y="4914900"/>
            <a:ext cx="2195474" cy="125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C64C32"/>
                </a:solidFill>
                <a:latin typeface="Noto Sans Mono CJK SC"/>
              </a:rPr>
              <a:t>OUTER LOOP · 架构 epoch</a:t>
            </a:r>
          </a:p>
        </p:txBody>
      </p:sp>
      <p:sp>
        <p:nvSpPr>
          <p:cNvPr id="53" name="h2p-13-text-52"/>
          <p:cNvSpPr txBox="1"/>
          <p:nvPr/>
        </p:nvSpPr>
        <p:spPr>
          <a:xfrm>
            <a:off x="9163202" y="5143500"/>
            <a:ext cx="2195474" cy="1682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120">
                <a:solidFill>
                  <a:srgbClr val="102A43"/>
                </a:solidFill>
                <a:latin typeface="Noto Sans CJK SC"/>
              </a:rPr>
              <a:t>让整体任务结果变好</a:t>
            </a:r>
          </a:p>
        </p:txBody>
      </p:sp>
      <p:sp>
        <p:nvSpPr>
          <p:cNvPr id="54" name="h2p-13-text-53"/>
          <p:cNvSpPr txBox="1"/>
          <p:nvPr/>
        </p:nvSpPr>
        <p:spPr>
          <a:xfrm>
            <a:off x="9163202" y="5391302"/>
            <a:ext cx="2195474" cy="3602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更新 G / Π / ρ；比较 validation samples；保留合格候选。</a:t>
            </a:r>
          </a:p>
        </p:txBody>
      </p:sp>
      <p:sp>
        <p:nvSpPr>
          <p:cNvPr id="55" name="h2p-13-text-54"/>
          <p:cNvSpPr txBox="1"/>
          <p:nvPr/>
        </p:nvSpPr>
        <p:spPr>
          <a:xfrm>
            <a:off x="9163202" y="6077102"/>
            <a:ext cx="2195474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C64C32"/>
                </a:solidFill>
                <a:latin typeface="Noto Sans CJK SC"/>
              </a:rPr>
              <a:t>不预设多 Agent 胜出</a:t>
            </a:r>
          </a:p>
        </p:txBody>
      </p:sp>
      <p:sp>
        <p:nvSpPr>
          <p:cNvPr id="56" name="h2p-13-box-55"/>
          <p:cNvSpPr/>
          <p:nvPr/>
        </p:nvSpPr>
        <p:spPr>
          <a:xfrm>
            <a:off x="685800" y="5352897"/>
            <a:ext cx="5333695" cy="1123797"/>
          </a:xfrm>
          <a:prstGeom prst="roundRect">
            <a:avLst>
              <a:gd name="adj" fmla="val 1525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h2p-13-text-56"/>
          <p:cNvSpPr txBox="1"/>
          <p:nvPr/>
        </p:nvSpPr>
        <p:spPr>
          <a:xfrm>
            <a:off x="914400" y="5486400"/>
            <a:ext cx="505206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META-LEARNING 未来边界</a:t>
            </a:r>
          </a:p>
        </p:txBody>
      </p:sp>
      <p:sp>
        <p:nvSpPr>
          <p:cNvPr id="58" name="h2p-13-text-57"/>
          <p:cNvSpPr txBox="1"/>
          <p:nvPr/>
        </p:nvSpPr>
        <p:spPr>
          <a:xfrm>
            <a:off x="914400" y="5734202"/>
            <a:ext cx="5052060" cy="180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多项目轨迹更新先验，并在未见项目上稳定改善，才构成 Meta-learning 证据。</a:t>
            </a:r>
          </a:p>
        </p:txBody>
      </p:sp>
      <p:sp>
        <p:nvSpPr>
          <p:cNvPr id="59" name="h2p-13-text-58"/>
          <p:cNvSpPr txBox="1"/>
          <p:nvPr/>
        </p:nvSpPr>
        <p:spPr>
          <a:xfrm>
            <a:off x="914400" y="6096304"/>
            <a:ext cx="5052060" cy="3218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718190"/>
                </a:solidFill>
                <a:latin typeface="Noto Sans CJK SC"/>
              </a:rPr>
              <a:t>Schema、自动候选搜索、跨项目 Meta-learning 均未实现；此处为设计契约，非运行证据。</a:t>
            </a:r>
          </a:p>
        </p:txBody>
      </p:sp>
      <p:sp>
        <p:nvSpPr>
          <p:cNvPr id="60" name="h2p-13-text-59"/>
          <p:cNvSpPr txBox="1"/>
          <p:nvPr/>
        </p:nvSpPr>
        <p:spPr>
          <a:xfrm>
            <a:off x="685800" y="6543446"/>
            <a:ext cx="2671876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SAMPLE × TASK × CAPABILITY × SEARCH</a:t>
            </a:r>
          </a:p>
        </p:txBody>
      </p:sp>
      <p:sp>
        <p:nvSpPr>
          <p:cNvPr id="61" name="h2p-13-text-60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4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4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A2 / 05 · AGENT IDENTITY</a:t>
            </a:r>
          </a:p>
        </p:txBody>
      </p:sp>
      <p:sp>
        <p:nvSpPr>
          <p:cNvPr id="4" name="h2p-14-text-3"/>
          <p:cNvSpPr txBox="1"/>
          <p:nvPr/>
        </p:nvSpPr>
        <p:spPr>
          <a:xfrm>
            <a:off x="685800" y="666597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五个 Agent Identity：判断权、状态边界与责任产物。</a:t>
            </a:r>
          </a:p>
        </p:txBody>
      </p:sp>
      <p:sp>
        <p:nvSpPr>
          <p:cNvPr id="5" name="h2p-14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五个是元 Agent（设计/评测方案）；候选方案内部的业务执行 Agent 由 AgentArchitect 在 C2 中生成。</a:t>
            </a:r>
          </a:p>
        </p:txBody>
      </p:sp>
      <p:sp>
        <p:nvSpPr>
          <p:cNvPr id="6" name="h2p-14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4-box-6"/>
          <p:cNvSpPr/>
          <p:nvPr/>
        </p:nvSpPr>
        <p:spPr>
          <a:xfrm>
            <a:off x="685800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4-text-7"/>
          <p:cNvSpPr txBox="1"/>
          <p:nvPr/>
        </p:nvSpPr>
        <p:spPr>
          <a:xfrm>
            <a:off x="838504" y="2095804"/>
            <a:ext cx="1325880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426B86"/>
                </a:solidFill>
                <a:latin typeface="Noto Sans Mono CJK SC"/>
              </a:rPr>
              <a:t>01 交付官 · 元 Agent</a:t>
            </a:r>
          </a:p>
        </p:txBody>
      </p:sp>
      <p:sp>
        <p:nvSpPr>
          <p:cNvPr id="9" name="h2p-14-text-8"/>
          <p:cNvSpPr txBox="1"/>
          <p:nvPr/>
        </p:nvSpPr>
        <p:spPr>
          <a:xfrm>
            <a:off x="838504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EngagementLead</a:t>
            </a:r>
          </a:p>
        </p:txBody>
      </p:sp>
      <p:sp>
        <p:nvSpPr>
          <p:cNvPr id="10" name="h2p-14-text-9"/>
          <p:cNvSpPr txBox="1"/>
          <p:nvPr/>
        </p:nvSpPr>
        <p:spPr>
          <a:xfrm>
            <a:off x="838504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控制项目阶段、路由 Human 审批、作出交付决定。</a:t>
            </a:r>
          </a:p>
        </p:txBody>
      </p:sp>
      <p:sp>
        <p:nvSpPr>
          <p:cNvPr id="11" name="h2p-14-text-10"/>
          <p:cNvSpPr txBox="1"/>
          <p:nvPr/>
        </p:nvSpPr>
        <p:spPr>
          <a:xfrm>
            <a:off x="838504" y="3810304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426B86"/>
                </a:solidFill>
                <a:latin typeface="Noto Sans CJK SC"/>
              </a:rPr>
              <a:t>产物：项目简报 / 决议</a:t>
            </a:r>
          </a:p>
        </p:txBody>
      </p:sp>
      <p:sp>
        <p:nvSpPr>
          <p:cNvPr id="12" name="h2p-14-box-11"/>
          <p:cNvSpPr/>
          <p:nvPr/>
        </p:nvSpPr>
        <p:spPr>
          <a:xfrm>
            <a:off x="2876702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4-text-12"/>
          <p:cNvSpPr txBox="1"/>
          <p:nvPr/>
        </p:nvSpPr>
        <p:spPr>
          <a:xfrm>
            <a:off x="3028492" y="2095804"/>
            <a:ext cx="157916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02 业务架构师 · 元 Agent</a:t>
            </a:r>
          </a:p>
        </p:txBody>
      </p:sp>
      <p:sp>
        <p:nvSpPr>
          <p:cNvPr id="14" name="h2p-14-text-13"/>
          <p:cNvSpPr txBox="1"/>
          <p:nvPr/>
        </p:nvSpPr>
        <p:spPr>
          <a:xfrm>
            <a:off x="3028492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BusinessEngineer</a:t>
            </a:r>
          </a:p>
        </p:txBody>
      </p:sp>
      <p:sp>
        <p:nvSpPr>
          <p:cNvPr id="15" name="h2p-14-text-14"/>
          <p:cNvSpPr txBox="1"/>
          <p:nvPr/>
        </p:nvSpPr>
        <p:spPr>
          <a:xfrm>
            <a:off x="3028492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编译业务任务、冻结指标预算、标注 Human 边界。</a:t>
            </a:r>
          </a:p>
        </p:txBody>
      </p:sp>
      <p:sp>
        <p:nvSpPr>
          <p:cNvPr id="16" name="h2p-14-text-15"/>
          <p:cNvSpPr txBox="1"/>
          <p:nvPr/>
        </p:nvSpPr>
        <p:spPr>
          <a:xfrm>
            <a:off x="3028492" y="3733495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1A8D85"/>
                </a:solidFill>
                <a:latin typeface="Noto Sans CJK SC"/>
              </a:rPr>
              <a:t>产物：任务说明书</a:t>
            </a:r>
          </a:p>
        </p:txBody>
      </p:sp>
      <p:sp>
        <p:nvSpPr>
          <p:cNvPr id="17" name="h2p-14-box-16"/>
          <p:cNvSpPr/>
          <p:nvPr/>
        </p:nvSpPr>
        <p:spPr>
          <a:xfrm>
            <a:off x="5067604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4-text-17"/>
          <p:cNvSpPr txBox="1"/>
          <p:nvPr/>
        </p:nvSpPr>
        <p:spPr>
          <a:xfrm>
            <a:off x="5219395" y="2095804"/>
            <a:ext cx="157916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03 方案架构师 · 元 Agent</a:t>
            </a:r>
          </a:p>
        </p:txBody>
      </p:sp>
      <p:sp>
        <p:nvSpPr>
          <p:cNvPr id="19" name="h2p-14-text-18"/>
          <p:cNvSpPr txBox="1"/>
          <p:nvPr/>
        </p:nvSpPr>
        <p:spPr>
          <a:xfrm>
            <a:off x="5219395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AgentArchitect</a:t>
            </a:r>
          </a:p>
        </p:txBody>
      </p:sp>
      <p:sp>
        <p:nvSpPr>
          <p:cNvPr id="20" name="h2p-14-text-19"/>
          <p:cNvSpPr txBox="1"/>
          <p:nvPr/>
        </p:nvSpPr>
        <p:spPr>
          <a:xfrm>
            <a:off x="5219395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盘点能力缺口、生成并列候选、解释 Agentize。</a:t>
            </a:r>
          </a:p>
        </p:txBody>
      </p:sp>
      <p:sp>
        <p:nvSpPr>
          <p:cNvPr id="21" name="h2p-14-text-20"/>
          <p:cNvSpPr txBox="1"/>
          <p:nvPr/>
        </p:nvSpPr>
        <p:spPr>
          <a:xfrm>
            <a:off x="5219395" y="3733495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1A8D85"/>
                </a:solidFill>
                <a:latin typeface="Noto Sans CJK SC"/>
              </a:rPr>
              <a:t>产物：候选方案集</a:t>
            </a:r>
          </a:p>
        </p:txBody>
      </p:sp>
      <p:sp>
        <p:nvSpPr>
          <p:cNvPr id="22" name="h2p-14-box-21"/>
          <p:cNvSpPr/>
          <p:nvPr/>
        </p:nvSpPr>
        <p:spPr>
          <a:xfrm>
            <a:off x="7258507" y="1962302"/>
            <a:ext cx="2076602" cy="2857500"/>
          </a:xfrm>
          <a:prstGeom prst="roundRect">
            <a:avLst>
              <a:gd name="adj" fmla="val 826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4-text-22"/>
          <p:cNvSpPr txBox="1"/>
          <p:nvPr/>
        </p:nvSpPr>
        <p:spPr>
          <a:xfrm>
            <a:off x="7410297" y="2095804"/>
            <a:ext cx="1579168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Mono CJK SC"/>
              </a:rPr>
              <a:t>04 验证工程师 · 元 Agent</a:t>
            </a:r>
          </a:p>
        </p:txBody>
      </p:sp>
      <p:sp>
        <p:nvSpPr>
          <p:cNvPr id="24" name="h2p-14-text-23"/>
          <p:cNvSpPr txBox="1"/>
          <p:nvPr/>
        </p:nvSpPr>
        <p:spPr>
          <a:xfrm>
            <a:off x="7410297" y="2361895"/>
            <a:ext cx="1826056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ValidationEngineer</a:t>
            </a:r>
          </a:p>
        </p:txBody>
      </p:sp>
      <p:sp>
        <p:nvSpPr>
          <p:cNvPr id="25" name="h2p-14-text-24"/>
          <p:cNvSpPr txBox="1"/>
          <p:nvPr/>
        </p:nvSpPr>
        <p:spPr>
          <a:xfrm>
            <a:off x="7410297" y="2743200"/>
            <a:ext cx="1826056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隔离运行候选、执行统一预算、收集失败证据。</a:t>
            </a:r>
          </a:p>
        </p:txBody>
      </p:sp>
      <p:sp>
        <p:nvSpPr>
          <p:cNvPr id="26" name="h2p-14-text-25"/>
          <p:cNvSpPr txBox="1"/>
          <p:nvPr/>
        </p:nvSpPr>
        <p:spPr>
          <a:xfrm>
            <a:off x="7410297" y="3733495"/>
            <a:ext cx="182605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1A8D85"/>
                </a:solidFill>
                <a:latin typeface="Noto Sans CJK SC"/>
              </a:rPr>
              <a:t>产物：Execution Trace</a:t>
            </a:r>
          </a:p>
        </p:txBody>
      </p:sp>
      <p:sp>
        <p:nvSpPr>
          <p:cNvPr id="27" name="h2p-14-box-26"/>
          <p:cNvSpPr/>
          <p:nvPr/>
        </p:nvSpPr>
        <p:spPr>
          <a:xfrm>
            <a:off x="9448495" y="1962302"/>
            <a:ext cx="2057400" cy="2857500"/>
          </a:xfrm>
          <a:prstGeom prst="roundRect">
            <a:avLst>
              <a:gd name="adj" fmla="val 833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14-text-27"/>
          <p:cNvSpPr txBox="1"/>
          <p:nvPr/>
        </p:nvSpPr>
        <p:spPr>
          <a:xfrm>
            <a:off x="9601200" y="2095804"/>
            <a:ext cx="1325880" cy="1481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D6A43B"/>
                </a:solidFill>
                <a:latin typeface="Noto Sans Mono CJK SC"/>
              </a:rPr>
              <a:t>05 审计官 · 元 Agent</a:t>
            </a:r>
          </a:p>
        </p:txBody>
      </p:sp>
      <p:sp>
        <p:nvSpPr>
          <p:cNvPr id="29" name="h2p-14-text-28"/>
          <p:cNvSpPr txBox="1"/>
          <p:nvPr/>
        </p:nvSpPr>
        <p:spPr>
          <a:xfrm>
            <a:off x="9601200" y="2361895"/>
            <a:ext cx="1806854" cy="1911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02A43"/>
                </a:solidFill>
                <a:latin typeface="Noto Sans CJK SC"/>
              </a:rPr>
              <a:t>GovernanceAuditor</a:t>
            </a:r>
          </a:p>
        </p:txBody>
      </p:sp>
      <p:sp>
        <p:nvSpPr>
          <p:cNvPr id="30" name="h2p-14-text-29"/>
          <p:cNvSpPr txBox="1"/>
          <p:nvPr/>
        </p:nvSpPr>
        <p:spPr>
          <a:xfrm>
            <a:off x="9601200" y="2743200"/>
            <a:ext cx="1806854" cy="3465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独立检查证据、独占 sealed holdout、选择 / 否决 / 降级。</a:t>
            </a:r>
          </a:p>
        </p:txBody>
      </p:sp>
      <p:sp>
        <p:nvSpPr>
          <p:cNvPr id="31" name="h2p-14-text-30"/>
          <p:cNvSpPr txBox="1"/>
          <p:nvPr/>
        </p:nvSpPr>
        <p:spPr>
          <a:xfrm>
            <a:off x="9601200" y="3733495"/>
            <a:ext cx="1806854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D6A43B"/>
                </a:solidFill>
                <a:latin typeface="Noto Sans CJK SC"/>
              </a:rPr>
              <a:t>产物：决策账本</a:t>
            </a:r>
          </a:p>
        </p:txBody>
      </p:sp>
      <p:sp>
        <p:nvSpPr>
          <p:cNvPr id="32" name="h2p-14-box-31"/>
          <p:cNvSpPr/>
          <p:nvPr/>
        </p:nvSpPr>
        <p:spPr>
          <a:xfrm>
            <a:off x="685800" y="4990795"/>
            <a:ext cx="10820095" cy="1143000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4-text-32"/>
          <p:cNvSpPr txBox="1"/>
          <p:nvPr/>
        </p:nvSpPr>
        <p:spPr>
          <a:xfrm>
            <a:off x="914400" y="5143500"/>
            <a:ext cx="3672230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官方 8 字段契约 · 适用于元 Agent 与候选业务执行 Agent</a:t>
            </a:r>
          </a:p>
        </p:txBody>
      </p:sp>
      <p:sp>
        <p:nvSpPr>
          <p:cNvPr id="34" name="h2p-14-text-33"/>
          <p:cNvSpPr txBox="1"/>
          <p:nvPr/>
        </p:nvSpPr>
        <p:spPr>
          <a:xfrm>
            <a:off x="914400" y="5447995"/>
            <a:ext cx="10589666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Name · Role · Capabilities · Inputs · Outputs · Dependencies · Decision Boundary · Trace</a:t>
            </a:r>
          </a:p>
        </p:txBody>
      </p:sp>
      <p:sp>
        <p:nvSpPr>
          <p:cNvPr id="35" name="h2p-14-text-34"/>
          <p:cNvSpPr txBox="1"/>
          <p:nvPr/>
        </p:nvSpPr>
        <p:spPr>
          <a:xfrm>
            <a:off x="914400" y="5810097"/>
            <a:ext cx="1058966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F26B4B"/>
                </a:solidFill>
                <a:latin typeface="Noto Sans CJK SC"/>
              </a:rPr>
              <a:t>候选冻结后，仅 GovernanceAuditor 消费 sealed holdout；其他角色不得读取。设计契约，非运行证据。</a:t>
            </a:r>
          </a:p>
        </p:txBody>
      </p:sp>
      <p:sp>
        <p:nvSpPr>
          <p:cNvPr id="36" name="h2p-14-text-35"/>
          <p:cNvSpPr txBox="1"/>
          <p:nvPr/>
        </p:nvSpPr>
        <p:spPr>
          <a:xfrm>
            <a:off x="685800" y="6543446"/>
            <a:ext cx="117591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五元责任链</a:t>
            </a:r>
          </a:p>
        </p:txBody>
      </p:sp>
      <p:sp>
        <p:nvSpPr>
          <p:cNvPr id="37" name="h2p-14-text-36"/>
          <p:cNvSpPr txBox="1"/>
          <p:nvPr/>
        </p:nvSpPr>
        <p:spPr>
          <a:xfrm>
            <a:off x="10548518" y="6543446"/>
            <a:ext cx="1014984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设计 Identity · A2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5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5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A3 / 05 · SKILL / MCP / CONTEXT</a:t>
            </a:r>
          </a:p>
        </p:txBody>
      </p:sp>
      <p:sp>
        <p:nvSpPr>
          <p:cNvPr id="4" name="h2p-15-text-3"/>
          <p:cNvSpPr txBox="1"/>
          <p:nvPr/>
        </p:nvSpPr>
        <p:spPr>
          <a:xfrm>
            <a:off x="685800" y="666597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七个 Skill、HTTP/MCP 等价工具与上下文 4 选 2。</a:t>
            </a:r>
          </a:p>
        </p:txBody>
      </p:sp>
      <p:sp>
        <p:nvSpPr>
          <p:cNvPr id="5" name="h2p-15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Skill 必选、HTTP/MCP 工具可选；上下文 4 选 2，不以 RAG 为主机制。均为设计契约。</a:t>
            </a:r>
          </a:p>
        </p:txBody>
      </p:sp>
      <p:sp>
        <p:nvSpPr>
          <p:cNvPr id="6" name="h2p-15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5-box-6"/>
          <p:cNvSpPr/>
          <p:nvPr/>
        </p:nvSpPr>
        <p:spPr>
          <a:xfrm>
            <a:off x="685800" y="1962302"/>
            <a:ext cx="10820095" cy="914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5-text-7"/>
          <p:cNvSpPr txBox="1"/>
          <p:nvPr/>
        </p:nvSpPr>
        <p:spPr>
          <a:xfrm>
            <a:off x="914400" y="2114092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SEVEN SKILLS</a:t>
            </a:r>
          </a:p>
        </p:txBody>
      </p:sp>
      <p:sp>
        <p:nvSpPr>
          <p:cNvPr id="9" name="h2p-15-box-8"/>
          <p:cNvSpPr/>
          <p:nvPr/>
        </p:nvSpPr>
        <p:spPr>
          <a:xfrm>
            <a:off x="9144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15-text-9"/>
          <p:cNvSpPr txBox="1"/>
          <p:nvPr/>
        </p:nvSpPr>
        <p:spPr>
          <a:xfrm>
            <a:off x="10003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1 任务编译</a:t>
            </a:r>
          </a:p>
        </p:txBody>
      </p:sp>
      <p:sp>
        <p:nvSpPr>
          <p:cNvPr id="11" name="h2p-15-box-10"/>
          <p:cNvSpPr/>
          <p:nvPr/>
        </p:nvSpPr>
        <p:spPr>
          <a:xfrm>
            <a:off x="22860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15-text-11"/>
          <p:cNvSpPr txBox="1"/>
          <p:nvPr/>
        </p:nvSpPr>
        <p:spPr>
          <a:xfrm>
            <a:off x="23719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2 能力对齐</a:t>
            </a:r>
          </a:p>
        </p:txBody>
      </p:sp>
      <p:sp>
        <p:nvSpPr>
          <p:cNvPr id="13" name="h2p-15-box-12"/>
          <p:cNvSpPr/>
          <p:nvPr/>
        </p:nvSpPr>
        <p:spPr>
          <a:xfrm>
            <a:off x="36576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5-text-13"/>
          <p:cNvSpPr txBox="1"/>
          <p:nvPr/>
        </p:nvSpPr>
        <p:spPr>
          <a:xfrm>
            <a:off x="37435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3 候选建图</a:t>
            </a:r>
          </a:p>
        </p:txBody>
      </p:sp>
      <p:sp>
        <p:nvSpPr>
          <p:cNvPr id="15" name="h2p-15-box-14"/>
          <p:cNvSpPr/>
          <p:nvPr/>
        </p:nvSpPr>
        <p:spPr>
          <a:xfrm>
            <a:off x="50292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2p-15-text-15"/>
          <p:cNvSpPr txBox="1"/>
          <p:nvPr/>
        </p:nvSpPr>
        <p:spPr>
          <a:xfrm>
            <a:off x="51151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4 统一试验</a:t>
            </a:r>
          </a:p>
        </p:txBody>
      </p:sp>
      <p:sp>
        <p:nvSpPr>
          <p:cNvPr id="17" name="h2p-15-box-16"/>
          <p:cNvSpPr/>
          <p:nvPr/>
        </p:nvSpPr>
        <p:spPr>
          <a:xfrm>
            <a:off x="64008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5-text-17"/>
          <p:cNvSpPr txBox="1"/>
          <p:nvPr/>
        </p:nvSpPr>
        <p:spPr>
          <a:xfrm>
            <a:off x="64867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5 独立审计</a:t>
            </a:r>
          </a:p>
        </p:txBody>
      </p:sp>
      <p:sp>
        <p:nvSpPr>
          <p:cNvPr id="19" name="h2p-15-box-18"/>
          <p:cNvSpPr/>
          <p:nvPr/>
        </p:nvSpPr>
        <p:spPr>
          <a:xfrm>
            <a:off x="7772400" y="2400300"/>
            <a:ext cx="1295704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15-text-19"/>
          <p:cNvSpPr txBox="1"/>
          <p:nvPr/>
        </p:nvSpPr>
        <p:spPr>
          <a:xfrm>
            <a:off x="7858353" y="2447848"/>
            <a:ext cx="114665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6 人工门禁</a:t>
            </a:r>
          </a:p>
        </p:txBody>
      </p:sp>
      <p:sp>
        <p:nvSpPr>
          <p:cNvPr id="21" name="h2p-15-box-20"/>
          <p:cNvSpPr/>
          <p:nvPr/>
        </p:nvSpPr>
        <p:spPr>
          <a:xfrm>
            <a:off x="9144000" y="2400300"/>
            <a:ext cx="1904695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15-text-21"/>
          <p:cNvSpPr txBox="1"/>
          <p:nvPr/>
        </p:nvSpPr>
        <p:spPr>
          <a:xfrm>
            <a:off x="9229953" y="2447848"/>
            <a:ext cx="176844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7 经验沉淀</a:t>
            </a:r>
          </a:p>
        </p:txBody>
      </p:sp>
      <p:sp>
        <p:nvSpPr>
          <p:cNvPr id="23" name="h2p-15-box-22"/>
          <p:cNvSpPr/>
          <p:nvPr/>
        </p:nvSpPr>
        <p:spPr>
          <a:xfrm>
            <a:off x="685800" y="3047695"/>
            <a:ext cx="3504895" cy="2971800"/>
          </a:xfrm>
          <a:prstGeom prst="roundRect">
            <a:avLst>
              <a:gd name="adj" fmla="val 577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15-text-23"/>
          <p:cNvSpPr txBox="1"/>
          <p:nvPr/>
        </p:nvSpPr>
        <p:spPr>
          <a:xfrm>
            <a:off x="914400" y="3200400"/>
            <a:ext cx="129204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SKILL · 可复用方法</a:t>
            </a:r>
          </a:p>
        </p:txBody>
      </p:sp>
      <p:sp>
        <p:nvSpPr>
          <p:cNvPr id="25" name="h2p-15-text-24"/>
          <p:cNvSpPr txBox="1"/>
          <p:nvPr/>
        </p:nvSpPr>
        <p:spPr>
          <a:xfrm>
            <a:off x="914400" y="3543300"/>
            <a:ext cx="3148279" cy="5751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承载任务编译、建图、评测、审计、门禁等“如何做”。每项含输入、输出、触发、失败处理、安全边界、复用契约。</a:t>
            </a:r>
          </a:p>
        </p:txBody>
      </p:sp>
      <p:sp>
        <p:nvSpPr>
          <p:cNvPr id="26" name="h2p-15-text-25"/>
          <p:cNvSpPr txBox="1"/>
          <p:nvPr/>
        </p:nvSpPr>
        <p:spPr>
          <a:xfrm>
            <a:off x="914400" y="5219395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完整字段见 submission/skill-catalog.md</a:t>
            </a:r>
          </a:p>
        </p:txBody>
      </p:sp>
      <p:sp>
        <p:nvSpPr>
          <p:cNvPr id="27" name="h2p-15-box-26"/>
          <p:cNvSpPr/>
          <p:nvPr/>
        </p:nvSpPr>
        <p:spPr>
          <a:xfrm>
            <a:off x="4343400" y="3047695"/>
            <a:ext cx="3504895" cy="2971800"/>
          </a:xfrm>
          <a:prstGeom prst="roundRect">
            <a:avLst>
              <a:gd name="adj" fmla="val 5770"/>
            </a:avLst>
          </a:prstGeom>
          <a:solidFill>
            <a:srgbClr val="DFEAF2"/>
          </a:solidFill>
          <a:ln w="19050">
            <a:solidFill>
              <a:srgbClr val="42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15-text-27"/>
          <p:cNvSpPr txBox="1"/>
          <p:nvPr/>
        </p:nvSpPr>
        <p:spPr>
          <a:xfrm>
            <a:off x="4572000" y="3200400"/>
            <a:ext cx="176844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426B86"/>
                </a:solidFill>
                <a:latin typeface="Noto Sans Mono CJK SC"/>
              </a:rPr>
              <a:t>MCP / HTTP · 等价工具契约</a:t>
            </a:r>
          </a:p>
        </p:txBody>
      </p:sp>
      <p:sp>
        <p:nvSpPr>
          <p:cNvPr id="29" name="h2p-15-text-28"/>
          <p:cNvSpPr txBox="1"/>
          <p:nvPr/>
        </p:nvSpPr>
        <p:spPr>
          <a:xfrm>
            <a:off x="4572000" y="3543300"/>
            <a:ext cx="314827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需要外部系统、明确 Schema、鉴权、幂等键、错误码与审计时才用。MCP、REST、适配器走同一契约。</a:t>
            </a:r>
          </a:p>
        </p:txBody>
      </p:sp>
      <p:sp>
        <p:nvSpPr>
          <p:cNvPr id="30" name="h2p-15-text-29"/>
          <p:cNvSpPr txBox="1"/>
          <p:nvPr/>
        </p:nvSpPr>
        <p:spPr>
          <a:xfrm>
            <a:off x="4572000" y="4533595"/>
            <a:ext cx="3148279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纯推理与文档契约优先 Skill；真实 MCP 绑定当前未实现。</a:t>
            </a:r>
          </a:p>
        </p:txBody>
      </p:sp>
      <p:sp>
        <p:nvSpPr>
          <p:cNvPr id="31" name="h2p-15-text-30"/>
          <p:cNvSpPr txBox="1"/>
          <p:nvPr/>
        </p:nvSpPr>
        <p:spPr>
          <a:xfrm>
            <a:off x="4572000" y="5219395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426B86"/>
                </a:solidFill>
                <a:latin typeface="Noto Sans CJK SC"/>
              </a:rPr>
              <a:t>契约即上下文，工具不散调</a:t>
            </a:r>
          </a:p>
        </p:txBody>
      </p:sp>
      <p:sp>
        <p:nvSpPr>
          <p:cNvPr id="32" name="h2p-15-box-31"/>
          <p:cNvSpPr/>
          <p:nvPr/>
        </p:nvSpPr>
        <p:spPr>
          <a:xfrm>
            <a:off x="8001000" y="3047695"/>
            <a:ext cx="3504895" cy="2971800"/>
          </a:xfrm>
          <a:prstGeom prst="roundRect">
            <a:avLst>
              <a:gd name="adj" fmla="val 577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5-text-32"/>
          <p:cNvSpPr txBox="1"/>
          <p:nvPr/>
        </p:nvSpPr>
        <p:spPr>
          <a:xfrm>
            <a:off x="8229600" y="3200400"/>
            <a:ext cx="136062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上下文能力 · 4 选 2</a:t>
            </a:r>
          </a:p>
        </p:txBody>
      </p:sp>
      <p:sp>
        <p:nvSpPr>
          <p:cNvPr id="34" name="h2p-15-text-33"/>
          <p:cNvSpPr txBox="1"/>
          <p:nvPr/>
        </p:nvSpPr>
        <p:spPr>
          <a:xfrm>
            <a:off x="8229600" y="3543300"/>
            <a:ext cx="3148279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02A43"/>
                </a:solidFill>
                <a:latin typeface="Noto Sans CJK SC"/>
              </a:rPr>
              <a:t>选择 1 · 共享状态</a:t>
            </a:r>
          </a:p>
        </p:txBody>
      </p:sp>
      <p:sp>
        <p:nvSpPr>
          <p:cNvPr id="35" name="h2p-15-text-34"/>
          <p:cNvSpPr txBox="1"/>
          <p:nvPr/>
        </p:nvSpPr>
        <p:spPr>
          <a:xfrm>
            <a:off x="8229600" y="3810304"/>
            <a:ext cx="3148279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Project Dossier 作事实源。</a:t>
            </a:r>
          </a:p>
        </p:txBody>
      </p:sp>
      <p:sp>
        <p:nvSpPr>
          <p:cNvPr id="36" name="h2p-15-text-35"/>
          <p:cNvSpPr txBox="1"/>
          <p:nvPr/>
        </p:nvSpPr>
        <p:spPr>
          <a:xfrm>
            <a:off x="8229600" y="4267504"/>
            <a:ext cx="3148279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02A43"/>
                </a:solidFill>
                <a:latin typeface="Noto Sans CJK SC"/>
              </a:rPr>
              <a:t>选择 2 · 轨迹可观测</a:t>
            </a:r>
          </a:p>
        </p:txBody>
      </p:sp>
      <p:sp>
        <p:nvSpPr>
          <p:cNvPr id="37" name="h2p-15-text-36"/>
          <p:cNvSpPr txBox="1"/>
          <p:nvPr/>
        </p:nvSpPr>
        <p:spPr>
          <a:xfrm>
            <a:off x="8229600" y="4533595"/>
            <a:ext cx="3148279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Step / Episode 级 Trace。</a:t>
            </a:r>
          </a:p>
        </p:txBody>
      </p:sp>
      <p:sp>
        <p:nvSpPr>
          <p:cNvPr id="38" name="h2p-15-text-37"/>
          <p:cNvSpPr txBox="1"/>
          <p:nvPr/>
        </p:nvSpPr>
        <p:spPr>
          <a:xfrm>
            <a:off x="8229600" y="5219395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D6A43B"/>
                </a:solidFill>
                <a:latin typeface="Noto Sans CJK SC"/>
              </a:rPr>
              <a:t>不以 RAG 作为主上下文机制</a:t>
            </a:r>
          </a:p>
        </p:txBody>
      </p:sp>
      <p:sp>
        <p:nvSpPr>
          <p:cNvPr id="39" name="h2p-15-text-38"/>
          <p:cNvSpPr txBox="1"/>
          <p:nvPr/>
        </p:nvSpPr>
        <p:spPr>
          <a:xfrm>
            <a:off x="577900" y="6210604"/>
            <a:ext cx="11036808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设计契约，非运行证据 · Skill 必选，MCP 可选</a:t>
            </a:r>
          </a:p>
        </p:txBody>
      </p:sp>
      <p:sp>
        <p:nvSpPr>
          <p:cNvPr id="40" name="h2p-15-text-39"/>
          <p:cNvSpPr txBox="1"/>
          <p:nvPr/>
        </p:nvSpPr>
        <p:spPr>
          <a:xfrm>
            <a:off x="685800" y="6543446"/>
            <a:ext cx="1709928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Skill / MCP / 上下文</a:t>
            </a:r>
          </a:p>
        </p:txBody>
      </p:sp>
      <p:sp>
        <p:nvSpPr>
          <p:cNvPr id="41" name="h2p-15-text-40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6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6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A4 / 05 · HUMAN / RISK / ROLLBACK</a:t>
            </a:r>
          </a:p>
        </p:txBody>
      </p:sp>
      <p:sp>
        <p:nvSpPr>
          <p:cNvPr id="4" name="h2p-16-text-3"/>
          <p:cNvSpPr txBox="1"/>
          <p:nvPr/>
        </p:nvSpPr>
        <p:spPr>
          <a:xfrm>
            <a:off x="685800" y="666597"/>
            <a:ext cx="11036808" cy="376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700">
                <a:solidFill>
                  <a:srgbClr val="102A43"/>
                </a:solidFill>
                <a:latin typeface="Noto Sans CJK SC"/>
              </a:rPr>
              <a:t>Human 门禁、风险、异常与回滚。</a:t>
            </a:r>
          </a:p>
        </p:txBody>
      </p:sp>
      <p:sp>
        <p:nvSpPr>
          <p:cNvPr id="5" name="h2p-16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高风险动作先审批；异常必须能停止、降级和回滚；Human 是正式能力，不是兜底文案。</a:t>
            </a:r>
          </a:p>
        </p:txBody>
      </p:sp>
      <p:sp>
        <p:nvSpPr>
          <p:cNvPr id="6" name="h2p-16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6-box-6"/>
          <p:cNvSpPr/>
          <p:nvPr/>
        </p:nvSpPr>
        <p:spPr>
          <a:xfrm>
            <a:off x="685800" y="1962302"/>
            <a:ext cx="7048195" cy="1524304"/>
          </a:xfrm>
          <a:prstGeom prst="roundRect">
            <a:avLst>
              <a:gd name="adj" fmla="val 1125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6-text-7"/>
          <p:cNvSpPr txBox="1"/>
          <p:nvPr/>
        </p:nvSpPr>
        <p:spPr>
          <a:xfrm>
            <a:off x="914400" y="2114092"/>
            <a:ext cx="680313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HUMAN GATE</a:t>
            </a:r>
          </a:p>
        </p:txBody>
      </p:sp>
      <p:sp>
        <p:nvSpPr>
          <p:cNvPr id="9" name="h2p-16-text-8"/>
          <p:cNvSpPr txBox="1"/>
          <p:nvPr/>
        </p:nvSpPr>
        <p:spPr>
          <a:xfrm>
            <a:off x="914400" y="2419502"/>
            <a:ext cx="6742785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动作请求 → 风险分类 → 审批：批准→执行 ｜ 拒绝 / 超时→拒绝执行或安全降级 → Trace 与回滚验证</a:t>
            </a:r>
          </a:p>
        </p:txBody>
      </p:sp>
      <p:sp>
        <p:nvSpPr>
          <p:cNvPr id="10" name="h2p-16-box-9"/>
          <p:cNvSpPr/>
          <p:nvPr/>
        </p:nvSpPr>
        <p:spPr>
          <a:xfrm>
            <a:off x="914400" y="2857500"/>
            <a:ext cx="1505102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16-text-10"/>
          <p:cNvSpPr txBox="1"/>
          <p:nvPr/>
        </p:nvSpPr>
        <p:spPr>
          <a:xfrm>
            <a:off x="1000353" y="2905048"/>
            <a:ext cx="136062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外部系统写入</a:t>
            </a:r>
          </a:p>
        </p:txBody>
      </p:sp>
      <p:sp>
        <p:nvSpPr>
          <p:cNvPr id="12" name="h2p-16-box-11"/>
          <p:cNvSpPr/>
          <p:nvPr/>
        </p:nvSpPr>
        <p:spPr>
          <a:xfrm>
            <a:off x="2495397" y="2857500"/>
            <a:ext cx="1505102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6-text-12"/>
          <p:cNvSpPr txBox="1"/>
          <p:nvPr/>
        </p:nvSpPr>
        <p:spPr>
          <a:xfrm>
            <a:off x="2581351" y="2905048"/>
            <a:ext cx="136062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真实发布部署</a:t>
            </a:r>
          </a:p>
        </p:txBody>
      </p:sp>
      <p:sp>
        <p:nvSpPr>
          <p:cNvPr id="14" name="h2p-16-box-13"/>
          <p:cNvSpPr/>
          <p:nvPr/>
        </p:nvSpPr>
        <p:spPr>
          <a:xfrm>
            <a:off x="4076395" y="2857500"/>
            <a:ext cx="1505102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6-text-14"/>
          <p:cNvSpPr txBox="1"/>
          <p:nvPr/>
        </p:nvSpPr>
        <p:spPr>
          <a:xfrm>
            <a:off x="4162348" y="2905048"/>
            <a:ext cx="1360627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责任转移</a:t>
            </a:r>
          </a:p>
        </p:txBody>
      </p:sp>
      <p:sp>
        <p:nvSpPr>
          <p:cNvPr id="16" name="h2p-16-box-15"/>
          <p:cNvSpPr/>
          <p:nvPr/>
        </p:nvSpPr>
        <p:spPr>
          <a:xfrm>
            <a:off x="5658307" y="2857500"/>
            <a:ext cx="1809597" cy="304495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2p-16-text-16"/>
          <p:cNvSpPr txBox="1"/>
          <p:nvPr/>
        </p:nvSpPr>
        <p:spPr>
          <a:xfrm>
            <a:off x="5743346" y="2905048"/>
            <a:ext cx="1670608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密钥 / 敏感数据访问</a:t>
            </a:r>
          </a:p>
        </p:txBody>
      </p:sp>
      <p:sp>
        <p:nvSpPr>
          <p:cNvPr id="18" name="h2p-16-box-17"/>
          <p:cNvSpPr/>
          <p:nvPr/>
        </p:nvSpPr>
        <p:spPr>
          <a:xfrm>
            <a:off x="7925104" y="1962302"/>
            <a:ext cx="3581704" cy="1524304"/>
          </a:xfrm>
          <a:prstGeom prst="roundRect">
            <a:avLst>
              <a:gd name="adj" fmla="val 1125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16-text-18"/>
          <p:cNvSpPr txBox="1"/>
          <p:nvPr/>
        </p:nvSpPr>
        <p:spPr>
          <a:xfrm>
            <a:off x="8153704" y="2114092"/>
            <a:ext cx="81655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必须人工批准</a:t>
            </a:r>
          </a:p>
        </p:txBody>
      </p:sp>
      <p:sp>
        <p:nvSpPr>
          <p:cNvPr id="20" name="h2p-16-text-19"/>
          <p:cNvSpPr txBox="1"/>
          <p:nvPr/>
        </p:nvSpPr>
        <p:spPr>
          <a:xfrm>
            <a:off x="8153704" y="2419502"/>
            <a:ext cx="3205886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不可逆操作、责任转移、预算提升与交付决议。</a:t>
            </a:r>
          </a:p>
        </p:txBody>
      </p:sp>
      <p:sp>
        <p:nvSpPr>
          <p:cNvPr id="21" name="h2p-16-text-20"/>
          <p:cNvSpPr txBox="1"/>
          <p:nvPr/>
        </p:nvSpPr>
        <p:spPr>
          <a:xfrm>
            <a:off x="8153704" y="3028492"/>
            <a:ext cx="3205886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F26B4B"/>
                </a:solidFill>
                <a:latin typeface="Noto Sans CJK SC"/>
              </a:rPr>
              <a:t>无批准 = 拒绝执行 + 保留证据</a:t>
            </a:r>
          </a:p>
        </p:txBody>
      </p:sp>
      <p:sp>
        <p:nvSpPr>
          <p:cNvPr id="22" name="h2p-16-box-21"/>
          <p:cNvSpPr/>
          <p:nvPr/>
        </p:nvSpPr>
        <p:spPr>
          <a:xfrm>
            <a:off x="685800" y="3676802"/>
            <a:ext cx="7048195" cy="2361895"/>
          </a:xfrm>
          <a:prstGeom prst="roundRect">
            <a:avLst>
              <a:gd name="adj" fmla="val 7260"/>
            </a:avLst>
          </a:prstGeom>
          <a:solidFill>
            <a:srgbClr val="FFFFFF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6-text-22"/>
          <p:cNvSpPr txBox="1"/>
          <p:nvPr/>
        </p:nvSpPr>
        <p:spPr>
          <a:xfrm>
            <a:off x="914400" y="3829507"/>
            <a:ext cx="6742785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异常与恢复 · 同一 Trace 语义</a:t>
            </a:r>
          </a:p>
        </p:txBody>
      </p:sp>
      <p:sp>
        <p:nvSpPr>
          <p:cNvPr id="24" name="h2p-16-text-23"/>
          <p:cNvSpPr txBox="1"/>
          <p:nvPr/>
        </p:nvSpPr>
        <p:spPr>
          <a:xfrm>
            <a:off x="914400" y="4153204"/>
            <a:ext cx="6742785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六类异常进入同一 Trace 语义：Agent 不可用 · Schema 非法 · 预算耗尽</a:t>
            </a:r>
          </a:p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通信异常 · holdout 泄漏 · 循环失控。</a:t>
            </a:r>
          </a:p>
        </p:txBody>
      </p:sp>
      <p:sp>
        <p:nvSpPr>
          <p:cNvPr id="25" name="h2p-16-text-24"/>
          <p:cNvSpPr txBox="1"/>
          <p:nvPr/>
        </p:nvSpPr>
        <p:spPr>
          <a:xfrm>
            <a:off x="914400" y="4762195"/>
            <a:ext cx="6742785" cy="400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对应恢复：阶段暂停 · 拒绝推进 · 硬停止</a:t>
            </a:r>
          </a:p>
          <a:p>
            <a:pPr marL="0" indent="0" algn="l">
              <a:lnSpc>
                <a:spcPts val="15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53697C"/>
                </a:solidFill>
                <a:latin typeface="Noto Sans CJK SC"/>
              </a:rPr>
              <a:t>幂等重发 · 本轮无效 · 达上限停止。</a:t>
            </a:r>
          </a:p>
        </p:txBody>
      </p:sp>
      <p:sp>
        <p:nvSpPr>
          <p:cNvPr id="26" name="h2p-16-text-25"/>
          <p:cNvSpPr txBox="1"/>
          <p:nvPr/>
        </p:nvSpPr>
        <p:spPr>
          <a:xfrm>
            <a:off x="914400" y="5372100"/>
            <a:ext cx="6742785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权限缺失→缩小范围;不可回滚→默认拒绝;成功与失败同等留证。</a:t>
            </a:r>
          </a:p>
        </p:txBody>
      </p:sp>
      <p:sp>
        <p:nvSpPr>
          <p:cNvPr id="27" name="h2p-16-text-26"/>
          <p:cNvSpPr txBox="1"/>
          <p:nvPr/>
        </p:nvSpPr>
        <p:spPr>
          <a:xfrm>
            <a:off x="914400" y="5753404"/>
            <a:ext cx="6742785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F26B4B"/>
                </a:solidFill>
                <a:latin typeface="Noto Sans CJK SC"/>
              </a:rPr>
              <a:t>候选生成前冻结 Sample/Task · 候选生成后统一试验前批准 TrialSpec</a:t>
            </a:r>
          </a:p>
        </p:txBody>
      </p:sp>
      <p:sp>
        <p:nvSpPr>
          <p:cNvPr id="28" name="h2p-16-box-27"/>
          <p:cNvSpPr/>
          <p:nvPr/>
        </p:nvSpPr>
        <p:spPr>
          <a:xfrm>
            <a:off x="7925104" y="3676802"/>
            <a:ext cx="3581704" cy="2361895"/>
          </a:xfrm>
          <a:prstGeom prst="roundRect">
            <a:avLst>
              <a:gd name="adj" fmla="val 7260"/>
            </a:avLst>
          </a:prstGeom>
          <a:solidFill>
            <a:srgbClr val="EEF1F5"/>
          </a:solidFill>
          <a:ln w="19050">
            <a:solidFill>
              <a:srgbClr val="5369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16-text-28"/>
          <p:cNvSpPr txBox="1"/>
          <p:nvPr/>
        </p:nvSpPr>
        <p:spPr>
          <a:xfrm>
            <a:off x="8153704" y="3829507"/>
            <a:ext cx="136062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风险分级 · 动作档位</a:t>
            </a:r>
          </a:p>
        </p:txBody>
      </p:sp>
      <p:sp>
        <p:nvSpPr>
          <p:cNvPr id="30" name="h2p-16-box-29"/>
          <p:cNvSpPr/>
          <p:nvPr/>
        </p:nvSpPr>
        <p:spPr>
          <a:xfrm>
            <a:off x="8153704" y="4171492"/>
            <a:ext cx="3143707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2p-16-text-30"/>
          <p:cNvSpPr txBox="1"/>
          <p:nvPr/>
        </p:nvSpPr>
        <p:spPr>
          <a:xfrm>
            <a:off x="8238744" y="4219956"/>
            <a:ext cx="303123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只读诊断</a:t>
            </a:r>
          </a:p>
        </p:txBody>
      </p:sp>
      <p:sp>
        <p:nvSpPr>
          <p:cNvPr id="32" name="h2p-16-box-31"/>
          <p:cNvSpPr/>
          <p:nvPr/>
        </p:nvSpPr>
        <p:spPr>
          <a:xfrm>
            <a:off x="8153704" y="4591202"/>
            <a:ext cx="3143707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6-text-32"/>
          <p:cNvSpPr txBox="1"/>
          <p:nvPr/>
        </p:nvSpPr>
        <p:spPr>
          <a:xfrm>
            <a:off x="8238744" y="4638751"/>
            <a:ext cx="303123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1A8D85"/>
                </a:solidFill>
                <a:latin typeface="Noto Sans Mono CJK SC"/>
              </a:rPr>
              <a:t>低风险自动执行</a:t>
            </a:r>
          </a:p>
        </p:txBody>
      </p:sp>
      <p:sp>
        <p:nvSpPr>
          <p:cNvPr id="34" name="h2p-16-box-33"/>
          <p:cNvSpPr/>
          <p:nvPr/>
        </p:nvSpPr>
        <p:spPr>
          <a:xfrm>
            <a:off x="8153704" y="5009997"/>
            <a:ext cx="3143707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16-text-34"/>
          <p:cNvSpPr txBox="1"/>
          <p:nvPr/>
        </p:nvSpPr>
        <p:spPr>
          <a:xfrm>
            <a:off x="8238744" y="5057546"/>
            <a:ext cx="303123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D6A43B"/>
                </a:solidFill>
                <a:latin typeface="Noto Sans Mono CJK SC"/>
              </a:rPr>
              <a:t>灰度 + 审批</a:t>
            </a:r>
          </a:p>
        </p:txBody>
      </p:sp>
      <p:sp>
        <p:nvSpPr>
          <p:cNvPr id="36" name="h2p-16-box-35"/>
          <p:cNvSpPr/>
          <p:nvPr/>
        </p:nvSpPr>
        <p:spPr>
          <a:xfrm>
            <a:off x="8153704" y="5429707"/>
            <a:ext cx="3143707" cy="323697"/>
          </a:xfrm>
          <a:prstGeom prst="roundRect">
            <a:avLst>
              <a:gd name="adj" fmla="val 23530"/>
            </a:avLst>
          </a:prstGeom>
          <a:solidFill>
            <a:srgbClr val="FFFFFF"/>
          </a:solidFill>
          <a:ln w="1016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h2p-16-text-36"/>
          <p:cNvSpPr txBox="1"/>
          <p:nvPr/>
        </p:nvSpPr>
        <p:spPr>
          <a:xfrm>
            <a:off x="8238744" y="5477256"/>
            <a:ext cx="3031236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F26B4B"/>
                </a:solidFill>
                <a:latin typeface="Noto Sans Mono CJK SC"/>
              </a:rPr>
              <a:t>只生成方案</a:t>
            </a:r>
          </a:p>
        </p:txBody>
      </p:sp>
      <p:sp>
        <p:nvSpPr>
          <p:cNvPr id="38" name="h2p-16-text-37"/>
          <p:cNvSpPr txBox="1"/>
          <p:nvPr/>
        </p:nvSpPr>
        <p:spPr>
          <a:xfrm>
            <a:off x="577900" y="6210604"/>
            <a:ext cx="11036808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设计契约，非运行证据 · 完整清单见 submission/risk-and-human-gates.md</a:t>
            </a:r>
          </a:p>
        </p:txBody>
      </p:sp>
      <p:sp>
        <p:nvSpPr>
          <p:cNvPr id="39" name="h2p-16-text-38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安全设计</a:t>
            </a:r>
          </a:p>
        </p:txBody>
      </p:sp>
      <p:sp>
        <p:nvSpPr>
          <p:cNvPr id="40" name="h2p-16-text-39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7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2p-17-text-2"/>
          <p:cNvSpPr txBox="1"/>
          <p:nvPr/>
        </p:nvSpPr>
        <p:spPr>
          <a:xfrm>
            <a:off x="685800" y="323697"/>
            <a:ext cx="4080052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A5 / 05 · 开放 / 依赖 / 当前边界</a:t>
            </a:r>
          </a:p>
        </p:txBody>
      </p:sp>
      <p:sp>
        <p:nvSpPr>
          <p:cNvPr id="4" name="h2p-17-text-3"/>
          <p:cNvSpPr txBox="1"/>
          <p:nvPr/>
        </p:nvSpPr>
        <p:spPr>
          <a:xfrm>
            <a:off x="685800" y="666597"/>
            <a:ext cx="11036808" cy="314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250">
                <a:solidFill>
                  <a:srgbClr val="102A43"/>
                </a:solidFill>
                <a:latin typeface="Noto Sans CJK SC"/>
              </a:rPr>
              <a:t>开放、依赖、许可证、baseline 引用与未实现边界。</a:t>
            </a:r>
          </a:p>
        </p:txBody>
      </p:sp>
      <p:sp>
        <p:nvSpPr>
          <p:cNvPr id="5" name="h2p-17-text-4"/>
          <p:cNvSpPr txBox="1"/>
          <p:nvPr/>
        </p:nvSpPr>
        <p:spPr>
          <a:xfrm>
            <a:off x="705002" y="1257300"/>
            <a:ext cx="1049274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53697C"/>
                </a:solidFill>
                <a:latin typeface="Noto Sans CJK SC"/>
              </a:rPr>
              <a:t>仓库当前为私有，项目许可证尚未选择；任何“已开源”声明都不成立。</a:t>
            </a:r>
          </a:p>
        </p:txBody>
      </p:sp>
      <p:sp>
        <p:nvSpPr>
          <p:cNvPr id="6" name="h2p-17-box-5"/>
          <p:cNvSpPr/>
          <p:nvPr/>
        </p:nvSpPr>
        <p:spPr>
          <a:xfrm>
            <a:off x="685800" y="1695297"/>
            <a:ext cx="10820095" cy="19202"/>
          </a:xfrm>
          <a:prstGeom prst="rect">
            <a:avLst/>
          </a:prstGeom>
          <a:solidFill>
            <a:srgbClr val="DE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7-box-6"/>
          <p:cNvSpPr/>
          <p:nvPr/>
        </p:nvSpPr>
        <p:spPr>
          <a:xfrm>
            <a:off x="685800" y="1962302"/>
            <a:ext cx="3504895" cy="3143707"/>
          </a:xfrm>
          <a:prstGeom prst="roundRect">
            <a:avLst>
              <a:gd name="adj" fmla="val 5450"/>
            </a:avLst>
          </a:prstGeom>
          <a:solidFill>
            <a:srgbClr val="DCEEEA"/>
          </a:solidFill>
          <a:ln w="19050">
            <a:solidFill>
              <a:srgbClr val="1A8D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7-text-7"/>
          <p:cNvSpPr txBox="1"/>
          <p:nvPr/>
        </p:nvSpPr>
        <p:spPr>
          <a:xfrm>
            <a:off x="914400" y="2114092"/>
            <a:ext cx="1224381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1A8D85"/>
                </a:solidFill>
                <a:latin typeface="Noto Sans Mono CJK SC"/>
              </a:rPr>
              <a:t>计划开放 · 未发布</a:t>
            </a:r>
          </a:p>
        </p:txBody>
      </p:sp>
      <p:sp>
        <p:nvSpPr>
          <p:cNvPr id="9" name="h2p-17-text-8"/>
          <p:cNvSpPr txBox="1"/>
          <p:nvPr/>
        </p:nvSpPr>
        <p:spPr>
          <a:xfrm>
            <a:off x="914400" y="2438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任务 / 能力 / 候选 / Trace Schema</a:t>
            </a:r>
          </a:p>
        </p:txBody>
      </p:sp>
      <p:sp>
        <p:nvSpPr>
          <p:cNvPr id="10" name="h2p-17-text-9"/>
          <p:cNvSpPr txBox="1"/>
          <p:nvPr/>
        </p:nvSpPr>
        <p:spPr>
          <a:xfrm>
            <a:off x="914400" y="2819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五个 Agent Identity 与七个 Skill 契约</a:t>
            </a:r>
          </a:p>
        </p:txBody>
      </p:sp>
      <p:sp>
        <p:nvSpPr>
          <p:cNvPr id="11" name="h2p-17-text-10"/>
          <p:cNvSpPr txBox="1"/>
          <p:nvPr/>
        </p:nvSpPr>
        <p:spPr>
          <a:xfrm>
            <a:off x="914400" y="32004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评测与 Human 门禁模板</a:t>
            </a:r>
          </a:p>
        </p:txBody>
      </p:sp>
      <p:sp>
        <p:nvSpPr>
          <p:cNvPr id="12" name="h2p-17-text-11"/>
          <p:cNvSpPr txBox="1"/>
          <p:nvPr/>
        </p:nvSpPr>
        <p:spPr>
          <a:xfrm>
            <a:off x="914400" y="3581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脱敏样例与生成链</a:t>
            </a:r>
          </a:p>
        </p:txBody>
      </p:sp>
      <p:sp>
        <p:nvSpPr>
          <p:cNvPr id="13" name="h2p-17-text-12"/>
          <p:cNvSpPr txBox="1"/>
          <p:nvPr/>
        </p:nvSpPr>
        <p:spPr>
          <a:xfrm>
            <a:off x="914400" y="4267504"/>
            <a:ext cx="3148279" cy="311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1A8D85"/>
                </a:solidFill>
                <a:latin typeface="Noto Sans CJK SC"/>
              </a:rPr>
              <a:t>开放前门禁：选 License · 清点第三方许可 · 完成脱敏与复现</a:t>
            </a:r>
          </a:p>
        </p:txBody>
      </p:sp>
      <p:sp>
        <p:nvSpPr>
          <p:cNvPr id="14" name="h2p-17-box-13"/>
          <p:cNvSpPr/>
          <p:nvPr/>
        </p:nvSpPr>
        <p:spPr>
          <a:xfrm>
            <a:off x="4343400" y="1962302"/>
            <a:ext cx="3504895" cy="3143707"/>
          </a:xfrm>
          <a:prstGeom prst="roundRect">
            <a:avLst>
              <a:gd name="adj" fmla="val 5450"/>
            </a:avLst>
          </a:prstGeom>
          <a:solidFill>
            <a:srgbClr val="F3E5B8"/>
          </a:solidFill>
          <a:ln w="19050">
            <a:solidFill>
              <a:srgbClr val="D6A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7-text-14"/>
          <p:cNvSpPr txBox="1"/>
          <p:nvPr/>
        </p:nvSpPr>
        <p:spPr>
          <a:xfrm>
            <a:off x="4572000" y="2114092"/>
            <a:ext cx="1768449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D6A43B"/>
                </a:solidFill>
                <a:latin typeface="Noto Sans Mono CJK SC"/>
              </a:rPr>
              <a:t>依赖与既有基础 · 必须披露</a:t>
            </a:r>
          </a:p>
        </p:txBody>
      </p:sp>
      <p:sp>
        <p:nvSpPr>
          <p:cNvPr id="16" name="h2p-17-text-15"/>
          <p:cNvSpPr txBox="1"/>
          <p:nvPr/>
        </p:nvSpPr>
        <p:spPr>
          <a:xfrm>
            <a:off x="4572000" y="2438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AgentTeams：运行底座（官方 baseline 亦基于它）</a:t>
            </a:r>
          </a:p>
        </p:txBody>
      </p:sp>
      <p:sp>
        <p:nvSpPr>
          <p:cNvPr id="17" name="h2p-17-text-16"/>
          <p:cNvSpPr txBox="1"/>
          <p:nvPr/>
        </p:nvSpPr>
        <p:spPr>
          <a:xfrm>
            <a:off x="4572000" y="2819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商业 LLM API：闭源模型依赖</a:t>
            </a:r>
          </a:p>
        </p:txBody>
      </p:sp>
      <p:sp>
        <p:nvSpPr>
          <p:cNvPr id="18" name="h2p-17-text-17"/>
          <p:cNvSpPr txBox="1"/>
          <p:nvPr/>
        </p:nvSpPr>
        <p:spPr>
          <a:xfrm>
            <a:off x="4572000" y="3200400"/>
            <a:ext cx="3148279" cy="3712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OpsPilot Zero：官方发布示例，作 baseline 与首个 ProjectCase 参考</a:t>
            </a:r>
          </a:p>
        </p:txBody>
      </p:sp>
      <p:sp>
        <p:nvSpPr>
          <p:cNvPr id="19" name="h2p-17-text-18"/>
          <p:cNvSpPr txBox="1"/>
          <p:nvPr/>
        </p:nvSpPr>
        <p:spPr>
          <a:xfrm>
            <a:off x="4572000" y="37334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官方 Skills / MCP：按需复用</a:t>
            </a:r>
          </a:p>
        </p:txBody>
      </p:sp>
      <p:sp>
        <p:nvSpPr>
          <p:cNvPr id="20" name="h2p-17-text-19"/>
          <p:cNvSpPr txBox="1"/>
          <p:nvPr/>
        </p:nvSpPr>
        <p:spPr>
          <a:xfrm>
            <a:off x="4572000" y="41148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第三方库：固定版本与许可证</a:t>
            </a:r>
          </a:p>
        </p:txBody>
      </p:sp>
      <p:sp>
        <p:nvSpPr>
          <p:cNvPr id="21" name="h2p-17-text-20"/>
          <p:cNvSpPr txBox="1"/>
          <p:nvPr/>
        </p:nvSpPr>
        <p:spPr>
          <a:xfrm>
            <a:off x="4572000" y="4647895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D6A43B"/>
                </a:solidFill>
                <a:latin typeface="Noto Sans CJK SC"/>
              </a:rPr>
              <a:t>密钥由基础设施持有，不进 Agent 上下文</a:t>
            </a:r>
          </a:p>
        </p:txBody>
      </p:sp>
      <p:sp>
        <p:nvSpPr>
          <p:cNvPr id="22" name="h2p-17-box-21"/>
          <p:cNvSpPr/>
          <p:nvPr/>
        </p:nvSpPr>
        <p:spPr>
          <a:xfrm>
            <a:off x="8001000" y="1962302"/>
            <a:ext cx="3504895" cy="3143707"/>
          </a:xfrm>
          <a:prstGeom prst="roundRect">
            <a:avLst>
              <a:gd name="adj" fmla="val 5450"/>
            </a:avLst>
          </a:prstGeom>
          <a:solidFill>
            <a:srgbClr val="F8DDD4"/>
          </a:solidFill>
          <a:ln w="19050">
            <a:solidFill>
              <a:srgbClr val="F26B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7-text-22"/>
          <p:cNvSpPr txBox="1"/>
          <p:nvPr/>
        </p:nvSpPr>
        <p:spPr>
          <a:xfrm>
            <a:off x="8229600" y="2114092"/>
            <a:ext cx="1904695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F26B4B"/>
                </a:solidFill>
                <a:latin typeface="Noto Sans Mono CJK SC"/>
              </a:rPr>
              <a:t>当前未实现 · 不包装成完成态</a:t>
            </a:r>
          </a:p>
        </p:txBody>
      </p:sp>
      <p:sp>
        <p:nvSpPr>
          <p:cNvPr id="24" name="h2p-17-text-23"/>
          <p:cNvSpPr txBox="1"/>
          <p:nvPr/>
        </p:nvSpPr>
        <p:spPr>
          <a:xfrm>
            <a:off x="8229600" y="2438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机器可执行 Schema 与自动候选搜索</a:t>
            </a:r>
          </a:p>
        </p:txBody>
      </p:sp>
      <p:sp>
        <p:nvSpPr>
          <p:cNvPr id="25" name="h2p-17-text-24"/>
          <p:cNvSpPr txBox="1"/>
          <p:nvPr/>
        </p:nvSpPr>
        <p:spPr>
          <a:xfrm>
            <a:off x="8229600" y="2819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真实 ProjectCase 与冻结 manifest</a:t>
            </a:r>
          </a:p>
        </p:txBody>
      </p:sp>
      <p:sp>
        <p:nvSpPr>
          <p:cNvPr id="26" name="h2p-17-text-25"/>
          <p:cNvSpPr txBox="1"/>
          <p:nvPr/>
        </p:nvSpPr>
        <p:spPr>
          <a:xfrm>
            <a:off x="8229600" y="32004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AgentFit × AgentTeams 端到端集成</a:t>
            </a:r>
          </a:p>
        </p:txBody>
      </p:sp>
      <p:sp>
        <p:nvSpPr>
          <p:cNvPr id="27" name="h2p-17-text-26"/>
          <p:cNvSpPr txBox="1"/>
          <p:nvPr/>
        </p:nvSpPr>
        <p:spPr>
          <a:xfrm>
            <a:off x="8229600" y="3581704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统一预算下的 C0/C1/C2/C3 对照</a:t>
            </a:r>
          </a:p>
        </p:txBody>
      </p:sp>
      <p:sp>
        <p:nvSpPr>
          <p:cNvPr id="28" name="h2p-17-text-27"/>
          <p:cNvSpPr txBox="1"/>
          <p:nvPr/>
        </p:nvSpPr>
        <p:spPr>
          <a:xfrm>
            <a:off x="8229600" y="3962095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真实 Episode、Trace 与 ROI</a:t>
            </a:r>
          </a:p>
        </p:txBody>
      </p:sp>
      <p:sp>
        <p:nvSpPr>
          <p:cNvPr id="29" name="h2p-17-text-28"/>
          <p:cNvSpPr txBox="1"/>
          <p:nvPr/>
        </p:nvSpPr>
        <p:spPr>
          <a:xfrm>
            <a:off x="8229600" y="4343400"/>
            <a:ext cx="3148279" cy="185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跨项目 Meta-learning</a:t>
            </a:r>
          </a:p>
        </p:txBody>
      </p:sp>
      <p:sp>
        <p:nvSpPr>
          <p:cNvPr id="30" name="h2p-17-text-29"/>
          <p:cNvSpPr txBox="1"/>
          <p:nvPr/>
        </p:nvSpPr>
        <p:spPr>
          <a:xfrm>
            <a:off x="8229600" y="4724704"/>
            <a:ext cx="3148279" cy="1563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80">
                <a:solidFill>
                  <a:srgbClr val="F26B4B"/>
                </a:solidFill>
                <a:latin typeface="Noto Sans CJK SC"/>
              </a:rPr>
              <a:t>未达可复现门禁时不提交代码包</a:t>
            </a:r>
          </a:p>
        </p:txBody>
      </p:sp>
      <p:sp>
        <p:nvSpPr>
          <p:cNvPr id="31" name="h2p-17-box-30"/>
          <p:cNvSpPr/>
          <p:nvPr/>
        </p:nvSpPr>
        <p:spPr>
          <a:xfrm>
            <a:off x="685800" y="5277002"/>
            <a:ext cx="10820095" cy="875995"/>
          </a:xfrm>
          <a:prstGeom prst="roundRect">
            <a:avLst>
              <a:gd name="adj" fmla="val 19570"/>
            </a:avLst>
          </a:prstGeom>
          <a:solidFill>
            <a:srgbClr val="EEF1F5"/>
          </a:solidFill>
          <a:ln w="19050">
            <a:solidFill>
              <a:srgbClr val="D6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17-text-31"/>
          <p:cNvSpPr txBox="1"/>
          <p:nvPr/>
        </p:nvSpPr>
        <p:spPr>
          <a:xfrm>
            <a:off x="914400" y="5410504"/>
            <a:ext cx="1292047" cy="1600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53697C"/>
                </a:solidFill>
                <a:latin typeface="Noto Sans Mono CJK SC"/>
              </a:rPr>
              <a:t>baseline 引用与核验</a:t>
            </a:r>
          </a:p>
        </p:txBody>
      </p:sp>
      <p:sp>
        <p:nvSpPr>
          <p:cNvPr id="33" name="h2p-17-text-32"/>
          <p:cNvSpPr txBox="1"/>
          <p:nvPr/>
        </p:nvSpPr>
        <p:spPr>
          <a:xfrm>
            <a:off x="914400" y="5676595"/>
            <a:ext cx="10589666" cy="1792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53697C"/>
                </a:solidFill>
                <a:latin typeface="Noto Sans CJK SC"/>
              </a:rPr>
              <a:t>OpsPilot Zero（官方示例 DEMO，代码级审计）· GOAI Agent Infra 赛道官网参考方向（核验 2026-08-10，仅场景启发）</a:t>
            </a:r>
          </a:p>
        </p:txBody>
      </p:sp>
      <p:sp>
        <p:nvSpPr>
          <p:cNvPr id="34" name="h2p-17-text-33"/>
          <p:cNvSpPr txBox="1"/>
          <p:nvPr/>
        </p:nvSpPr>
        <p:spPr>
          <a:xfrm>
            <a:off x="914400" y="5982004"/>
            <a:ext cx="10589666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718190"/>
                </a:solidFill>
                <a:latin typeface="Noto Sans CJK SC"/>
              </a:rPr>
              <a:t>官网参考案例与 baseline 均非 AgentFit 运行证据；设计契约，非运行证据。</a:t>
            </a:r>
          </a:p>
        </p:txBody>
      </p:sp>
      <p:sp>
        <p:nvSpPr>
          <p:cNvPr id="35" name="h2p-17-text-34"/>
          <p:cNvSpPr txBox="1"/>
          <p:nvPr/>
        </p:nvSpPr>
        <p:spPr>
          <a:xfrm>
            <a:off x="685800" y="6543446"/>
            <a:ext cx="1068933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AGENTFIT · 当前事实</a:t>
            </a:r>
          </a:p>
        </p:txBody>
      </p:sp>
      <p:sp>
        <p:nvSpPr>
          <p:cNvPr id="36" name="h2p-17-text-35"/>
          <p:cNvSpPr txBox="1"/>
          <p:nvPr/>
        </p:nvSpPr>
        <p:spPr>
          <a:xfrm>
            <a:off x="10815523" y="6543446"/>
            <a:ext cx="747979" cy="1051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r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>
                <a:solidFill>
                  <a:srgbClr val="718190"/>
                </a:solidFill>
                <a:latin typeface="Noto Sans Mono CJK SC"/>
              </a:rPr>
              <a:t>技术附录 · A5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AgentFit 融合版（fusion-v3）</dc:title>
  <dc:subject>OpsPilot baseline 作首个 ProjectCase 的通用方案建筑师路演</dc:subject>
  <dc:creator>AgentFit Team</dc:creator>
  <cp:keywords>AgentFit, AgentTeams, OpsPilot, fusion-v3, HTML-first</cp:keywords>
  <dc:description>Alternative comparison deck. OpsPilot baseline is a code-level audited reference and first ProjectCase input, not AgentFit runtime evidence.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