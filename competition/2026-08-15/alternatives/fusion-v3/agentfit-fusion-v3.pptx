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 · 方案建筑师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801307" cy="1131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企业真正缺少的，</a:t>
            </a:r>
          </a:p>
          <a:p>
            <a:pPr marL="0" indent="0" algn="l">
              <a:lnSpc>
                <a:spcPts val="4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361895"/>
            <a:ext cx="6606540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模型、框架、案例都在变多；没人回答“这件事到底该用 0 个、1 个、多个 Agent，还是保留人工”。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685800" y="2971800"/>
            <a:ext cx="6286500" cy="1790395"/>
          </a:xfrm>
          <a:prstGeom prst="roundRect">
            <a:avLst>
              <a:gd name="adj" fmla="val 957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952804" y="3200400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AGENT 方案建筑师</a:t>
            </a:r>
          </a:p>
        </p:txBody>
      </p:sp>
      <p:sp>
        <p:nvSpPr>
          <p:cNvPr id="8" name="h2p-1-text-7"/>
          <p:cNvSpPr txBox="1"/>
          <p:nvPr/>
        </p:nvSpPr>
        <p:spPr>
          <a:xfrm>
            <a:off x="952804" y="3543300"/>
            <a:ext cx="5907024" cy="5431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0">
                <a:solidFill>
                  <a:srgbClr val="FFFFFF"/>
                </a:solidFill>
                <a:latin typeface="Noto Sans CJK SC"/>
              </a:rPr>
              <a:t>把业务任务与可用能力编译成可比较的方案空间，</a:t>
            </a:r>
          </a:p>
          <a:p>
            <a:pPr marL="0" indent="0" algn="l">
              <a:lnSpc>
                <a:spcPts val="2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0">
                <a:solidFill>
                  <a:srgbClr val="FFFFFF"/>
                </a:solidFill>
                <a:latin typeface="Noto Sans CJK SC"/>
              </a:rPr>
              <a:t>通过统一评测选出最小充分方案。</a:t>
            </a:r>
          </a:p>
        </p:txBody>
      </p:sp>
      <p:sp>
        <p:nvSpPr>
          <p:cNvPr id="9" name="h2p-1-text-8"/>
          <p:cNvSpPr txBox="1"/>
          <p:nvPr/>
        </p:nvSpPr>
        <p:spPr>
          <a:xfrm>
            <a:off x="952804" y="4304995"/>
            <a:ext cx="590702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运行在 AgentTeams 上 · 负责方案选择，不重造运行底座 · 合法答案也可以是保留人工或拒绝自动化</a:t>
            </a:r>
          </a:p>
        </p:txBody>
      </p:sp>
      <p:sp>
        <p:nvSpPr>
          <p:cNvPr id="10" name="h2p-1-box-9"/>
          <p:cNvSpPr/>
          <p:nvPr/>
        </p:nvSpPr>
        <p:spPr>
          <a:xfrm>
            <a:off x="7239304" y="1181404"/>
            <a:ext cx="4267504" cy="4533595"/>
          </a:xfrm>
          <a:prstGeom prst="roundRect">
            <a:avLst>
              <a:gd name="adj" fmla="val 58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7563002" y="1466697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同一任务 · 四类候选</a:t>
            </a:r>
          </a:p>
        </p:txBody>
      </p:sp>
      <p:sp>
        <p:nvSpPr>
          <p:cNvPr id="12" name="h2p-1-box-11"/>
          <p:cNvSpPr/>
          <p:nvPr/>
        </p:nvSpPr>
        <p:spPr>
          <a:xfrm>
            <a:off x="7563002" y="1885492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7681874" y="1971446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C0 · 0 Agent</a:t>
            </a:r>
          </a:p>
        </p:txBody>
      </p:sp>
      <p:sp>
        <p:nvSpPr>
          <p:cNvPr id="14" name="h2p-1-box-13"/>
          <p:cNvSpPr/>
          <p:nvPr/>
        </p:nvSpPr>
        <p:spPr>
          <a:xfrm>
            <a:off x="9486900" y="1885492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-text-14"/>
          <p:cNvSpPr txBox="1"/>
          <p:nvPr/>
        </p:nvSpPr>
        <p:spPr>
          <a:xfrm>
            <a:off x="9605772" y="1971446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C1 · 1 Agent</a:t>
            </a:r>
          </a:p>
        </p:txBody>
      </p:sp>
      <p:sp>
        <p:nvSpPr>
          <p:cNvPr id="16" name="h2p-1-box-15"/>
          <p:cNvSpPr/>
          <p:nvPr/>
        </p:nvSpPr>
        <p:spPr>
          <a:xfrm>
            <a:off x="7563002" y="2514600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-text-16"/>
          <p:cNvSpPr txBox="1"/>
          <p:nvPr/>
        </p:nvSpPr>
        <p:spPr>
          <a:xfrm>
            <a:off x="7681874" y="2600553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C2 · N Agents</a:t>
            </a:r>
          </a:p>
        </p:txBody>
      </p:sp>
      <p:sp>
        <p:nvSpPr>
          <p:cNvPr id="18" name="h2p-1-box-17"/>
          <p:cNvSpPr/>
          <p:nvPr/>
        </p:nvSpPr>
        <p:spPr>
          <a:xfrm>
            <a:off x="9486900" y="2514600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-text-18"/>
          <p:cNvSpPr txBox="1"/>
          <p:nvPr/>
        </p:nvSpPr>
        <p:spPr>
          <a:xfrm>
            <a:off x="9605772" y="2600553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C3 · Human</a:t>
            </a:r>
          </a:p>
        </p:txBody>
      </p:sp>
      <p:sp>
        <p:nvSpPr>
          <p:cNvPr id="20" name="h2p-1-text-19"/>
          <p:cNvSpPr txBox="1"/>
          <p:nvPr/>
        </p:nvSpPr>
        <p:spPr>
          <a:xfrm>
            <a:off x="7563002" y="3124504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首个具体案例 · 证据锚点</a:t>
            </a:r>
          </a:p>
        </p:txBody>
      </p:sp>
      <p:sp>
        <p:nvSpPr>
          <p:cNvPr id="21" name="h2p-1-box-20"/>
          <p:cNvSpPr/>
          <p:nvPr/>
        </p:nvSpPr>
        <p:spPr>
          <a:xfrm>
            <a:off x="7563002" y="3448202"/>
            <a:ext cx="3619195" cy="914400"/>
          </a:xfrm>
          <a:prstGeom prst="roundRect">
            <a:avLst>
              <a:gd name="adj" fmla="val 125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-text-21"/>
          <p:cNvSpPr txBox="1"/>
          <p:nvPr/>
        </p:nvSpPr>
        <p:spPr>
          <a:xfrm>
            <a:off x="7715707" y="3581704"/>
            <a:ext cx="138988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9C3D5"/>
                </a:solidFill>
                <a:latin typeface="Noto Sans Mono CJK SC"/>
              </a:rPr>
              <a:t>OpsPilot 官方 baseline</a:t>
            </a:r>
          </a:p>
        </p:txBody>
      </p:sp>
      <p:sp>
        <p:nvSpPr>
          <p:cNvPr id="23" name="h2p-1-text-22"/>
          <p:cNvSpPr txBox="1"/>
          <p:nvPr/>
        </p:nvSpPr>
        <p:spPr>
          <a:xfrm>
            <a:off x="7715707" y="3829507"/>
            <a:ext cx="33805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作首个 ProjectCase 参考 · 非运行证据</a:t>
            </a:r>
          </a:p>
        </p:txBody>
      </p:sp>
      <p:sp>
        <p:nvSpPr>
          <p:cNvPr id="24" name="h2p-1-box-23"/>
          <p:cNvSpPr/>
          <p:nvPr/>
        </p:nvSpPr>
        <p:spPr>
          <a:xfrm>
            <a:off x="8191195" y="4552797"/>
            <a:ext cx="2286000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-text-24"/>
          <p:cNvSpPr txBox="1"/>
          <p:nvPr/>
        </p:nvSpPr>
        <p:spPr>
          <a:xfrm>
            <a:off x="8323783" y="4800600"/>
            <a:ext cx="2020824" cy="2670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74D0C7"/>
                </a:solidFill>
                <a:latin typeface="Noto Sans Mono CJK SC"/>
              </a:rPr>
              <a:t>FIT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7526426" y="5486400"/>
            <a:ext cx="369234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统一验收 · 最小复杂度 · 可审计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685800" y="5296204"/>
            <a:ext cx="6412687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不是更多 Agent，而是有证据地选对方案。</a:t>
            </a:r>
          </a:p>
        </p:txBody>
      </p:sp>
      <p:sp>
        <p:nvSpPr>
          <p:cNvPr id="28" name="h2p-1-text-27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融合版 FUSION-V3</a:t>
            </a:r>
          </a:p>
        </p:txBody>
      </p:sp>
      <p:sp>
        <p:nvSpPr>
          <p:cNvPr id="29" name="h2p-1-text-28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官方示例 · 证据锚点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619402"/>
            <a:ext cx="10492740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29307"/>
            <a:ext cx="5333695" cy="3504895"/>
          </a:xfrm>
          <a:prstGeom prst="roundRect">
            <a:avLst>
              <a:gd name="adj" fmla="val 489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14400" y="2457907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官方 BASELINE · OpsPilot Zero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14400" y="2781604"/>
            <a:ext cx="4974336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10" name="h2p-2-text-9"/>
          <p:cNvSpPr txBox="1"/>
          <p:nvPr/>
        </p:nvSpPr>
        <p:spPr>
          <a:xfrm>
            <a:off x="914400" y="3105302"/>
            <a:ext cx="497433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1" name="h2p-2-text-10"/>
          <p:cNvSpPr txBox="1"/>
          <p:nvPr/>
        </p:nvSpPr>
        <p:spPr>
          <a:xfrm>
            <a:off x="914400" y="3714292"/>
            <a:ext cx="49743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914400" y="3981297"/>
            <a:ext cx="5052060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3" name="h2p-2-box-12"/>
          <p:cNvSpPr/>
          <p:nvPr/>
        </p:nvSpPr>
        <p:spPr>
          <a:xfrm>
            <a:off x="914400" y="4724704"/>
            <a:ext cx="4876495" cy="724204"/>
          </a:xfrm>
          <a:prstGeom prst="roundRect">
            <a:avLst>
              <a:gd name="adj" fmla="val 23680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1067104" y="4839004"/>
            <a:ext cx="233629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demo 事故 · db.pool.maxSize: 50 -&gt; 8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1067104" y="5085892"/>
            <a:ext cx="466344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6" name="h2p-2-box-15"/>
          <p:cNvSpPr/>
          <p:nvPr/>
        </p:nvSpPr>
        <p:spPr>
          <a:xfrm>
            <a:off x="6286500" y="2229307"/>
            <a:ext cx="52193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2-text-16"/>
          <p:cNvSpPr txBox="1"/>
          <p:nvPr/>
        </p:nvSpPr>
        <p:spPr>
          <a:xfrm>
            <a:off x="6515100" y="2457907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AGENTFIT 拿它做什么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6515100" y="2781604"/>
            <a:ext cx="485729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9" name="h2p-2-box-18"/>
          <p:cNvSpPr/>
          <p:nvPr/>
        </p:nvSpPr>
        <p:spPr>
          <a:xfrm>
            <a:off x="6515100" y="3238804"/>
            <a:ext cx="47621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2-text-19"/>
          <p:cNvSpPr txBox="1"/>
          <p:nvPr/>
        </p:nvSpPr>
        <p:spPr>
          <a:xfrm>
            <a:off x="6667804" y="3353104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6667804" y="3600907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6515100" y="4134002"/>
            <a:ext cx="48572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515100" y="5181904"/>
            <a:ext cx="485729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证据锚点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10120579" y="6543446"/>
            <a:ext cx="144292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从材料到可验收档案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企业带来的不是干净任务，而是散落材料；AgentFit 先把它变成可验收、可重放的项目档案。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box-6"/>
          <p:cNvSpPr/>
          <p:nvPr/>
        </p:nvSpPr>
        <p:spPr>
          <a:xfrm>
            <a:off x="685800" y="2190902"/>
            <a:ext cx="4095597" cy="3657600"/>
          </a:xfrm>
          <a:prstGeom prst="roundRect">
            <a:avLst>
              <a:gd name="adj" fmla="val 469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3-text-7"/>
          <p:cNvSpPr txBox="1"/>
          <p:nvPr/>
        </p:nvSpPr>
        <p:spPr>
          <a:xfrm>
            <a:off x="914400" y="2419502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AgentFit 接收的材料</a:t>
            </a:r>
          </a:p>
        </p:txBody>
      </p:sp>
      <p:sp>
        <p:nvSpPr>
          <p:cNvPr id="9" name="h2p-3-box-8"/>
          <p:cNvSpPr/>
          <p:nvPr/>
        </p:nvSpPr>
        <p:spPr>
          <a:xfrm>
            <a:off x="914400" y="2762402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3-text-9"/>
          <p:cNvSpPr txBox="1"/>
          <p:nvPr/>
        </p:nvSpPr>
        <p:spPr>
          <a:xfrm>
            <a:off x="1000353" y="2809951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客诉 / 告警</a:t>
            </a:r>
          </a:p>
        </p:txBody>
      </p:sp>
      <p:sp>
        <p:nvSpPr>
          <p:cNvPr id="11" name="h2p-3-box-10"/>
          <p:cNvSpPr/>
          <p:nvPr/>
        </p:nvSpPr>
        <p:spPr>
          <a:xfrm>
            <a:off x="2781604" y="2762402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3-text-11"/>
          <p:cNvSpPr txBox="1"/>
          <p:nvPr/>
        </p:nvSpPr>
        <p:spPr>
          <a:xfrm>
            <a:off x="2866644" y="2809951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日志 / Trace</a:t>
            </a:r>
          </a:p>
        </p:txBody>
      </p:sp>
      <p:sp>
        <p:nvSpPr>
          <p:cNvPr id="13" name="h2p-3-box-12"/>
          <p:cNvSpPr/>
          <p:nvPr/>
        </p:nvSpPr>
        <p:spPr>
          <a:xfrm>
            <a:off x="914400" y="318119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3-text-13"/>
          <p:cNvSpPr txBox="1"/>
          <p:nvPr/>
        </p:nvSpPr>
        <p:spPr>
          <a:xfrm>
            <a:off x="1000353" y="322874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指标 / 变更</a:t>
            </a:r>
          </a:p>
        </p:txBody>
      </p:sp>
      <p:sp>
        <p:nvSpPr>
          <p:cNvPr id="15" name="h2p-3-box-14"/>
          <p:cNvSpPr/>
          <p:nvPr/>
        </p:nvSpPr>
        <p:spPr>
          <a:xfrm>
            <a:off x="2781604" y="318119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3-text-15"/>
          <p:cNvSpPr txBox="1"/>
          <p:nvPr/>
        </p:nvSpPr>
        <p:spPr>
          <a:xfrm>
            <a:off x="2866644" y="322874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Runbook / 知识库</a:t>
            </a:r>
          </a:p>
        </p:txBody>
      </p:sp>
      <p:sp>
        <p:nvSpPr>
          <p:cNvPr id="17" name="h2p-3-box-16"/>
          <p:cNvSpPr/>
          <p:nvPr/>
        </p:nvSpPr>
        <p:spPr>
          <a:xfrm>
            <a:off x="914400" y="360090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3-text-17"/>
          <p:cNvSpPr txBox="1"/>
          <p:nvPr/>
        </p:nvSpPr>
        <p:spPr>
          <a:xfrm>
            <a:off x="1000353" y="364845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历史事故</a:t>
            </a:r>
          </a:p>
        </p:txBody>
      </p:sp>
      <p:sp>
        <p:nvSpPr>
          <p:cNvPr id="19" name="h2p-3-box-18"/>
          <p:cNvSpPr/>
          <p:nvPr/>
        </p:nvSpPr>
        <p:spPr>
          <a:xfrm>
            <a:off x="2781604" y="360090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3-text-19"/>
          <p:cNvSpPr txBox="1"/>
          <p:nvPr/>
        </p:nvSpPr>
        <p:spPr>
          <a:xfrm>
            <a:off x="2866644" y="364845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OpsPilot baseline</a:t>
            </a:r>
          </a:p>
        </p:txBody>
      </p:sp>
      <p:sp>
        <p:nvSpPr>
          <p:cNvPr id="21" name="h2p-3-text-20"/>
          <p:cNvSpPr txBox="1"/>
          <p:nvPr/>
        </p:nvSpPr>
        <p:spPr>
          <a:xfrm>
            <a:off x="914400" y="4095597"/>
            <a:ext cx="374995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材料保留来源与时间边界；它们是 SourceObservation，还不是可评价的样本。</a:t>
            </a:r>
          </a:p>
        </p:txBody>
      </p:sp>
      <p:sp>
        <p:nvSpPr>
          <p:cNvPr id="22" name="h2p-3-text-21"/>
          <p:cNvSpPr txBox="1"/>
          <p:nvPr/>
        </p:nvSpPr>
        <p:spPr>
          <a:xfrm>
            <a:off x="914400" y="5143500"/>
            <a:ext cx="374995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Human 提供材料并确认任务契约</a:t>
            </a:r>
          </a:p>
        </p:txBody>
      </p:sp>
      <p:sp>
        <p:nvSpPr>
          <p:cNvPr id="23" name="h2p-3-text-22"/>
          <p:cNvSpPr txBox="1"/>
          <p:nvPr/>
        </p:nvSpPr>
        <p:spPr>
          <a:xfrm>
            <a:off x="4895697" y="3733495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4" name="h2p-3-box-23"/>
          <p:cNvSpPr/>
          <p:nvPr/>
        </p:nvSpPr>
        <p:spPr>
          <a:xfrm>
            <a:off x="5333695" y="2190902"/>
            <a:ext cx="6172200" cy="3657600"/>
          </a:xfrm>
          <a:prstGeom prst="roundRect">
            <a:avLst>
              <a:gd name="adj" fmla="val 46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3-text-24"/>
          <p:cNvSpPr txBox="1"/>
          <p:nvPr/>
        </p:nvSpPr>
        <p:spPr>
          <a:xfrm>
            <a:off x="5562295" y="2419502"/>
            <a:ext cx="231251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编译后的 ProjectCase（版本化档案）</a:t>
            </a:r>
          </a:p>
        </p:txBody>
      </p:sp>
      <p:sp>
        <p:nvSpPr>
          <p:cNvPr id="26" name="h2p-3-box-25"/>
          <p:cNvSpPr/>
          <p:nvPr/>
        </p:nvSpPr>
        <p:spPr>
          <a:xfrm>
            <a:off x="5562295" y="2762402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3-text-26"/>
          <p:cNvSpPr txBox="1"/>
          <p:nvPr/>
        </p:nvSpPr>
        <p:spPr>
          <a:xfrm>
            <a:off x="5715000" y="2857500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样本语义</a:t>
            </a:r>
          </a:p>
        </p:txBody>
      </p:sp>
      <p:sp>
        <p:nvSpPr>
          <p:cNvPr id="28" name="h2p-3-text-27"/>
          <p:cNvSpPr txBox="1"/>
          <p:nvPr/>
        </p:nvSpPr>
        <p:spPr>
          <a:xfrm>
            <a:off x="5715000" y="310530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事故级单位、边界、重放与标注契约</a:t>
            </a:r>
          </a:p>
        </p:txBody>
      </p:sp>
      <p:sp>
        <p:nvSpPr>
          <p:cNvPr id="29" name="h2p-3-box-28"/>
          <p:cNvSpPr/>
          <p:nvPr/>
        </p:nvSpPr>
        <p:spPr>
          <a:xfrm>
            <a:off x="8534095" y="2762402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3-text-29"/>
          <p:cNvSpPr txBox="1"/>
          <p:nvPr/>
        </p:nvSpPr>
        <p:spPr>
          <a:xfrm>
            <a:off x="8686800" y="2857500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任务语义</a:t>
            </a:r>
          </a:p>
        </p:txBody>
      </p:sp>
      <p:sp>
        <p:nvSpPr>
          <p:cNvPr id="31" name="h2p-3-text-30"/>
          <p:cNvSpPr txBox="1"/>
          <p:nvPr/>
        </p:nvSpPr>
        <p:spPr>
          <a:xfrm>
            <a:off x="8686800" y="310530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输入、输出、指标、预算、验收</a:t>
            </a:r>
          </a:p>
        </p:txBody>
      </p:sp>
      <p:sp>
        <p:nvSpPr>
          <p:cNvPr id="32" name="h2p-3-box-31"/>
          <p:cNvSpPr/>
          <p:nvPr/>
        </p:nvSpPr>
        <p:spPr>
          <a:xfrm>
            <a:off x="5562295" y="3600907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3-text-32"/>
          <p:cNvSpPr txBox="1"/>
          <p:nvPr/>
        </p:nvSpPr>
        <p:spPr>
          <a:xfrm>
            <a:off x="5715000" y="3696004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能力语义</a:t>
            </a:r>
          </a:p>
        </p:txBody>
      </p:sp>
      <p:sp>
        <p:nvSpPr>
          <p:cNvPr id="34" name="h2p-3-text-33"/>
          <p:cNvSpPr txBox="1"/>
          <p:nvPr/>
        </p:nvSpPr>
        <p:spPr>
          <a:xfrm>
            <a:off x="5715000" y="394289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算子、契约、权限、成本、适用域</a:t>
            </a:r>
          </a:p>
        </p:txBody>
      </p:sp>
      <p:sp>
        <p:nvSpPr>
          <p:cNvPr id="35" name="h2p-3-box-34"/>
          <p:cNvSpPr/>
          <p:nvPr/>
        </p:nvSpPr>
        <p:spPr>
          <a:xfrm>
            <a:off x="8534095" y="3600907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3-text-35"/>
          <p:cNvSpPr txBox="1"/>
          <p:nvPr/>
        </p:nvSpPr>
        <p:spPr>
          <a:xfrm>
            <a:off x="8686800" y="3696004"/>
            <a:ext cx="119969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候选空间 + 评测协议</a:t>
            </a:r>
          </a:p>
        </p:txBody>
      </p:sp>
      <p:sp>
        <p:nvSpPr>
          <p:cNvPr id="37" name="h2p-3-text-36"/>
          <p:cNvSpPr txBox="1"/>
          <p:nvPr/>
        </p:nvSpPr>
        <p:spPr>
          <a:xfrm>
            <a:off x="8686800" y="394289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公平预算、安全门禁、责任边界</a:t>
            </a:r>
          </a:p>
        </p:txBody>
      </p:sp>
      <p:sp>
        <p:nvSpPr>
          <p:cNvPr id="38" name="h2p-3-text-37"/>
          <p:cNvSpPr txBox="1"/>
          <p:nvPr/>
        </p:nvSpPr>
        <p:spPr>
          <a:xfrm>
            <a:off x="5562295" y="4476902"/>
            <a:ext cx="58293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ProjectCase 描述整个任务分布与候选空间；它不是单条样本，也不等于某次运行。</a:t>
            </a:r>
          </a:p>
        </p:txBody>
      </p:sp>
      <p:sp>
        <p:nvSpPr>
          <p:cNvPr id="39" name="h2p-3-text-38"/>
          <p:cNvSpPr txBox="1"/>
          <p:nvPr/>
        </p:nvSpPr>
        <p:spPr>
          <a:xfrm>
            <a:off x="5562295" y="5296204"/>
            <a:ext cx="58293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40" name="h2p-3-text-39"/>
          <p:cNvSpPr txBox="1"/>
          <p:nvPr/>
        </p:nvSpPr>
        <p:spPr>
          <a:xfrm>
            <a:off x="577900" y="6057900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先有可验收的项目档案，才有资格讨论“用几个 Agent”。</a:t>
            </a:r>
          </a:p>
        </p:txBody>
      </p:sp>
      <p:sp>
        <p:nvSpPr>
          <p:cNvPr id="41" name="h2p-3-text-40"/>
          <p:cNvSpPr txBox="1"/>
          <p:nvPr/>
        </p:nvSpPr>
        <p:spPr>
          <a:xfrm>
            <a:off x="685800" y="6543446"/>
            <a:ext cx="122895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ProjectCase</a:t>
            </a:r>
          </a:p>
        </p:txBody>
      </p:sp>
      <p:sp>
        <p:nvSpPr>
          <p:cNvPr id="42" name="h2p-3-text-41"/>
          <p:cNvSpPr txBox="1"/>
          <p:nvPr/>
        </p:nvSpPr>
        <p:spPr>
          <a:xfrm>
            <a:off x="10601553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04 / 12 · 一个样本长什么样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用 OpsPilot baseline 的两个事故，说明什么能被冻结、重放和评价。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152497"/>
            <a:ext cx="5296204" cy="3238804"/>
          </a:xfrm>
          <a:prstGeom prst="roundRect">
            <a:avLst>
              <a:gd name="adj" fmla="val 529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14400" y="2361895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TaskSample · 01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14400" y="2648102"/>
            <a:ext cx="4955133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26B4B"/>
                </a:solidFill>
                <a:latin typeface="Noto Sans CJK SC"/>
              </a:rPr>
              <a:t>db_pool_exhausted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14400" y="2971800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1" name="h2p-4-text-10"/>
          <p:cNvSpPr txBox="1"/>
          <p:nvPr/>
        </p:nvSpPr>
        <p:spPr>
          <a:xfrm>
            <a:off x="914400" y="32954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12" name="h2p-4-text-11"/>
          <p:cNvSpPr txBox="1"/>
          <p:nvPr/>
        </p:nvSpPr>
        <p:spPr>
          <a:xfrm>
            <a:off x="914400" y="35048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告警、/api/order/create 5xx、Trace、变更 db.pool.maxSize 50→8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914400" y="3924604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14" name="h2p-4-text-13"/>
          <p:cNvSpPr txBox="1"/>
          <p:nvPr/>
        </p:nvSpPr>
        <p:spPr>
          <a:xfrm>
            <a:off x="914400" y="4134002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根因（变更导致池容量不足）、回滚计划、恢复验证</a:t>
            </a:r>
          </a:p>
        </p:txBody>
      </p:sp>
      <p:sp>
        <p:nvSpPr>
          <p:cNvPr id="15" name="h2p-4-text-14"/>
          <p:cNvSpPr txBox="1"/>
          <p:nvPr/>
        </p:nvSpPr>
        <p:spPr>
          <a:xfrm>
            <a:off x="914400" y="45527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914400" y="47621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定位可追溯 · 回滚可验证 · 无未批准写入</a:t>
            </a:r>
          </a:p>
        </p:txBody>
      </p:sp>
      <p:sp>
        <p:nvSpPr>
          <p:cNvPr id="17" name="h2p-4-box-16"/>
          <p:cNvSpPr/>
          <p:nvPr/>
        </p:nvSpPr>
        <p:spPr>
          <a:xfrm>
            <a:off x="6210604" y="2152497"/>
            <a:ext cx="5296204" cy="3238804"/>
          </a:xfrm>
          <a:prstGeom prst="roundRect">
            <a:avLst>
              <a:gd name="adj" fmla="val 529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4-text-17"/>
          <p:cNvSpPr txBox="1"/>
          <p:nvPr/>
        </p:nvSpPr>
        <p:spPr>
          <a:xfrm>
            <a:off x="6439204" y="2361895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TaskSample · 02</a:t>
            </a:r>
          </a:p>
        </p:txBody>
      </p:sp>
      <p:sp>
        <p:nvSpPr>
          <p:cNvPr id="19" name="h2p-4-text-18"/>
          <p:cNvSpPr txBox="1"/>
          <p:nvPr/>
        </p:nvSpPr>
        <p:spPr>
          <a:xfrm>
            <a:off x="6439204" y="2648102"/>
            <a:ext cx="4955133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D6A43B"/>
                </a:solidFill>
                <a:latin typeface="Noto Sans CJK SC"/>
              </a:rPr>
              <a:t>slow_sql_degradation</a:t>
            </a:r>
          </a:p>
        </p:txBody>
      </p:sp>
      <p:sp>
        <p:nvSpPr>
          <p:cNvPr id="20" name="h2p-4-text-19"/>
          <p:cNvSpPr txBox="1"/>
          <p:nvPr/>
        </p:nvSpPr>
        <p:spPr>
          <a:xfrm>
            <a:off x="6439204" y="2971800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1" name="h2p-4-text-20"/>
          <p:cNvSpPr txBox="1"/>
          <p:nvPr/>
        </p:nvSpPr>
        <p:spPr>
          <a:xfrm>
            <a:off x="6439204" y="32954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22" name="h2p-4-text-21"/>
          <p:cNvSpPr txBox="1"/>
          <p:nvPr/>
        </p:nvSpPr>
        <p:spPr>
          <a:xfrm>
            <a:off x="6439204" y="35048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延迟指标、慢日志、采样 Trace、近 24h 变更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6439204" y="3924604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24" name="h2p-4-text-23"/>
          <p:cNvSpPr txBox="1"/>
          <p:nvPr/>
        </p:nvSpPr>
        <p:spPr>
          <a:xfrm>
            <a:off x="6439204" y="4134002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慢 SQL 候选、索引/限流建议、影响面评估</a:t>
            </a:r>
          </a:p>
        </p:txBody>
      </p:sp>
      <p:sp>
        <p:nvSpPr>
          <p:cNvPr id="25" name="h2p-4-text-24"/>
          <p:cNvSpPr txBox="1"/>
          <p:nvPr/>
        </p:nvSpPr>
        <p:spPr>
          <a:xfrm>
            <a:off x="6439204" y="45527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26" name="h2p-4-text-25"/>
          <p:cNvSpPr txBox="1"/>
          <p:nvPr/>
        </p:nvSpPr>
        <p:spPr>
          <a:xfrm>
            <a:off x="6439204" y="47621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建议可复核 · 范围受限 · 采集缺口被标出</a:t>
            </a:r>
          </a:p>
        </p:txBody>
      </p:sp>
      <p:sp>
        <p:nvSpPr>
          <p:cNvPr id="27" name="h2p-4-box-26"/>
          <p:cNvSpPr/>
          <p:nvPr/>
        </p:nvSpPr>
        <p:spPr>
          <a:xfrm>
            <a:off x="685800" y="5581497"/>
            <a:ext cx="10820095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4-text-27"/>
          <p:cNvSpPr txBox="1"/>
          <p:nvPr/>
        </p:nvSpPr>
        <p:spPr>
          <a:xfrm>
            <a:off x="914400" y="5715000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TaskSample = 当前任务契约下可独立冻结、重放、执行和评价的最小单位；告警只是 SourceObservation，还不等于样本。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TaskSample</a:t>
            </a:r>
          </a:p>
        </p:txBody>
      </p:sp>
      <p:sp>
        <p:nvSpPr>
          <p:cNvPr id="30" name="h2p-4-text-29"/>
          <p:cNvSpPr txBox="1"/>
          <p:nvPr/>
        </p:nvSpPr>
        <p:spPr>
          <a:xfrm>
            <a:off x="10173614" y="6543446"/>
            <a:ext cx="138897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统一搜索空间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Agentless、单 Agent、多 Agent 与 Human 混合是同一搜索空间。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6194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把“用几个 Agent”当成搜索变量：四类候选共享同一任务，多一个 Agent 都要证明边际价值，不预设多 Agent 更好。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875995" y="2361895"/>
            <a:ext cx="94731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C0 · AGENTLESS</a:t>
            </a:r>
          </a:p>
        </p:txBody>
      </p:sp>
      <p:sp>
        <p:nvSpPr>
          <p:cNvPr id="9" name="h2p-5-text-8"/>
          <p:cNvSpPr txBox="1"/>
          <p:nvPr/>
        </p:nvSpPr>
        <p:spPr>
          <a:xfrm>
            <a:off x="875995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固定流程基线</a:t>
            </a:r>
          </a:p>
        </p:txBody>
      </p:sp>
      <p:sp>
        <p:nvSpPr>
          <p:cNvPr id="10" name="h2p-5-text-9"/>
          <p:cNvSpPr txBox="1"/>
          <p:nvPr/>
        </p:nvSpPr>
        <p:spPr>
          <a:xfrm>
            <a:off x="875995" y="3010204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线索去重 → 规则筛选 → 配置/仓库检索 → 冻结验证。</a:t>
            </a:r>
          </a:p>
        </p:txBody>
      </p:sp>
      <p:sp>
        <p:nvSpPr>
          <p:cNvPr id="11" name="h2p-5-text-10"/>
          <p:cNvSpPr txBox="1"/>
          <p:nvPr/>
        </p:nvSpPr>
        <p:spPr>
          <a:xfrm>
            <a:off x="875995" y="3752697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强基线 · 低复杂度</a:t>
            </a:r>
          </a:p>
        </p:txBody>
      </p:sp>
      <p:sp>
        <p:nvSpPr>
          <p:cNvPr id="12" name="h2p-5-text-11"/>
          <p:cNvSpPr txBox="1"/>
          <p:nvPr/>
        </p:nvSpPr>
        <p:spPr>
          <a:xfrm>
            <a:off x="875995" y="4171492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输入稳定、变更模式已知时够用；跨文件不确定定位能力有限。</a:t>
            </a:r>
          </a:p>
        </p:txBody>
      </p:sp>
      <p:sp>
        <p:nvSpPr>
          <p:cNvPr id="13" name="h2p-5-box-12"/>
          <p:cNvSpPr/>
          <p:nvPr/>
        </p:nvSpPr>
        <p:spPr>
          <a:xfrm>
            <a:off x="3390595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5-text-13"/>
          <p:cNvSpPr txBox="1"/>
          <p:nvPr/>
        </p:nvSpPr>
        <p:spPr>
          <a:xfrm>
            <a:off x="3581704" y="2361895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C1 · 单 AGENT</a:t>
            </a:r>
          </a:p>
        </p:txBody>
      </p:sp>
      <p:sp>
        <p:nvSpPr>
          <p:cNvPr id="15" name="h2p-5-text-14"/>
          <p:cNvSpPr txBox="1"/>
          <p:nvPr/>
        </p:nvSpPr>
        <p:spPr>
          <a:xfrm>
            <a:off x="3581704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一个责任主体</a:t>
            </a:r>
          </a:p>
        </p:txBody>
      </p:sp>
      <p:sp>
        <p:nvSpPr>
          <p:cNvPr id="16" name="h2p-5-text-15"/>
          <p:cNvSpPr txBox="1"/>
          <p:nvPr/>
        </p:nvSpPr>
        <p:spPr>
          <a:xfrm>
            <a:off x="3581704" y="3010204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 + 影响分析 + 修复 + 测试重试，统一上下文与决策。</a:t>
            </a:r>
          </a:p>
        </p:txBody>
      </p:sp>
      <p:sp>
        <p:nvSpPr>
          <p:cNvPr id="17" name="h2p-5-text-16"/>
          <p:cNvSpPr txBox="1"/>
          <p:nvPr/>
        </p:nvSpPr>
        <p:spPr>
          <a:xfrm>
            <a:off x="3581704" y="3810304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少通信 · 长上下文</a:t>
            </a:r>
          </a:p>
        </p:txBody>
      </p:sp>
      <p:sp>
        <p:nvSpPr>
          <p:cNvPr id="18" name="h2p-5-text-17"/>
          <p:cNvSpPr txBox="1"/>
          <p:nvPr/>
        </p:nvSpPr>
        <p:spPr>
          <a:xfrm>
            <a:off x="3581704" y="4229100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需检查权限集中、长上下文与自验偏差。</a:t>
            </a:r>
          </a:p>
        </p:txBody>
      </p:sp>
      <p:sp>
        <p:nvSpPr>
          <p:cNvPr id="19" name="h2p-5-box-18"/>
          <p:cNvSpPr/>
          <p:nvPr/>
        </p:nvSpPr>
        <p:spPr>
          <a:xfrm>
            <a:off x="6096304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5-text-19"/>
          <p:cNvSpPr txBox="1"/>
          <p:nvPr/>
        </p:nvSpPr>
        <p:spPr>
          <a:xfrm>
            <a:off x="6286500" y="2361895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C2 · 多 AGENT</a:t>
            </a:r>
          </a:p>
        </p:txBody>
      </p:sp>
      <p:sp>
        <p:nvSpPr>
          <p:cNvPr id="21" name="h2p-5-text-20"/>
          <p:cNvSpPr txBox="1"/>
          <p:nvPr/>
        </p:nvSpPr>
        <p:spPr>
          <a:xfrm>
            <a:off x="6286500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分责并独立验证</a:t>
            </a:r>
          </a:p>
        </p:txBody>
      </p:sp>
      <p:sp>
        <p:nvSpPr>
          <p:cNvPr id="22" name="h2p-5-text-21"/>
          <p:cNvSpPr txBox="1"/>
          <p:nvPr/>
        </p:nvSpPr>
        <p:spPr>
          <a:xfrm>
            <a:off x="6286500" y="3010204"/>
            <a:ext cx="2292400" cy="5797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 / 修复 / 验证由不同主体承担；这里才可能生成 OpsPilot 式执行 Agent。</a:t>
            </a:r>
          </a:p>
        </p:txBody>
      </p:sp>
      <p:sp>
        <p:nvSpPr>
          <p:cNvPr id="23" name="h2p-5-text-22"/>
          <p:cNvSpPr txBox="1"/>
          <p:nvPr/>
        </p:nvSpPr>
        <p:spPr>
          <a:xfrm>
            <a:off x="6286500" y="3886200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必须证明边际价值</a:t>
            </a:r>
          </a:p>
        </p:txBody>
      </p:sp>
      <p:sp>
        <p:nvSpPr>
          <p:cNvPr id="24" name="h2p-5-text-23"/>
          <p:cNvSpPr txBox="1"/>
          <p:nvPr/>
        </p:nvSpPr>
        <p:spPr>
          <a:xfrm>
            <a:off x="6286500" y="4304995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新增通信、状态同步与错误归因成本。</a:t>
            </a:r>
          </a:p>
        </p:txBody>
      </p:sp>
      <p:sp>
        <p:nvSpPr>
          <p:cNvPr id="25" name="h2p-5-box-24"/>
          <p:cNvSpPr/>
          <p:nvPr/>
        </p:nvSpPr>
        <p:spPr>
          <a:xfrm>
            <a:off x="8801100" y="2229307"/>
            <a:ext cx="2704795" cy="3314700"/>
          </a:xfrm>
          <a:prstGeom prst="roundRect">
            <a:avLst>
              <a:gd name="adj" fmla="val 63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5-text-25"/>
          <p:cNvSpPr txBox="1"/>
          <p:nvPr/>
        </p:nvSpPr>
        <p:spPr>
          <a:xfrm>
            <a:off x="8991295" y="2361895"/>
            <a:ext cx="101041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C3 · HUMAN 混合</a:t>
            </a:r>
          </a:p>
        </p:txBody>
      </p:sp>
      <p:sp>
        <p:nvSpPr>
          <p:cNvPr id="27" name="h2p-5-text-26"/>
          <p:cNvSpPr txBox="1"/>
          <p:nvPr/>
        </p:nvSpPr>
        <p:spPr>
          <a:xfrm>
            <a:off x="8991295" y="2628900"/>
            <a:ext cx="237012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高风险交给人工</a:t>
            </a:r>
          </a:p>
        </p:txBody>
      </p:sp>
      <p:sp>
        <p:nvSpPr>
          <p:cNvPr id="28" name="h2p-5-text-27"/>
          <p:cNvSpPr txBox="1"/>
          <p:nvPr/>
        </p:nvSpPr>
        <p:spPr>
          <a:xfrm>
            <a:off x="8991295" y="3010204"/>
            <a:ext cx="2428646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外部写入、真实发布、责任转移由 Human 批准并留痕。</a:t>
            </a:r>
          </a:p>
        </p:txBody>
      </p:sp>
      <p:sp>
        <p:nvSpPr>
          <p:cNvPr id="29" name="h2p-5-text-28"/>
          <p:cNvSpPr txBox="1"/>
          <p:nvPr/>
        </p:nvSpPr>
        <p:spPr>
          <a:xfrm>
            <a:off x="8991295" y="3810304"/>
            <a:ext cx="242864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Human 是正式能力</a:t>
            </a:r>
          </a:p>
        </p:txBody>
      </p:sp>
      <p:sp>
        <p:nvSpPr>
          <p:cNvPr id="30" name="h2p-5-text-29"/>
          <p:cNvSpPr txBox="1"/>
          <p:nvPr/>
        </p:nvSpPr>
        <p:spPr>
          <a:xfrm>
            <a:off x="8991295" y="4229100"/>
            <a:ext cx="2428646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不是兜底文案，有触发、审批、回滚与 Trace。</a:t>
            </a:r>
          </a:p>
        </p:txBody>
      </p:sp>
      <p:sp>
        <p:nvSpPr>
          <p:cNvPr id="31" name="h2p-5-box-30"/>
          <p:cNvSpPr/>
          <p:nvPr/>
        </p:nvSpPr>
        <p:spPr>
          <a:xfrm>
            <a:off x="685800" y="5715000"/>
            <a:ext cx="10820095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5-text-31"/>
          <p:cNvSpPr txBox="1"/>
          <p:nvPr/>
        </p:nvSpPr>
        <p:spPr>
          <a:xfrm>
            <a:off x="914400" y="5829300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Agent 数量是同一搜索空间里的变量，不是项目目标；OpsPilot 的 4 Worker + 1 Leader 只是 C2 的一种实例。</a:t>
            </a:r>
          </a:p>
        </p:txBody>
      </p:sp>
      <p:sp>
        <p:nvSpPr>
          <p:cNvPr id="33" name="h2p-5-text-32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候选空间</a:t>
            </a:r>
          </a:p>
        </p:txBody>
      </p:sp>
      <p:sp>
        <p:nvSpPr>
          <p:cNvPr id="34" name="h2p-5-text-33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四类候选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06 / 12 · 选择规则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同一冻结样本、预算与门禁下，最简合格候选胜出。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6194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公平比较的规则写在候选生成之前；不预设多 Agent 胜出，不预设保留人工。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box-6"/>
          <p:cNvSpPr/>
          <p:nvPr/>
        </p:nvSpPr>
        <p:spPr>
          <a:xfrm>
            <a:off x="685800" y="2229307"/>
            <a:ext cx="5296204" cy="3504895"/>
          </a:xfrm>
          <a:prstGeom prst="roundRect">
            <a:avLst>
              <a:gd name="adj" fmla="val 489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6-text-7"/>
          <p:cNvSpPr txBox="1"/>
          <p:nvPr/>
        </p:nvSpPr>
        <p:spPr>
          <a:xfrm>
            <a:off x="914400" y="2400300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公平比较 · 冻结在候选生成之前</a:t>
            </a:r>
          </a:p>
        </p:txBody>
      </p:sp>
      <p:sp>
        <p:nvSpPr>
          <p:cNvPr id="9" name="h2p-6-text-8"/>
          <p:cNvSpPr txBox="1"/>
          <p:nvPr/>
        </p:nvSpPr>
        <p:spPr>
          <a:xfrm>
            <a:off x="914400" y="2704795"/>
            <a:ext cx="4955133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同一冻结样本集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914400" y="3010204"/>
            <a:ext cx="4955133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同一版本化 TaskSample，候选生成后不得再调整样本。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914400" y="3429000"/>
            <a:ext cx="4955133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同一模型与工具边界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914400" y="3733495"/>
            <a:ext cx="4955133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Skill 必选、HTTP/MCP 工具可选，所有候选使用同一契约。</a:t>
            </a:r>
          </a:p>
        </p:txBody>
      </p:sp>
      <p:sp>
        <p:nvSpPr>
          <p:cNvPr id="13" name="h2p-6-text-12"/>
          <p:cNvSpPr txBox="1"/>
          <p:nvPr/>
        </p:nvSpPr>
        <p:spPr>
          <a:xfrm>
            <a:off x="914400" y="4153204"/>
            <a:ext cx="4955133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同一预算 · 指标 · 安全门禁</a:t>
            </a:r>
          </a:p>
        </p:txBody>
      </p:sp>
      <p:sp>
        <p:nvSpPr>
          <p:cNvPr id="14" name="h2p-6-text-13"/>
          <p:cNvSpPr txBox="1"/>
          <p:nvPr/>
        </p:nvSpPr>
        <p:spPr>
          <a:xfrm>
            <a:off x="914400" y="4457700"/>
            <a:ext cx="4955133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调用次数、时延、成本上限一致；Human 门禁触发条件一致。</a:t>
            </a:r>
          </a:p>
        </p:txBody>
      </p:sp>
      <p:sp>
        <p:nvSpPr>
          <p:cNvPr id="15" name="h2p-6-text-14"/>
          <p:cNvSpPr txBox="1"/>
          <p:nvPr/>
        </p:nvSpPr>
        <p:spPr>
          <a:xfrm>
            <a:off x="914400" y="5143500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sealed holdout 仅 GovernanceAuditor 在候选冻结后读取。</a:t>
            </a:r>
          </a:p>
        </p:txBody>
      </p:sp>
      <p:sp>
        <p:nvSpPr>
          <p:cNvPr id="16" name="h2p-6-box-15"/>
          <p:cNvSpPr/>
          <p:nvPr/>
        </p:nvSpPr>
        <p:spPr>
          <a:xfrm>
            <a:off x="6210604" y="2229307"/>
            <a:ext cx="5296204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6-text-16"/>
          <p:cNvSpPr txBox="1"/>
          <p:nvPr/>
        </p:nvSpPr>
        <p:spPr>
          <a:xfrm>
            <a:off x="6439204" y="2400300"/>
            <a:ext cx="169986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最简合格者（JUST ENOUGH）</a:t>
            </a:r>
          </a:p>
        </p:txBody>
      </p:sp>
      <p:sp>
        <p:nvSpPr>
          <p:cNvPr id="18" name="h2p-6-text-17"/>
          <p:cNvSpPr txBox="1"/>
          <p:nvPr/>
        </p:nvSpPr>
        <p:spPr>
          <a:xfrm>
            <a:off x="6439204" y="2704795"/>
            <a:ext cx="4955133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从最简候选开始</a:t>
            </a:r>
          </a:p>
        </p:txBody>
      </p:sp>
      <p:sp>
        <p:nvSpPr>
          <p:cNvPr id="19" name="h2p-6-text-18"/>
          <p:cNvSpPr txBox="1"/>
          <p:nvPr/>
        </p:nvSpPr>
        <p:spPr>
          <a:xfrm>
            <a:off x="6439204" y="3010204"/>
            <a:ext cx="4955133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先让 Agentless / 单 Agent 覆盖核心契约。</a:t>
            </a:r>
          </a:p>
        </p:txBody>
      </p:sp>
      <p:sp>
        <p:nvSpPr>
          <p:cNvPr id="20" name="h2p-6-text-19"/>
          <p:cNvSpPr txBox="1"/>
          <p:nvPr/>
        </p:nvSpPr>
        <p:spPr>
          <a:xfrm>
            <a:off x="6439204" y="3429000"/>
            <a:ext cx="4955133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局部不足才加反馈循环</a:t>
            </a:r>
          </a:p>
        </p:txBody>
      </p:sp>
      <p:sp>
        <p:nvSpPr>
          <p:cNvPr id="21" name="h2p-6-text-20"/>
          <p:cNvSpPr txBox="1"/>
          <p:nvPr/>
        </p:nvSpPr>
        <p:spPr>
          <a:xfrm>
            <a:off x="6439204" y="3733495"/>
            <a:ext cx="4955133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只有出现独立决策或边界需求才 Agentize。</a:t>
            </a:r>
          </a:p>
        </p:txBody>
      </p:sp>
      <p:sp>
        <p:nvSpPr>
          <p:cNvPr id="22" name="h2p-6-text-21"/>
          <p:cNvSpPr txBox="1"/>
          <p:nvPr/>
        </p:nvSpPr>
        <p:spPr>
          <a:xfrm>
            <a:off x="6439204" y="4153204"/>
            <a:ext cx="4955133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过门槛者中取最小复杂度</a:t>
            </a:r>
          </a:p>
        </p:txBody>
      </p:sp>
      <p:sp>
        <p:nvSpPr>
          <p:cNvPr id="23" name="h2p-6-text-22"/>
          <p:cNvSpPr txBox="1"/>
          <p:nvPr/>
        </p:nvSpPr>
        <p:spPr>
          <a:xfrm>
            <a:off x="6439204" y="4457700"/>
            <a:ext cx="4955133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满足验收、成本、安全与责任边界的最小充分候选胜出。</a:t>
            </a:r>
          </a:p>
        </p:txBody>
      </p:sp>
      <p:sp>
        <p:nvSpPr>
          <p:cNvPr id="24" name="h2p-6-text-23"/>
          <p:cNvSpPr txBox="1"/>
          <p:nvPr/>
        </p:nvSpPr>
        <p:spPr>
          <a:xfrm>
            <a:off x="6439204" y="5143500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诚实拒绝 / 保留人工也是合法结论。</a:t>
            </a:r>
          </a:p>
        </p:txBody>
      </p:sp>
      <p:sp>
        <p:nvSpPr>
          <p:cNvPr id="25" name="h2p-6-text-24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规则写在候选生成之前；当前候选对照仍待真实运行，本轮结论 requires_runtime_trial。</a:t>
            </a:r>
          </a:p>
        </p:txBody>
      </p:sp>
      <p:sp>
        <p:nvSpPr>
          <p:cNvPr id="26" name="h2p-6-text-25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选择规则</a:t>
            </a:r>
          </a:p>
        </p:txBody>
      </p:sp>
      <p:sp>
        <p:nvSpPr>
          <p:cNvPr id="27" name="h2p-6-text-26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 · 两层 Agent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五个元 Agent 完成方案闭环，区别于候选业务执行 Agent。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元 Agent 设计并评测方案；候选 C2 里才可能出现 OpsPilot 式的业务执行 Agent——两者不要混为一谈。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685800" y="2190902"/>
            <a:ext cx="10820095" cy="437997"/>
          </a:xfrm>
          <a:prstGeom prst="roundRect">
            <a:avLst>
              <a:gd name="adj" fmla="val 3913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text-7"/>
          <p:cNvSpPr txBox="1"/>
          <p:nvPr/>
        </p:nvSpPr>
        <p:spPr>
          <a:xfrm>
            <a:off x="914400" y="2286000"/>
            <a:ext cx="165140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两层 Agent · 不要混淆</a:t>
            </a:r>
          </a:p>
        </p:txBody>
      </p:sp>
      <p:sp>
        <p:nvSpPr>
          <p:cNvPr id="9" name="h2p-7-text-8"/>
          <p:cNvSpPr txBox="1"/>
          <p:nvPr/>
        </p:nvSpPr>
        <p:spPr>
          <a:xfrm>
            <a:off x="2648102" y="2286000"/>
            <a:ext cx="456651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上层 · 元 Agent：设计 / 评测 / 审计 AgentFit 方案</a:t>
            </a:r>
          </a:p>
        </p:txBody>
      </p:sp>
      <p:sp>
        <p:nvSpPr>
          <p:cNvPr id="10" name="h2p-7-text-9"/>
          <p:cNvSpPr txBox="1"/>
          <p:nvPr/>
        </p:nvSpPr>
        <p:spPr>
          <a:xfrm>
            <a:off x="7220102" y="2286000"/>
            <a:ext cx="433334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下层 · 业务执行 Agent：候选方案内部的执行体</a:t>
            </a:r>
          </a:p>
        </p:txBody>
      </p:sp>
      <p:sp>
        <p:nvSpPr>
          <p:cNvPr id="11" name="h2p-7-box-10"/>
          <p:cNvSpPr/>
          <p:nvPr/>
        </p:nvSpPr>
        <p:spPr>
          <a:xfrm>
            <a:off x="685800" y="2762402"/>
            <a:ext cx="10820095" cy="1600200"/>
          </a:xfrm>
          <a:prstGeom prst="roundRect">
            <a:avLst>
              <a:gd name="adj" fmla="val 1071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7-text-11"/>
          <p:cNvSpPr txBox="1"/>
          <p:nvPr/>
        </p:nvSpPr>
        <p:spPr>
          <a:xfrm>
            <a:off x="914400" y="2895904"/>
            <a:ext cx="34006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五个元 Agent · 各自拥有判断权、状态边界与责任产物</a:t>
            </a:r>
          </a:p>
        </p:txBody>
      </p:sp>
      <p:sp>
        <p:nvSpPr>
          <p:cNvPr id="13" name="h2p-7-box-12"/>
          <p:cNvSpPr/>
          <p:nvPr/>
        </p:nvSpPr>
        <p:spPr>
          <a:xfrm>
            <a:off x="914400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7-text-13"/>
          <p:cNvSpPr txBox="1"/>
          <p:nvPr/>
        </p:nvSpPr>
        <p:spPr>
          <a:xfrm>
            <a:off x="1028700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01 交付官</a:t>
            </a:r>
          </a:p>
        </p:txBody>
      </p:sp>
      <p:sp>
        <p:nvSpPr>
          <p:cNvPr id="15" name="h2p-7-text-14"/>
          <p:cNvSpPr txBox="1"/>
          <p:nvPr/>
        </p:nvSpPr>
        <p:spPr>
          <a:xfrm>
            <a:off x="1028700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6" name="h2p-7-text-15"/>
          <p:cNvSpPr txBox="1"/>
          <p:nvPr/>
        </p:nvSpPr>
        <p:spPr>
          <a:xfrm>
            <a:off x="1028700" y="3791102"/>
            <a:ext cx="1787652" cy="297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控制阶段、组织审批、作出交付决定</a:t>
            </a:r>
          </a:p>
        </p:txBody>
      </p:sp>
      <p:sp>
        <p:nvSpPr>
          <p:cNvPr id="17" name="h2p-7-box-16"/>
          <p:cNvSpPr/>
          <p:nvPr/>
        </p:nvSpPr>
        <p:spPr>
          <a:xfrm>
            <a:off x="3047695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7-text-17"/>
          <p:cNvSpPr txBox="1"/>
          <p:nvPr/>
        </p:nvSpPr>
        <p:spPr>
          <a:xfrm>
            <a:off x="3161995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02 业务架构师</a:t>
            </a:r>
          </a:p>
        </p:txBody>
      </p:sp>
      <p:sp>
        <p:nvSpPr>
          <p:cNvPr id="19" name="h2p-7-text-18"/>
          <p:cNvSpPr txBox="1"/>
          <p:nvPr/>
        </p:nvSpPr>
        <p:spPr>
          <a:xfrm>
            <a:off x="3161995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20" name="h2p-7-text-19"/>
          <p:cNvSpPr txBox="1"/>
          <p:nvPr/>
        </p:nvSpPr>
        <p:spPr>
          <a:xfrm>
            <a:off x="3161995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定义样本与任务、冻结指标预算</a:t>
            </a:r>
          </a:p>
        </p:txBody>
      </p:sp>
      <p:sp>
        <p:nvSpPr>
          <p:cNvPr id="21" name="h2p-7-box-20"/>
          <p:cNvSpPr/>
          <p:nvPr/>
        </p:nvSpPr>
        <p:spPr>
          <a:xfrm>
            <a:off x="5181904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7-text-21"/>
          <p:cNvSpPr txBox="1"/>
          <p:nvPr/>
        </p:nvSpPr>
        <p:spPr>
          <a:xfrm>
            <a:off x="5296204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03 方案架构师</a:t>
            </a:r>
          </a:p>
        </p:txBody>
      </p:sp>
      <p:sp>
        <p:nvSpPr>
          <p:cNvPr id="23" name="h2p-7-text-22"/>
          <p:cNvSpPr txBox="1"/>
          <p:nvPr/>
        </p:nvSpPr>
        <p:spPr>
          <a:xfrm>
            <a:off x="5296204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4" name="h2p-7-text-23"/>
          <p:cNvSpPr txBox="1"/>
          <p:nvPr/>
        </p:nvSpPr>
        <p:spPr>
          <a:xfrm>
            <a:off x="5296204" y="3791102"/>
            <a:ext cx="1787652" cy="297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盘点能力、生成并列候选、解释 Agentize</a:t>
            </a:r>
          </a:p>
        </p:txBody>
      </p:sp>
      <p:sp>
        <p:nvSpPr>
          <p:cNvPr id="25" name="h2p-7-box-24"/>
          <p:cNvSpPr/>
          <p:nvPr/>
        </p:nvSpPr>
        <p:spPr>
          <a:xfrm>
            <a:off x="7315200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7-text-25"/>
          <p:cNvSpPr txBox="1"/>
          <p:nvPr/>
        </p:nvSpPr>
        <p:spPr>
          <a:xfrm>
            <a:off x="7429500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04 验证工程师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429500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8" name="h2p-7-text-27"/>
          <p:cNvSpPr txBox="1"/>
          <p:nvPr/>
        </p:nvSpPr>
        <p:spPr>
          <a:xfrm>
            <a:off x="7429500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隔离运行候选、收集失败证据</a:t>
            </a:r>
          </a:p>
        </p:txBody>
      </p:sp>
      <p:sp>
        <p:nvSpPr>
          <p:cNvPr id="29" name="h2p-7-box-28"/>
          <p:cNvSpPr/>
          <p:nvPr/>
        </p:nvSpPr>
        <p:spPr>
          <a:xfrm>
            <a:off x="9448495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7-text-29"/>
          <p:cNvSpPr txBox="1"/>
          <p:nvPr/>
        </p:nvSpPr>
        <p:spPr>
          <a:xfrm>
            <a:off x="9562795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05 审计官</a:t>
            </a:r>
          </a:p>
        </p:txBody>
      </p:sp>
      <p:sp>
        <p:nvSpPr>
          <p:cNvPr id="31" name="h2p-7-text-30"/>
          <p:cNvSpPr txBox="1"/>
          <p:nvPr/>
        </p:nvSpPr>
        <p:spPr>
          <a:xfrm>
            <a:off x="9562795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562795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独立检查证据、选择 / 否决 / 降级</a:t>
            </a:r>
          </a:p>
        </p:txBody>
      </p:sp>
      <p:sp>
        <p:nvSpPr>
          <p:cNvPr id="33" name="h2p-7-box-32"/>
          <p:cNvSpPr/>
          <p:nvPr/>
        </p:nvSpPr>
        <p:spPr>
          <a:xfrm>
            <a:off x="685800" y="4515307"/>
            <a:ext cx="10820095" cy="1028700"/>
          </a:xfrm>
          <a:prstGeom prst="roundRect">
            <a:avLst>
              <a:gd name="adj" fmla="val 166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7-text-33"/>
          <p:cNvSpPr txBox="1"/>
          <p:nvPr/>
        </p:nvSpPr>
        <p:spPr>
          <a:xfrm>
            <a:off x="914400" y="4628692"/>
            <a:ext cx="285658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下层 · 候选业务执行 Agent（被设计的对象）</a:t>
            </a:r>
          </a:p>
        </p:txBody>
      </p:sp>
      <p:sp>
        <p:nvSpPr>
          <p:cNvPr id="35" name="h2p-7-text-34"/>
          <p:cNvSpPr txBox="1"/>
          <p:nvPr/>
        </p:nvSpPr>
        <p:spPr>
          <a:xfrm>
            <a:off x="914400" y="4914900"/>
            <a:ext cx="10589666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C0 无；C1 一个；C2 多个，OpsPilot 的 Alert Intake / Commander / RCA Analyst / Data Advisor / Planner / Executor / Verifier 属于这一层；C3 由 Human 承担高风险动作。</a:t>
            </a:r>
          </a:p>
        </p:txBody>
      </p:sp>
      <p:sp>
        <p:nvSpPr>
          <p:cNvPr id="36" name="h2p-7-text-35"/>
          <p:cNvSpPr txBox="1"/>
          <p:nvPr/>
        </p:nvSpPr>
        <p:spPr>
          <a:xfrm>
            <a:off x="914400" y="5314492"/>
            <a:ext cx="1058966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五个元 Agent 不是 OpsPilot 的执行 Agent；它们负责选出“该不该有执行 Agent、有几个”。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577900" y="5715000"/>
            <a:ext cx="11036808" cy="229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一个元 Agent 不可用时阶段保持未完成，其他 Agent 不得冒充它的责任产物。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9" name="h2p-7-text-38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08 / 12 · 落地映射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AgentTeams 提供 Worker、Team、Room、Human、Dossier 与 Trace。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190902"/>
            <a:ext cx="10820095" cy="3638397"/>
          </a:xfrm>
          <a:prstGeom prst="roundRect">
            <a:avLst>
              <a:gd name="adj" fmla="val 47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14400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AgentFit 对象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5219395" y="2324404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AgentTeams 落点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8648395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第一阶段实现</a:t>
            </a:r>
          </a:p>
        </p:txBody>
      </p:sp>
      <p:sp>
        <p:nvSpPr>
          <p:cNvPr id="11" name="h2p-8-box-10"/>
          <p:cNvSpPr/>
          <p:nvPr/>
        </p:nvSpPr>
        <p:spPr>
          <a:xfrm>
            <a:off x="914400" y="2590495"/>
            <a:ext cx="10362895" cy="19202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8-text-11"/>
          <p:cNvSpPr txBox="1"/>
          <p:nvPr/>
        </p:nvSpPr>
        <p:spPr>
          <a:xfrm>
            <a:off x="914400" y="27239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3" name="h2p-8-text-12"/>
          <p:cNvSpPr txBox="1"/>
          <p:nvPr/>
        </p:nvSpPr>
        <p:spPr>
          <a:xfrm>
            <a:off x="5219395" y="27239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4" name="h2p-8-text-13"/>
          <p:cNvSpPr txBox="1"/>
          <p:nvPr/>
        </p:nvSpPr>
        <p:spPr>
          <a:xfrm>
            <a:off x="8648395" y="27239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5" name="h2p-8-box-14"/>
          <p:cNvSpPr/>
          <p:nvPr/>
        </p:nvSpPr>
        <p:spPr>
          <a:xfrm>
            <a:off x="914400" y="302849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914400" y="3161995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7" name="h2p-8-text-16"/>
          <p:cNvSpPr txBox="1"/>
          <p:nvPr/>
        </p:nvSpPr>
        <p:spPr>
          <a:xfrm>
            <a:off x="5219395" y="3161995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8" name="h2p-8-text-17"/>
          <p:cNvSpPr txBox="1"/>
          <p:nvPr/>
        </p:nvSpPr>
        <p:spPr>
          <a:xfrm>
            <a:off x="8648395" y="3161995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9" name="h2p-8-box-18"/>
          <p:cNvSpPr/>
          <p:nvPr/>
        </p:nvSpPr>
        <p:spPr>
          <a:xfrm>
            <a:off x="914400" y="3467404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8-text-19"/>
          <p:cNvSpPr txBox="1"/>
          <p:nvPr/>
        </p:nvSpPr>
        <p:spPr>
          <a:xfrm>
            <a:off x="914400" y="360090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1" name="h2p-8-text-20"/>
          <p:cNvSpPr txBox="1"/>
          <p:nvPr/>
        </p:nvSpPr>
        <p:spPr>
          <a:xfrm>
            <a:off x="5219395" y="360090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2" name="h2p-8-text-21"/>
          <p:cNvSpPr txBox="1"/>
          <p:nvPr/>
        </p:nvSpPr>
        <p:spPr>
          <a:xfrm>
            <a:off x="8648395" y="360090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3" name="h2p-8-box-22"/>
          <p:cNvSpPr/>
          <p:nvPr/>
        </p:nvSpPr>
        <p:spPr>
          <a:xfrm>
            <a:off x="914400" y="390540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8-text-23"/>
          <p:cNvSpPr txBox="1"/>
          <p:nvPr/>
        </p:nvSpPr>
        <p:spPr>
          <a:xfrm>
            <a:off x="914400" y="4038904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5219395" y="4038904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6" name="h2p-8-text-25"/>
          <p:cNvSpPr txBox="1"/>
          <p:nvPr/>
        </p:nvSpPr>
        <p:spPr>
          <a:xfrm>
            <a:off x="8648395" y="4038904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7" name="h2p-8-box-26"/>
          <p:cNvSpPr/>
          <p:nvPr/>
        </p:nvSpPr>
        <p:spPr>
          <a:xfrm>
            <a:off x="914400" y="4343400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8-text-27"/>
          <p:cNvSpPr txBox="1"/>
          <p:nvPr/>
        </p:nvSpPr>
        <p:spPr>
          <a:xfrm>
            <a:off x="914400" y="4476902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9" name="h2p-8-text-28"/>
          <p:cNvSpPr txBox="1"/>
          <p:nvPr/>
        </p:nvSpPr>
        <p:spPr>
          <a:xfrm>
            <a:off x="5219395" y="4476902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30" name="h2p-8-text-29"/>
          <p:cNvSpPr txBox="1"/>
          <p:nvPr/>
        </p:nvSpPr>
        <p:spPr>
          <a:xfrm>
            <a:off x="8648395" y="4476902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1" name="h2p-8-box-30"/>
          <p:cNvSpPr/>
          <p:nvPr/>
        </p:nvSpPr>
        <p:spPr>
          <a:xfrm>
            <a:off x="914400" y="4781397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8-text-31"/>
          <p:cNvSpPr txBox="1"/>
          <p:nvPr/>
        </p:nvSpPr>
        <p:spPr>
          <a:xfrm>
            <a:off x="914400" y="4914900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3" name="h2p-8-text-32"/>
          <p:cNvSpPr txBox="1"/>
          <p:nvPr/>
        </p:nvSpPr>
        <p:spPr>
          <a:xfrm>
            <a:off x="5219395" y="4914900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4" name="h2p-8-text-33"/>
          <p:cNvSpPr txBox="1"/>
          <p:nvPr/>
        </p:nvSpPr>
        <p:spPr>
          <a:xfrm>
            <a:off x="8648395" y="4914900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5" name="h2p-8-box-34"/>
          <p:cNvSpPr/>
          <p:nvPr/>
        </p:nvSpPr>
        <p:spPr>
          <a:xfrm>
            <a:off x="914400" y="5219395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8-text-35"/>
          <p:cNvSpPr txBox="1"/>
          <p:nvPr/>
        </p:nvSpPr>
        <p:spPr>
          <a:xfrm>
            <a:off x="914400" y="53528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事实源 / 执行留痕</a:t>
            </a:r>
          </a:p>
        </p:txBody>
      </p:sp>
      <p:sp>
        <p:nvSpPr>
          <p:cNvPr id="37" name="h2p-8-text-36"/>
          <p:cNvSpPr txBox="1"/>
          <p:nvPr/>
        </p:nvSpPr>
        <p:spPr>
          <a:xfrm>
            <a:off x="5219395" y="53528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Project Dossier + 共享 Artifact</a:t>
            </a:r>
          </a:p>
        </p:txBody>
      </p:sp>
      <p:sp>
        <p:nvSpPr>
          <p:cNvPr id="38" name="h2p-8-text-37"/>
          <p:cNvSpPr txBox="1"/>
          <p:nvPr/>
        </p:nvSpPr>
        <p:spPr>
          <a:xfrm>
            <a:off x="8648395" y="53528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9" name="h2p-8-text-38"/>
          <p:cNvSpPr txBox="1"/>
          <p:nvPr/>
        </p:nvSpPr>
        <p:spPr>
          <a:xfrm>
            <a:off x="577900" y="59820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Project Dossier 落在共享存储；Trace 落在共享 Artifact + 消息引用。设计契约，非运行证据。</a:t>
            </a:r>
          </a:p>
        </p:txBody>
      </p:sp>
      <p:sp>
        <p:nvSpPr>
          <p:cNvPr id="40" name="h2p-8-text-39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41" name="h2p-8-text-40"/>
          <p:cNvSpPr txBox="1"/>
          <p:nvPr/>
        </p:nvSpPr>
        <p:spPr>
          <a:xfrm>
            <a:off x="9746589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工程支撑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Skill、HTTP/MCP 契约、共享状态与风险门禁支撑闭环。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Skill 承载方法，HTTP 与 MCP 是等价的工具契约，Project Dossier 是事实源，风险门禁守边界。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90902"/>
            <a:ext cx="10820095" cy="1333195"/>
          </a:xfrm>
          <a:prstGeom prst="roundRect">
            <a:avLst>
              <a:gd name="adj" fmla="val 1286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914400" y="2361895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 · 可复用方法</a:t>
            </a:r>
          </a:p>
        </p:txBody>
      </p:sp>
      <p:sp>
        <p:nvSpPr>
          <p:cNvPr id="9" name="h2p-9-box-8"/>
          <p:cNvSpPr/>
          <p:nvPr/>
        </p:nvSpPr>
        <p:spPr>
          <a:xfrm>
            <a:off x="9144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9-text-9"/>
          <p:cNvSpPr txBox="1"/>
          <p:nvPr/>
        </p:nvSpPr>
        <p:spPr>
          <a:xfrm>
            <a:off x="10003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9-box-10"/>
          <p:cNvSpPr/>
          <p:nvPr/>
        </p:nvSpPr>
        <p:spPr>
          <a:xfrm>
            <a:off x="2342692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9-text-11"/>
          <p:cNvSpPr txBox="1"/>
          <p:nvPr/>
        </p:nvSpPr>
        <p:spPr>
          <a:xfrm>
            <a:off x="24286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9-box-12"/>
          <p:cNvSpPr/>
          <p:nvPr/>
        </p:nvSpPr>
        <p:spPr>
          <a:xfrm>
            <a:off x="37719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9-text-13"/>
          <p:cNvSpPr txBox="1"/>
          <p:nvPr/>
        </p:nvSpPr>
        <p:spPr>
          <a:xfrm>
            <a:off x="38578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9-box-14"/>
          <p:cNvSpPr/>
          <p:nvPr/>
        </p:nvSpPr>
        <p:spPr>
          <a:xfrm>
            <a:off x="5201107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9-text-15"/>
          <p:cNvSpPr txBox="1"/>
          <p:nvPr/>
        </p:nvSpPr>
        <p:spPr>
          <a:xfrm>
            <a:off x="52861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9-box-16"/>
          <p:cNvSpPr/>
          <p:nvPr/>
        </p:nvSpPr>
        <p:spPr>
          <a:xfrm>
            <a:off x="66294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9-text-17"/>
          <p:cNvSpPr txBox="1"/>
          <p:nvPr/>
        </p:nvSpPr>
        <p:spPr>
          <a:xfrm>
            <a:off x="67153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9-box-18"/>
          <p:cNvSpPr/>
          <p:nvPr/>
        </p:nvSpPr>
        <p:spPr>
          <a:xfrm>
            <a:off x="8057692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9-text-19"/>
          <p:cNvSpPr txBox="1"/>
          <p:nvPr/>
        </p:nvSpPr>
        <p:spPr>
          <a:xfrm>
            <a:off x="81436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9-box-20"/>
          <p:cNvSpPr/>
          <p:nvPr/>
        </p:nvSpPr>
        <p:spPr>
          <a:xfrm>
            <a:off x="9486900" y="2686507"/>
            <a:ext cx="17145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9-text-21"/>
          <p:cNvSpPr txBox="1"/>
          <p:nvPr/>
        </p:nvSpPr>
        <p:spPr>
          <a:xfrm>
            <a:off x="9572853" y="2734056"/>
            <a:ext cx="157368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9-text-22"/>
          <p:cNvSpPr txBox="1"/>
          <p:nvPr/>
        </p:nvSpPr>
        <p:spPr>
          <a:xfrm>
            <a:off x="914400" y="3124504"/>
            <a:ext cx="1055126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每项含输入、输出、触发、失败处理、安全边界与复用契约；真实 MCP 绑定当前未实现。</a:t>
            </a:r>
          </a:p>
        </p:txBody>
      </p:sp>
      <p:sp>
        <p:nvSpPr>
          <p:cNvPr id="24" name="h2p-9-box-23"/>
          <p:cNvSpPr/>
          <p:nvPr/>
        </p:nvSpPr>
        <p:spPr>
          <a:xfrm>
            <a:off x="6858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9-text-24"/>
          <p:cNvSpPr txBox="1"/>
          <p:nvPr/>
        </p:nvSpPr>
        <p:spPr>
          <a:xfrm>
            <a:off x="9144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工具契约 · HTTP / MCP 等价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914400" y="41532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同一 Schema 描述入参、出参、鉴权、幂等键、错误码与审计字段。</a:t>
            </a:r>
          </a:p>
        </p:txBody>
      </p:sp>
      <p:sp>
        <p:nvSpPr>
          <p:cNvPr id="27" name="h2p-9-text-26"/>
          <p:cNvSpPr txBox="1"/>
          <p:nvPr/>
        </p:nvSpPr>
        <p:spPr>
          <a:xfrm>
            <a:off x="914400" y="4800600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MCP、REST、内部适配器都走同一契约；契约即上下文。</a:t>
            </a:r>
          </a:p>
        </p:txBody>
      </p:sp>
      <p:sp>
        <p:nvSpPr>
          <p:cNvPr id="28" name="h2p-9-text-27"/>
          <p:cNvSpPr txBox="1"/>
          <p:nvPr/>
        </p:nvSpPr>
        <p:spPr>
          <a:xfrm>
            <a:off x="914400" y="5447995"/>
            <a:ext cx="3148279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示例：读配置 · 列变更 · 写回滚</a:t>
            </a:r>
          </a:p>
        </p:txBody>
      </p:sp>
      <p:sp>
        <p:nvSpPr>
          <p:cNvPr id="29" name="h2p-9-box-28"/>
          <p:cNvSpPr/>
          <p:nvPr/>
        </p:nvSpPr>
        <p:spPr>
          <a:xfrm>
            <a:off x="43434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9-text-29"/>
          <p:cNvSpPr txBox="1"/>
          <p:nvPr/>
        </p:nvSpPr>
        <p:spPr>
          <a:xfrm>
            <a:off x="45720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共享状态 · 上下文 4 选 2</a:t>
            </a:r>
          </a:p>
        </p:txBody>
      </p:sp>
      <p:sp>
        <p:nvSpPr>
          <p:cNvPr id="31" name="h2p-9-text-30"/>
          <p:cNvSpPr txBox="1"/>
          <p:nvPr/>
        </p:nvSpPr>
        <p:spPr>
          <a:xfrm>
            <a:off x="4572000" y="41532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选择 1 · 共享状态</a:t>
            </a:r>
          </a:p>
        </p:txBody>
      </p:sp>
      <p:sp>
        <p:nvSpPr>
          <p:cNvPr id="32" name="h2p-9-text-31"/>
          <p:cNvSpPr txBox="1"/>
          <p:nvPr/>
        </p:nvSpPr>
        <p:spPr>
          <a:xfrm>
            <a:off x="4572000" y="43818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Project Dossier 作事实源，含样本、候选、Trace、审批。</a:t>
            </a:r>
          </a:p>
        </p:txBody>
      </p:sp>
      <p:sp>
        <p:nvSpPr>
          <p:cNvPr id="33" name="h2p-9-text-32"/>
          <p:cNvSpPr txBox="1"/>
          <p:nvPr/>
        </p:nvSpPr>
        <p:spPr>
          <a:xfrm>
            <a:off x="4572000" y="48390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选择 2 · 轨迹可观测</a:t>
            </a:r>
          </a:p>
        </p:txBody>
      </p:sp>
      <p:sp>
        <p:nvSpPr>
          <p:cNvPr id="34" name="h2p-9-text-33"/>
          <p:cNvSpPr txBox="1"/>
          <p:nvPr/>
        </p:nvSpPr>
        <p:spPr>
          <a:xfrm>
            <a:off x="4572000" y="50676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 可回放，保留来源与版本。</a:t>
            </a:r>
          </a:p>
        </p:txBody>
      </p:sp>
      <p:sp>
        <p:nvSpPr>
          <p:cNvPr id="35" name="h2p-9-box-34"/>
          <p:cNvSpPr/>
          <p:nvPr/>
        </p:nvSpPr>
        <p:spPr>
          <a:xfrm>
            <a:off x="80010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9-text-35"/>
          <p:cNvSpPr txBox="1"/>
          <p:nvPr/>
        </p:nvSpPr>
        <p:spPr>
          <a:xfrm>
            <a:off x="82296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风险门禁</a:t>
            </a:r>
          </a:p>
        </p:txBody>
      </p:sp>
      <p:sp>
        <p:nvSpPr>
          <p:cNvPr id="37" name="h2p-9-text-36"/>
          <p:cNvSpPr txBox="1"/>
          <p:nvPr/>
        </p:nvSpPr>
        <p:spPr>
          <a:xfrm>
            <a:off x="8229600" y="41532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外部写入、真实发布、责任转移必须 Human 批准。</a:t>
            </a:r>
          </a:p>
        </p:txBody>
      </p:sp>
      <p:sp>
        <p:nvSpPr>
          <p:cNvPr id="38" name="h2p-9-text-37"/>
          <p:cNvSpPr txBox="1"/>
          <p:nvPr/>
        </p:nvSpPr>
        <p:spPr>
          <a:xfrm>
            <a:off x="8229600" y="47247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无批准 = 拒绝执行 + 保留证据；不可逆操作默认拒绝。</a:t>
            </a:r>
          </a:p>
        </p:txBody>
      </p:sp>
      <p:sp>
        <p:nvSpPr>
          <p:cNvPr id="39" name="h2p-9-text-38"/>
          <p:cNvSpPr txBox="1"/>
          <p:nvPr/>
        </p:nvSpPr>
        <p:spPr>
          <a:xfrm>
            <a:off x="8229600" y="52962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成功与失败使用同一 Trace 语义</a:t>
            </a:r>
          </a:p>
        </p:txBody>
      </p:sp>
      <p:sp>
        <p:nvSpPr>
          <p:cNvPr id="40" name="h2p-9-text-39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契约先行：Skill 必选、HTTP/MCP 工具可选、共享状态与 Trace 必在。</a:t>
            </a:r>
          </a:p>
        </p:txBody>
      </p:sp>
      <p:sp>
        <p:nvSpPr>
          <p:cNvPr id="41" name="h2p-9-text-40"/>
          <p:cNvSpPr txBox="1"/>
          <p:nvPr/>
        </p:nvSpPr>
        <p:spPr>
          <a:xfrm>
            <a:off x="685800" y="6543446"/>
            <a:ext cx="176296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工具 / 上下文</a:t>
            </a:r>
          </a:p>
        </p:txBody>
      </p:sp>
      <p:sp>
        <p:nvSpPr>
          <p:cNvPr id="42" name="h2p-9-text-4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4398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交付 AgentSolutionPackage 与五种合法结果。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交付的不是 Prompt，而是可验收方案包；诚实拒绝也是合法交付。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52497"/>
            <a:ext cx="6476695" cy="3600907"/>
          </a:xfrm>
          <a:prstGeom prst="roundRect">
            <a:avLst>
              <a:gd name="adj" fmla="val 47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14400" y="23244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text-8"/>
          <p:cNvSpPr txBox="1"/>
          <p:nvPr/>
        </p:nvSpPr>
        <p:spPr>
          <a:xfrm>
            <a:off x="914400" y="2628900"/>
            <a:ext cx="6179515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方案包包含什么</a:t>
            </a:r>
          </a:p>
        </p:txBody>
      </p:sp>
      <p:sp>
        <p:nvSpPr>
          <p:cNvPr id="10" name="h2p-10-text-9"/>
          <p:cNvSpPr txBox="1"/>
          <p:nvPr/>
        </p:nvSpPr>
        <p:spPr>
          <a:xfrm>
            <a:off x="914400" y="30102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架构图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914400" y="32388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能力、Agent、通信、共享范围、Human 门禁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914400" y="35817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决策说明</a:t>
            </a:r>
          </a:p>
        </p:txBody>
      </p:sp>
      <p:sp>
        <p:nvSpPr>
          <p:cNvPr id="13" name="h2p-10-text-12"/>
          <p:cNvSpPr txBox="1"/>
          <p:nvPr/>
        </p:nvSpPr>
        <p:spPr>
          <a:xfrm>
            <a:off x="914400" y="38103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为什么这样拆、为什么不用更复杂方案</a:t>
            </a:r>
          </a:p>
        </p:txBody>
      </p:sp>
      <p:sp>
        <p:nvSpPr>
          <p:cNvPr id="14" name="h2p-10-text-13"/>
          <p:cNvSpPr txBox="1"/>
          <p:nvPr/>
        </p:nvSpPr>
        <p:spPr>
          <a:xfrm>
            <a:off x="914400" y="41532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证据包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914400" y="43818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统一试验、Trace、失败与成本记录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914400" y="47247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运行护栏</a:t>
            </a:r>
          </a:p>
        </p:txBody>
      </p:sp>
      <p:sp>
        <p:nvSpPr>
          <p:cNvPr id="17" name="h2p-10-text-16"/>
          <p:cNvSpPr txBox="1"/>
          <p:nvPr/>
        </p:nvSpPr>
        <p:spPr>
          <a:xfrm>
            <a:off x="914400" y="49533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权限、审批、预算、异常、回滚、责任边界</a:t>
            </a:r>
          </a:p>
        </p:txBody>
      </p:sp>
      <p:sp>
        <p:nvSpPr>
          <p:cNvPr id="18" name="h2p-10-text-17"/>
          <p:cNvSpPr txBox="1"/>
          <p:nvPr/>
        </p:nvSpPr>
        <p:spPr>
          <a:xfrm>
            <a:off x="4000500" y="30102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可部署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4000500" y="3295497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可复验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4000500" y="35817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可审计</a:t>
            </a:r>
          </a:p>
        </p:txBody>
      </p:sp>
      <p:sp>
        <p:nvSpPr>
          <p:cNvPr id="21" name="h2p-10-text-20"/>
          <p:cNvSpPr txBox="1"/>
          <p:nvPr/>
        </p:nvSpPr>
        <p:spPr>
          <a:xfrm>
            <a:off x="4000500" y="3866997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可回滚</a:t>
            </a:r>
          </a:p>
        </p:txBody>
      </p:sp>
      <p:sp>
        <p:nvSpPr>
          <p:cNvPr id="22" name="h2p-10-text-21"/>
          <p:cNvSpPr txBox="1"/>
          <p:nvPr/>
        </p:nvSpPr>
        <p:spPr>
          <a:xfrm>
            <a:off x="4000500" y="41532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或诚实地说“别自动化”</a:t>
            </a:r>
          </a:p>
        </p:txBody>
      </p:sp>
      <p:sp>
        <p:nvSpPr>
          <p:cNvPr id="23" name="h2p-10-text-22"/>
          <p:cNvSpPr txBox="1"/>
          <p:nvPr/>
        </p:nvSpPr>
        <p:spPr>
          <a:xfrm>
            <a:off x="4000500" y="47247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DeliveryDecision 必须有证据和适用边界</a:t>
            </a:r>
          </a:p>
        </p:txBody>
      </p:sp>
      <p:sp>
        <p:nvSpPr>
          <p:cNvPr id="24" name="h2p-10-box-23"/>
          <p:cNvSpPr/>
          <p:nvPr/>
        </p:nvSpPr>
        <p:spPr>
          <a:xfrm>
            <a:off x="7353604" y="2152497"/>
            <a:ext cx="4153204" cy="3600907"/>
          </a:xfrm>
          <a:prstGeom prst="roundRect">
            <a:avLst>
              <a:gd name="adj" fmla="val 476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0-text-24"/>
          <p:cNvSpPr txBox="1"/>
          <p:nvPr/>
        </p:nvSpPr>
        <p:spPr>
          <a:xfrm>
            <a:off x="7582204" y="2324404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五种合法结果</a:t>
            </a:r>
          </a:p>
        </p:txBody>
      </p:sp>
      <p:sp>
        <p:nvSpPr>
          <p:cNvPr id="26" name="h2p-10-box-25"/>
          <p:cNvSpPr/>
          <p:nvPr/>
        </p:nvSpPr>
        <p:spPr>
          <a:xfrm>
            <a:off x="7582204" y="268650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0-text-26"/>
          <p:cNvSpPr txBox="1"/>
          <p:nvPr/>
        </p:nvSpPr>
        <p:spPr>
          <a:xfrm>
            <a:off x="7733995" y="27998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8" name="h2p-10-box-27"/>
          <p:cNvSpPr/>
          <p:nvPr/>
        </p:nvSpPr>
        <p:spPr>
          <a:xfrm>
            <a:off x="7582204" y="329549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0-text-28"/>
          <p:cNvSpPr txBox="1"/>
          <p:nvPr/>
        </p:nvSpPr>
        <p:spPr>
          <a:xfrm>
            <a:off x="7733995" y="34097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30" name="h2p-10-box-29"/>
          <p:cNvSpPr/>
          <p:nvPr/>
        </p:nvSpPr>
        <p:spPr>
          <a:xfrm>
            <a:off x="7582204" y="3905402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0-text-30"/>
          <p:cNvSpPr txBox="1"/>
          <p:nvPr/>
        </p:nvSpPr>
        <p:spPr>
          <a:xfrm>
            <a:off x="7733995" y="401970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32" name="h2p-10-box-31"/>
          <p:cNvSpPr/>
          <p:nvPr/>
        </p:nvSpPr>
        <p:spPr>
          <a:xfrm>
            <a:off x="7582204" y="451530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0-text-32"/>
          <p:cNvSpPr txBox="1"/>
          <p:nvPr/>
        </p:nvSpPr>
        <p:spPr>
          <a:xfrm>
            <a:off x="7733995" y="46286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4" name="h2p-10-box-33"/>
          <p:cNvSpPr/>
          <p:nvPr/>
        </p:nvSpPr>
        <p:spPr>
          <a:xfrm>
            <a:off x="7582204" y="512429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10-text-34"/>
          <p:cNvSpPr txBox="1"/>
          <p:nvPr/>
        </p:nvSpPr>
        <p:spPr>
          <a:xfrm>
            <a:off x="7733995" y="52385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当前证据不足，无法给出 01–04；本轮结论是 requires_runtime_trial。</a:t>
            </a:r>
          </a:p>
        </p:txBody>
      </p:sp>
      <p:sp>
        <p:nvSpPr>
          <p:cNvPr id="37" name="h2p-10-text-36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8" name="h2p-10-text-37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4398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证据账本：baseline 已代码级审计，候选对照仍待运行。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把已完成、已 smoke 和仍待运行分开；不让设计模拟冒充运行证据。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14400" y="2324404"/>
            <a:ext cx="102047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READY · 已完成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144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baseline 已代码级审计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14400" y="3047695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OpsPilot Zero 的结构、业务执行 Agent、事故样本与工具契约已逐项核验。</a:t>
            </a:r>
          </a:p>
        </p:txBody>
      </p:sp>
      <p:sp>
        <p:nvSpPr>
          <p:cNvPr id="11" name="h2p-11-text-10"/>
          <p:cNvSpPr txBox="1"/>
          <p:nvPr/>
        </p:nvSpPr>
        <p:spPr>
          <a:xfrm>
            <a:off x="914400" y="39246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AgentFit 方法、五元 Identity、七个 Skill、风险门禁契约已收敛。</a:t>
            </a:r>
          </a:p>
        </p:txBody>
      </p:sp>
      <p:sp>
        <p:nvSpPr>
          <p:cNvPr id="12" name="h2p-11-text-11"/>
          <p:cNvSpPr txBox="1"/>
          <p:nvPr/>
        </p:nvSpPr>
        <p:spPr>
          <a:xfrm>
            <a:off x="9144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证据：仓库文档与本套生成链</a:t>
            </a:r>
          </a:p>
        </p:txBody>
      </p:sp>
      <p:sp>
        <p:nvSpPr>
          <p:cNvPr id="13" name="h2p-11-box-12"/>
          <p:cNvSpPr/>
          <p:nvPr/>
        </p:nvSpPr>
        <p:spPr>
          <a:xfrm>
            <a:off x="43434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1-text-13"/>
          <p:cNvSpPr txBox="1"/>
          <p:nvPr/>
        </p:nvSpPr>
        <p:spPr>
          <a:xfrm>
            <a:off x="4572000" y="2324404"/>
            <a:ext cx="156453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SMOKE · 平台已单独试用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5720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AgentTeams 底座能力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572000" y="3047695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Worker、Team、Human、文件同步、定时任务等曾被单独 smoke。</a:t>
            </a:r>
          </a:p>
        </p:txBody>
      </p:sp>
      <p:sp>
        <p:nvSpPr>
          <p:cNvPr id="17" name="h2p-11-text-16"/>
          <p:cNvSpPr txBox="1"/>
          <p:nvPr/>
        </p:nvSpPr>
        <p:spPr>
          <a:xfrm>
            <a:off x="4572000" y="3771900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只证明平台能力，不等于 AgentFit 已集成或已跑通。</a:t>
            </a:r>
          </a:p>
        </p:txBody>
      </p:sp>
      <p:sp>
        <p:nvSpPr>
          <p:cNvPr id="18" name="h2p-11-text-17"/>
          <p:cNvSpPr txBox="1"/>
          <p:nvPr/>
        </p:nvSpPr>
        <p:spPr>
          <a:xfrm>
            <a:off x="45720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非 AgentFit 运行证据</a:t>
            </a:r>
          </a:p>
        </p:txBody>
      </p:sp>
      <p:sp>
        <p:nvSpPr>
          <p:cNvPr id="19" name="h2p-11-box-18"/>
          <p:cNvSpPr/>
          <p:nvPr/>
        </p:nvSpPr>
        <p:spPr>
          <a:xfrm>
            <a:off x="80010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1-text-19"/>
          <p:cNvSpPr txBox="1"/>
          <p:nvPr/>
        </p:nvSpPr>
        <p:spPr>
          <a:xfrm>
            <a:off x="8229600" y="2324404"/>
            <a:ext cx="156453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NOT STARTED · 仍待运行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2296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AgentFit 运行闭环</a:t>
            </a:r>
          </a:p>
        </p:txBody>
      </p:sp>
      <p:sp>
        <p:nvSpPr>
          <p:cNvPr id="22" name="h2p-11-text-21"/>
          <p:cNvSpPr txBox="1"/>
          <p:nvPr/>
        </p:nvSpPr>
        <p:spPr>
          <a:xfrm>
            <a:off x="8229600" y="3047695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冻结首个 ProjectCase。</a:t>
            </a:r>
          </a:p>
        </p:txBody>
      </p:sp>
      <p:sp>
        <p:nvSpPr>
          <p:cNvPr id="23" name="h2p-11-text-22"/>
          <p:cNvSpPr txBox="1"/>
          <p:nvPr/>
        </p:nvSpPr>
        <p:spPr>
          <a:xfrm>
            <a:off x="8229600" y="33531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五元 Agent 在 AgentTeams 实例化。</a:t>
            </a:r>
          </a:p>
        </p:txBody>
      </p:sp>
      <p:sp>
        <p:nvSpPr>
          <p:cNvPr id="24" name="h2p-11-text-23"/>
          <p:cNvSpPr txBox="1"/>
          <p:nvPr/>
        </p:nvSpPr>
        <p:spPr>
          <a:xfrm>
            <a:off x="8229600" y="3657600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统一预算下的 C0/C1/C2/C3 对照。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8229600" y="3962095"/>
            <a:ext cx="3148279" cy="5998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真实 Episode（CandidateVersion × SampleVersion × RunIndex）、Trace 与失败/降级证据。</a:t>
            </a:r>
          </a:p>
        </p:txBody>
      </p:sp>
      <p:sp>
        <p:nvSpPr>
          <p:cNvPr id="26" name="h2p-11-text-25"/>
          <p:cNvSpPr txBox="1"/>
          <p:nvPr/>
        </p:nvSpPr>
        <p:spPr>
          <a:xfrm>
            <a:off x="82296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证据待补 · 不伪装完成</a:t>
            </a:r>
          </a:p>
        </p:txBody>
      </p:sp>
      <p:sp>
        <p:nvSpPr>
          <p:cNvPr id="27" name="h2p-11-text-26"/>
          <p:cNvSpPr txBox="1"/>
          <p:nvPr/>
        </p:nvSpPr>
        <p:spPr>
          <a:xfrm>
            <a:off x="577900" y="58677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下一门禁：冻结首个 ProjectCase → 在 AgentTeams 跑真实候选 → 审计并替换本页。</a:t>
            </a:r>
          </a:p>
        </p:txBody>
      </p:sp>
      <p:sp>
        <p:nvSpPr>
          <p:cNvPr id="28" name="h2p-11-text-27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29" name="h2p-11-text-28"/>
          <p:cNvSpPr txBox="1"/>
          <p:nvPr/>
        </p:nvSpPr>
        <p:spPr>
          <a:xfrm>
            <a:off x="10387584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从案例回到通用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24204"/>
            <a:ext cx="1103680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FFFFFF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OpsPilot 只是首个 ProjectCase；AgentFit 真正的产品是“给任意业务任务量体裁衣的方案工程层”。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6858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text-7"/>
          <p:cNvSpPr txBox="1"/>
          <p:nvPr/>
        </p:nvSpPr>
        <p:spPr>
          <a:xfrm>
            <a:off x="9144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74D0C7"/>
                </a:solidFill>
                <a:latin typeface="Noto Sans Mono CJK SC"/>
              </a:rPr>
              <a:t>01</a:t>
            </a:r>
          </a:p>
        </p:txBody>
      </p:sp>
      <p:sp>
        <p:nvSpPr>
          <p:cNvPr id="9" name="h2p-12-text-8"/>
          <p:cNvSpPr txBox="1"/>
          <p:nvPr/>
        </p:nvSpPr>
        <p:spPr>
          <a:xfrm>
            <a:off x="914400" y="2971800"/>
            <a:ext cx="170992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一个案例证明形状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144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OpsPilot baseline 把“该用几个 Agent”变成可比较问题；它验证方法形状，不是唯一适用场景。</a:t>
            </a:r>
          </a:p>
        </p:txBody>
      </p:sp>
      <p:sp>
        <p:nvSpPr>
          <p:cNvPr id="11" name="h2p-12-box-10"/>
          <p:cNvSpPr/>
          <p:nvPr/>
        </p:nvSpPr>
        <p:spPr>
          <a:xfrm>
            <a:off x="43434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2-text-11"/>
          <p:cNvSpPr txBox="1"/>
          <p:nvPr/>
        </p:nvSpPr>
        <p:spPr>
          <a:xfrm>
            <a:off x="45720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74A8C6"/>
                </a:solidFill>
                <a:latin typeface="Noto Sans Mono CJK SC"/>
              </a:rPr>
              <a:t>02</a:t>
            </a:r>
          </a:p>
        </p:txBody>
      </p:sp>
      <p:sp>
        <p:nvSpPr>
          <p:cNvPr id="13" name="h2p-12-text-12"/>
          <p:cNvSpPr txBox="1"/>
          <p:nvPr/>
        </p:nvSpPr>
        <p:spPr>
          <a:xfrm>
            <a:off x="4572000" y="2971800"/>
            <a:ext cx="170992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未来项目验证迁移</a:t>
            </a:r>
          </a:p>
        </p:txBody>
      </p:sp>
      <p:sp>
        <p:nvSpPr>
          <p:cNvPr id="14" name="h2p-12-text-13"/>
          <p:cNvSpPr txBox="1"/>
          <p:nvPr/>
        </p:nvSpPr>
        <p:spPr>
          <a:xfrm>
            <a:off x="45720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同一方法可服务研发、客服、数据等任意能定义输入输出与验收的任务；迁移能力要靠后续项目检验。</a:t>
            </a:r>
          </a:p>
        </p:txBody>
      </p:sp>
      <p:sp>
        <p:nvSpPr>
          <p:cNvPr id="15" name="h2p-12-box-14"/>
          <p:cNvSpPr/>
          <p:nvPr/>
        </p:nvSpPr>
        <p:spPr>
          <a:xfrm>
            <a:off x="80010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2-text-15"/>
          <p:cNvSpPr txBox="1"/>
          <p:nvPr/>
        </p:nvSpPr>
        <p:spPr>
          <a:xfrm>
            <a:off x="82296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17" name="h2p-12-text-16"/>
          <p:cNvSpPr txBox="1"/>
          <p:nvPr/>
        </p:nvSpPr>
        <p:spPr>
          <a:xfrm>
            <a:off x="8229600" y="2971800"/>
            <a:ext cx="1590141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Fit = 有证据选对</a:t>
            </a:r>
          </a:p>
        </p:txBody>
      </p:sp>
      <p:sp>
        <p:nvSpPr>
          <p:cNvPr id="18" name="h2p-12-text-17"/>
          <p:cNvSpPr txBox="1"/>
          <p:nvPr/>
        </p:nvSpPr>
        <p:spPr>
          <a:xfrm>
            <a:off x="82296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不是更多 Agent，而是统一评测下的最小充分方案；五元团队、候选对照与 Trace 仍待真实运行。</a:t>
            </a:r>
          </a:p>
        </p:txBody>
      </p:sp>
      <p:sp>
        <p:nvSpPr>
          <p:cNvPr id="19" name="h2p-12-box-18"/>
          <p:cNvSpPr/>
          <p:nvPr/>
        </p:nvSpPr>
        <p:spPr>
          <a:xfrm>
            <a:off x="4095597" y="5296204"/>
            <a:ext cx="4000500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2-text-19"/>
          <p:cNvSpPr txBox="1"/>
          <p:nvPr/>
        </p:nvSpPr>
        <p:spPr>
          <a:xfrm>
            <a:off x="4210812" y="5543092"/>
            <a:ext cx="3769156" cy="2093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74D0C7"/>
                </a:solidFill>
                <a:latin typeface="Noto Sans Mono CJK SC"/>
              </a:rPr>
              <a:t>JUST ENOUGH · PROVEN</a:t>
            </a:r>
          </a:p>
        </p:txBody>
      </p:sp>
      <p:sp>
        <p:nvSpPr>
          <p:cNvPr id="21" name="h2p-12-text-20"/>
          <p:cNvSpPr txBox="1"/>
          <p:nvPr/>
        </p:nvSpPr>
        <p:spPr>
          <a:xfrm>
            <a:off x="577900" y="6286500"/>
            <a:ext cx="11036808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下一步：冻结 ProjectCase，在 AgentTeams 上跑出第一份真实证据。本轮结论 requires_runtime_trial。</a:t>
            </a:r>
          </a:p>
        </p:txBody>
      </p:sp>
      <p:sp>
        <p:nvSpPr>
          <p:cNvPr id="22" name="h2p-12-text-21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七层 ML 映射、候选四元组与内外循环。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主线是方案选择；这里的 ML 语义只是后台手段。Meta-learning 是未来方向，当前未实现。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62302"/>
            <a:ext cx="5333695" cy="3238804"/>
          </a:xfrm>
          <a:prstGeom prst="roundRect">
            <a:avLst>
              <a:gd name="adj" fmla="val 529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14400" y="2095804"/>
            <a:ext cx="50520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SEVEN-LAYER MAPPING · 七层 ML 映射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14400" y="23810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L1 样本语义 → 样本单位、边界、重放与标注契约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14400" y="268650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L2 任务语义 → 分布、输出、指标、损失与权衡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14400" y="2991002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L3 能力语义 → 算子集、契约、权限与适用域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14400" y="32954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L4 候选表示 → 结构、分区、参数与共享范围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14400" y="360090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L5 内循环（inner loop）→ adaptation samples 上优化局部参数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14400" y="3905402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L6 外循环（outer loop）→ validation samples 上比较候选架构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14400" y="42098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L7 跨项目学习 → 未见项目验证后更新搜索先验</a:t>
            </a:r>
          </a:p>
        </p:txBody>
      </p:sp>
      <p:sp>
        <p:nvSpPr>
          <p:cNvPr id="16" name="h2p-13-text-15"/>
          <p:cNvSpPr txBox="1"/>
          <p:nvPr/>
        </p:nvSpPr>
        <p:spPr>
          <a:xfrm>
            <a:off x="914400" y="4686300"/>
            <a:ext cx="4955133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L7 是未来方向：单项目样本优化不能证明跨项目学习。</a:t>
            </a:r>
          </a:p>
        </p:txBody>
      </p:sp>
      <p:sp>
        <p:nvSpPr>
          <p:cNvPr id="17" name="h2p-13-box-16"/>
          <p:cNvSpPr/>
          <p:nvPr/>
        </p:nvSpPr>
        <p:spPr>
          <a:xfrm>
            <a:off x="6172200" y="1962302"/>
            <a:ext cx="5333695" cy="1123797"/>
          </a:xfrm>
          <a:prstGeom prst="roundRect">
            <a:avLst>
              <a:gd name="adj" fmla="val 152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3-text-17"/>
          <p:cNvSpPr txBox="1"/>
          <p:nvPr/>
        </p:nvSpPr>
        <p:spPr>
          <a:xfrm>
            <a:off x="6400800" y="2095804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400800" y="2361895"/>
            <a:ext cx="4955133" cy="2916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102A43"/>
                </a:solidFill>
                <a:latin typeface="Noto Sans Mono CJK SC"/>
              </a:rPr>
              <a:t>Candidate = (G, Π, θ, ρ)</a:t>
            </a:r>
          </a:p>
        </p:txBody>
      </p:sp>
      <p:sp>
        <p:nvSpPr>
          <p:cNvPr id="20" name="h2p-13-text-19"/>
          <p:cNvSpPr txBox="1"/>
          <p:nvPr/>
        </p:nvSpPr>
        <p:spPr>
          <a:xfrm>
            <a:off x="6400800" y="2743200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G 能力图 · Π Agent 分区 · θ 模型/Prompt/阈值 · ρ 状态与记忆共享范围</a:t>
            </a:r>
          </a:p>
        </p:txBody>
      </p:sp>
      <p:sp>
        <p:nvSpPr>
          <p:cNvPr id="21" name="h2p-13-box-20"/>
          <p:cNvSpPr/>
          <p:nvPr/>
        </p:nvSpPr>
        <p:spPr>
          <a:xfrm>
            <a:off x="6172200" y="3219602"/>
            <a:ext cx="2571292" cy="1981504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3-text-21"/>
          <p:cNvSpPr txBox="1"/>
          <p:nvPr/>
        </p:nvSpPr>
        <p:spPr>
          <a:xfrm>
            <a:off x="6400800" y="3353104"/>
            <a:ext cx="219547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INNER LOOP · 一个 epoch 内</a:t>
            </a:r>
          </a:p>
        </p:txBody>
      </p:sp>
      <p:sp>
        <p:nvSpPr>
          <p:cNvPr id="23" name="h2p-13-text-22"/>
          <p:cNvSpPr txBox="1"/>
          <p:nvPr/>
        </p:nvSpPr>
        <p:spPr>
          <a:xfrm>
            <a:off x="6400800" y="3676802"/>
            <a:ext cx="219547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让局部 Agent 变好</a:t>
            </a:r>
          </a:p>
        </p:txBody>
      </p:sp>
      <p:sp>
        <p:nvSpPr>
          <p:cNvPr id="24" name="h2p-13-text-23"/>
          <p:cNvSpPr txBox="1"/>
          <p:nvPr/>
        </p:nvSpPr>
        <p:spPr>
          <a:xfrm>
            <a:off x="6400800" y="4038904"/>
            <a:ext cx="2195474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固定 G / Π；更新 θ / ρ；遍历 adaptation samples。</a:t>
            </a:r>
          </a:p>
        </p:txBody>
      </p:sp>
      <p:sp>
        <p:nvSpPr>
          <p:cNvPr id="25" name="h2p-13-text-24"/>
          <p:cNvSpPr txBox="1"/>
          <p:nvPr/>
        </p:nvSpPr>
        <p:spPr>
          <a:xfrm>
            <a:off x="6400800" y="4762195"/>
            <a:ext cx="219547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inner loop 服务于方案选择</a:t>
            </a:r>
          </a:p>
        </p:txBody>
      </p:sp>
      <p:sp>
        <p:nvSpPr>
          <p:cNvPr id="26" name="h2p-13-box-25"/>
          <p:cNvSpPr/>
          <p:nvPr/>
        </p:nvSpPr>
        <p:spPr>
          <a:xfrm>
            <a:off x="8934602" y="3219602"/>
            <a:ext cx="2571292" cy="1981504"/>
          </a:xfrm>
          <a:prstGeom prst="roundRect">
            <a:avLst>
              <a:gd name="adj" fmla="val 86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3-text-26"/>
          <p:cNvSpPr txBox="1"/>
          <p:nvPr/>
        </p:nvSpPr>
        <p:spPr>
          <a:xfrm>
            <a:off x="9163202" y="3353104"/>
            <a:ext cx="219547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Mono CJK SC"/>
              </a:rPr>
              <a:t>OUTER LOOP · 架构 epoch</a:t>
            </a:r>
          </a:p>
        </p:txBody>
      </p:sp>
      <p:sp>
        <p:nvSpPr>
          <p:cNvPr id="28" name="h2p-13-text-27"/>
          <p:cNvSpPr txBox="1"/>
          <p:nvPr/>
        </p:nvSpPr>
        <p:spPr>
          <a:xfrm>
            <a:off x="9163202" y="3676802"/>
            <a:ext cx="219547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让整体任务结果变好</a:t>
            </a:r>
          </a:p>
        </p:txBody>
      </p:sp>
      <p:sp>
        <p:nvSpPr>
          <p:cNvPr id="29" name="h2p-13-text-28"/>
          <p:cNvSpPr txBox="1"/>
          <p:nvPr/>
        </p:nvSpPr>
        <p:spPr>
          <a:xfrm>
            <a:off x="9163202" y="4038904"/>
            <a:ext cx="2195474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更新 G / Π；比较 validation samples；保留合格候选。</a:t>
            </a:r>
          </a:p>
        </p:txBody>
      </p:sp>
      <p:sp>
        <p:nvSpPr>
          <p:cNvPr id="30" name="h2p-13-text-29"/>
          <p:cNvSpPr txBox="1"/>
          <p:nvPr/>
        </p:nvSpPr>
        <p:spPr>
          <a:xfrm>
            <a:off x="9163202" y="4762195"/>
            <a:ext cx="219547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CJK SC"/>
              </a:rPr>
              <a:t>不预设多 Agent 胜出</a:t>
            </a:r>
          </a:p>
        </p:txBody>
      </p:sp>
      <p:sp>
        <p:nvSpPr>
          <p:cNvPr id="31" name="h2p-13-box-30"/>
          <p:cNvSpPr/>
          <p:nvPr/>
        </p:nvSpPr>
        <p:spPr>
          <a:xfrm>
            <a:off x="685800" y="5352897"/>
            <a:ext cx="10820095" cy="1123797"/>
          </a:xfrm>
          <a:prstGeom prst="roundRect">
            <a:avLst>
              <a:gd name="adj" fmla="val 1525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3-text-31"/>
          <p:cNvSpPr txBox="1"/>
          <p:nvPr/>
        </p:nvSpPr>
        <p:spPr>
          <a:xfrm>
            <a:off x="914400" y="5486400"/>
            <a:ext cx="58293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META-LEARNING 未来边界</a:t>
            </a:r>
          </a:p>
        </p:txBody>
      </p:sp>
      <p:sp>
        <p:nvSpPr>
          <p:cNvPr id="33" name="h2p-13-text-32"/>
          <p:cNvSpPr txBox="1"/>
          <p:nvPr/>
        </p:nvSpPr>
        <p:spPr>
          <a:xfrm>
            <a:off x="914400" y="5753404"/>
            <a:ext cx="10589666" cy="1792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项目内参数优化与架构搜索不等于 Meta-learning；只有多个项目轨迹更新先验、并在未见项目上稳定改善，才构成 Meta-learning 证据。</a:t>
            </a:r>
          </a:p>
        </p:txBody>
      </p:sp>
      <p:sp>
        <p:nvSpPr>
          <p:cNvPr id="34" name="h2p-13-text-33"/>
          <p:cNvSpPr txBox="1"/>
          <p:nvPr/>
        </p:nvSpPr>
        <p:spPr>
          <a:xfrm>
            <a:off x="914400" y="6191402"/>
            <a:ext cx="10589666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718190"/>
                </a:solidFill>
                <a:latin typeface="Noto Sans CJK SC"/>
              </a:rPr>
              <a:t>机器可执行 Schema、自动候选搜索与跨项目 Meta-learning 当前均未实现；设计契约，非运行证据。</a:t>
            </a:r>
          </a:p>
        </p:txBody>
      </p:sp>
      <p:sp>
        <p:nvSpPr>
          <p:cNvPr id="35" name="h2p-13-text-34"/>
          <p:cNvSpPr txBox="1"/>
          <p:nvPr/>
        </p:nvSpPr>
        <p:spPr>
          <a:xfrm>
            <a:off x="685800" y="6543446"/>
            <a:ext cx="267187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SAMPLE × TASK × CAPABILITY × SEARCH</a:t>
            </a:r>
          </a:p>
        </p:txBody>
      </p:sp>
      <p:sp>
        <p:nvSpPr>
          <p:cNvPr id="36" name="h2p-13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五个是元 Agent（设计/评测方案）；候选方案内部的业务执行 Agent 由 AgentArchitect 在 C2 中生成。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38504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01 交付官 · 元 Agent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38504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38504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控制项目阶段、路由 Human 审批、作出交付决定。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38504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426B86"/>
                </a:solidFill>
                <a:latin typeface="Noto Sans CJK SC"/>
              </a:rPr>
              <a:t>产物：项目简报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76702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028492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02 业务架构师 · 元 Agent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028492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028492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编译业务任务、冻结指标预算、标注 Human 边界。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028492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067604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219395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03 方案架构师 · 元 Agent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219395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219395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盘点能力缺口、生成并列候选、解释 Agentize。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219395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258507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410297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04 验证工程师 · 元 Agent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410297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410297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隔离运行候选、执行统一预算、收集失败证据。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410297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448495" y="1962302"/>
            <a:ext cx="2057400" cy="2857500"/>
          </a:xfrm>
          <a:prstGeom prst="roundRect">
            <a:avLst>
              <a:gd name="adj" fmla="val 83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601200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05 审计官 · 元 Agent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601200" y="2361895"/>
            <a:ext cx="180685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601200" y="2743200"/>
            <a:ext cx="1806854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独立检查证据、独占 sealed holdout、选择 / 否决 / 降级。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601200" y="3733495"/>
            <a:ext cx="180685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产物：决策账本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4990795"/>
            <a:ext cx="10820095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914400" y="5143500"/>
            <a:ext cx="367223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官方 8 字段契约 · 适用于元 Agent 与候选业务执行 Agent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914400" y="5447995"/>
            <a:ext cx="1058966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914400" y="5810097"/>
            <a:ext cx="1058966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7" name="h2p-14-text-36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七个 Skill、HTTP/MCP 等价工具与上下文 4 选 2。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Skill 必选、HTTP/MCP 工具可选；上下文 4 选 2，不以 RAG 为主机制。均为设计契约。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box-6"/>
          <p:cNvSpPr/>
          <p:nvPr/>
        </p:nvSpPr>
        <p:spPr>
          <a:xfrm>
            <a:off x="685800" y="19623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5-text-7"/>
          <p:cNvSpPr txBox="1"/>
          <p:nvPr/>
        </p:nvSpPr>
        <p:spPr>
          <a:xfrm>
            <a:off x="914400" y="211409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9" name="h2p-15-box-8"/>
          <p:cNvSpPr/>
          <p:nvPr/>
        </p:nvSpPr>
        <p:spPr>
          <a:xfrm>
            <a:off x="914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5-text-9"/>
          <p:cNvSpPr txBox="1"/>
          <p:nvPr/>
        </p:nvSpPr>
        <p:spPr>
          <a:xfrm>
            <a:off x="10003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15-box-10"/>
          <p:cNvSpPr/>
          <p:nvPr/>
        </p:nvSpPr>
        <p:spPr>
          <a:xfrm>
            <a:off x="22860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5-text-11"/>
          <p:cNvSpPr txBox="1"/>
          <p:nvPr/>
        </p:nvSpPr>
        <p:spPr>
          <a:xfrm>
            <a:off x="23719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15-box-12"/>
          <p:cNvSpPr/>
          <p:nvPr/>
        </p:nvSpPr>
        <p:spPr>
          <a:xfrm>
            <a:off x="36576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5-text-13"/>
          <p:cNvSpPr txBox="1"/>
          <p:nvPr/>
        </p:nvSpPr>
        <p:spPr>
          <a:xfrm>
            <a:off x="37435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15-box-14"/>
          <p:cNvSpPr/>
          <p:nvPr/>
        </p:nvSpPr>
        <p:spPr>
          <a:xfrm>
            <a:off x="50292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5-text-15"/>
          <p:cNvSpPr txBox="1"/>
          <p:nvPr/>
        </p:nvSpPr>
        <p:spPr>
          <a:xfrm>
            <a:off x="51151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15-box-16"/>
          <p:cNvSpPr/>
          <p:nvPr/>
        </p:nvSpPr>
        <p:spPr>
          <a:xfrm>
            <a:off x="64008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5-text-17"/>
          <p:cNvSpPr txBox="1"/>
          <p:nvPr/>
        </p:nvSpPr>
        <p:spPr>
          <a:xfrm>
            <a:off x="64867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15-box-18"/>
          <p:cNvSpPr/>
          <p:nvPr/>
        </p:nvSpPr>
        <p:spPr>
          <a:xfrm>
            <a:off x="7772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5-text-19"/>
          <p:cNvSpPr txBox="1"/>
          <p:nvPr/>
        </p:nvSpPr>
        <p:spPr>
          <a:xfrm>
            <a:off x="78583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15-box-20"/>
          <p:cNvSpPr/>
          <p:nvPr/>
        </p:nvSpPr>
        <p:spPr>
          <a:xfrm>
            <a:off x="9144000" y="2400300"/>
            <a:ext cx="1904695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5-text-21"/>
          <p:cNvSpPr txBox="1"/>
          <p:nvPr/>
        </p:nvSpPr>
        <p:spPr>
          <a:xfrm>
            <a:off x="9229953" y="2447848"/>
            <a:ext cx="1768449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15-box-22"/>
          <p:cNvSpPr/>
          <p:nvPr/>
        </p:nvSpPr>
        <p:spPr>
          <a:xfrm>
            <a:off x="6858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5-text-23"/>
          <p:cNvSpPr txBox="1"/>
          <p:nvPr/>
        </p:nvSpPr>
        <p:spPr>
          <a:xfrm>
            <a:off x="914400" y="3200400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SKILL · 可复用方法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914400" y="3543300"/>
            <a:ext cx="3148279" cy="575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承载任务编译、建图、评测、审计、门禁等“如何做”。每项含输入、输出、触发、失败处理、安全边界、复用契约。</a:t>
            </a:r>
          </a:p>
        </p:txBody>
      </p:sp>
      <p:sp>
        <p:nvSpPr>
          <p:cNvPr id="26" name="h2p-15-text-25"/>
          <p:cNvSpPr txBox="1"/>
          <p:nvPr/>
        </p:nvSpPr>
        <p:spPr>
          <a:xfrm>
            <a:off x="9144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完整字段见 submission/skill-catalog.md</a:t>
            </a:r>
          </a:p>
        </p:txBody>
      </p:sp>
      <p:sp>
        <p:nvSpPr>
          <p:cNvPr id="27" name="h2p-15-box-26"/>
          <p:cNvSpPr/>
          <p:nvPr/>
        </p:nvSpPr>
        <p:spPr>
          <a:xfrm>
            <a:off x="43434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5-text-27"/>
          <p:cNvSpPr txBox="1"/>
          <p:nvPr/>
        </p:nvSpPr>
        <p:spPr>
          <a:xfrm>
            <a:off x="4572000" y="3200400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MCP / HTTP · 等价工具契约</a:t>
            </a:r>
          </a:p>
        </p:txBody>
      </p:sp>
      <p:sp>
        <p:nvSpPr>
          <p:cNvPr id="29" name="h2p-15-text-28"/>
          <p:cNvSpPr txBox="1"/>
          <p:nvPr/>
        </p:nvSpPr>
        <p:spPr>
          <a:xfrm>
            <a:off x="4572000" y="3543300"/>
            <a:ext cx="31482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需要外部系统、明确 Schema、鉴权、幂等键、错误码与审计时才用。MCP、REST、适配器走同一契约。</a:t>
            </a:r>
          </a:p>
        </p:txBody>
      </p:sp>
      <p:sp>
        <p:nvSpPr>
          <p:cNvPr id="30" name="h2p-15-text-29"/>
          <p:cNvSpPr txBox="1"/>
          <p:nvPr/>
        </p:nvSpPr>
        <p:spPr>
          <a:xfrm>
            <a:off x="4572000" y="4533595"/>
            <a:ext cx="31482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纯推理与文档契约优先 Skill；真实 MCP 绑定当前未实现。</a:t>
            </a:r>
          </a:p>
        </p:txBody>
      </p:sp>
      <p:sp>
        <p:nvSpPr>
          <p:cNvPr id="31" name="h2p-15-text-30"/>
          <p:cNvSpPr txBox="1"/>
          <p:nvPr/>
        </p:nvSpPr>
        <p:spPr>
          <a:xfrm>
            <a:off x="45720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426B86"/>
                </a:solidFill>
                <a:latin typeface="Noto Sans CJK SC"/>
              </a:rPr>
              <a:t>契约即上下文，工具不散调</a:t>
            </a:r>
          </a:p>
        </p:txBody>
      </p:sp>
      <p:sp>
        <p:nvSpPr>
          <p:cNvPr id="32" name="h2p-15-box-31"/>
          <p:cNvSpPr/>
          <p:nvPr/>
        </p:nvSpPr>
        <p:spPr>
          <a:xfrm>
            <a:off x="80010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5-text-32"/>
          <p:cNvSpPr txBox="1"/>
          <p:nvPr/>
        </p:nvSpPr>
        <p:spPr>
          <a:xfrm>
            <a:off x="8229600" y="3200400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上下文能力 · 4 选 2</a:t>
            </a:r>
          </a:p>
        </p:txBody>
      </p:sp>
      <p:sp>
        <p:nvSpPr>
          <p:cNvPr id="34" name="h2p-15-text-33"/>
          <p:cNvSpPr txBox="1"/>
          <p:nvPr/>
        </p:nvSpPr>
        <p:spPr>
          <a:xfrm>
            <a:off x="8229600" y="3543300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CJK SC"/>
              </a:rPr>
              <a:t>选择 1 · 共享状态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8229600" y="3810304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Project Dossier 作事实源。</a:t>
            </a:r>
          </a:p>
        </p:txBody>
      </p:sp>
      <p:sp>
        <p:nvSpPr>
          <p:cNvPr id="36" name="h2p-15-text-35"/>
          <p:cNvSpPr txBox="1"/>
          <p:nvPr/>
        </p:nvSpPr>
        <p:spPr>
          <a:xfrm>
            <a:off x="8229600" y="4267504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CJK SC"/>
              </a:rPr>
              <a:t>选择 2 · 轨迹可观测</a:t>
            </a:r>
          </a:p>
        </p:txBody>
      </p:sp>
      <p:sp>
        <p:nvSpPr>
          <p:cNvPr id="37" name="h2p-15-text-36"/>
          <p:cNvSpPr txBox="1"/>
          <p:nvPr/>
        </p:nvSpPr>
        <p:spPr>
          <a:xfrm>
            <a:off x="8229600" y="4533595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Step / Episode 级 Trace。</a:t>
            </a:r>
          </a:p>
        </p:txBody>
      </p:sp>
      <p:sp>
        <p:nvSpPr>
          <p:cNvPr id="38" name="h2p-15-text-37"/>
          <p:cNvSpPr txBox="1"/>
          <p:nvPr/>
        </p:nvSpPr>
        <p:spPr>
          <a:xfrm>
            <a:off x="82296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不以 RAG 作为主上下文机制</a:t>
            </a:r>
          </a:p>
        </p:txBody>
      </p:sp>
      <p:sp>
        <p:nvSpPr>
          <p:cNvPr id="39" name="h2p-15-text-38"/>
          <p:cNvSpPr txBox="1"/>
          <p:nvPr/>
        </p:nvSpPr>
        <p:spPr>
          <a:xfrm>
            <a:off x="577900" y="6210604"/>
            <a:ext cx="11036808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设计契约，非运行证据 · Skill 必选，MCP 可选</a:t>
            </a:r>
          </a:p>
        </p:txBody>
      </p:sp>
      <p:sp>
        <p:nvSpPr>
          <p:cNvPr id="40" name="h2p-15-text-39"/>
          <p:cNvSpPr txBox="1"/>
          <p:nvPr/>
        </p:nvSpPr>
        <p:spPr>
          <a:xfrm>
            <a:off x="685800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MCP / 上下文</a:t>
            </a:r>
          </a:p>
        </p:txBody>
      </p:sp>
      <p:sp>
        <p:nvSpPr>
          <p:cNvPr id="41" name="h2p-15-text-40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高风险动作先审批；异常必须能停止、降级和回滚；Human 是正式能力，不是兜底文案。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box-6"/>
          <p:cNvSpPr/>
          <p:nvPr/>
        </p:nvSpPr>
        <p:spPr>
          <a:xfrm>
            <a:off x="685800" y="1962302"/>
            <a:ext cx="7048195" cy="1524304"/>
          </a:xfrm>
          <a:prstGeom prst="roundRect">
            <a:avLst>
              <a:gd name="adj" fmla="val 112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6-text-7"/>
          <p:cNvSpPr txBox="1"/>
          <p:nvPr/>
        </p:nvSpPr>
        <p:spPr>
          <a:xfrm>
            <a:off x="914400" y="211409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GATE</a:t>
            </a:r>
          </a:p>
        </p:txBody>
      </p:sp>
      <p:sp>
        <p:nvSpPr>
          <p:cNvPr id="9" name="h2p-16-text-8"/>
          <p:cNvSpPr txBox="1"/>
          <p:nvPr/>
        </p:nvSpPr>
        <p:spPr>
          <a:xfrm>
            <a:off x="914400" y="2419502"/>
            <a:ext cx="6742785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动作请求 → 风险分类 → 审批：批准→执行 ｜ 拒绝 / 超时→拒绝执行或安全降级 → Trace 与回滚验证</a:t>
            </a:r>
          </a:p>
        </p:txBody>
      </p:sp>
      <p:sp>
        <p:nvSpPr>
          <p:cNvPr id="10" name="h2p-16-box-9"/>
          <p:cNvSpPr/>
          <p:nvPr/>
        </p:nvSpPr>
        <p:spPr>
          <a:xfrm>
            <a:off x="914400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6-text-10"/>
          <p:cNvSpPr txBox="1"/>
          <p:nvPr/>
        </p:nvSpPr>
        <p:spPr>
          <a:xfrm>
            <a:off x="1000353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外部系统写入</a:t>
            </a:r>
          </a:p>
        </p:txBody>
      </p:sp>
      <p:sp>
        <p:nvSpPr>
          <p:cNvPr id="12" name="h2p-16-box-11"/>
          <p:cNvSpPr/>
          <p:nvPr/>
        </p:nvSpPr>
        <p:spPr>
          <a:xfrm>
            <a:off x="2495397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6-text-12"/>
          <p:cNvSpPr txBox="1"/>
          <p:nvPr/>
        </p:nvSpPr>
        <p:spPr>
          <a:xfrm>
            <a:off x="2581351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真实发布部署</a:t>
            </a:r>
          </a:p>
        </p:txBody>
      </p:sp>
      <p:sp>
        <p:nvSpPr>
          <p:cNvPr id="14" name="h2p-16-box-13"/>
          <p:cNvSpPr/>
          <p:nvPr/>
        </p:nvSpPr>
        <p:spPr>
          <a:xfrm>
            <a:off x="4076395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6-text-14"/>
          <p:cNvSpPr txBox="1"/>
          <p:nvPr/>
        </p:nvSpPr>
        <p:spPr>
          <a:xfrm>
            <a:off x="4162348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责任转移</a:t>
            </a:r>
          </a:p>
        </p:txBody>
      </p:sp>
      <p:sp>
        <p:nvSpPr>
          <p:cNvPr id="16" name="h2p-16-box-15"/>
          <p:cNvSpPr/>
          <p:nvPr/>
        </p:nvSpPr>
        <p:spPr>
          <a:xfrm>
            <a:off x="5658307" y="2857500"/>
            <a:ext cx="1809597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6-text-16"/>
          <p:cNvSpPr txBox="1"/>
          <p:nvPr/>
        </p:nvSpPr>
        <p:spPr>
          <a:xfrm>
            <a:off x="5743346" y="2905048"/>
            <a:ext cx="1670608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密钥 / 敏感数据访问</a:t>
            </a:r>
          </a:p>
        </p:txBody>
      </p:sp>
      <p:sp>
        <p:nvSpPr>
          <p:cNvPr id="18" name="h2p-16-box-17"/>
          <p:cNvSpPr/>
          <p:nvPr/>
        </p:nvSpPr>
        <p:spPr>
          <a:xfrm>
            <a:off x="7925104" y="1962302"/>
            <a:ext cx="3581704" cy="1524304"/>
          </a:xfrm>
          <a:prstGeom prst="roundRect">
            <a:avLst>
              <a:gd name="adj" fmla="val 112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6-text-18"/>
          <p:cNvSpPr txBox="1"/>
          <p:nvPr/>
        </p:nvSpPr>
        <p:spPr>
          <a:xfrm>
            <a:off x="8153704" y="211409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必须人工批准</a:t>
            </a:r>
          </a:p>
        </p:txBody>
      </p:sp>
      <p:sp>
        <p:nvSpPr>
          <p:cNvPr id="20" name="h2p-16-text-19"/>
          <p:cNvSpPr txBox="1"/>
          <p:nvPr/>
        </p:nvSpPr>
        <p:spPr>
          <a:xfrm>
            <a:off x="8153704" y="2419502"/>
            <a:ext cx="320588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不可逆操作、责任转移、预算提升与交付决议。</a:t>
            </a:r>
          </a:p>
        </p:txBody>
      </p:sp>
      <p:sp>
        <p:nvSpPr>
          <p:cNvPr id="21" name="h2p-16-text-20"/>
          <p:cNvSpPr txBox="1"/>
          <p:nvPr/>
        </p:nvSpPr>
        <p:spPr>
          <a:xfrm>
            <a:off x="8153704" y="3028492"/>
            <a:ext cx="320588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无批准 = 拒绝执行 + 保留证据</a:t>
            </a:r>
          </a:p>
        </p:txBody>
      </p:sp>
      <p:sp>
        <p:nvSpPr>
          <p:cNvPr id="22" name="h2p-16-box-21"/>
          <p:cNvSpPr/>
          <p:nvPr/>
        </p:nvSpPr>
        <p:spPr>
          <a:xfrm>
            <a:off x="685800" y="3676802"/>
            <a:ext cx="7048195" cy="2361895"/>
          </a:xfrm>
          <a:prstGeom prst="roundRect">
            <a:avLst>
              <a:gd name="adj" fmla="val 726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6-text-22"/>
          <p:cNvSpPr txBox="1"/>
          <p:nvPr/>
        </p:nvSpPr>
        <p:spPr>
          <a:xfrm>
            <a:off x="914400" y="3829507"/>
            <a:ext cx="19723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异常与恢复 · 同一 Trace 语义</a:t>
            </a:r>
          </a:p>
        </p:txBody>
      </p:sp>
      <p:sp>
        <p:nvSpPr>
          <p:cNvPr id="24" name="h2p-16-box-23"/>
          <p:cNvSpPr/>
          <p:nvPr/>
        </p:nvSpPr>
        <p:spPr>
          <a:xfrm>
            <a:off x="914400" y="4171492"/>
            <a:ext cx="2076602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6-text-24"/>
          <p:cNvSpPr txBox="1"/>
          <p:nvPr/>
        </p:nvSpPr>
        <p:spPr>
          <a:xfrm>
            <a:off x="1000353" y="4219956"/>
            <a:ext cx="19431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53697C"/>
                </a:solidFill>
                <a:latin typeface="Noto Sans Mono CJK SC"/>
              </a:rPr>
              <a:t>Agent 不可用→阶段暂停</a:t>
            </a:r>
          </a:p>
        </p:txBody>
      </p:sp>
      <p:sp>
        <p:nvSpPr>
          <p:cNvPr id="26" name="h2p-16-box-25"/>
          <p:cNvSpPr/>
          <p:nvPr/>
        </p:nvSpPr>
        <p:spPr>
          <a:xfrm>
            <a:off x="3086100" y="4171492"/>
            <a:ext cx="2076602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6-text-26"/>
          <p:cNvSpPr txBox="1"/>
          <p:nvPr/>
        </p:nvSpPr>
        <p:spPr>
          <a:xfrm>
            <a:off x="3172053" y="4219956"/>
            <a:ext cx="19431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53697C"/>
                </a:solidFill>
                <a:latin typeface="Noto Sans Mono CJK SC"/>
              </a:rPr>
              <a:t>Schema 非法→拒绝推进</a:t>
            </a:r>
          </a:p>
        </p:txBody>
      </p:sp>
      <p:sp>
        <p:nvSpPr>
          <p:cNvPr id="28" name="h2p-16-box-27"/>
          <p:cNvSpPr/>
          <p:nvPr/>
        </p:nvSpPr>
        <p:spPr>
          <a:xfrm>
            <a:off x="5257800" y="4171492"/>
            <a:ext cx="22860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6-text-28"/>
          <p:cNvSpPr txBox="1"/>
          <p:nvPr/>
        </p:nvSpPr>
        <p:spPr>
          <a:xfrm>
            <a:off x="5343753" y="4219956"/>
            <a:ext cx="2157069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53697C"/>
                </a:solidFill>
                <a:latin typeface="Noto Sans Mono CJK SC"/>
              </a:rPr>
              <a:t>预算耗尽→硬停止</a:t>
            </a:r>
          </a:p>
        </p:txBody>
      </p:sp>
      <p:sp>
        <p:nvSpPr>
          <p:cNvPr id="30" name="h2p-16-box-29"/>
          <p:cNvSpPr/>
          <p:nvPr/>
        </p:nvSpPr>
        <p:spPr>
          <a:xfrm>
            <a:off x="914400" y="4628692"/>
            <a:ext cx="2076602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6-text-30"/>
          <p:cNvSpPr txBox="1"/>
          <p:nvPr/>
        </p:nvSpPr>
        <p:spPr>
          <a:xfrm>
            <a:off x="1000353" y="4677156"/>
            <a:ext cx="19431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53697C"/>
                </a:solidFill>
                <a:latin typeface="Noto Sans Mono CJK SC"/>
              </a:rPr>
              <a:t>通信异常→幂等重发</a:t>
            </a:r>
          </a:p>
        </p:txBody>
      </p:sp>
      <p:sp>
        <p:nvSpPr>
          <p:cNvPr id="32" name="h2p-16-box-31"/>
          <p:cNvSpPr/>
          <p:nvPr/>
        </p:nvSpPr>
        <p:spPr>
          <a:xfrm>
            <a:off x="3086100" y="4628692"/>
            <a:ext cx="2076602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6-text-32"/>
          <p:cNvSpPr txBox="1"/>
          <p:nvPr/>
        </p:nvSpPr>
        <p:spPr>
          <a:xfrm>
            <a:off x="3172053" y="4677156"/>
            <a:ext cx="19431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53697C"/>
                </a:solidFill>
                <a:latin typeface="Noto Sans Mono CJK SC"/>
              </a:rPr>
              <a:t>holdout 泄漏→本轮无效</a:t>
            </a:r>
          </a:p>
        </p:txBody>
      </p:sp>
      <p:sp>
        <p:nvSpPr>
          <p:cNvPr id="34" name="h2p-16-box-33"/>
          <p:cNvSpPr/>
          <p:nvPr/>
        </p:nvSpPr>
        <p:spPr>
          <a:xfrm>
            <a:off x="5257800" y="4628692"/>
            <a:ext cx="22860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16-text-34"/>
          <p:cNvSpPr txBox="1"/>
          <p:nvPr/>
        </p:nvSpPr>
        <p:spPr>
          <a:xfrm>
            <a:off x="5343753" y="4677156"/>
            <a:ext cx="2157069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53697C"/>
                </a:solidFill>
                <a:latin typeface="Noto Sans Mono CJK SC"/>
              </a:rPr>
              <a:t>循环失控→达上限停止</a:t>
            </a:r>
          </a:p>
        </p:txBody>
      </p:sp>
      <p:sp>
        <p:nvSpPr>
          <p:cNvPr id="36" name="h2p-16-text-35"/>
          <p:cNvSpPr txBox="1"/>
          <p:nvPr/>
        </p:nvSpPr>
        <p:spPr>
          <a:xfrm>
            <a:off x="914400" y="5162702"/>
            <a:ext cx="6742785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权限缺失→缩小范围；不可回滚→默认拒绝；成功与失败同等留证。</a:t>
            </a:r>
          </a:p>
        </p:txBody>
      </p:sp>
      <p:sp>
        <p:nvSpPr>
          <p:cNvPr id="37" name="h2p-16-text-36"/>
          <p:cNvSpPr txBox="1"/>
          <p:nvPr/>
        </p:nvSpPr>
        <p:spPr>
          <a:xfrm>
            <a:off x="914400" y="5639104"/>
            <a:ext cx="6742785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候选生成前冻结 Sample/Task · 候选生成后统一试验前批准 TrialSpec</a:t>
            </a:r>
          </a:p>
        </p:txBody>
      </p:sp>
      <p:sp>
        <p:nvSpPr>
          <p:cNvPr id="38" name="h2p-16-box-37"/>
          <p:cNvSpPr/>
          <p:nvPr/>
        </p:nvSpPr>
        <p:spPr>
          <a:xfrm>
            <a:off x="7925104" y="3676802"/>
            <a:ext cx="3581704" cy="2361895"/>
          </a:xfrm>
          <a:prstGeom prst="roundRect">
            <a:avLst>
              <a:gd name="adj" fmla="val 726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2p-16-text-38"/>
          <p:cNvSpPr txBox="1"/>
          <p:nvPr/>
        </p:nvSpPr>
        <p:spPr>
          <a:xfrm>
            <a:off x="8153704" y="3829507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风险分级 · 动作档位</a:t>
            </a:r>
          </a:p>
        </p:txBody>
      </p:sp>
      <p:sp>
        <p:nvSpPr>
          <p:cNvPr id="40" name="h2p-16-box-39"/>
          <p:cNvSpPr/>
          <p:nvPr/>
        </p:nvSpPr>
        <p:spPr>
          <a:xfrm>
            <a:off x="8153704" y="4171492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2p-16-text-40"/>
          <p:cNvSpPr txBox="1"/>
          <p:nvPr/>
        </p:nvSpPr>
        <p:spPr>
          <a:xfrm>
            <a:off x="8238744" y="421995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只读诊断</a:t>
            </a:r>
          </a:p>
        </p:txBody>
      </p:sp>
      <p:sp>
        <p:nvSpPr>
          <p:cNvPr id="42" name="h2p-16-box-41"/>
          <p:cNvSpPr/>
          <p:nvPr/>
        </p:nvSpPr>
        <p:spPr>
          <a:xfrm>
            <a:off x="8153704" y="4591202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16-text-42"/>
          <p:cNvSpPr txBox="1"/>
          <p:nvPr/>
        </p:nvSpPr>
        <p:spPr>
          <a:xfrm>
            <a:off x="8238744" y="4638751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低风险自动执行</a:t>
            </a:r>
          </a:p>
        </p:txBody>
      </p:sp>
      <p:sp>
        <p:nvSpPr>
          <p:cNvPr id="44" name="h2p-16-box-43"/>
          <p:cNvSpPr/>
          <p:nvPr/>
        </p:nvSpPr>
        <p:spPr>
          <a:xfrm>
            <a:off x="8153704" y="5009997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2p-16-text-44"/>
          <p:cNvSpPr txBox="1"/>
          <p:nvPr/>
        </p:nvSpPr>
        <p:spPr>
          <a:xfrm>
            <a:off x="8238744" y="505754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灰度 + 审批</a:t>
            </a:r>
          </a:p>
        </p:txBody>
      </p:sp>
      <p:sp>
        <p:nvSpPr>
          <p:cNvPr id="46" name="h2p-16-box-45"/>
          <p:cNvSpPr/>
          <p:nvPr/>
        </p:nvSpPr>
        <p:spPr>
          <a:xfrm>
            <a:off x="8153704" y="5429707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2p-16-text-46"/>
          <p:cNvSpPr txBox="1"/>
          <p:nvPr/>
        </p:nvSpPr>
        <p:spPr>
          <a:xfrm>
            <a:off x="8238744" y="547725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F26B4B"/>
                </a:solidFill>
                <a:latin typeface="Noto Sans Mono CJK SC"/>
              </a:rPr>
              <a:t>只生成方案</a:t>
            </a:r>
          </a:p>
        </p:txBody>
      </p:sp>
      <p:sp>
        <p:nvSpPr>
          <p:cNvPr id="48" name="h2p-16-text-47"/>
          <p:cNvSpPr txBox="1"/>
          <p:nvPr/>
        </p:nvSpPr>
        <p:spPr>
          <a:xfrm>
            <a:off x="577900" y="6210604"/>
            <a:ext cx="11036808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设计契约，非运行证据 · 完整清单见 submission/risk-and-human-gates.md</a:t>
            </a:r>
          </a:p>
        </p:txBody>
      </p:sp>
      <p:sp>
        <p:nvSpPr>
          <p:cNvPr id="49" name="h2p-16-text-48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安全设计</a:t>
            </a:r>
          </a:p>
        </p:txBody>
      </p:sp>
      <p:sp>
        <p:nvSpPr>
          <p:cNvPr id="50" name="h2p-16-text-49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14400" y="2114092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144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144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1" name="h2p-17-text-10"/>
          <p:cNvSpPr txBox="1"/>
          <p:nvPr/>
        </p:nvSpPr>
        <p:spPr>
          <a:xfrm>
            <a:off x="9144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2" name="h2p-17-text-11"/>
          <p:cNvSpPr txBox="1"/>
          <p:nvPr/>
        </p:nvSpPr>
        <p:spPr>
          <a:xfrm>
            <a:off x="9144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3" name="h2p-17-text-12"/>
          <p:cNvSpPr txBox="1"/>
          <p:nvPr/>
        </p:nvSpPr>
        <p:spPr>
          <a:xfrm>
            <a:off x="914400" y="4267504"/>
            <a:ext cx="3148279" cy="311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4" name="h2p-17-box-13"/>
          <p:cNvSpPr/>
          <p:nvPr/>
        </p:nvSpPr>
        <p:spPr>
          <a:xfrm>
            <a:off x="43434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7-text-14"/>
          <p:cNvSpPr txBox="1"/>
          <p:nvPr/>
        </p:nvSpPr>
        <p:spPr>
          <a:xfrm>
            <a:off x="4572000" y="2114092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依赖与既有基础 · 必须披露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5720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7" name="h2p-17-text-16"/>
          <p:cNvSpPr txBox="1"/>
          <p:nvPr/>
        </p:nvSpPr>
        <p:spPr>
          <a:xfrm>
            <a:off x="45720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8" name="h2p-17-text-17"/>
          <p:cNvSpPr txBox="1"/>
          <p:nvPr/>
        </p:nvSpPr>
        <p:spPr>
          <a:xfrm>
            <a:off x="4572000" y="3200400"/>
            <a:ext cx="3148279" cy="371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9" name="h2p-17-text-18"/>
          <p:cNvSpPr txBox="1"/>
          <p:nvPr/>
        </p:nvSpPr>
        <p:spPr>
          <a:xfrm>
            <a:off x="4572000" y="37334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</p:txBody>
      </p:sp>
      <p:sp>
        <p:nvSpPr>
          <p:cNvPr id="20" name="h2p-17-text-19"/>
          <p:cNvSpPr txBox="1"/>
          <p:nvPr/>
        </p:nvSpPr>
        <p:spPr>
          <a:xfrm>
            <a:off x="4572000" y="41148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4572000" y="46478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2" name="h2p-17-box-21"/>
          <p:cNvSpPr/>
          <p:nvPr/>
        </p:nvSpPr>
        <p:spPr>
          <a:xfrm>
            <a:off x="80010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7-text-22"/>
          <p:cNvSpPr txBox="1"/>
          <p:nvPr/>
        </p:nvSpPr>
        <p:spPr>
          <a:xfrm>
            <a:off x="8229600" y="2114092"/>
            <a:ext cx="190469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当前未实现 · 不包装成完成态</a:t>
            </a:r>
          </a:p>
        </p:txBody>
      </p:sp>
      <p:sp>
        <p:nvSpPr>
          <p:cNvPr id="24" name="h2p-17-text-23"/>
          <p:cNvSpPr txBox="1"/>
          <p:nvPr/>
        </p:nvSpPr>
        <p:spPr>
          <a:xfrm>
            <a:off x="82296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82296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82296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7" name="h2p-17-text-26"/>
          <p:cNvSpPr txBox="1"/>
          <p:nvPr/>
        </p:nvSpPr>
        <p:spPr>
          <a:xfrm>
            <a:off x="82296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8" name="h2p-17-text-27"/>
          <p:cNvSpPr txBox="1"/>
          <p:nvPr/>
        </p:nvSpPr>
        <p:spPr>
          <a:xfrm>
            <a:off x="8229600" y="3962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9" name="h2p-17-text-28"/>
          <p:cNvSpPr txBox="1"/>
          <p:nvPr/>
        </p:nvSpPr>
        <p:spPr>
          <a:xfrm>
            <a:off x="8229600" y="4343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30" name="h2p-17-text-29"/>
          <p:cNvSpPr txBox="1"/>
          <p:nvPr/>
        </p:nvSpPr>
        <p:spPr>
          <a:xfrm>
            <a:off x="8229600" y="4724704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1" name="h2p-17-box-30"/>
          <p:cNvSpPr/>
          <p:nvPr/>
        </p:nvSpPr>
        <p:spPr>
          <a:xfrm>
            <a:off x="685800" y="52770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7-text-31"/>
          <p:cNvSpPr txBox="1"/>
          <p:nvPr/>
        </p:nvSpPr>
        <p:spPr>
          <a:xfrm>
            <a:off x="914400" y="5410504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baseline 引用与核验</a:t>
            </a:r>
          </a:p>
        </p:txBody>
      </p:sp>
      <p:sp>
        <p:nvSpPr>
          <p:cNvPr id="33" name="h2p-17-text-32"/>
          <p:cNvSpPr txBox="1"/>
          <p:nvPr/>
        </p:nvSpPr>
        <p:spPr>
          <a:xfrm>
            <a:off x="914400" y="5676595"/>
            <a:ext cx="10589666" cy="1792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4" name="h2p-17-text-33"/>
          <p:cNvSpPr txBox="1"/>
          <p:nvPr/>
        </p:nvSpPr>
        <p:spPr>
          <a:xfrm>
            <a:off x="914400" y="5982004"/>
            <a:ext cx="10589666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5" name="h2p-17-text-3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当前事实</a:t>
            </a:r>
          </a:p>
        </p:txBody>
      </p:sp>
      <p:sp>
        <p:nvSpPr>
          <p:cNvPr id="36" name="h2p-17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融合版（fusion-v3）</dc:title>
  <dc:subject>OpsPilot baseline 作首个 ProjectCase 的通用方案建筑师路演</dc:subject>
  <dc:creator>AgentFit Team</dc:creator>
  <cp:keywords>AgentFit, AgentTeams, OpsPilot, fusion-v3, HTML-first</cp:keywords>
  <dc:description>Alternative comparison deck. OpsPilot baseline is a code-level audited reference and first ProjectCase input, not AgentFit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